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1edea1d48e47b5" /><Relationship Type="http://schemas.openxmlformats.org/officeDocument/2006/relationships/extended-properties" Target="/docProps/app.xml" Id="R4984d18f736d4ced" /><Relationship Type="http://schemas.openxmlformats.org/officeDocument/2006/relationships/officeDocument" Target="/ppt/presentation.xml" Id="R030c51ba50a4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ac62f91614e7a"/>
  </p:sldMasterIdLst>
  <p:notesMasterIdLst>
    <p:notesMasterId xmlns:r="http://schemas.openxmlformats.org/officeDocument/2006/relationships" r:id="R8b7fe914180d4092"/>
  </p:notesMasterIdLst>
  <p:sldIdLst>
    <p:sldId xmlns:r="http://schemas.openxmlformats.org/officeDocument/2006/relationships" id="256" r:id="R59f6fe8c52d74ae8"/>
    <p:sldId xmlns:r="http://schemas.openxmlformats.org/officeDocument/2006/relationships" id="257" r:id="R732db2922c0648c3"/>
    <p:sldId xmlns:r="http://schemas.openxmlformats.org/officeDocument/2006/relationships" id="258" r:id="Rec6ce8f3ea7f41b5"/>
    <p:sldId xmlns:r="http://schemas.openxmlformats.org/officeDocument/2006/relationships" id="259" r:id="R100160e5fc214d4f"/>
    <p:sldId xmlns:r="http://schemas.openxmlformats.org/officeDocument/2006/relationships" id="260" r:id="R737b5bbe54c242c1"/>
    <p:sldId xmlns:r="http://schemas.openxmlformats.org/officeDocument/2006/relationships" id="261" r:id="Rd7ec91fc3b404764"/>
    <p:sldId xmlns:r="http://schemas.openxmlformats.org/officeDocument/2006/relationships" id="262" r:id="Rbb58be24a177443c"/>
    <p:sldId xmlns:r="http://schemas.openxmlformats.org/officeDocument/2006/relationships" id="263" r:id="R34a67b60363046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aaa50fd9d4fca" /><Relationship Type="http://schemas.openxmlformats.org/officeDocument/2006/relationships/slideMaster" Target="/ppt/slideMasters/slideMaster1.xml" Id="Rf77ac62f91614e7a" /><Relationship Type="http://schemas.openxmlformats.org/officeDocument/2006/relationships/notesMaster" Target="/ppt/notesMasters/notesMaster1.xml" Id="R8b7fe914180d4092" /><Relationship Type="http://schemas.openxmlformats.org/officeDocument/2006/relationships/presProps" Target="/ppt/presProps.xml" Id="R162540db0f00455b" /><Relationship Type="http://schemas.openxmlformats.org/officeDocument/2006/relationships/tableStyles" Target="/ppt/tableStyles.xml" Id="R550746a4cdd946af" /><Relationship Type="http://schemas.openxmlformats.org/officeDocument/2006/relationships/slide" Target="/ppt/slides/slide1.xml" Id="R59f6fe8c52d74ae8" /><Relationship Type="http://schemas.openxmlformats.org/officeDocument/2006/relationships/slide" Target="/ppt/slides/slide2.xml" Id="R732db2922c0648c3" /><Relationship Type="http://schemas.openxmlformats.org/officeDocument/2006/relationships/slide" Target="/ppt/slides/slide3.xml" Id="Rec6ce8f3ea7f41b5" /><Relationship Type="http://schemas.openxmlformats.org/officeDocument/2006/relationships/slide" Target="/ppt/slides/slide4.xml" Id="R100160e5fc214d4f" /><Relationship Type="http://schemas.openxmlformats.org/officeDocument/2006/relationships/slide" Target="/ppt/slides/slide5.xml" Id="R737b5bbe54c242c1" /><Relationship Type="http://schemas.openxmlformats.org/officeDocument/2006/relationships/slide" Target="/ppt/slides/slide6.xml" Id="Rd7ec91fc3b404764" /><Relationship Type="http://schemas.openxmlformats.org/officeDocument/2006/relationships/slide" Target="/ppt/slides/slide7.xml" Id="Rbb58be24a177443c" /><Relationship Type="http://schemas.openxmlformats.org/officeDocument/2006/relationships/slide" Target="/ppt/slides/slide8.xml" Id="R34a67b60363046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f0186b608a43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9a6a5ef182472e" /><Relationship Type="http://schemas.openxmlformats.org/officeDocument/2006/relationships/notesMaster" Target="/ppt/notesMasters/notesMaster1.xml" Id="Rea5e06cb937f43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1c5b373254d2b" /><Relationship Type="http://schemas.openxmlformats.org/officeDocument/2006/relationships/notesMaster" Target="/ppt/notesMasters/notesMaster1.xml" Id="R474d3f72adfa40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dc1422c4a3407a" /><Relationship Type="http://schemas.openxmlformats.org/officeDocument/2006/relationships/notesMaster" Target="/ppt/notesMasters/notesMaster1.xml" Id="Ra0ec7d6467b743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e5e36dd4a94478" /><Relationship Type="http://schemas.openxmlformats.org/officeDocument/2006/relationships/notesMaster" Target="/ppt/notesMasters/notesMaster1.xml" Id="R3460020677f74d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48dad661e94683" /><Relationship Type="http://schemas.openxmlformats.org/officeDocument/2006/relationships/notesMaster" Target="/ppt/notesMasters/notesMaster1.xml" Id="Re887ea13bb1d42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3d4d239be9431b" /><Relationship Type="http://schemas.openxmlformats.org/officeDocument/2006/relationships/notesMaster" Target="/ppt/notesMasters/notesMaster1.xml" Id="Re0a7a3af8be94a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9b23d7878a4737" /><Relationship Type="http://schemas.openxmlformats.org/officeDocument/2006/relationships/notesMaster" Target="/ppt/notesMasters/notesMaster1.xml" Id="R95135b45c2a545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d26769a39b444c" /><Relationship Type="http://schemas.openxmlformats.org/officeDocument/2006/relationships/notesMaster" Target="/ppt/notesMasters/notesMaster1.xml" Id="Re91f6c4465e14b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narrow promise: a clinician-owned conversation that remains visible, reviewable and findable when care changes. The network is an abstract illustration, not a live data-flow diagram.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submission.md (selected Cancer track, Doctor / Care Team user and Patient Follow-up &amp; Continuity of Care use case)</a:t>
            </a:r>
          </a:p>
          <a:p xmlns:a="http://schemas.openxmlformats.org/drawingml/2006/main">
            <a:r>
              <a:t>- MEETING_SUMMARY_FOR_TEAM.md and PRODUCT_REQUIREMENTS.md (product promise and boundaries)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problem as a continuity failure, not a lack of documentation. The record may exist, but it is not reliably current, owned or findable at the next point of care.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MEETING_EVIDENCE_MAP.md (clinical problem statements and handoff concerns)</a:t>
            </a:r>
          </a:p>
          <a:p xmlns:a="http://schemas.openxmlformats.org/drawingml/2006/main">
            <a:r>
              <a:t>- submission.md (problem answer)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solution as a workflow, not an AI feature list. The blank frame is reserved for the live product screenshot once the teammate's interface is ready.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PRODUCT_REQUIREMENTS.md (guided domains, source links, review, versioning, retrieval and follow-up requirements)</a:t>
            </a:r>
          </a:p>
          <a:p xmlns:a="http://schemas.openxmlformats.org/drawingml/2006/main">
            <a:r>
              <a:t>- PROTOTYPE_HANDOFF.md (current synthetic/browser-local boundary)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Continuity Loop ends a handoff with a human reconfirmation, not an automatic clinical order. Every state has an owner and a visible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PRODUCT_REQUIREMENTS.md (workflow state and versioning requirements)</a:t>
            </a:r>
          </a:p>
          <a:p xmlns:a="http://schemas.openxmlformats.org/drawingml/2006/main">
            <a:r>
              <a:t>- MEETING_SUMMARY_FOR_TEAM.md (follow-up and handoff concept)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trust mechanism. Source context anchors the structured field; silence remains visible; clarification blocks release; and the physician gate is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PRODUCT_REQUIREMENTS.md (source mapping, unresolved fields and verification gate)</a:t>
            </a:r>
          </a:p>
          <a:p xmlns:a="http://schemas.openxmlformats.org/drawingml/2006/main">
            <a:r>
              <a:t>- PROTOTYPE_HANDOFF.md (deterministic extraction and no external AI model)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the exclusions plainly. They are the safety boundary of the submission, not a hidden backlog. The current MVP documents and retrieves a clinician-reviewed conversation; it does not diagnose, recommend or autonomously advise.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submission.md (exact Health-a-thon out-of-scope list)</a:t>
            </a:r>
          </a:p>
          <a:p xmlns:a="http://schemas.openxmlformats.org/drawingml/2006/main">
            <a:r>
              <a:t>- PRODUCT_REQUIREMENTS.md and PROTOTYPE_HANDOFF.md (current implementation and non-goals)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as a validation plan, not achieved outcomes. The first credible evidence is whether clinicians agree with the structured draft and can retrieve the current verified version under time pressure.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PITCH_READINESS.md and PITCH_EVIDENCE_MAP.md (proposed validation and evidence boundaries)</a:t>
            </a:r>
          </a:p>
          <a:p xmlns:a="http://schemas.openxmlformats.org/drawingml/2006/main">
            <a:r>
              <a:t>- MEETING_SUMMARY_FOR_TEAM.md (clinician and pilot-owner questions)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concrete ask: clinical ownership, a pilot partner and a feedback loop. The screenshot slot is intentionally reserved for the teammate's final interface, while the QR currently points to the synthetic MVP.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submission.md and TEAM_HANDOFF.md (current ask and next meeting decisions)</a:t>
            </a:r>
          </a:p>
          <a:p xmlns:a="http://schemas.openxmlformats.org/drawingml/2006/main">
            <a:r>
              <a:t>- https://continuity-loop-healthathon.vercel.app/ (current synthetic MVP URL)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78b91d39604d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ae2e317d404fa3" /><Relationship Type="http://schemas.openxmlformats.org/officeDocument/2006/relationships/slideLayout" Target="/ppt/slideLayouts/slideLayout1.xml" Id="R5a355e71e8cb410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55e71e8cb410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a17963bfd4edd" /><Relationship Type="http://schemas.openxmlformats.org/officeDocument/2006/relationships/image" Target="/ppt/media/image.png" Id="R385b1939e10b4c61" /><Relationship Type="http://schemas.openxmlformats.org/officeDocument/2006/relationships/notesSlide" Target="/ppt/notesSlides/notesSlide1.xml" Id="R4a74479c949c49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55408d28448bd" /><Relationship Type="http://schemas.openxmlformats.org/officeDocument/2006/relationships/notesSlide" Target="/ppt/notesSlides/notesSlide2.xml" Id="R82b512fab9ef45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5ba09a6684f3c" /><Relationship Type="http://schemas.openxmlformats.org/officeDocument/2006/relationships/notesSlide" Target="/ppt/notesSlides/notesSlide3.xml" Id="Rc08454e26a404d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a098a9b8b4e70" /><Relationship Type="http://schemas.openxmlformats.org/officeDocument/2006/relationships/notesSlide" Target="/ppt/notesSlides/notesSlide4.xml" Id="R0741078b67864f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45f02ef904ba9" /><Relationship Type="http://schemas.openxmlformats.org/officeDocument/2006/relationships/notesSlide" Target="/ppt/notesSlides/notesSlide5.xml" Id="R7201abf8f41a4c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51498532144c0" /><Relationship Type="http://schemas.openxmlformats.org/officeDocument/2006/relationships/notesSlide" Target="/ppt/notesSlides/notesSlide6.xml" Id="R76cb24854d4e4b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fa9c54d668462c" /><Relationship Type="http://schemas.openxmlformats.org/officeDocument/2006/relationships/notesSlide" Target="/ppt/notesSlides/notesSlide7.xml" Id="R3fada87d935143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56e8b0ea74d0c" /><Relationship Type="http://schemas.openxmlformats.org/officeDocument/2006/relationships/image" Target="/ppt/media/image2.png" Id="R8a6a8ac115b84f87" /><Relationship Type="http://schemas.openxmlformats.org/officeDocument/2006/relationships/notesSlide" Target="/ppt/notesSlides/notesSlide8.xml" Id="R26135cebe92d4f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E2C8DF5D-52F2-4E7C-A661-B9D78EBE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44031D87-2BD9-4A49-B6BD-CCB396D9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A8BE9905-B5F7-43D8-A905-153C9CC0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A5004CE6-0807-4423-BBDE-18559449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1">
            <a:extLst xmlns:a="http://schemas.openxmlformats.org/drawingml/2006/main">
              <a:ext uri="{FF2B5EF4-FFF2-40B4-BE49-F238E27FC236}">
                <a16:creationId xmlns:a16="http://schemas.microsoft.com/office/drawing/2014/main" id="{1A507032-4AFD-4977-A7DD-1415947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1">
            <a:extLst xmlns:a="http://schemas.openxmlformats.org/drawingml/2006/main">
              <a:ext uri="{FF2B5EF4-FFF2-40B4-BE49-F238E27FC236}">
                <a16:creationId xmlns:a16="http://schemas.microsoft.com/office/drawing/2014/main" id="{510F059F-85C5-43AF-945C-60F6400C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8D130104-699A-4241-A761-7D4146C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HEALTH-A-THON 2026  /  ROUND 1  /  ZEROS AND ONES</a:t>
            </a:r>
          </a:p>
        </p:txBody>
      </p:sp>
      <p:sp>
        <p:nvSpPr>
          <p:cNvPr id="8" name="cover-brand">
            <a:extLst xmlns:a="http://schemas.openxmlformats.org/drawingml/2006/main">
              <a:ext uri="{FF2B5EF4-FFF2-40B4-BE49-F238E27FC236}">
                <a16:creationId xmlns:a16="http://schemas.microsoft.com/office/drawing/2014/main" id="{BB8B195A-7A16-4709-8572-2CEDEB9C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95375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2025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CONTINUITY LOOP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E07F394-3066-4B3F-A1E7-82DEBDCE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6572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the care</a:t>
            </a:r>
          </a:p>
          <a:p xmlns:a="http://schemas.openxmlformats.org/drawingml/2006/main">
            <a:pPr algn="l">
              <a:defRPr sz="4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conversation current.</a:t>
            </a:r>
          </a:p>
        </p:txBody>
      </p:sp>
      <p:sp>
        <p:nvSpPr>
          <p:cNvPr id="10" name="cover-body">
            <a:extLst xmlns:a="http://schemas.openxmlformats.org/drawingml/2006/main">
              <a:ext uri="{FF2B5EF4-FFF2-40B4-BE49-F238E27FC236}">
                <a16:creationId xmlns:a16="http://schemas.microsoft.com/office/drawing/2014/main" id="{D2876B32-BDCB-4672-BB64-25FB0D1B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7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7E5F5"/>
                </a:solidFill>
                <a:latin typeface="Helvetica Neue"/>
                <a:ea typeface="Helvetica Neue"/>
                <a:cs typeface="Helvetica Neue"/>
              </a:rPr>
              <a:t>Clinician-controlled goals-of-care follow-up and verified handoff for people with advanced cancer.</a:t>
            </a:r>
          </a:p>
        </p:txBody>
      </p:sp>
      <p:sp>
        <p:nvSpPr>
          <p:cNvPr id="11" name="cover-pill-1-box">
            <a:extLst xmlns:a="http://schemas.openxmlformats.org/drawingml/2006/main">
              <a:ext uri="{FF2B5EF4-FFF2-40B4-BE49-F238E27FC236}">
                <a16:creationId xmlns:a16="http://schemas.microsoft.com/office/drawing/2014/main" id="{35B7F8DE-9640-4BFC-920E-585A5B50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95825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ill-1-text">
            <a:extLst xmlns:a="http://schemas.openxmlformats.org/drawingml/2006/main">
              <a:ext uri="{FF2B5EF4-FFF2-40B4-BE49-F238E27FC236}">
                <a16:creationId xmlns:a16="http://schemas.microsoft.com/office/drawing/2014/main" id="{7032DF1E-429A-4057-AC4A-D06E5275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CANCER</a:t>
            </a:r>
          </a:p>
        </p:txBody>
      </p:sp>
      <p:sp>
        <p:nvSpPr>
          <p:cNvPr id="13" name="cover-pill-2-box">
            <a:extLst xmlns:a="http://schemas.openxmlformats.org/drawingml/2006/main">
              <a:ext uri="{FF2B5EF4-FFF2-40B4-BE49-F238E27FC236}">
                <a16:creationId xmlns:a16="http://schemas.microsoft.com/office/drawing/2014/main" id="{2236C556-EF2C-4F4A-A809-85639CEE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1924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pill-2-text">
            <a:extLst xmlns:a="http://schemas.openxmlformats.org/drawingml/2006/main">
              <a:ext uri="{FF2B5EF4-FFF2-40B4-BE49-F238E27FC236}">
                <a16:creationId xmlns:a16="http://schemas.microsoft.com/office/drawing/2014/main" id="{C671A24D-344A-43A3-8AEA-60527A9A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762500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DOCTOR / CARE TEAM</a:t>
            </a:r>
          </a:p>
        </p:txBody>
      </p:sp>
      <p:sp>
        <p:nvSpPr>
          <p:cNvPr id="15" name="cover-pill-3-box">
            <a:extLst xmlns:a="http://schemas.openxmlformats.org/drawingml/2006/main">
              <a:ext uri="{FF2B5EF4-FFF2-40B4-BE49-F238E27FC236}">
                <a16:creationId xmlns:a16="http://schemas.microsoft.com/office/drawing/2014/main" id="{FDE69EEE-0430-4758-BC31-F687231C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95825"/>
            <a:ext cx="1952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4E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ver-pill-3-text">
            <a:extLst xmlns:a="http://schemas.openxmlformats.org/drawingml/2006/main">
              <a:ext uri="{FF2B5EF4-FFF2-40B4-BE49-F238E27FC236}">
                <a16:creationId xmlns:a16="http://schemas.microsoft.com/office/drawing/2014/main" id="{84EB41C8-2473-42E8-AD34-D4AD55C8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62500"/>
            <a:ext cx="1724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CONTINUITY OF CARE</a:t>
            </a:r>
          </a:p>
        </p:txBody>
      </p:sp>
      <p:sp>
        <p:nvSpPr>
          <p:cNvPr id="17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A874C962-08A7-4102-AA7C-F45CB67F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SYNTHETIC MVP  /  HUMAN REVIEW REQUIRED</a:t>
            </a:r>
          </a:p>
        </p:txBody>
      </p:sp>
      <p:sp>
        <p:nvSpPr>
          <p:cNvPr id="18" name="cover-core">
            <a:extLst xmlns:a="http://schemas.openxmlformats.org/drawingml/2006/main">
              <a:ext uri="{FF2B5EF4-FFF2-40B4-BE49-F238E27FC236}">
                <a16:creationId xmlns:a16="http://schemas.microsoft.com/office/drawing/2014/main" id="{C289178A-F817-4C75-A254-DABAD930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cover-core-label">
            <a:extLst xmlns:a="http://schemas.openxmlformats.org/drawingml/2006/main">
              <a:ext uri="{FF2B5EF4-FFF2-40B4-BE49-F238E27FC236}">
                <a16:creationId xmlns:a16="http://schemas.microsoft.com/office/drawing/2014/main" id="{4E791624-8DDE-47CE-942C-CCE07434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419350"/>
            <a:ext cx="819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PATIENT</a:t>
            </a:r>
          </a:p>
          <a:p xmlns:a="http://schemas.openxmlformats.org/drawingml/2006/main">
            <a:pPr algn="ctr">
              <a:defRPr sz="135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35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VOICE</a:t>
            </a:r>
          </a:p>
        </p:txBody>
      </p:sp>
      <p:sp>
        <p:nvSpPr>
          <p:cNvPr id="20" name="cover-node-0">
            <a:extLst xmlns:a="http://schemas.openxmlformats.org/drawingml/2006/main">
              <a:ext uri="{FF2B5EF4-FFF2-40B4-BE49-F238E27FC236}">
                <a16:creationId xmlns:a16="http://schemas.microsoft.com/office/drawing/2014/main" id="{BD1EE71E-0EA8-485A-9199-59821323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14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cover-node-label-0">
            <a:extLst xmlns:a="http://schemas.openxmlformats.org/drawingml/2006/main">
              <a:ext uri="{FF2B5EF4-FFF2-40B4-BE49-F238E27FC236}">
                <a16:creationId xmlns:a16="http://schemas.microsoft.com/office/drawing/2014/main" id="{A3973409-A034-417A-AEE6-A8C7183C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431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rPr>
              <a:t>CLINIC</a:t>
            </a:r>
          </a:p>
        </p:txBody>
      </p:sp>
      <p:sp>
        <p:nvSpPr>
          <p:cNvPr id="22" name="cover-node-1">
            <a:extLst xmlns:a="http://schemas.openxmlformats.org/drawingml/2006/main">
              <a:ext uri="{FF2B5EF4-FFF2-40B4-BE49-F238E27FC236}">
                <a16:creationId xmlns:a16="http://schemas.microsoft.com/office/drawing/2014/main" id="{241C8EDD-366A-445D-AC69-7771DDF3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239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cover-node-label-1">
            <a:extLst xmlns:a="http://schemas.openxmlformats.org/drawingml/2006/main">
              <a:ext uri="{FF2B5EF4-FFF2-40B4-BE49-F238E27FC236}">
                <a16:creationId xmlns:a16="http://schemas.microsoft.com/office/drawing/2014/main" id="{B83A0C8D-A4B4-4236-960E-35AA916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52625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rPr>
              <a:t>HOME</a:t>
            </a:r>
          </a:p>
        </p:txBody>
      </p:sp>
      <p:sp>
        <p:nvSpPr>
          <p:cNvPr id="24" name="cover-node-2">
            <a:extLst xmlns:a="http://schemas.openxmlformats.org/drawingml/2006/main">
              <a:ext uri="{FF2B5EF4-FFF2-40B4-BE49-F238E27FC236}">
                <a16:creationId xmlns:a16="http://schemas.microsoft.com/office/drawing/2014/main" id="{9E9349EF-6E2B-4ACA-9C74-5C377766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505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465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cover-node-label-2">
            <a:extLst xmlns:a="http://schemas.openxmlformats.org/drawingml/2006/main">
              <a:ext uri="{FF2B5EF4-FFF2-40B4-BE49-F238E27FC236}">
                <a16:creationId xmlns:a16="http://schemas.microsoft.com/office/drawing/2014/main" id="{ADCD4984-C13D-48EA-A0A8-87627F32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3385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rPr>
              <a:t>NEW TEAM</a:t>
            </a:r>
          </a:p>
        </p:txBody>
      </p:sp>
      <p:sp>
        <p:nvSpPr>
          <p:cNvPr id="26" name="cover-node-3">
            <a:extLst xmlns:a="http://schemas.openxmlformats.org/drawingml/2006/main">
              <a:ext uri="{FF2B5EF4-FFF2-40B4-BE49-F238E27FC236}">
                <a16:creationId xmlns:a16="http://schemas.microsoft.com/office/drawing/2014/main" id="{639787F1-E25E-444E-A988-C91688B1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24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cover-node-label-3">
            <a:extLst xmlns:a="http://schemas.openxmlformats.org/drawingml/2006/main">
              <a:ext uri="{FF2B5EF4-FFF2-40B4-BE49-F238E27FC236}">
                <a16:creationId xmlns:a16="http://schemas.microsoft.com/office/drawing/2014/main" id="{3575CD50-3794-423A-AC25-BEF7D8CC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52900"/>
            <a:ext cx="1095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7E5F5"/>
                </a:solidFill>
                <a:latin typeface="Consolas"/>
                <a:ea typeface="Consolas"/>
                <a:cs typeface="Consolas"/>
              </a:rPr>
              <a:t>FOLLOW-UP</a:t>
            </a:r>
          </a:p>
        </p:txBody>
      </p:sp>
      <p:sp>
        <p:nvSpPr>
          <p:cNvPr id="28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B5F497A5-07BB-4EEF-BC6E-18BFF0D1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28775"/>
            <a:ext cx="600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A5167DAD-9609-47BF-BDA9-BCE24A1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28775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over-line-3">
            <a:extLst xmlns:a="http://schemas.openxmlformats.org/drawingml/2006/main">
              <a:ext uri="{FF2B5EF4-FFF2-40B4-BE49-F238E27FC236}">
                <a16:creationId xmlns:a16="http://schemas.microsoft.com/office/drawing/2014/main" id="{F216FB2D-9B36-42CE-A6A1-C60C359A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562350"/>
            <a:ext cx="676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4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over-line-4">
            <a:extLst xmlns:a="http://schemas.openxmlformats.org/drawingml/2006/main">
              <a:ext uri="{FF2B5EF4-FFF2-40B4-BE49-F238E27FC236}">
                <a16:creationId xmlns:a16="http://schemas.microsoft.com/office/drawing/2014/main" id="{F36E1610-65EA-4EDE-B9DF-BBEB480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562350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over-arrow-1">
            <a:extLst xmlns:a="http://schemas.openxmlformats.org/drawingml/2006/main">
              <a:ext uri="{FF2B5EF4-FFF2-40B4-BE49-F238E27FC236}">
                <a16:creationId xmlns:a16="http://schemas.microsoft.com/office/drawing/2014/main" id="{D6A16AF9-3441-4A05-8896-3D34E85F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2402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solidFill>
              <a:srgbClr val="008FCE"/>
            </a:solidFill>
            <a:prstDash val="solid"/>
          </a:ln>
        </p:spPr>
      </p:sp>
      <p:sp>
        <p:nvSpPr>
          <p:cNvPr id="33" name="cover-arrow-2">
            <a:extLst xmlns:a="http://schemas.openxmlformats.org/drawingml/2006/main">
              <a:ext uri="{FF2B5EF4-FFF2-40B4-BE49-F238E27FC236}">
                <a16:creationId xmlns:a16="http://schemas.microsoft.com/office/drawing/2014/main" id="{C74808B6-C224-41FB-A296-0B3910A4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240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solidFill>
              <a:srgbClr val="138808"/>
            </a:solidFill>
            <a:prstDash val="solid"/>
          </a:ln>
        </p:spPr>
      </p:sp>
      <p:sp>
        <p:nvSpPr>
          <p:cNvPr id="34" name="cover-arrow-3">
            <a:extLst xmlns:a="http://schemas.openxmlformats.org/drawingml/2006/main">
              <a:ext uri="{FF2B5EF4-FFF2-40B4-BE49-F238E27FC236}">
                <a16:creationId xmlns:a16="http://schemas.microsoft.com/office/drawing/2014/main" id="{59ED4B61-77C3-4219-98C5-6260CE2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4385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465"/>
          </a:solidFill>
          <a:ln xmlns:a="http://schemas.openxmlformats.org/drawingml/2006/main" w="0">
            <a:solidFill>
              <a:srgbClr val="FFD465"/>
            </a:solidFill>
            <a:prstDash val="solid"/>
          </a:ln>
        </p:spPr>
      </p:sp>
      <p:sp>
        <p:nvSpPr>
          <p:cNvPr id="35" name="cover-arrow-4">
            <a:extLst xmlns:a="http://schemas.openxmlformats.org/drawingml/2006/main">
              <a:ext uri="{FF2B5EF4-FFF2-40B4-BE49-F238E27FC236}">
                <a16:creationId xmlns:a16="http://schemas.microsoft.com/office/drawing/2014/main" id="{C629AB76-AC18-443B-9454-36FADB2F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38525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solidFill>
              <a:srgbClr val="008FCE"/>
            </a:solidFill>
            <a:prstDash val="solid"/>
          </a:ln>
        </p:spPr>
      </p:sp>
      <p:sp>
        <p:nvSpPr>
          <p:cNvPr id="36" name="cover-qr-card">
            <a:extLst xmlns:a="http://schemas.openxmlformats.org/drawingml/2006/main">
              <a:ext uri="{FF2B5EF4-FFF2-40B4-BE49-F238E27FC236}">
                <a16:creationId xmlns:a16="http://schemas.microsoft.com/office/drawing/2014/main" id="{BFD500D5-07B6-4748-A714-573B614D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0125"/>
            <a:ext cx="17430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b1939e10b4c61"/>
          <a:stretch xmlns:a="http://schemas.openxmlformats.org/drawingml/2006/main"/>
        </p:blipFill>
        <p:spPr>
          <a:xfrm xmlns:a="http://schemas.openxmlformats.org/drawingml/2006/main">
            <a:off x="10001250" y="4905375"/>
            <a:ext cx="800100" cy="800100"/>
          </a:xfrm>
          <a:prstGeom xmlns:a="http://schemas.openxmlformats.org/drawingml/2006/main" prst="rect">
            <a:avLst/>
          </a:prstGeom>
        </p:spPr>
      </p:pic>
      <p:sp>
        <p:nvSpPr>
          <p:cNvPr id="38" name="cover-qr-label">
            <a:extLst xmlns:a="http://schemas.openxmlformats.org/drawingml/2006/main">
              <a:ext uri="{FF2B5EF4-FFF2-40B4-BE49-F238E27FC236}">
                <a16:creationId xmlns:a16="http://schemas.microsoft.com/office/drawing/2014/main" id="{E955765D-EA2D-44BA-9446-6453D2F5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57775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771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TRY THE</a:t>
            </a:r>
          </a:p>
          <a:p xmlns:a="http://schemas.openxmlformats.org/drawingml/2006/main">
            <a:pPr algn="ctr">
              <a:def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CURRENT MVP</a:t>
            </a:r>
          </a:p>
        </p:txBody>
      </p:sp>
    </p:spTree>
    <p:extLst>
      <p:ext uri="{BB962C8B-B14F-4D97-AF65-F5344CB8AC3E}">
        <p14:creationId xmlns:p14="http://schemas.microsoft.com/office/powerpoint/2010/main" val="1832029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3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941D05F7-D977-4F03-B80D-60D979C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154C0C32-0A90-4A8A-94B3-3548DD2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761F8018-D976-4039-A342-441002D9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5092A73-925F-408B-8D96-290C564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E813B6D7-6228-4964-AB40-242BF424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ABB1727B-EBE6-44C6-9277-7985656A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7" name="problem-kicker">
            <a:extLst xmlns:a="http://schemas.openxmlformats.org/drawingml/2006/main">
              <a:ext uri="{FF2B5EF4-FFF2-40B4-BE49-F238E27FC236}">
                <a16:creationId xmlns:a16="http://schemas.microsoft.com/office/drawing/2014/main" id="{CDA199D9-20D3-4782-9B1F-0DEF0FC3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THE GAP</a:t>
            </a:r>
          </a:p>
        </p:txBody>
      </p:sp>
      <p:sp>
        <p:nvSpPr>
          <p:cNvPr id="8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12EBB4FE-D6DC-4F6C-BE08-FCE675A2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58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The conversation exists.</a:t>
            </a:r>
          </a:p>
          <a:p xmlns:a="http://schemas.openxmlformats.org/drawingml/2006/main">
            <a:pPr algn="l">
              <a:defRPr sz="32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The continuity does not.</a:t>
            </a:r>
          </a:p>
        </p:txBody>
      </p:sp>
      <p:sp>
        <p:nvSpPr>
          <p:cNvPr id="9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F4F93FA6-1AFF-4AF3-BA46-993EE0E7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In advanced cancer care, preferences are discussed across visits, people and places. When the situation changes, the latest human-reviewed context can be difficult to find.</a:t>
            </a:r>
          </a:p>
        </p:txBody>
      </p:sp>
      <p:sp>
        <p:nvSpPr>
          <p:cNvPr id="10" name="problem-claim">
            <a:extLst xmlns:a="http://schemas.openxmlformats.org/drawingml/2006/main">
              <a:ext uri="{FF2B5EF4-FFF2-40B4-BE49-F238E27FC236}">
                <a16:creationId xmlns:a16="http://schemas.microsoft.com/office/drawing/2014/main" id="{AC2B1192-0DED-4E0D-B2CE-7355801D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05225"/>
            <a:ext cx="41719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Same patient.</a:t>
            </a:r>
          </a:p>
          <a:p xmlns:a="http://schemas.openxmlformats.org/drawingml/2006/main">
            <a:pPr algn="l">
              <a:defRPr sz="23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Three contexts.</a:t>
            </a:r>
          </a:p>
          <a:p xmlns:a="http://schemas.openxmlformats.org/drawingml/2006/main">
            <a:pPr algn="l">
              <a:defRPr sz="23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One missing thread.</a:t>
            </a:r>
          </a:p>
        </p:txBody>
      </p:sp>
      <p:sp>
        <p:nvSpPr>
          <p:cNvPr id="11" name="problem-left-rule">
            <a:extLst xmlns:a="http://schemas.openxmlformats.org/drawingml/2006/main">
              <a:ext uri="{FF2B5EF4-FFF2-40B4-BE49-F238E27FC236}">
                <a16:creationId xmlns:a16="http://schemas.microsoft.com/office/drawing/2014/main" id="{1A24089F-F83A-487A-9759-7FE40BC4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blem-wedge">
            <a:extLst xmlns:a="http://schemas.openxmlformats.org/drawingml/2006/main">
              <a:ext uri="{FF2B5EF4-FFF2-40B4-BE49-F238E27FC236}">
                <a16:creationId xmlns:a16="http://schemas.microsoft.com/office/drawing/2014/main" id="{F93A0194-CB96-4A38-856F-99E78258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483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The operational wedge is continuity and coordination, not automated clinical advice.</a:t>
            </a:r>
          </a:p>
        </p:txBody>
      </p:sp>
      <p:sp>
        <p:nvSpPr>
          <p:cNvPr id="13" name="problem-context-0">
            <a:extLst xmlns:a="http://schemas.openxmlformats.org/drawingml/2006/main">
              <a:ext uri="{FF2B5EF4-FFF2-40B4-BE49-F238E27FC236}">
                <a16:creationId xmlns:a16="http://schemas.microsoft.com/office/drawing/2014/main" id="{AD931942-0033-480B-91ED-3C79CDD8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52387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4" name="problem-context-dot-0">
            <a:extLst xmlns:a="http://schemas.openxmlformats.org/drawingml/2006/main">
              <a:ext uri="{FF2B5EF4-FFF2-40B4-BE49-F238E27FC236}">
                <a16:creationId xmlns:a16="http://schemas.microsoft.com/office/drawing/2014/main" id="{8825FBCD-F7DA-4F5B-B286-D764DC66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621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9525">
            <a:solidFill>
              <a:srgbClr val="008FCE"/>
            </a:solidFill>
            <a:prstDash val="solid"/>
          </a:ln>
        </p:spPr>
      </p:sp>
      <p:sp>
        <p:nvSpPr>
          <p:cNvPr id="15" name="problem-context-number-0">
            <a:extLst xmlns:a="http://schemas.openxmlformats.org/drawingml/2006/main">
              <a:ext uri="{FF2B5EF4-FFF2-40B4-BE49-F238E27FC236}">
                <a16:creationId xmlns:a16="http://schemas.microsoft.com/office/drawing/2014/main" id="{6B6FBA97-FAB5-40D9-9FB9-C8429FEF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764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6" name="problem-context-label-0">
            <a:extLst xmlns:a="http://schemas.openxmlformats.org/drawingml/2006/main">
              <a:ext uri="{FF2B5EF4-FFF2-40B4-BE49-F238E27FC236}">
                <a16:creationId xmlns:a16="http://schemas.microsoft.com/office/drawing/2014/main" id="{CC851E97-4F9C-49AE-8B8E-BA7C01D4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240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8FC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008FCE"/>
                </a:solidFill>
                <a:latin typeface="Consolas"/>
                <a:ea typeface="Consolas"/>
                <a:cs typeface="Consolas"/>
              </a:rPr>
              <a:t>CLINIC</a:t>
            </a:r>
          </a:p>
        </p:txBody>
      </p:sp>
      <p:sp>
        <p:nvSpPr>
          <p:cNvPr id="17" name="problem-context-body-0">
            <a:extLst xmlns:a="http://schemas.openxmlformats.org/drawingml/2006/main">
              <a:ext uri="{FF2B5EF4-FFF2-40B4-BE49-F238E27FC236}">
                <a16:creationId xmlns:a16="http://schemas.microsoft.com/office/drawing/2014/main" id="{6BFFD15C-8C42-4CA5-B364-B09849B7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030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A conversation starts. Some domains remain unresolved.</a:t>
            </a:r>
          </a:p>
        </p:txBody>
      </p:sp>
      <p:sp>
        <p:nvSpPr>
          <p:cNvPr id="18" name="problem-arrow-0">
            <a:extLst xmlns:a="http://schemas.openxmlformats.org/drawingml/2006/main">
              <a:ext uri="{FF2B5EF4-FFF2-40B4-BE49-F238E27FC236}">
                <a16:creationId xmlns:a16="http://schemas.microsoft.com/office/drawing/2014/main" id="{BF664ED4-F932-440F-A15B-3C749A11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8607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solidFill>
              <a:srgbClr val="008FCE"/>
            </a:solidFill>
            <a:prstDash val="solid"/>
          </a:ln>
        </p:spPr>
      </p:sp>
      <p:sp>
        <p:nvSpPr>
          <p:cNvPr id="19" name="problem-context-1">
            <a:extLst xmlns:a="http://schemas.openxmlformats.org/drawingml/2006/main">
              <a:ext uri="{FF2B5EF4-FFF2-40B4-BE49-F238E27FC236}">
                <a16:creationId xmlns:a16="http://schemas.microsoft.com/office/drawing/2014/main" id="{1DAA4955-637B-40DB-B79F-97B9948B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43250"/>
            <a:ext cx="52387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0" name="problem-context-dot-1">
            <a:extLst xmlns:a="http://schemas.openxmlformats.org/drawingml/2006/main">
              <a:ext uri="{FF2B5EF4-FFF2-40B4-BE49-F238E27FC236}">
                <a16:creationId xmlns:a16="http://schemas.microsoft.com/office/drawing/2014/main" id="{21F24E99-58D7-4266-8D0D-A5C8D41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62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9525">
            <a:solidFill>
              <a:srgbClr val="138808"/>
            </a:solidFill>
            <a:prstDash val="solid"/>
          </a:ln>
        </p:spPr>
      </p:sp>
      <p:sp>
        <p:nvSpPr>
          <p:cNvPr id="21" name="problem-context-number-1">
            <a:extLst xmlns:a="http://schemas.openxmlformats.org/drawingml/2006/main">
              <a:ext uri="{FF2B5EF4-FFF2-40B4-BE49-F238E27FC236}">
                <a16:creationId xmlns:a16="http://schemas.microsoft.com/office/drawing/2014/main" id="{C2B31040-36D4-4429-8EB3-24989361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76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22" name="problem-context-label-1">
            <a:extLst xmlns:a="http://schemas.openxmlformats.org/drawingml/2006/main">
              <a:ext uri="{FF2B5EF4-FFF2-40B4-BE49-F238E27FC236}">
                <a16:creationId xmlns:a16="http://schemas.microsoft.com/office/drawing/2014/main" id="{A5B15856-B07D-41B3-AC83-17A382F8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2422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HOME + FAMILY</a:t>
            </a:r>
          </a:p>
        </p:txBody>
      </p:sp>
      <p:sp>
        <p:nvSpPr>
          <p:cNvPr id="23" name="problem-context-body-1">
            <a:extLst xmlns:a="http://schemas.openxmlformats.org/drawingml/2006/main">
              <a:ext uri="{FF2B5EF4-FFF2-40B4-BE49-F238E27FC236}">
                <a16:creationId xmlns:a16="http://schemas.microsoft.com/office/drawing/2014/main" id="{315E6F9E-8A59-431A-8F5E-DA24E64D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Questions and preferences can change between visits.</a:t>
            </a:r>
          </a:p>
        </p:txBody>
      </p:sp>
      <p:sp>
        <p:nvSpPr>
          <p:cNvPr id="24" name="problem-arrow-1">
            <a:extLst xmlns:a="http://schemas.openxmlformats.org/drawingml/2006/main">
              <a:ext uri="{FF2B5EF4-FFF2-40B4-BE49-F238E27FC236}">
                <a16:creationId xmlns:a16="http://schemas.microsoft.com/office/drawing/2014/main" id="{7CEC75AE-F65B-470E-85D1-803E9C79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86225"/>
            <a:ext cx="5238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solidFill>
              <a:srgbClr val="138808"/>
            </a:solidFill>
            <a:prstDash val="solid"/>
          </a:ln>
        </p:spPr>
      </p:sp>
      <p:sp>
        <p:nvSpPr>
          <p:cNvPr id="25" name="problem-context-2">
            <a:extLst xmlns:a="http://schemas.openxmlformats.org/drawingml/2006/main">
              <a:ext uri="{FF2B5EF4-FFF2-40B4-BE49-F238E27FC236}">
                <a16:creationId xmlns:a16="http://schemas.microsoft.com/office/drawing/2014/main" id="{D66EF2EB-F217-42E4-8796-786D1104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43400"/>
            <a:ext cx="52387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6" name="problem-context-dot-2">
            <a:extLst xmlns:a="http://schemas.openxmlformats.org/drawingml/2006/main">
              <a:ext uri="{FF2B5EF4-FFF2-40B4-BE49-F238E27FC236}">
                <a16:creationId xmlns:a16="http://schemas.microsoft.com/office/drawing/2014/main" id="{B35FAF39-490A-436A-AEEC-B5189131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624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9525">
            <a:solidFill>
              <a:srgbClr val="FF8A24"/>
            </a:solidFill>
            <a:prstDash val="solid"/>
          </a:ln>
        </p:spPr>
      </p:sp>
      <p:sp>
        <p:nvSpPr>
          <p:cNvPr id="27" name="problem-context-number-2">
            <a:extLst xmlns:a="http://schemas.openxmlformats.org/drawingml/2006/main">
              <a:ext uri="{FF2B5EF4-FFF2-40B4-BE49-F238E27FC236}">
                <a16:creationId xmlns:a16="http://schemas.microsoft.com/office/drawing/2014/main" id="{16EC68FA-B83D-4D48-B98C-D497FF1B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767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8" name="problem-context-label-2">
            <a:extLst xmlns:a="http://schemas.openxmlformats.org/drawingml/2006/main">
              <a:ext uri="{FF2B5EF4-FFF2-40B4-BE49-F238E27FC236}">
                <a16:creationId xmlns:a16="http://schemas.microsoft.com/office/drawing/2014/main" id="{22B6E083-B4DA-4EFD-837C-6ADFC0D0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24375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RECEIVING TEAM</a:t>
            </a:r>
          </a:p>
        </p:txBody>
      </p:sp>
      <p:sp>
        <p:nvSpPr>
          <p:cNvPr id="29" name="problem-context-body-2">
            <a:extLst xmlns:a="http://schemas.openxmlformats.org/drawingml/2006/main">
              <a:ext uri="{FF2B5EF4-FFF2-40B4-BE49-F238E27FC236}">
                <a16:creationId xmlns:a16="http://schemas.microsoft.com/office/drawing/2014/main" id="{C783222E-5C66-4603-B7F4-FAE1366D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00600"/>
            <a:ext cx="3857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The next clinician needs the verified context now.</a:t>
            </a:r>
          </a:p>
        </p:txBody>
      </p:sp>
      <p:sp>
        <p:nvSpPr>
          <p:cNvPr id="30" name="problem-bottom">
            <a:extLst xmlns:a="http://schemas.openxmlformats.org/drawingml/2006/main">
              <a:ext uri="{FF2B5EF4-FFF2-40B4-BE49-F238E27FC236}">
                <a16:creationId xmlns:a16="http://schemas.microsoft.com/office/drawing/2014/main" id="{F3497518-78A7-465D-8380-7F0A4079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657850"/>
            <a:ext cx="5238750" cy="3429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roblem-bottom-copy">
            <a:extLst xmlns:a="http://schemas.openxmlformats.org/drawingml/2006/main">
              <a:ext uri="{FF2B5EF4-FFF2-40B4-BE49-F238E27FC236}">
                <a16:creationId xmlns:a16="http://schemas.microsoft.com/office/drawing/2014/main" id="{B1C746AC-7BFC-4546-A627-9C132FE6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53100"/>
            <a:ext cx="480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CLOSE THE LOOP BEFORE THE NEXT HANDOFF</a:t>
            </a:r>
          </a:p>
        </p:txBody>
      </p:sp>
    </p:spTree>
    <p:extLst>
      <p:ext uri="{BB962C8B-B14F-4D97-AF65-F5344CB8AC3E}">
        <p14:creationId xmlns:p14="http://schemas.microsoft.com/office/powerpoint/2010/main" val="5414278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4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F852584C-6160-407F-B7C9-3C32D1D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8181A1FC-9981-4CDB-8D22-FA70B906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C599A890-F80C-486D-9F9A-001E486A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87B41C5A-54F8-4081-BAB0-CA3B119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8B351141-A63B-41F9-9E75-15C54DD5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917D194A-8B58-4A5B-85EC-94DF91E1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7" name="solution-kicker">
            <a:extLst xmlns:a="http://schemas.openxmlformats.org/drawingml/2006/main">
              <a:ext uri="{FF2B5EF4-FFF2-40B4-BE49-F238E27FC236}">
                <a16:creationId xmlns:a16="http://schemas.microsoft.com/office/drawing/2014/main" id="{F80FDDA6-B2B9-4BCD-BB1A-7EBAB7F9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WHAT WE BUILD</a:t>
            </a:r>
          </a:p>
        </p:txBody>
      </p:sp>
      <p:sp>
        <p:nvSpPr>
          <p:cNvPr id="8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1E1F78BA-A717-454E-98CD-CFF6B072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A care conversation becomes a reviewed,</a:t>
            </a:r>
          </a:p>
          <a:p xmlns:a="http://schemas.openxmlformats.org/drawingml/2006/main">
            <a:pPr algn="l">
              <a:defRPr sz="300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retrievable thread.</a:t>
            </a:r>
          </a:p>
        </p:txBody>
      </p:sp>
      <p:sp>
        <p:nvSpPr>
          <p:cNvPr id="9" name="solution-layer-0">
            <a:extLst xmlns:a="http://schemas.openxmlformats.org/drawingml/2006/main">
              <a:ext uri="{FF2B5EF4-FFF2-40B4-BE49-F238E27FC236}">
                <a16:creationId xmlns:a16="http://schemas.microsoft.com/office/drawing/2014/main" id="{BD95F0FE-C587-4847-BE83-8FA8D147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50958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0" name="solution-layer-accent-0">
            <a:extLst xmlns:a="http://schemas.openxmlformats.org/drawingml/2006/main">
              <a:ext uri="{FF2B5EF4-FFF2-40B4-BE49-F238E27FC236}">
                <a16:creationId xmlns:a16="http://schemas.microsoft.com/office/drawing/2014/main" id="{1AC9A5B1-B985-454B-A098-B70E8779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76200" cy="638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lution-layer-number-0">
            <a:extLst xmlns:a="http://schemas.openxmlformats.org/drawingml/2006/main">
              <a:ext uri="{FF2B5EF4-FFF2-40B4-BE49-F238E27FC236}">
                <a16:creationId xmlns:a16="http://schemas.microsoft.com/office/drawing/2014/main" id="{1380B29E-2629-4BF3-9131-27E739DC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88595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2" name="solution-layer-label-0">
            <a:extLst xmlns:a="http://schemas.openxmlformats.org/drawingml/2006/main">
              <a:ext uri="{FF2B5EF4-FFF2-40B4-BE49-F238E27FC236}">
                <a16:creationId xmlns:a16="http://schemas.microsoft.com/office/drawing/2014/main" id="{CFAC4176-2713-43D8-9EF2-975B390E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8669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CAPTURE</a:t>
            </a:r>
          </a:p>
        </p:txBody>
      </p:sp>
      <p:sp>
        <p:nvSpPr>
          <p:cNvPr id="13" name="solution-layer-body-0">
            <a:extLst xmlns:a="http://schemas.openxmlformats.org/drawingml/2006/main">
              <a:ext uri="{FF2B5EF4-FFF2-40B4-BE49-F238E27FC236}">
                <a16:creationId xmlns:a16="http://schemas.microsoft.com/office/drawing/2014/main" id="{9C2D79E8-D2F0-41F3-B317-82215457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0859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Guide the clinician through agreed domains.</a:t>
            </a:r>
          </a:p>
        </p:txBody>
      </p:sp>
      <p:sp>
        <p:nvSpPr>
          <p:cNvPr id="14" name="solution-layer-1">
            <a:extLst xmlns:a="http://schemas.openxmlformats.org/drawingml/2006/main">
              <a:ext uri="{FF2B5EF4-FFF2-40B4-BE49-F238E27FC236}">
                <a16:creationId xmlns:a16="http://schemas.microsoft.com/office/drawing/2014/main" id="{1E2477DB-7ED4-49D4-8BAC-36483E7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50958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5" name="solution-layer-accent-1">
            <a:extLst xmlns:a="http://schemas.openxmlformats.org/drawingml/2006/main">
              <a:ext uri="{FF2B5EF4-FFF2-40B4-BE49-F238E27FC236}">
                <a16:creationId xmlns:a16="http://schemas.microsoft.com/office/drawing/2014/main" id="{C417D60F-773C-4FFE-9C4A-3BCF749D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76200" cy="638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olution-layer-number-1">
            <a:extLst xmlns:a="http://schemas.openxmlformats.org/drawingml/2006/main">
              <a:ext uri="{FF2B5EF4-FFF2-40B4-BE49-F238E27FC236}">
                <a16:creationId xmlns:a16="http://schemas.microsoft.com/office/drawing/2014/main" id="{8F9B714B-F7BA-4E62-85FB-21C10AAA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8FC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8FCE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7" name="solution-layer-label-1">
            <a:extLst xmlns:a="http://schemas.openxmlformats.org/drawingml/2006/main">
              <a:ext uri="{FF2B5EF4-FFF2-40B4-BE49-F238E27FC236}">
                <a16:creationId xmlns:a16="http://schemas.microsoft.com/office/drawing/2014/main" id="{AF9360BC-1FEA-4D9B-98D8-32F96428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6670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STRUCTURE</a:t>
            </a:r>
          </a:p>
        </p:txBody>
      </p:sp>
      <p:sp>
        <p:nvSpPr>
          <p:cNvPr id="18" name="solution-layer-body-1">
            <a:extLst xmlns:a="http://schemas.openxmlformats.org/drawingml/2006/main">
              <a:ext uri="{FF2B5EF4-FFF2-40B4-BE49-F238E27FC236}">
                <a16:creationId xmlns:a16="http://schemas.microsoft.com/office/drawing/2014/main" id="{8797F591-2D21-4391-A353-A43DF712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860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Turn source notes into a visible draft.</a:t>
            </a:r>
          </a:p>
        </p:txBody>
      </p:sp>
      <p:sp>
        <p:nvSpPr>
          <p:cNvPr id="19" name="solution-layer-2">
            <a:extLst xmlns:a="http://schemas.openxmlformats.org/drawingml/2006/main">
              <a:ext uri="{FF2B5EF4-FFF2-40B4-BE49-F238E27FC236}">
                <a16:creationId xmlns:a16="http://schemas.microsoft.com/office/drawing/2014/main" id="{5B290111-3943-4C3A-B727-5531D39A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50958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0" name="solution-layer-accent-2">
            <a:extLst xmlns:a="http://schemas.openxmlformats.org/drawingml/2006/main">
              <a:ext uri="{FF2B5EF4-FFF2-40B4-BE49-F238E27FC236}">
                <a16:creationId xmlns:a16="http://schemas.microsoft.com/office/drawing/2014/main" id="{2D31EE4E-EE2D-48E7-9816-B95469F8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76200" cy="638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olution-layer-number-2">
            <a:extLst xmlns:a="http://schemas.openxmlformats.org/drawingml/2006/main">
              <a:ext uri="{FF2B5EF4-FFF2-40B4-BE49-F238E27FC236}">
                <a16:creationId xmlns:a16="http://schemas.microsoft.com/office/drawing/2014/main" id="{884F74D1-A592-4F3B-9622-ABA6DDD8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8615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2" name="solution-layer-label-2">
            <a:extLst xmlns:a="http://schemas.openxmlformats.org/drawingml/2006/main">
              <a:ext uri="{FF2B5EF4-FFF2-40B4-BE49-F238E27FC236}">
                <a16:creationId xmlns:a16="http://schemas.microsoft.com/office/drawing/2014/main" id="{9FB1D007-B4D3-4E10-AAB9-5ACEBB05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4671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REVIEW</a:t>
            </a:r>
          </a:p>
        </p:txBody>
      </p:sp>
      <p:sp>
        <p:nvSpPr>
          <p:cNvPr id="23" name="solution-layer-body-2">
            <a:extLst xmlns:a="http://schemas.openxmlformats.org/drawingml/2006/main">
              <a:ext uri="{FF2B5EF4-FFF2-40B4-BE49-F238E27FC236}">
                <a16:creationId xmlns:a16="http://schemas.microsoft.com/office/drawing/2014/main" id="{FF7FE518-C4C7-49EC-8762-E9F04301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86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Resolve gaps before a physician releases it.</a:t>
            </a:r>
          </a:p>
        </p:txBody>
      </p:sp>
      <p:sp>
        <p:nvSpPr>
          <p:cNvPr id="24" name="solution-layer-3">
            <a:extLst xmlns:a="http://schemas.openxmlformats.org/drawingml/2006/main">
              <a:ext uri="{FF2B5EF4-FFF2-40B4-BE49-F238E27FC236}">
                <a16:creationId xmlns:a16="http://schemas.microsoft.com/office/drawing/2014/main" id="{836E64E6-64DA-4843-8077-10B4721E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509587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5" name="solution-layer-accent-3">
            <a:extLst xmlns:a="http://schemas.openxmlformats.org/drawingml/2006/main">
              <a:ext uri="{FF2B5EF4-FFF2-40B4-BE49-F238E27FC236}">
                <a16:creationId xmlns:a16="http://schemas.microsoft.com/office/drawing/2014/main" id="{F90B981B-CA66-4C30-92B2-3BE28E41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52900"/>
            <a:ext cx="76200" cy="638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olution-layer-number-3">
            <a:extLst xmlns:a="http://schemas.openxmlformats.org/drawingml/2006/main">
              <a:ext uri="{FF2B5EF4-FFF2-40B4-BE49-F238E27FC236}">
                <a16:creationId xmlns:a16="http://schemas.microsoft.com/office/drawing/2014/main" id="{24B177B4-FBC2-41C3-8C82-838AF269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86250"/>
            <a:ext cx="323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7" name="solution-layer-label-3">
            <a:extLst xmlns:a="http://schemas.openxmlformats.org/drawingml/2006/main">
              <a:ext uri="{FF2B5EF4-FFF2-40B4-BE49-F238E27FC236}">
                <a16:creationId xmlns:a16="http://schemas.microsoft.com/office/drawing/2014/main" id="{6D53D314-5B8F-4A7A-8F7C-0EA2E269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26720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HANDOFF</a:t>
            </a:r>
          </a:p>
        </p:txBody>
      </p:sp>
      <p:sp>
        <p:nvSpPr>
          <p:cNvPr id="28" name="solution-layer-body-3">
            <a:extLst xmlns:a="http://schemas.openxmlformats.org/drawingml/2006/main">
              <a:ext uri="{FF2B5EF4-FFF2-40B4-BE49-F238E27FC236}">
                <a16:creationId xmlns:a16="http://schemas.microsoft.com/office/drawing/2014/main" id="{A36F9FFA-8191-4D37-80B8-C3F0B0F3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862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Retrieve the latest verified version with purpose recorded.</a:t>
            </a:r>
          </a:p>
        </p:txBody>
      </p:sp>
      <p:sp>
        <p:nvSpPr>
          <p:cNvPr id="29" name="solution-screenshot-frame">
            <a:extLst xmlns:a="http://schemas.openxmlformats.org/drawingml/2006/main">
              <a:ext uri="{FF2B5EF4-FFF2-40B4-BE49-F238E27FC236}">
                <a16:creationId xmlns:a16="http://schemas.microsoft.com/office/drawing/2014/main" id="{7D0612DF-1514-401E-BEC3-815A33C4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52600"/>
            <a:ext cx="5095875" cy="3343275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7B9AB7"/>
            </a:solidFill>
            <a:prstDash val="solid"/>
          </a:ln>
        </p:spPr>
      </p:sp>
      <p:sp>
        <p:nvSpPr>
          <p:cNvPr id="30" name="solution-screenshot-inner">
            <a:extLst xmlns:a="http://schemas.openxmlformats.org/drawingml/2006/main">
              <a:ext uri="{FF2B5EF4-FFF2-40B4-BE49-F238E27FC236}">
                <a16:creationId xmlns:a16="http://schemas.microsoft.com/office/drawing/2014/main" id="{FE0AAE11-0697-4299-A608-E836DE6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1905000"/>
            <a:ext cx="4791075" cy="3038475"/>
          </a:xfrm>
          <a:prstGeom xmlns:a="http://schemas.openxmlformats.org/drawingml/2006/main" prst="roundRect">
            <a:avLst>
              <a:gd name="adj" fmla="val 2508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B9AB7"/>
            </a:solidFill>
            <a:prstDash val="solid"/>
          </a:ln>
        </p:spPr>
      </p:sp>
      <p:sp>
        <p:nvSpPr>
          <p:cNvPr id="31" name="solution-screenshot-icon-circle">
            <a:extLst xmlns:a="http://schemas.openxmlformats.org/drawingml/2006/main">
              <a:ext uri="{FF2B5EF4-FFF2-40B4-BE49-F238E27FC236}">
                <a16:creationId xmlns:a16="http://schemas.microsoft.com/office/drawing/2014/main" id="{F6E92984-FE3D-46FD-82FA-5795C2F5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986088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7B9AB7"/>
            </a:solidFill>
            <a:prstDash val="solid"/>
          </a:ln>
        </p:spPr>
      </p:sp>
      <p:sp>
        <p:nvSpPr>
          <p:cNvPr id="32" name="solution-screenshot-icon-screen">
            <a:extLst xmlns:a="http://schemas.openxmlformats.org/drawingml/2006/main">
              <a:ext uri="{FF2B5EF4-FFF2-40B4-BE49-F238E27FC236}">
                <a16:creationId xmlns:a16="http://schemas.microsoft.com/office/drawing/2014/main" id="{AFF8CFB1-375B-43D2-991D-CC688E9A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3081338"/>
            <a:ext cx="228600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9AB7"/>
            </a:solidFill>
            <a:prstDash val="solid"/>
          </a:ln>
        </p:spPr>
      </p:sp>
      <p:sp>
        <p:nvSpPr>
          <p:cNvPr id="33" name="solution-screenshot-label">
            <a:extLst xmlns:a="http://schemas.openxmlformats.org/drawingml/2006/main">
              <a:ext uri="{FF2B5EF4-FFF2-40B4-BE49-F238E27FC236}">
                <a16:creationId xmlns:a16="http://schemas.microsoft.com/office/drawing/2014/main" id="{7EE31FA2-396C-4FDB-8BB4-A08C7EAD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38538"/>
            <a:ext cx="452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PRODUCT SURFACE / SCREENSHOT SLOT</a:t>
            </a:r>
          </a:p>
        </p:txBody>
      </p:sp>
      <p:sp>
        <p:nvSpPr>
          <p:cNvPr id="34" name="solution-screenshot-body">
            <a:extLst xmlns:a="http://schemas.openxmlformats.org/drawingml/2006/main">
              <a:ext uri="{FF2B5EF4-FFF2-40B4-BE49-F238E27FC236}">
                <a16:creationId xmlns:a16="http://schemas.microsoft.com/office/drawing/2014/main" id="{EF35E05D-A7B8-487B-9C80-24D763E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24288"/>
            <a:ext cx="4371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Drop the live app capture here after the UI build.</a:t>
            </a:r>
          </a:p>
        </p:txBody>
      </p:sp>
      <p:sp>
        <p:nvSpPr>
          <p:cNvPr id="35" name="solution-slot-note">
            <a:extLst xmlns:a="http://schemas.openxmlformats.org/drawingml/2006/main">
              <a:ext uri="{FF2B5EF4-FFF2-40B4-BE49-F238E27FC236}">
                <a16:creationId xmlns:a16="http://schemas.microsoft.com/office/drawing/2014/main" id="{0CFF9AAA-F65F-4C4F-9EFD-F1C112B3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238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26079"/>
                </a:solidFill>
                <a:latin typeface="Consolas"/>
                <a:ea typeface="Consolas"/>
                <a:cs typeface="Consolas"/>
              </a:defRPr>
            </a:pPr>
            <a:r>
              <a:rPr sz="900" b="0" i="0">
                <a:solidFill>
                  <a:srgbClr val="526079"/>
                </a:solidFill>
                <a:latin typeface="Consolas"/>
                <a:ea typeface="Consolas"/>
                <a:cs typeface="Consolas"/>
              </a:rPr>
              <a:t>This slot is intentionally blank until the team ships the app UI.</a:t>
            </a:r>
          </a:p>
        </p:txBody>
      </p:sp>
      <p:sp>
        <p:nvSpPr>
          <p:cNvPr id="36" name="solution-pill-1-box">
            <a:extLst xmlns:a="http://schemas.openxmlformats.org/drawingml/2006/main">
              <a:ext uri="{FF2B5EF4-FFF2-40B4-BE49-F238E27FC236}">
                <a16:creationId xmlns:a16="http://schemas.microsoft.com/office/drawing/2014/main" id="{43DB4CB5-9AC1-499B-BA9A-E1E31EC2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752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olution-pill-1-text">
            <a:extLst xmlns:a="http://schemas.openxmlformats.org/drawingml/2006/main">
              <a:ext uri="{FF2B5EF4-FFF2-40B4-BE49-F238E27FC236}">
                <a16:creationId xmlns:a16="http://schemas.microsoft.com/office/drawing/2014/main" id="{2A23374B-A8A2-4729-BCDE-1AC46E10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NO SILENT OVERWRITE</a:t>
            </a:r>
          </a:p>
        </p:txBody>
      </p:sp>
      <p:sp>
        <p:nvSpPr>
          <p:cNvPr id="38" name="solution-pill-2-box">
            <a:extLst xmlns:a="http://schemas.openxmlformats.org/drawingml/2006/main">
              <a:ext uri="{FF2B5EF4-FFF2-40B4-BE49-F238E27FC236}">
                <a16:creationId xmlns:a16="http://schemas.microsoft.com/office/drawing/2014/main" id="{8FC41CD1-E06E-4EDC-8EE3-54631899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572125"/>
            <a:ext cx="166687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solution-pill-2-text">
            <a:extLst xmlns:a="http://schemas.openxmlformats.org/drawingml/2006/main">
              <a:ext uri="{FF2B5EF4-FFF2-40B4-BE49-F238E27FC236}">
                <a16:creationId xmlns:a16="http://schemas.microsoft.com/office/drawing/2014/main" id="{4D6D4462-A369-4D46-A753-DCE90AC5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38800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HUMAN RELEASE GATE</a:t>
            </a:r>
          </a:p>
        </p:txBody>
      </p:sp>
      <p:sp>
        <p:nvSpPr>
          <p:cNvPr id="40" name="solution-pill-3-box">
            <a:extLst xmlns:a="http://schemas.openxmlformats.org/drawingml/2006/main">
              <a:ext uri="{FF2B5EF4-FFF2-40B4-BE49-F238E27FC236}">
                <a16:creationId xmlns:a16="http://schemas.microsoft.com/office/drawing/2014/main" id="{217BF9DB-8BDB-43CC-8299-934956E2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72125"/>
            <a:ext cx="1981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olution-pill-3-text">
            <a:extLst xmlns:a="http://schemas.openxmlformats.org/drawingml/2006/main">
              <a:ext uri="{FF2B5EF4-FFF2-40B4-BE49-F238E27FC236}">
                <a16:creationId xmlns:a16="http://schemas.microsoft.com/office/drawing/2014/main" id="{C1F090F6-D6CE-42D4-83CD-5E643052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638800"/>
            <a:ext cx="1752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NAMED FOLLOW-UP OWNER</a:t>
            </a:r>
          </a:p>
        </p:txBody>
      </p:sp>
      <p:sp>
        <p:nvSpPr>
          <p:cNvPr id="42" name="solution-pill-4-box">
            <a:extLst xmlns:a="http://schemas.openxmlformats.org/drawingml/2006/main">
              <a:ext uri="{FF2B5EF4-FFF2-40B4-BE49-F238E27FC236}">
                <a16:creationId xmlns:a16="http://schemas.microsoft.com/office/drawing/2014/main" id="{79F1197D-9295-4D77-9E03-A17F1B95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572125"/>
            <a:ext cx="2019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7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olution-pill-4-text">
            <a:extLst xmlns:a="http://schemas.openxmlformats.org/drawingml/2006/main">
              <a:ext uri="{FF2B5EF4-FFF2-40B4-BE49-F238E27FC236}">
                <a16:creationId xmlns:a16="http://schemas.microsoft.com/office/drawing/2014/main" id="{6765FB7E-07A7-48FE-BEA1-8815376D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638800"/>
            <a:ext cx="1790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PURPOSE-BOUND RETRIEVAL</a:t>
            </a:r>
          </a:p>
        </p:txBody>
      </p:sp>
    </p:spTree>
    <p:extLst>
      <p:ext uri="{BB962C8B-B14F-4D97-AF65-F5344CB8AC3E}">
        <p14:creationId xmlns:p14="http://schemas.microsoft.com/office/powerpoint/2010/main" val="1205692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2B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582C1DE5-7CDB-4E0B-AC24-6ADC3DC3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751E779F-D992-4AF2-B83C-25CF199D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87D11361-964D-4128-9503-3BD2FACA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F0DDF69F-6839-4582-83BD-4FD14FAD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7BBA29C7-7453-477E-BE0B-BA78CD83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8D76EDD7-5BEC-452C-AAD3-09CF5EF6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7" name="workflow-kicker">
            <a:extLst xmlns:a="http://schemas.openxmlformats.org/drawingml/2006/main">
              <a:ext uri="{FF2B5EF4-FFF2-40B4-BE49-F238E27FC236}">
                <a16:creationId xmlns:a16="http://schemas.microsoft.com/office/drawing/2014/main" id="{9589C8A4-3AAB-4891-A469-42F9B35D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THE LOOP</a:t>
            </a:r>
          </a:p>
        </p:txBody>
      </p:sp>
      <p:sp>
        <p:nvSpPr>
          <p:cNvPr id="8" name="workflow-title">
            <a:extLst xmlns:a="http://schemas.openxmlformats.org/drawingml/2006/main">
              <a:ext uri="{FF2B5EF4-FFF2-40B4-BE49-F238E27FC236}">
                <a16:creationId xmlns:a16="http://schemas.microsoft.com/office/drawing/2014/main" id="{A2EB3381-FF0B-431B-9A20-DDD2C062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loop. Five human-owned moments</a:t>
            </a:r>
          </a:p>
        </p:txBody>
      </p:sp>
      <p:sp>
        <p:nvSpPr>
          <p:cNvPr id="9" name="workflow-intro">
            <a:extLst xmlns:a="http://schemas.openxmlformats.org/drawingml/2006/main">
              <a:ext uri="{FF2B5EF4-FFF2-40B4-BE49-F238E27FC236}">
                <a16:creationId xmlns:a16="http://schemas.microsoft.com/office/drawing/2014/main" id="{06C4D230-50F2-4BCB-936D-2CBF453A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rPr>
              <a:t>The system makes ownership, uncertainty and the next review visible at each transition</a:t>
            </a:r>
          </a:p>
        </p:txBody>
      </p:sp>
      <p:sp>
        <p:nvSpPr>
          <p:cNvPr id="10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0FBF6FAC-A3BA-45E8-AB63-4AA5D7A3B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43175"/>
            <a:ext cx="9067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B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5BC7A61D-6E04-4DBB-8A69-D8031E23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workflow-node-number-0">
            <a:extLst xmlns:a="http://schemas.openxmlformats.org/drawingml/2006/main">
              <a:ext uri="{FF2B5EF4-FFF2-40B4-BE49-F238E27FC236}">
                <a16:creationId xmlns:a16="http://schemas.microsoft.com/office/drawing/2014/main" id="{EBFE664A-FE27-4856-9BB7-752BD769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3" name="workflow-step-label-0">
            <a:extLst xmlns:a="http://schemas.openxmlformats.org/drawingml/2006/main">
              <a:ext uri="{FF2B5EF4-FFF2-40B4-BE49-F238E27FC236}">
                <a16:creationId xmlns:a16="http://schemas.microsoft.com/office/drawing/2014/main" id="{BFC5AFA0-4DD2-48C5-97CC-CBB4FF49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ASSIGN</a:t>
            </a:r>
          </a:p>
        </p:txBody>
      </p:sp>
      <p:sp>
        <p:nvSpPr>
          <p:cNvPr id="14" name="workflow-step-body-0">
            <a:extLst xmlns:a="http://schemas.openxmlformats.org/drawingml/2006/main">
              <a:ext uri="{FF2B5EF4-FFF2-40B4-BE49-F238E27FC236}">
                <a16:creationId xmlns:a16="http://schemas.microsoft.com/office/drawing/2014/main" id="{9D37BB56-A67A-44AD-ADB8-A92A3773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57575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rPr>
              <a:t>Select the patient, owner and next review date.</a:t>
            </a:r>
          </a:p>
        </p:txBody>
      </p:sp>
      <p:sp>
        <p:nvSpPr>
          <p:cNvPr id="15" name="workflow-arrow-0">
            <a:extLst xmlns:a="http://schemas.openxmlformats.org/drawingml/2006/main">
              <a:ext uri="{FF2B5EF4-FFF2-40B4-BE49-F238E27FC236}">
                <a16:creationId xmlns:a16="http://schemas.microsoft.com/office/drawing/2014/main" id="{986B2CBB-8A4D-4633-952D-AFF3118F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457450"/>
            <a:ext cx="1066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8BAB"/>
          </a:solidFill>
          <a:ln xmlns:a="http://schemas.openxmlformats.org/drawingml/2006/main" w="0">
            <a:solidFill>
              <a:srgbClr val="6B8BAB"/>
            </a:solidFill>
            <a:prstDash val="solid"/>
          </a:ln>
        </p:spPr>
      </p:sp>
      <p:sp>
        <p:nvSpPr>
          <p:cNvPr id="16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7DD89298-9FA4-40B1-BC70-2FD7F537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05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workflow-node-number-1">
            <a:extLst xmlns:a="http://schemas.openxmlformats.org/drawingml/2006/main">
              <a:ext uri="{FF2B5EF4-FFF2-40B4-BE49-F238E27FC236}">
                <a16:creationId xmlns:a16="http://schemas.microsoft.com/office/drawing/2014/main" id="{0392820A-C4D5-4DCB-B305-C1CBED37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4479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8" name="workflow-step-label-1">
            <a:extLst xmlns:a="http://schemas.openxmlformats.org/drawingml/2006/main">
              <a:ext uri="{FF2B5EF4-FFF2-40B4-BE49-F238E27FC236}">
                <a16:creationId xmlns:a16="http://schemas.microsoft.com/office/drawing/2014/main" id="{177A614F-9BA4-45FE-8639-79473446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TALK</a:t>
            </a:r>
          </a:p>
        </p:txBody>
      </p:sp>
      <p:sp>
        <p:nvSpPr>
          <p:cNvPr id="19" name="workflow-step-body-1">
            <a:extLst xmlns:a="http://schemas.openxmlformats.org/drawingml/2006/main">
              <a:ext uri="{FF2B5EF4-FFF2-40B4-BE49-F238E27FC236}">
                <a16:creationId xmlns:a16="http://schemas.microsoft.com/office/drawing/2014/main" id="{02AC08D5-E7A9-4FB4-8BEE-B72E771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457575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rPr>
              <a:t>Mark what was discussed, deferred or unclear.</a:t>
            </a:r>
          </a:p>
        </p:txBody>
      </p:sp>
      <p:sp>
        <p:nvSpPr>
          <p:cNvPr id="20" name="workflow-arrow-1">
            <a:extLst xmlns:a="http://schemas.openxmlformats.org/drawingml/2006/main">
              <a:ext uri="{FF2B5EF4-FFF2-40B4-BE49-F238E27FC236}">
                <a16:creationId xmlns:a16="http://schemas.microsoft.com/office/drawing/2014/main" id="{7886FEF0-3A66-4D82-8CD5-B74F9C70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57450"/>
            <a:ext cx="1066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8BAB"/>
          </a:solidFill>
          <a:ln xmlns:a="http://schemas.openxmlformats.org/drawingml/2006/main" w="0">
            <a:solidFill>
              <a:srgbClr val="6B8BAB"/>
            </a:solidFill>
            <a:prstDash val="solid"/>
          </a:ln>
        </p:spPr>
      </p:sp>
      <p:sp>
        <p:nvSpPr>
          <p:cNvPr id="21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7A730843-6581-47DC-B62A-D9F0B011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workflow-node-number-2">
            <a:extLst xmlns:a="http://schemas.openxmlformats.org/drawingml/2006/main">
              <a:ext uri="{FF2B5EF4-FFF2-40B4-BE49-F238E27FC236}">
                <a16:creationId xmlns:a16="http://schemas.microsoft.com/office/drawing/2014/main" id="{98935544-BD15-4D8B-B9F0-1991E3E1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3" name="workflow-step-label-2">
            <a:extLst xmlns:a="http://schemas.openxmlformats.org/drawingml/2006/main">
              <a:ext uri="{FF2B5EF4-FFF2-40B4-BE49-F238E27FC236}">
                <a16:creationId xmlns:a16="http://schemas.microsoft.com/office/drawing/2014/main" id="{9E4ABDFB-EEE0-41EA-94F0-BD1EE4D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DRAFT</a:t>
            </a:r>
          </a:p>
        </p:txBody>
      </p:sp>
      <p:sp>
        <p:nvSpPr>
          <p:cNvPr id="24" name="workflow-step-body-2">
            <a:extLst xmlns:a="http://schemas.openxmlformats.org/drawingml/2006/main">
              <a:ext uri="{FF2B5EF4-FFF2-40B4-BE49-F238E27FC236}">
                <a16:creationId xmlns:a16="http://schemas.microsoft.com/office/drawing/2014/main" id="{A09A60DA-972B-4203-87E9-FF88BED0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57575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rPr>
              <a:t>Keep every substantive field linked to its source.</a:t>
            </a:r>
          </a:p>
        </p:txBody>
      </p:sp>
      <p:sp>
        <p:nvSpPr>
          <p:cNvPr id="25" name="workflow-arrow-2">
            <a:extLst xmlns:a="http://schemas.openxmlformats.org/drawingml/2006/main">
              <a:ext uri="{FF2B5EF4-FFF2-40B4-BE49-F238E27FC236}">
                <a16:creationId xmlns:a16="http://schemas.microsoft.com/office/drawing/2014/main" id="{1177D36F-B190-4F47-8298-EEE6D539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457450"/>
            <a:ext cx="1066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8BAB"/>
          </a:solidFill>
          <a:ln xmlns:a="http://schemas.openxmlformats.org/drawingml/2006/main" w="0">
            <a:solidFill>
              <a:srgbClr val="6B8BAB"/>
            </a:solidFill>
            <a:prstDash val="solid"/>
          </a:ln>
        </p:spPr>
      </p:sp>
      <p:sp>
        <p:nvSpPr>
          <p:cNvPr id="26" name="workflow-node-3">
            <a:extLst xmlns:a="http://schemas.openxmlformats.org/drawingml/2006/main">
              <a:ext uri="{FF2B5EF4-FFF2-40B4-BE49-F238E27FC236}">
                <a16:creationId xmlns:a16="http://schemas.microsoft.com/office/drawing/2014/main" id="{4E1D5243-67D3-401A-871B-3F89B8D6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05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workflow-node-number-3">
            <a:extLst xmlns:a="http://schemas.openxmlformats.org/drawingml/2006/main">
              <a:ext uri="{FF2B5EF4-FFF2-40B4-BE49-F238E27FC236}">
                <a16:creationId xmlns:a16="http://schemas.microsoft.com/office/drawing/2014/main" id="{A2FFAEBE-87EE-40B2-A6AB-73D54795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479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8" name="workflow-step-label-3">
            <a:extLst xmlns:a="http://schemas.openxmlformats.org/drawingml/2006/main">
              <a:ext uri="{FF2B5EF4-FFF2-40B4-BE49-F238E27FC236}">
                <a16:creationId xmlns:a16="http://schemas.microsoft.com/office/drawing/2014/main" id="{F6A3BECF-7FA1-40A6-9163-AA1B1DD9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REVIEW</a:t>
            </a:r>
          </a:p>
        </p:txBody>
      </p:sp>
      <p:sp>
        <p:nvSpPr>
          <p:cNvPr id="29" name="workflow-step-body-3">
            <a:extLst xmlns:a="http://schemas.openxmlformats.org/drawingml/2006/main">
              <a:ext uri="{FF2B5EF4-FFF2-40B4-BE49-F238E27FC236}">
                <a16:creationId xmlns:a16="http://schemas.microsoft.com/office/drawing/2014/main" id="{41B2AF66-2C4F-466E-9DCB-7521BEED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57575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rPr>
              <a:t>Physician resolves gaps and releases a version.</a:t>
            </a:r>
          </a:p>
        </p:txBody>
      </p:sp>
      <p:sp>
        <p:nvSpPr>
          <p:cNvPr id="30" name="workflow-arrow-3">
            <a:extLst xmlns:a="http://schemas.openxmlformats.org/drawingml/2006/main">
              <a:ext uri="{FF2B5EF4-FFF2-40B4-BE49-F238E27FC236}">
                <a16:creationId xmlns:a16="http://schemas.microsoft.com/office/drawing/2014/main" id="{1F40B5E6-A48E-4B54-97A6-1A4AE6A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57450"/>
            <a:ext cx="1066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8BAB"/>
          </a:solidFill>
          <a:ln xmlns:a="http://schemas.openxmlformats.org/drawingml/2006/main" w="0">
            <a:solidFill>
              <a:srgbClr val="6B8BAB"/>
            </a:solidFill>
            <a:prstDash val="solid"/>
          </a:ln>
        </p:spPr>
      </p:sp>
      <p:sp>
        <p:nvSpPr>
          <p:cNvPr id="31" name="workflow-node-4">
            <a:extLst xmlns:a="http://schemas.openxmlformats.org/drawingml/2006/main">
              <a:ext uri="{FF2B5EF4-FFF2-40B4-BE49-F238E27FC236}">
                <a16:creationId xmlns:a16="http://schemas.microsoft.com/office/drawing/2014/main" id="{23619336-65AA-44C9-8691-C403BF2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05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workflow-node-number-4">
            <a:extLst xmlns:a="http://schemas.openxmlformats.org/drawingml/2006/main">
              <a:ext uri="{FF2B5EF4-FFF2-40B4-BE49-F238E27FC236}">
                <a16:creationId xmlns:a16="http://schemas.microsoft.com/office/drawing/2014/main" id="{71116536-7FB8-4EDC-AA39-E57A1A70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479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3" name="workflow-step-label-4">
            <a:extLst xmlns:a="http://schemas.openxmlformats.org/drawingml/2006/main">
              <a:ext uri="{FF2B5EF4-FFF2-40B4-BE49-F238E27FC236}">
                <a16:creationId xmlns:a16="http://schemas.microsoft.com/office/drawing/2014/main" id="{EE006096-63DA-4E99-8B25-4EC6D6D7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05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REVISIT</a:t>
            </a:r>
          </a:p>
        </p:txBody>
      </p:sp>
      <p:sp>
        <p:nvSpPr>
          <p:cNvPr id="34" name="workflow-step-body-4">
            <a:extLst xmlns:a="http://schemas.openxmlformats.org/drawingml/2006/main">
              <a:ext uri="{FF2B5EF4-FFF2-40B4-BE49-F238E27FC236}">
                <a16:creationId xmlns:a16="http://schemas.microsoft.com/office/drawing/2014/main" id="{E9750FC7-8839-4DAE-A9C1-B55A255E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57575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3E3F3"/>
                </a:solidFill>
                <a:latin typeface="Helvetica Neue"/>
                <a:ea typeface="Helvetica Neue"/>
                <a:cs typeface="Helvetica Neue"/>
              </a:rPr>
              <a:t>Receiving clinician retrieves and reconfirms context.</a:t>
            </a:r>
          </a:p>
        </p:txBody>
      </p:sp>
      <p:sp>
        <p:nvSpPr>
          <p:cNvPr id="35" name="workflow-bottom">
            <a:extLst xmlns:a="http://schemas.openxmlformats.org/drawingml/2006/main">
              <a:ext uri="{FF2B5EF4-FFF2-40B4-BE49-F238E27FC236}">
                <a16:creationId xmlns:a16="http://schemas.microsoft.com/office/drawing/2014/main" id="{EC967C7A-8BAF-496A-A2AC-0E624CCB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108966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D3E78"/>
          </a:solidFill>
          <a:ln xmlns:a="http://schemas.openxmlformats.org/drawingml/2006/main" w="9525">
            <a:solidFill>
              <a:srgbClr val="4A759F"/>
            </a:solidFill>
            <a:prstDash val="solid"/>
          </a:ln>
        </p:spPr>
      </p:sp>
      <p:sp>
        <p:nvSpPr>
          <p:cNvPr id="36" name="workflow-bottom-copy">
            <a:extLst xmlns:a="http://schemas.openxmlformats.org/drawingml/2006/main">
              <a:ext uri="{FF2B5EF4-FFF2-40B4-BE49-F238E27FC236}">
                <a16:creationId xmlns:a16="http://schemas.microsoft.com/office/drawing/2014/main" id="{B78EF76D-C2AB-4ACE-9EE9-0D986E9C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changed preference creates a new version; released content is never silently overwritten.</a:t>
            </a:r>
          </a:p>
        </p:txBody>
      </p:sp>
    </p:spTree>
    <p:extLst>
      <p:ext uri="{BB962C8B-B14F-4D97-AF65-F5344CB8AC3E}">
        <p14:creationId xmlns:p14="http://schemas.microsoft.com/office/powerpoint/2010/main" val="208420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5F2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ED00CEAA-C09C-42F2-A439-BC3DEDDF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7E690C66-0179-4878-A98A-889D1611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B3E7162D-B477-430A-B74E-1B3AA062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84B4FE9A-4E27-4A32-8F92-0903FD70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17B24B51-6A16-4B95-B34C-46C9AB6A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771BDFB5-5949-4778-8AA1-B32DB8A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7" name="trust-kicker">
            <a:extLst xmlns:a="http://schemas.openxmlformats.org/drawingml/2006/main">
              <a:ext uri="{FF2B5EF4-FFF2-40B4-BE49-F238E27FC236}">
                <a16:creationId xmlns:a16="http://schemas.microsoft.com/office/drawing/2014/main" id="{06F4DF62-C1C5-4B26-9B3B-89E1AE9F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FC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08FCE"/>
                </a:solidFill>
                <a:latin typeface="Consolas"/>
                <a:ea typeface="Consolas"/>
                <a:cs typeface="Consolas"/>
              </a:rPr>
              <a:t>TRUST ARCHITECTURE</a:t>
            </a:r>
          </a:p>
        </p:txBody>
      </p:sp>
      <p:sp>
        <p:nvSpPr>
          <p:cNvPr id="8" name="trust-title">
            <a:extLst xmlns:a="http://schemas.openxmlformats.org/drawingml/2006/main">
              <a:ext uri="{FF2B5EF4-FFF2-40B4-BE49-F238E27FC236}">
                <a16:creationId xmlns:a16="http://schemas.microsoft.com/office/drawing/2014/main" id="{4C564AC8-78FA-4DC7-BCD1-F68ADB94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Uncertainty stays visible before a record travels</a:t>
            </a:r>
          </a:p>
        </p:txBody>
      </p:sp>
      <p:sp>
        <p:nvSpPr>
          <p:cNvPr id="9" name="trust-subtitle">
            <a:extLst xmlns:a="http://schemas.openxmlformats.org/drawingml/2006/main">
              <a:ext uri="{FF2B5EF4-FFF2-40B4-BE49-F238E27FC236}">
                <a16:creationId xmlns:a16="http://schemas.microsoft.com/office/drawing/2014/main" id="{EFE17962-BEDC-498F-9902-77437C78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5732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The product separates what was said, what was structured and what a physician has actually released</a:t>
            </a:r>
          </a:p>
        </p:txBody>
      </p:sp>
      <p:sp>
        <p:nvSpPr>
          <p:cNvPr id="10" name="trust-source">
            <a:extLst xmlns:a="http://schemas.openxmlformats.org/drawingml/2006/main">
              <a:ext uri="{FF2B5EF4-FFF2-40B4-BE49-F238E27FC236}">
                <a16:creationId xmlns:a16="http://schemas.microsoft.com/office/drawing/2014/main" id="{A263CB50-2907-4749-B7C1-79D0FDEC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90725"/>
            <a:ext cx="40481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11" name="trust-source-label">
            <a:extLst xmlns:a="http://schemas.openxmlformats.org/drawingml/2006/main">
              <a:ext uri="{FF2B5EF4-FFF2-40B4-BE49-F238E27FC236}">
                <a16:creationId xmlns:a16="http://schemas.microsoft.com/office/drawing/2014/main" id="{12500634-82E7-4CB4-A7CF-2B7FDD10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0027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SOURCE NOTE  /  SYNTHETIC</a:t>
            </a:r>
          </a:p>
        </p:txBody>
      </p:sp>
      <p:sp>
        <p:nvSpPr>
          <p:cNvPr id="12" name="trust-source-quote">
            <a:extLst xmlns:a="http://schemas.openxmlformats.org/drawingml/2006/main">
              <a:ext uri="{FF2B5EF4-FFF2-40B4-BE49-F238E27FC236}">
                <a16:creationId xmlns:a16="http://schemas.microsoft.com/office/drawing/2014/main" id="{27735A27-A897-47D4-BDF4-7C4F1544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9080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1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Patient initiated discussion</a:t>
            </a:r>
          </a:p>
          <a:p xmlns:a="http://schemas.openxmlformats.org/drawingml/2006/main">
            <a:pPr algn="l">
              <a:defRPr sz="1725" b="1" i="1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regarding family understanding</a:t>
            </a:r>
          </a:p>
          <a:p xmlns:a="http://schemas.openxmlformats.org/drawingml/2006/main">
            <a:pPr algn="l">
              <a:defRPr sz="1725" b="1" i="1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1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of illness.</a:t>
            </a:r>
          </a:p>
        </p:txBody>
      </p:sp>
      <p:sp>
        <p:nvSpPr>
          <p:cNvPr id="13" name="trust-source-meta">
            <a:extLst xmlns:a="http://schemas.openxmlformats.org/drawingml/2006/main">
              <a:ext uri="{FF2B5EF4-FFF2-40B4-BE49-F238E27FC236}">
                <a16:creationId xmlns:a16="http://schemas.microsoft.com/office/drawing/2014/main" id="{8D45783F-535A-4E0D-AFA0-3EC0CFE7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004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26079"/>
                </a:solidFill>
                <a:latin typeface="Consolas"/>
                <a:ea typeface="Consolas"/>
                <a:cs typeface="Consolas"/>
              </a:defRPr>
            </a:pPr>
            <a:r>
              <a:rPr sz="825" b="0" i="0">
                <a:solidFill>
                  <a:srgbClr val="526079"/>
                </a:solidFill>
                <a:latin typeface="Consolas"/>
                <a:ea typeface="Consolas"/>
                <a:cs typeface="Consolas"/>
              </a:rPr>
              <a:t>Source-linked draft  /  patient-scoped</a:t>
            </a:r>
          </a:p>
        </p:txBody>
      </p:sp>
      <p:sp>
        <p:nvSpPr>
          <p:cNvPr id="14" name="trust-main-arrow">
            <a:extLst xmlns:a="http://schemas.openxmlformats.org/drawingml/2006/main">
              <a:ext uri="{FF2B5EF4-FFF2-40B4-BE49-F238E27FC236}">
                <a16:creationId xmlns:a16="http://schemas.microsoft.com/office/drawing/2014/main" id="{41770155-2790-4C7C-AB31-F87C9447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38450"/>
            <a:ext cx="971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solidFill>
              <a:srgbClr val="FF8A24"/>
            </a:solidFill>
            <a:prstDash val="solid"/>
          </a:ln>
        </p:spPr>
      </p:sp>
      <p:sp>
        <p:nvSpPr>
          <p:cNvPr id="15" name="trust-arrow-label">
            <a:extLst xmlns:a="http://schemas.openxmlformats.org/drawingml/2006/main">
              <a:ext uri="{FF2B5EF4-FFF2-40B4-BE49-F238E27FC236}">
                <a16:creationId xmlns:a16="http://schemas.microsoft.com/office/drawing/2014/main" id="{57D09482-7E11-4978-A2FC-D69B4517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9080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MAPS TO</a:t>
            </a:r>
          </a:p>
        </p:txBody>
      </p:sp>
      <p:sp>
        <p:nvSpPr>
          <p:cNvPr id="16" name="trust-field">
            <a:extLst xmlns:a="http://schemas.openxmlformats.org/drawingml/2006/main">
              <a:ext uri="{FF2B5EF4-FFF2-40B4-BE49-F238E27FC236}">
                <a16:creationId xmlns:a16="http://schemas.microsoft.com/office/drawing/2014/main" id="{DA4337D6-BE39-457C-ADDF-C22C6116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90725"/>
            <a:ext cx="5095875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008FCE"/>
            </a:solidFill>
            <a:prstDash val="solid"/>
          </a:ln>
        </p:spPr>
      </p:sp>
      <p:sp>
        <p:nvSpPr>
          <p:cNvPr id="17" name="trust-field-label">
            <a:extLst xmlns:a="http://schemas.openxmlformats.org/drawingml/2006/main">
              <a:ext uri="{FF2B5EF4-FFF2-40B4-BE49-F238E27FC236}">
                <a16:creationId xmlns:a16="http://schemas.microsoft.com/office/drawing/2014/main" id="{63EE62CD-DBBC-4AC2-A8AA-CC52D82E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STRUCTURED FIELD</a:t>
            </a:r>
          </a:p>
        </p:txBody>
      </p:sp>
      <p:sp>
        <p:nvSpPr>
          <p:cNvPr id="18" name="trust-field-title">
            <a:extLst xmlns:a="http://schemas.openxmlformats.org/drawingml/2006/main">
              <a:ext uri="{FF2B5EF4-FFF2-40B4-BE49-F238E27FC236}">
                <a16:creationId xmlns:a16="http://schemas.microsoft.com/office/drawing/2014/main" id="{724B4184-ACFE-438B-A127-69A63B34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Patient priority</a:t>
            </a:r>
          </a:p>
        </p:txBody>
      </p:sp>
      <p:sp>
        <p:nvSpPr>
          <p:cNvPr id="19" name="trust-field-copy">
            <a:extLst xmlns:a="http://schemas.openxmlformats.org/drawingml/2006/main">
              <a:ext uri="{FF2B5EF4-FFF2-40B4-BE49-F238E27FC236}">
                <a16:creationId xmlns:a16="http://schemas.microsoft.com/office/drawing/2014/main" id="{FD98ABC7-F057-4E7B-83FB-DA750965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860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Family understanding of illness is a stated priority.</a:t>
            </a:r>
          </a:p>
        </p:txBody>
      </p:sp>
      <p:sp>
        <p:nvSpPr>
          <p:cNvPr id="20" name="trust-gate">
            <a:extLst xmlns:a="http://schemas.openxmlformats.org/drawingml/2006/main">
              <a:ext uri="{FF2B5EF4-FFF2-40B4-BE49-F238E27FC236}">
                <a16:creationId xmlns:a16="http://schemas.microsoft.com/office/drawing/2014/main" id="{B58D0B86-9DC3-43D4-B273-EE02F78C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62350"/>
            <a:ext cx="5095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1" name="trust-gate-label">
            <a:extLst xmlns:a="http://schemas.openxmlformats.org/drawingml/2006/main">
              <a:ext uri="{FF2B5EF4-FFF2-40B4-BE49-F238E27FC236}">
                <a16:creationId xmlns:a16="http://schemas.microsoft.com/office/drawing/2014/main" id="{E2A1D557-EB3F-4EA2-AFAB-4E28A25D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RELEASE GATE</a:t>
            </a:r>
          </a:p>
        </p:txBody>
      </p:sp>
      <p:sp>
        <p:nvSpPr>
          <p:cNvPr id="22" name="trust-gate-dot-0">
            <a:extLst xmlns:a="http://schemas.openxmlformats.org/drawingml/2006/main">
              <a:ext uri="{FF2B5EF4-FFF2-40B4-BE49-F238E27FC236}">
                <a16:creationId xmlns:a16="http://schemas.microsoft.com/office/drawing/2014/main" id="{A0FB1EF1-476B-4BF6-9143-9A1F5211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33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rust-gate-row-0">
            <a:extLst xmlns:a="http://schemas.openxmlformats.org/drawingml/2006/main">
              <a:ext uri="{FF2B5EF4-FFF2-40B4-BE49-F238E27FC236}">
                <a16:creationId xmlns:a16="http://schemas.microsoft.com/office/drawing/2014/main" id="{D96BD5A1-FF1F-43FF-9B3C-95C98FE9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86225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DISCUSSED</a:t>
            </a:r>
          </a:p>
        </p:txBody>
      </p:sp>
      <p:sp>
        <p:nvSpPr>
          <p:cNvPr id="24" name="trust-gate-body-0">
            <a:extLst xmlns:a="http://schemas.openxmlformats.org/drawingml/2006/main">
              <a:ext uri="{FF2B5EF4-FFF2-40B4-BE49-F238E27FC236}">
                <a16:creationId xmlns:a16="http://schemas.microsoft.com/office/drawing/2014/main" id="{D117F575-AA65-4CDB-9114-8696E447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86225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May be reviewed for release</a:t>
            </a:r>
          </a:p>
        </p:txBody>
      </p:sp>
      <p:sp>
        <p:nvSpPr>
          <p:cNvPr id="25" name="trust-gate-dot-1">
            <a:extLst xmlns:a="http://schemas.openxmlformats.org/drawingml/2006/main">
              <a:ext uri="{FF2B5EF4-FFF2-40B4-BE49-F238E27FC236}">
                <a16:creationId xmlns:a16="http://schemas.microsoft.com/office/drawing/2014/main" id="{0094B3A5-AA5F-4C79-83C3-7439127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0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rust-gate-row-1">
            <a:extLst xmlns:a="http://schemas.openxmlformats.org/drawingml/2006/main">
              <a:ext uri="{FF2B5EF4-FFF2-40B4-BE49-F238E27FC236}">
                <a16:creationId xmlns:a16="http://schemas.microsoft.com/office/drawing/2014/main" id="{E4C6E775-DF64-4B50-9E60-D7115919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29125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26079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526079"/>
                </a:solidFill>
                <a:latin typeface="Consolas"/>
                <a:ea typeface="Consolas"/>
                <a:cs typeface="Consolas"/>
              </a:rPr>
              <a:t>NOT DISCUSSED</a:t>
            </a:r>
          </a:p>
        </p:txBody>
      </p:sp>
      <p:sp>
        <p:nvSpPr>
          <p:cNvPr id="27" name="trust-gate-body-1">
            <a:extLst xmlns:a="http://schemas.openxmlformats.org/drawingml/2006/main">
              <a:ext uri="{FF2B5EF4-FFF2-40B4-BE49-F238E27FC236}">
                <a16:creationId xmlns:a16="http://schemas.microsoft.com/office/drawing/2014/main" id="{0AA36F2D-EC14-4F19-B175-AA08E35C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29125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Remains visibly incomplete</a:t>
            </a:r>
          </a:p>
        </p:txBody>
      </p:sp>
      <p:sp>
        <p:nvSpPr>
          <p:cNvPr id="28" name="trust-gate-dot-2">
            <a:extLst xmlns:a="http://schemas.openxmlformats.org/drawingml/2006/main">
              <a:ext uri="{FF2B5EF4-FFF2-40B4-BE49-F238E27FC236}">
                <a16:creationId xmlns:a16="http://schemas.microsoft.com/office/drawing/2014/main" id="{BC8E9A3F-8180-4F24-9BBF-DCEAA15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96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rust-gate-row-2">
            <a:extLst xmlns:a="http://schemas.openxmlformats.org/drawingml/2006/main">
              <a:ext uri="{FF2B5EF4-FFF2-40B4-BE49-F238E27FC236}">
                <a16:creationId xmlns:a16="http://schemas.microsoft.com/office/drawing/2014/main" id="{2FA4D2B0-E583-4784-BF63-006A026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72025"/>
            <a:ext cx="1619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NEEDS CLARIFICATION</a:t>
            </a:r>
          </a:p>
        </p:txBody>
      </p:sp>
      <p:sp>
        <p:nvSpPr>
          <p:cNvPr id="30" name="trust-gate-body-2">
            <a:extLst xmlns:a="http://schemas.openxmlformats.org/drawingml/2006/main">
              <a:ext uri="{FF2B5EF4-FFF2-40B4-BE49-F238E27FC236}">
                <a16:creationId xmlns:a16="http://schemas.microsoft.com/office/drawing/2014/main" id="{A50EBB18-FE71-410C-8C47-AA44188E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72025"/>
            <a:ext cx="2476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Blocks publication until resolved</a:t>
            </a:r>
          </a:p>
        </p:txBody>
      </p:sp>
      <p:sp>
        <p:nvSpPr>
          <p:cNvPr id="31" name="trust-meta-0">
            <a:extLst xmlns:a="http://schemas.openxmlformats.org/drawingml/2006/main">
              <a:ext uri="{FF2B5EF4-FFF2-40B4-BE49-F238E27FC236}">
                <a16:creationId xmlns:a16="http://schemas.microsoft.com/office/drawing/2014/main" id="{8387DF6A-921A-449F-9587-9C77988D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1143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2" name="trust-meta-label-0">
            <a:extLst xmlns:a="http://schemas.openxmlformats.org/drawingml/2006/main">
              <a:ext uri="{FF2B5EF4-FFF2-40B4-BE49-F238E27FC236}">
                <a16:creationId xmlns:a16="http://schemas.microsoft.com/office/drawing/2014/main" id="{D2FAAB30-4DB3-499E-B284-7DD9C848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SOURCE LINK</a:t>
            </a:r>
          </a:p>
        </p:txBody>
      </p:sp>
      <p:sp>
        <p:nvSpPr>
          <p:cNvPr id="33" name="trust-meta-value-0">
            <a:extLst xmlns:a="http://schemas.openxmlformats.org/drawingml/2006/main">
              <a:ext uri="{FF2B5EF4-FFF2-40B4-BE49-F238E27FC236}">
                <a16:creationId xmlns:a16="http://schemas.microsoft.com/office/drawing/2014/main" id="{6BE83D43-3BF0-48D4-B038-C29276B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VISIBLE</a:t>
            </a:r>
          </a:p>
        </p:txBody>
      </p:sp>
      <p:sp>
        <p:nvSpPr>
          <p:cNvPr id="34" name="trust-meta-1">
            <a:extLst xmlns:a="http://schemas.openxmlformats.org/drawingml/2006/main">
              <a:ext uri="{FF2B5EF4-FFF2-40B4-BE49-F238E27FC236}">
                <a16:creationId xmlns:a16="http://schemas.microsoft.com/office/drawing/2014/main" id="{D8B28C0A-AE6E-41DD-AFDD-5062315C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48175"/>
            <a:ext cx="1143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5" name="trust-meta-label-1">
            <a:extLst xmlns:a="http://schemas.openxmlformats.org/drawingml/2006/main">
              <a:ext uri="{FF2B5EF4-FFF2-40B4-BE49-F238E27FC236}">
                <a16:creationId xmlns:a16="http://schemas.microsoft.com/office/drawing/2014/main" id="{228081E1-DD8C-4091-9506-AD50899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10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REVIEWER</a:t>
            </a:r>
          </a:p>
        </p:txBody>
      </p:sp>
      <p:sp>
        <p:nvSpPr>
          <p:cNvPr id="36" name="trust-meta-value-1">
            <a:extLst xmlns:a="http://schemas.openxmlformats.org/drawingml/2006/main">
              <a:ext uri="{FF2B5EF4-FFF2-40B4-BE49-F238E27FC236}">
                <a16:creationId xmlns:a16="http://schemas.microsoft.com/office/drawing/2014/main" id="{972F38D5-C285-4A9F-B42C-D9588E8C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05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VISIBLE</a:t>
            </a:r>
          </a:p>
        </p:txBody>
      </p:sp>
      <p:sp>
        <p:nvSpPr>
          <p:cNvPr id="37" name="trust-meta-2">
            <a:extLst xmlns:a="http://schemas.openxmlformats.org/drawingml/2006/main">
              <a:ext uri="{FF2B5EF4-FFF2-40B4-BE49-F238E27FC236}">
                <a16:creationId xmlns:a16="http://schemas.microsoft.com/office/drawing/2014/main" id="{F692B711-D686-4045-B0F2-CA76CC3B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48175"/>
            <a:ext cx="1143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8" name="trust-meta-label-2">
            <a:extLst xmlns:a="http://schemas.openxmlformats.org/drawingml/2006/main">
              <a:ext uri="{FF2B5EF4-FFF2-40B4-BE49-F238E27FC236}">
                <a16:creationId xmlns:a16="http://schemas.microsoft.com/office/drawing/2014/main" id="{06FA7FF0-1226-46DD-930D-9A72B074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0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TIMESTAMP</a:t>
            </a:r>
          </a:p>
        </p:txBody>
      </p:sp>
      <p:sp>
        <p:nvSpPr>
          <p:cNvPr id="39" name="trust-meta-value-2">
            <a:extLst xmlns:a="http://schemas.openxmlformats.org/drawingml/2006/main">
              <a:ext uri="{FF2B5EF4-FFF2-40B4-BE49-F238E27FC236}">
                <a16:creationId xmlns:a16="http://schemas.microsoft.com/office/drawing/2014/main" id="{D072C8D7-F26F-4D28-8CB8-89C6BB86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05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VISIBLE</a:t>
            </a:r>
          </a:p>
        </p:txBody>
      </p:sp>
      <p:sp>
        <p:nvSpPr>
          <p:cNvPr id="40" name="trust-meta-3">
            <a:extLst xmlns:a="http://schemas.openxmlformats.org/drawingml/2006/main">
              <a:ext uri="{FF2B5EF4-FFF2-40B4-BE49-F238E27FC236}">
                <a16:creationId xmlns:a16="http://schemas.microsoft.com/office/drawing/2014/main" id="{90CDD2E6-9B49-4DBD-BB1C-F5AF7D0E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48175"/>
            <a:ext cx="1143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41" name="trust-meta-label-3">
            <a:extLst xmlns:a="http://schemas.openxmlformats.org/drawingml/2006/main">
              <a:ext uri="{FF2B5EF4-FFF2-40B4-BE49-F238E27FC236}">
                <a16:creationId xmlns:a16="http://schemas.microsoft.com/office/drawing/2014/main" id="{2816FA45-5EB3-486F-A124-833FD62B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10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75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VERSION</a:t>
            </a:r>
          </a:p>
        </p:txBody>
      </p:sp>
      <p:sp>
        <p:nvSpPr>
          <p:cNvPr id="42" name="trust-meta-value-3">
            <a:extLst xmlns:a="http://schemas.openxmlformats.org/drawingml/2006/main">
              <a:ext uri="{FF2B5EF4-FFF2-40B4-BE49-F238E27FC236}">
                <a16:creationId xmlns:a16="http://schemas.microsoft.com/office/drawing/2014/main" id="{5C4FB254-9760-4C81-9ECE-D711B3CD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0537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VISIBLE</a:t>
            </a:r>
          </a:p>
        </p:txBody>
      </p:sp>
      <p:sp>
        <p:nvSpPr>
          <p:cNvPr id="43" name="trust-screenshot-frame">
            <a:extLst xmlns:a="http://schemas.openxmlformats.org/drawingml/2006/main">
              <a:ext uri="{FF2B5EF4-FFF2-40B4-BE49-F238E27FC236}">
                <a16:creationId xmlns:a16="http://schemas.microsoft.com/office/drawing/2014/main" id="{D0BE65FA-F851-4DD4-B8A9-BD4B34B2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42672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7B9AB7"/>
            </a:solidFill>
            <a:prstDash val="solid"/>
          </a:ln>
        </p:spPr>
      </p:sp>
      <p:sp>
        <p:nvSpPr>
          <p:cNvPr id="44" name="trust-screenshot-inner">
            <a:extLst xmlns:a="http://schemas.openxmlformats.org/drawingml/2006/main">
              <a:ext uri="{FF2B5EF4-FFF2-40B4-BE49-F238E27FC236}">
                <a16:creationId xmlns:a16="http://schemas.microsoft.com/office/drawing/2014/main" id="{D51E0FC4-DC7C-4D60-BB49-EE3C1BA6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3962400" cy="304800"/>
          </a:xfrm>
          <a:prstGeom xmlns:a="http://schemas.openxmlformats.org/drawingml/2006/main" prst="roundRect">
            <a:avLst>
              <a:gd name="adj" fmla="val 2500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B9AB7"/>
            </a:solidFill>
            <a:prstDash val="solid"/>
          </a:ln>
        </p:spPr>
      </p:sp>
      <p:sp>
        <p:nvSpPr>
          <p:cNvPr id="45" name="trust-screenshot-icon-circle">
            <a:extLst xmlns:a="http://schemas.openxmlformats.org/drawingml/2006/main">
              <a:ext uri="{FF2B5EF4-FFF2-40B4-BE49-F238E27FC236}">
                <a16:creationId xmlns:a16="http://schemas.microsoft.com/office/drawing/2014/main" id="{4C8237D3-677D-4F79-81A0-511D570B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673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7B9AB7"/>
            </a:solidFill>
            <a:prstDash val="solid"/>
          </a:ln>
        </p:spPr>
      </p:sp>
      <p:sp>
        <p:nvSpPr>
          <p:cNvPr id="46" name="trust-screenshot-icon-screen">
            <a:extLst xmlns:a="http://schemas.openxmlformats.org/drawingml/2006/main">
              <a:ext uri="{FF2B5EF4-FFF2-40B4-BE49-F238E27FC236}">
                <a16:creationId xmlns:a16="http://schemas.microsoft.com/office/drawing/2014/main" id="{9F91197C-0BE6-4426-89D5-18B75435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62575"/>
            <a:ext cx="228600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9AB7"/>
            </a:solidFill>
            <a:prstDash val="solid"/>
          </a:ln>
        </p:spPr>
      </p:sp>
      <p:sp>
        <p:nvSpPr>
          <p:cNvPr id="47" name="trust-screenshot-label">
            <a:extLst xmlns:a="http://schemas.openxmlformats.org/drawingml/2006/main">
              <a:ext uri="{FF2B5EF4-FFF2-40B4-BE49-F238E27FC236}">
                <a16:creationId xmlns:a16="http://schemas.microsoft.com/office/drawing/2014/main" id="{33628E4A-CF5C-43E0-904E-E4D1147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3695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OPTIONAL DETAIL CAPTURE SLOT</a:t>
            </a:r>
          </a:p>
        </p:txBody>
      </p:sp>
      <p:sp>
        <p:nvSpPr>
          <p:cNvPr id="48" name="trust-screenshot-body">
            <a:extLst xmlns:a="http://schemas.openxmlformats.org/drawingml/2006/main">
              <a:ext uri="{FF2B5EF4-FFF2-40B4-BE49-F238E27FC236}">
                <a16:creationId xmlns:a16="http://schemas.microsoft.com/office/drawing/2014/main" id="{91298EEA-AA13-4A0B-95F8-E8D98F9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05525"/>
            <a:ext cx="354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Drop the live app capture here after the UI build.</a:t>
            </a:r>
          </a:p>
        </p:txBody>
      </p:sp>
      <p:sp>
        <p:nvSpPr>
          <p:cNvPr id="49" name="trust-bottom">
            <a:extLst xmlns:a="http://schemas.openxmlformats.org/drawingml/2006/main">
              <a:ext uri="{FF2B5EF4-FFF2-40B4-BE49-F238E27FC236}">
                <a16:creationId xmlns:a16="http://schemas.microsoft.com/office/drawing/2014/main" id="{0CC6217F-531E-4942-AF4D-14D34987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81650"/>
            <a:ext cx="582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No external AI model is active in the current prototype.</a:t>
            </a:r>
          </a:p>
        </p:txBody>
      </p:sp>
    </p:spTree>
    <p:extLst>
      <p:ext uri="{BB962C8B-B14F-4D97-AF65-F5344CB8AC3E}">
        <p14:creationId xmlns:p14="http://schemas.microsoft.com/office/powerpoint/2010/main" val="309918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DAEB2053-0A55-4AA5-8F00-CFAF43D2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BE0495C5-EFFA-420B-A351-E2FCEFFA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71EE1461-BB31-4F76-930B-43D919D2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3615D10B-E978-4159-BCC1-0252726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548C80AE-5B95-40FB-9B72-222CA673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CFC445EF-E583-43E0-86B4-9AE1EBCC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7" name="boundary-kicker">
            <a:extLst xmlns:a="http://schemas.openxmlformats.org/drawingml/2006/main">
              <a:ext uri="{FF2B5EF4-FFF2-40B4-BE49-F238E27FC236}">
                <a16:creationId xmlns:a16="http://schemas.microsoft.com/office/drawing/2014/main" id="{6EC8AC1D-5484-4007-8DDB-3F4B9E92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SAFETY BOUNDARY</a:t>
            </a:r>
          </a:p>
        </p:txBody>
      </p:sp>
      <p:sp>
        <p:nvSpPr>
          <p:cNvPr id="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6DF9929E-6673-4DBE-BD2F-7C42DE11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381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Assistive by design.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Not autonomous clinical advice.</a:t>
            </a:r>
          </a:p>
        </p:txBody>
      </p:sp>
      <p:sp>
        <p:nvSpPr>
          <p:cNvPr id="9" name="boundary-col-0">
            <a:extLst xmlns:a="http://schemas.openxmlformats.org/drawingml/2006/main">
              <a:ext uri="{FF2B5EF4-FFF2-40B4-BE49-F238E27FC236}">
                <a16:creationId xmlns:a16="http://schemas.microsoft.com/office/drawing/2014/main" id="{DA26B277-1481-4BE0-9E13-27C6180F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3314700" cy="3419475"/>
          </a:xfrm>
          <a:prstGeom xmlns:a="http://schemas.openxmlformats.org/drawingml/2006/main" prst="roundRect">
            <a:avLst>
              <a:gd name="adj" fmla="val 2874"/>
            </a:avLst>
          </a:prstGeom>
          <a:solidFill xmlns:a="http://schemas.openxmlformats.org/drawingml/2006/main">
            <a:srgbClr val="0D3E78"/>
          </a:solidFill>
          <a:ln xmlns:a="http://schemas.openxmlformats.org/drawingml/2006/main" w="9525">
            <a:solidFill>
              <a:srgbClr val="4A759F"/>
            </a:solidFill>
            <a:prstDash val="solid"/>
          </a:ln>
        </p:spPr>
      </p:sp>
      <p:sp>
        <p:nvSpPr>
          <p:cNvPr id="10" name="boundary-col-bar-0">
            <a:extLst xmlns:a="http://schemas.openxmlformats.org/drawingml/2006/main">
              <a:ext uri="{FF2B5EF4-FFF2-40B4-BE49-F238E27FC236}">
                <a16:creationId xmlns:a16="http://schemas.microsoft.com/office/drawing/2014/main" id="{A4CFB7FE-6DF9-442D-9B04-9013521E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76425"/>
            <a:ext cx="3314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oundary-col-label-0">
            <a:extLst xmlns:a="http://schemas.openxmlformats.org/drawingml/2006/main">
              <a:ext uri="{FF2B5EF4-FFF2-40B4-BE49-F238E27FC236}">
                <a16:creationId xmlns:a16="http://schemas.microsoft.com/office/drawing/2014/main" id="{67ACCEE2-8CBC-4A16-BC68-B812F8E7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IN THE MVP</a:t>
            </a:r>
          </a:p>
        </p:txBody>
      </p:sp>
      <p:sp>
        <p:nvSpPr>
          <p:cNvPr id="12" name="boundary-0-0-mark">
            <a:extLst xmlns:a="http://schemas.openxmlformats.org/drawingml/2006/main">
              <a:ext uri="{FF2B5EF4-FFF2-40B4-BE49-F238E27FC236}">
                <a16:creationId xmlns:a16="http://schemas.microsoft.com/office/drawing/2014/main" id="{7BB051D1-40B0-41CE-A104-ED32297B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undary-0-0-text">
            <a:extLst xmlns:a="http://schemas.openxmlformats.org/drawingml/2006/main">
              <a:ext uri="{FF2B5EF4-FFF2-40B4-BE49-F238E27FC236}">
                <a16:creationId xmlns:a16="http://schemas.microsoft.com/office/drawing/2014/main" id="{CDD22A7B-AB96-4909-821E-1907781C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6384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Synthetic patient binding</a:t>
            </a:r>
          </a:p>
        </p:txBody>
      </p:sp>
      <p:sp>
        <p:nvSpPr>
          <p:cNvPr id="14" name="boundary-0-1-mark">
            <a:extLst xmlns:a="http://schemas.openxmlformats.org/drawingml/2006/main">
              <a:ext uri="{FF2B5EF4-FFF2-40B4-BE49-F238E27FC236}">
                <a16:creationId xmlns:a16="http://schemas.microsoft.com/office/drawing/2014/main" id="{A177AA8B-4BB1-483D-9D98-84B6CC1C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undary-0-1-text">
            <a:extLst xmlns:a="http://schemas.openxmlformats.org/drawingml/2006/main">
              <a:ext uri="{FF2B5EF4-FFF2-40B4-BE49-F238E27FC236}">
                <a16:creationId xmlns:a16="http://schemas.microsoft.com/office/drawing/2014/main" id="{D5C195E8-1835-43B0-BB12-E2B3ABC1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105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Guided conversation domains</a:t>
            </a:r>
          </a:p>
        </p:txBody>
      </p:sp>
      <p:sp>
        <p:nvSpPr>
          <p:cNvPr id="16" name="boundary-0-2-mark">
            <a:extLst xmlns:a="http://schemas.openxmlformats.org/drawingml/2006/main">
              <a:ext uri="{FF2B5EF4-FFF2-40B4-BE49-F238E27FC236}">
                <a16:creationId xmlns:a16="http://schemas.microsoft.com/office/drawing/2014/main" id="{B7EC99FA-3FF3-4A87-B9E5-EFA0BDF8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undary-0-2-text">
            <a:extLst xmlns:a="http://schemas.openxmlformats.org/drawingml/2006/main">
              <a:ext uri="{FF2B5EF4-FFF2-40B4-BE49-F238E27FC236}">
                <a16:creationId xmlns:a16="http://schemas.microsoft.com/office/drawing/2014/main" id="{88297B99-9632-4B4C-83C9-A45E17FA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71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Deterministic source-linked draft</a:t>
            </a:r>
          </a:p>
        </p:txBody>
      </p:sp>
      <p:sp>
        <p:nvSpPr>
          <p:cNvPr id="18" name="boundary-0-3-mark">
            <a:extLst xmlns:a="http://schemas.openxmlformats.org/drawingml/2006/main">
              <a:ext uri="{FF2B5EF4-FFF2-40B4-BE49-F238E27FC236}">
                <a16:creationId xmlns:a16="http://schemas.microsoft.com/office/drawing/2014/main" id="{AEE3CE35-5583-4173-A29B-955FBFF6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oundary-0-3-text">
            <a:extLst xmlns:a="http://schemas.openxmlformats.org/drawingml/2006/main">
              <a:ext uri="{FF2B5EF4-FFF2-40B4-BE49-F238E27FC236}">
                <a16:creationId xmlns:a16="http://schemas.microsoft.com/office/drawing/2014/main" id="{01597072-A9E9-44B7-9C2E-7214AEAB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038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Physician review + attestation</a:t>
            </a:r>
          </a:p>
        </p:txBody>
      </p:sp>
      <p:sp>
        <p:nvSpPr>
          <p:cNvPr id="20" name="boundary-0-4-mark">
            <a:extLst xmlns:a="http://schemas.openxmlformats.org/drawingml/2006/main">
              <a:ext uri="{FF2B5EF4-FFF2-40B4-BE49-F238E27FC236}">
                <a16:creationId xmlns:a16="http://schemas.microsoft.com/office/drawing/2014/main" id="{9A6E5B9F-11C6-4C16-9A65-C4810EDF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oundary-0-4-text">
            <a:extLst xmlns:a="http://schemas.openxmlformats.org/drawingml/2006/main">
              <a:ext uri="{FF2B5EF4-FFF2-40B4-BE49-F238E27FC236}">
                <a16:creationId xmlns:a16="http://schemas.microsoft.com/office/drawing/2014/main" id="{7970F5EE-6579-442C-AE8F-D8C9DE85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5053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Version history + audit display</a:t>
            </a:r>
          </a:p>
        </p:txBody>
      </p:sp>
      <p:sp>
        <p:nvSpPr>
          <p:cNvPr id="22" name="boundary-col-1">
            <a:extLst xmlns:a="http://schemas.openxmlformats.org/drawingml/2006/main">
              <a:ext uri="{FF2B5EF4-FFF2-40B4-BE49-F238E27FC236}">
                <a16:creationId xmlns:a16="http://schemas.microsoft.com/office/drawing/2014/main" id="{C395838E-151A-4194-862C-6B1AE65E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76425"/>
            <a:ext cx="3314700" cy="3419475"/>
          </a:xfrm>
          <a:prstGeom xmlns:a="http://schemas.openxmlformats.org/drawingml/2006/main" prst="roundRect">
            <a:avLst>
              <a:gd name="adj" fmla="val 2874"/>
            </a:avLst>
          </a:prstGeom>
          <a:solidFill xmlns:a="http://schemas.openxmlformats.org/drawingml/2006/main">
            <a:srgbClr val="0D3E78"/>
          </a:solidFill>
          <a:ln xmlns:a="http://schemas.openxmlformats.org/drawingml/2006/main" w="9525">
            <a:solidFill>
              <a:srgbClr val="4A759F"/>
            </a:solidFill>
            <a:prstDash val="solid"/>
          </a:ln>
        </p:spPr>
      </p:sp>
      <p:sp>
        <p:nvSpPr>
          <p:cNvPr id="23" name="boundary-col-bar-1">
            <a:extLst xmlns:a="http://schemas.openxmlformats.org/drawingml/2006/main">
              <a:ext uri="{FF2B5EF4-FFF2-40B4-BE49-F238E27FC236}">
                <a16:creationId xmlns:a16="http://schemas.microsoft.com/office/drawing/2014/main" id="{0574D26E-D7A1-4F6A-9716-E0F5E95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76425"/>
            <a:ext cx="3314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boundary-col-label-1">
            <a:extLst xmlns:a="http://schemas.openxmlformats.org/drawingml/2006/main">
              <a:ext uri="{FF2B5EF4-FFF2-40B4-BE49-F238E27FC236}">
                <a16:creationId xmlns:a16="http://schemas.microsoft.com/office/drawing/2014/main" id="{C274A465-44B2-4170-BDAB-67DC05AA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8FCE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008FCE"/>
                </a:solidFill>
                <a:latin typeface="Consolas"/>
                <a:ea typeface="Consolas"/>
                <a:cs typeface="Consolas"/>
              </a:rPr>
              <a:t>NEXT BUILD</a:t>
            </a:r>
          </a:p>
        </p:txBody>
      </p:sp>
      <p:sp>
        <p:nvSpPr>
          <p:cNvPr id="25" name="boundary-1-0-mark">
            <a:extLst xmlns:a="http://schemas.openxmlformats.org/drawingml/2006/main">
              <a:ext uri="{FF2B5EF4-FFF2-40B4-BE49-F238E27FC236}">
                <a16:creationId xmlns:a16="http://schemas.microsoft.com/office/drawing/2014/main" id="{5FFA4E9D-A78C-4D4C-975C-94DFF126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05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boundary-1-0-text">
            <a:extLst xmlns:a="http://schemas.openxmlformats.org/drawingml/2006/main">
              <a:ext uri="{FF2B5EF4-FFF2-40B4-BE49-F238E27FC236}">
                <a16:creationId xmlns:a16="http://schemas.microsoft.com/office/drawing/2014/main" id="{B9199E3A-F717-4596-AE02-28CA000C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384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Source-grounded transcription</a:t>
            </a:r>
          </a:p>
        </p:txBody>
      </p:sp>
      <p:sp>
        <p:nvSpPr>
          <p:cNvPr id="27" name="boundary-1-1-mark">
            <a:extLst xmlns:a="http://schemas.openxmlformats.org/drawingml/2006/main">
              <a:ext uri="{FF2B5EF4-FFF2-40B4-BE49-F238E27FC236}">
                <a16:creationId xmlns:a16="http://schemas.microsoft.com/office/drawing/2014/main" id="{C2556416-1706-4079-9B33-3BC13F5A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boundary-1-1-text">
            <a:extLst xmlns:a="http://schemas.openxmlformats.org/drawingml/2006/main">
              <a:ext uri="{FF2B5EF4-FFF2-40B4-BE49-F238E27FC236}">
                <a16:creationId xmlns:a16="http://schemas.microsoft.com/office/drawing/2014/main" id="{24FED16A-A1D2-452B-AC8D-5CE9D45F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105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Durable storage + access control</a:t>
            </a:r>
          </a:p>
        </p:txBody>
      </p:sp>
      <p:sp>
        <p:nvSpPr>
          <p:cNvPr id="29" name="boundary-1-2-mark">
            <a:extLst xmlns:a="http://schemas.openxmlformats.org/drawingml/2006/main">
              <a:ext uri="{FF2B5EF4-FFF2-40B4-BE49-F238E27FC236}">
                <a16:creationId xmlns:a16="http://schemas.microsoft.com/office/drawing/2014/main" id="{5E9F3BD1-FA96-4C5E-9238-9558B13D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38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oundary-1-2-text">
            <a:extLst xmlns:a="http://schemas.openxmlformats.org/drawingml/2006/main">
              <a:ext uri="{FF2B5EF4-FFF2-40B4-BE49-F238E27FC236}">
                <a16:creationId xmlns:a16="http://schemas.microsoft.com/office/drawing/2014/main" id="{E22BD380-D61C-4416-9F58-7C288962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71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Multilingual evaluation</a:t>
            </a:r>
          </a:p>
        </p:txBody>
      </p:sp>
      <p:sp>
        <p:nvSpPr>
          <p:cNvPr id="31" name="boundary-1-3-mark">
            <a:extLst xmlns:a="http://schemas.openxmlformats.org/drawingml/2006/main">
              <a:ext uri="{FF2B5EF4-FFF2-40B4-BE49-F238E27FC236}">
                <a16:creationId xmlns:a16="http://schemas.microsoft.com/office/drawing/2014/main" id="{12E2C247-2C0A-44FD-B450-B3431607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undary-1-3-text">
            <a:extLst xmlns:a="http://schemas.openxmlformats.org/drawingml/2006/main">
              <a:ext uri="{FF2B5EF4-FFF2-40B4-BE49-F238E27FC236}">
                <a16:creationId xmlns:a16="http://schemas.microsoft.com/office/drawing/2014/main" id="{E18481F7-15C9-42ED-AB53-5B0CA67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038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Hospital integration</a:t>
            </a:r>
          </a:p>
        </p:txBody>
      </p:sp>
      <p:sp>
        <p:nvSpPr>
          <p:cNvPr id="33" name="boundary-1-4-mark">
            <a:extLst xmlns:a="http://schemas.openxmlformats.org/drawingml/2006/main">
              <a:ext uri="{FF2B5EF4-FFF2-40B4-BE49-F238E27FC236}">
                <a16:creationId xmlns:a16="http://schemas.microsoft.com/office/drawing/2014/main" id="{0F772210-E02E-4A36-903F-8ADB2D75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72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boundary-1-4-text">
            <a:extLst xmlns:a="http://schemas.openxmlformats.org/drawingml/2006/main">
              <a:ext uri="{FF2B5EF4-FFF2-40B4-BE49-F238E27FC236}">
                <a16:creationId xmlns:a16="http://schemas.microsoft.com/office/drawing/2014/main" id="{6A70F606-99AC-4F8B-BE72-A8F2EEFA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053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Clinician-owned pilot evidence</a:t>
            </a:r>
          </a:p>
        </p:txBody>
      </p:sp>
      <p:sp>
        <p:nvSpPr>
          <p:cNvPr id="35" name="boundary-col-2">
            <a:extLst xmlns:a="http://schemas.openxmlformats.org/drawingml/2006/main">
              <a:ext uri="{FF2B5EF4-FFF2-40B4-BE49-F238E27FC236}">
                <a16:creationId xmlns:a16="http://schemas.microsoft.com/office/drawing/2014/main" id="{DC618B61-AD76-418E-9C74-FFB43D02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76425"/>
            <a:ext cx="3314700" cy="3419475"/>
          </a:xfrm>
          <a:prstGeom xmlns:a="http://schemas.openxmlformats.org/drawingml/2006/main" prst="roundRect">
            <a:avLst>
              <a:gd name="adj" fmla="val 2874"/>
            </a:avLst>
          </a:prstGeom>
          <a:solidFill xmlns:a="http://schemas.openxmlformats.org/drawingml/2006/main">
            <a:srgbClr val="0D3E78"/>
          </a:solidFill>
          <a:ln xmlns:a="http://schemas.openxmlformats.org/drawingml/2006/main" w="9525">
            <a:solidFill>
              <a:srgbClr val="4A759F"/>
            </a:solidFill>
            <a:prstDash val="solid"/>
          </a:ln>
        </p:spPr>
      </p:sp>
      <p:sp>
        <p:nvSpPr>
          <p:cNvPr id="36" name="boundary-col-bar-2">
            <a:extLst xmlns:a="http://schemas.openxmlformats.org/drawingml/2006/main">
              <a:ext uri="{FF2B5EF4-FFF2-40B4-BE49-F238E27FC236}">
                <a16:creationId xmlns:a16="http://schemas.microsoft.com/office/drawing/2014/main" id="{5A8B4766-3935-41CF-B72D-9DB2D0A8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76425"/>
            <a:ext cx="3314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boundary-col-label-2">
            <a:extLst xmlns:a="http://schemas.openxmlformats.org/drawingml/2006/main">
              <a:ext uri="{FF2B5EF4-FFF2-40B4-BE49-F238E27FC236}">
                <a16:creationId xmlns:a16="http://schemas.microsoft.com/office/drawing/2014/main" id="{91A78FE6-0153-49E4-957B-6EE3EB12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52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OUT OF SCOPE</a:t>
            </a:r>
          </a:p>
        </p:txBody>
      </p:sp>
      <p:sp>
        <p:nvSpPr>
          <p:cNvPr id="38" name="boundary-2-0-mark">
            <a:extLst xmlns:a="http://schemas.openxmlformats.org/drawingml/2006/main">
              <a:ext uri="{FF2B5EF4-FFF2-40B4-BE49-F238E27FC236}">
                <a16:creationId xmlns:a16="http://schemas.microsoft.com/office/drawing/2014/main" id="{0EE8B59C-D322-4177-93C9-6CCC5D37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boundary-2-0-text">
            <a:extLst xmlns:a="http://schemas.openxmlformats.org/drawingml/2006/main">
              <a:ext uri="{FF2B5EF4-FFF2-40B4-BE49-F238E27FC236}">
                <a16:creationId xmlns:a16="http://schemas.microsoft.com/office/drawing/2014/main" id="{426C8E1C-9624-473F-895A-5CB40B2E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6384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Diagnosis</a:t>
            </a:r>
          </a:p>
        </p:txBody>
      </p:sp>
      <p:sp>
        <p:nvSpPr>
          <p:cNvPr id="40" name="boundary-2-1-mark">
            <a:extLst xmlns:a="http://schemas.openxmlformats.org/drawingml/2006/main">
              <a:ext uri="{FF2B5EF4-FFF2-40B4-BE49-F238E27FC236}">
                <a16:creationId xmlns:a16="http://schemas.microsoft.com/office/drawing/2014/main" id="{E8321570-32D8-4B5C-AE25-7BB08C5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71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boundary-2-1-text">
            <a:extLst xmlns:a="http://schemas.openxmlformats.org/drawingml/2006/main">
              <a:ext uri="{FF2B5EF4-FFF2-40B4-BE49-F238E27FC236}">
                <a16:creationId xmlns:a16="http://schemas.microsoft.com/office/drawing/2014/main" id="{29086636-39DE-4D59-9A1E-EEBE8B94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105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Treatment recommendations</a:t>
            </a:r>
          </a:p>
        </p:txBody>
      </p:sp>
      <p:sp>
        <p:nvSpPr>
          <p:cNvPr id="42" name="boundary-2-2-mark">
            <a:extLst xmlns:a="http://schemas.openxmlformats.org/drawingml/2006/main">
              <a:ext uri="{FF2B5EF4-FFF2-40B4-BE49-F238E27FC236}">
                <a16:creationId xmlns:a16="http://schemas.microsoft.com/office/drawing/2014/main" id="{FAC4573B-F38D-46DF-A4ED-1B873EAA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38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boundary-2-2-text">
            <a:extLst xmlns:a="http://schemas.openxmlformats.org/drawingml/2006/main">
              <a:ext uri="{FF2B5EF4-FFF2-40B4-BE49-F238E27FC236}">
                <a16:creationId xmlns:a16="http://schemas.microsoft.com/office/drawing/2014/main" id="{362C7302-2096-4F5D-BC94-104F8C00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71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Clinical decision support</a:t>
            </a:r>
          </a:p>
        </p:txBody>
      </p:sp>
      <p:sp>
        <p:nvSpPr>
          <p:cNvPr id="44" name="boundary-2-3-mark">
            <a:extLst xmlns:a="http://schemas.openxmlformats.org/drawingml/2006/main">
              <a:ext uri="{FF2B5EF4-FFF2-40B4-BE49-F238E27FC236}">
                <a16:creationId xmlns:a16="http://schemas.microsoft.com/office/drawing/2014/main" id="{BF27D05A-7B4B-4474-BCCA-C468BF60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boundary-2-3-text">
            <a:extLst xmlns:a="http://schemas.openxmlformats.org/drawingml/2006/main">
              <a:ext uri="{FF2B5EF4-FFF2-40B4-BE49-F238E27FC236}">
                <a16:creationId xmlns:a16="http://schemas.microsoft.com/office/drawing/2014/main" id="{53D04642-1072-4E86-8F8E-D00481A4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038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Clinical risk scoring</a:t>
            </a:r>
          </a:p>
        </p:txBody>
      </p:sp>
      <p:sp>
        <p:nvSpPr>
          <p:cNvPr id="46" name="boundary-2-4-mark">
            <a:extLst xmlns:a="http://schemas.openxmlformats.org/drawingml/2006/main">
              <a:ext uri="{FF2B5EF4-FFF2-40B4-BE49-F238E27FC236}">
                <a16:creationId xmlns:a16="http://schemas.microsoft.com/office/drawing/2014/main" id="{3E31034C-1B5B-4A20-A961-4692DB5B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9A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boundary-2-4-text">
            <a:extLst xmlns:a="http://schemas.openxmlformats.org/drawingml/2006/main">
              <a:ext uri="{FF2B5EF4-FFF2-40B4-BE49-F238E27FC236}">
                <a16:creationId xmlns:a16="http://schemas.microsoft.com/office/drawing/2014/main" id="{657F054E-5A68-4C62-B8B3-0B9BD35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5053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Autonomous clinical advice</a:t>
            </a:r>
          </a:p>
        </p:txBody>
      </p:sp>
      <p:sp>
        <p:nvSpPr>
          <p:cNvPr id="48" name="boundary-bottom">
            <a:extLst xmlns:a="http://schemas.openxmlformats.org/drawingml/2006/main">
              <a:ext uri="{FF2B5EF4-FFF2-40B4-BE49-F238E27FC236}">
                <a16:creationId xmlns:a16="http://schemas.microsoft.com/office/drawing/2014/main" id="{4BD7A0C6-BC7B-4C87-BE95-75FD746D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10610850" cy="381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3E78"/>
          </a:solidFill>
          <a:ln xmlns:a="http://schemas.openxmlformats.org/drawingml/2006/main" w="9525">
            <a:solidFill>
              <a:srgbClr val="4A759F"/>
            </a:solidFill>
            <a:prstDash val="solid"/>
          </a:ln>
        </p:spPr>
      </p:sp>
      <p:sp>
        <p:nvSpPr>
          <p:cNvPr id="49" name="boundary-bottom-copy">
            <a:extLst xmlns:a="http://schemas.openxmlformats.org/drawingml/2006/main">
              <a:ext uri="{FF2B5EF4-FFF2-40B4-BE49-F238E27FC236}">
                <a16:creationId xmlns:a16="http://schemas.microsoft.com/office/drawing/2014/main" id="{FF65A973-8A59-452B-B33F-88E0EA7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229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CURRENT STATUS  /  SYNTHETIC  ·  BROWSER-LOCAL  ·  DETERMINISTIC  ·  HUMAN REVIEW REQUIRED</a:t>
            </a:r>
          </a:p>
        </p:txBody>
      </p:sp>
    </p:spTree>
    <p:extLst>
      <p:ext uri="{BB962C8B-B14F-4D97-AF65-F5344CB8AC3E}">
        <p14:creationId xmlns:p14="http://schemas.microsoft.com/office/powerpoint/2010/main" val="1417357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2AF7EF01-E26E-4BD8-BDF4-379858B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22BCEB48-487F-4D64-B3BA-DBD9D403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7BB9E4C4-A8CC-4D56-82E0-FA46DB38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5D1B4C52-E036-4445-AE4C-060A7F78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7">
            <a:extLst xmlns:a="http://schemas.openxmlformats.org/drawingml/2006/main">
              <a:ext uri="{FF2B5EF4-FFF2-40B4-BE49-F238E27FC236}">
                <a16:creationId xmlns:a16="http://schemas.microsoft.com/office/drawing/2014/main" id="{EB0F8EEA-3D47-4036-BCA3-CD3229C5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526079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0219E48E-20DE-45D7-89E0-B85C259F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1744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7" name="validation-kicker">
            <a:extLst xmlns:a="http://schemas.openxmlformats.org/drawingml/2006/main">
              <a:ext uri="{FF2B5EF4-FFF2-40B4-BE49-F238E27FC236}">
                <a16:creationId xmlns:a16="http://schemas.microsoft.com/office/drawing/2014/main" id="{DB4D0325-8304-4BEA-ACC6-45E89DD6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8FCE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08FCE"/>
                </a:solidFill>
                <a:latin typeface="Consolas"/>
                <a:ea typeface="Consolas"/>
                <a:cs typeface="Consolas"/>
              </a:rPr>
              <a:t>PROOF PLAN</a:t>
            </a:r>
          </a:p>
        </p:txBody>
      </p:sp>
      <p:sp>
        <p:nvSpPr>
          <p:cNvPr id="8" name="validation-title">
            <a:extLst xmlns:a="http://schemas.openxmlformats.org/drawingml/2006/main">
              <a:ext uri="{FF2B5EF4-FFF2-40B4-BE49-F238E27FC236}">
                <a16:creationId xmlns:a16="http://schemas.microsoft.com/office/drawing/2014/main" id="{3167A17B-FA55-48AB-92C5-186B7F8A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381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Our proof is a workflow test,</a:t>
            </a:r>
          </a:p>
          <a:p xmlns:a="http://schemas.openxmlformats.org/drawingml/2006/main">
            <a:pPr algn="l">
              <a:defRPr sz="31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not a leaderboard demo.</a:t>
            </a:r>
          </a:p>
        </p:txBody>
      </p:sp>
      <p:sp>
        <p:nvSpPr>
          <p:cNvPr id="9" name="validation-intro">
            <a:extLst xmlns:a="http://schemas.openxmlformats.org/drawingml/2006/main">
              <a:ext uri="{FF2B5EF4-FFF2-40B4-BE49-F238E27FC236}">
                <a16:creationId xmlns:a16="http://schemas.microsoft.com/office/drawing/2014/main" id="{6A4E9A07-7DCA-439F-BBEA-69BAEEFD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72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We will compare structured output with clinician-authored references across synthetic or fully anonymised scenarios.</a:t>
            </a:r>
          </a:p>
        </p:txBody>
      </p:sp>
      <p:sp>
        <p:nvSpPr>
          <p:cNvPr id="10" name="validation-spine">
            <a:extLst xmlns:a="http://schemas.openxmlformats.org/drawingml/2006/main">
              <a:ext uri="{FF2B5EF4-FFF2-40B4-BE49-F238E27FC236}">
                <a16:creationId xmlns:a16="http://schemas.microsoft.com/office/drawing/2014/main" id="{E2C1AE78-F7C9-4C0A-B227-B568F99E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285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validation-node-0">
            <a:extLst xmlns:a="http://schemas.openxmlformats.org/drawingml/2006/main">
              <a:ext uri="{FF2B5EF4-FFF2-40B4-BE49-F238E27FC236}">
                <a16:creationId xmlns:a16="http://schemas.microsoft.com/office/drawing/2014/main" id="{85323C7F-2EB5-434A-8F7D-2F657BBD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validation-node-number-0">
            <a:extLst xmlns:a="http://schemas.openxmlformats.org/drawingml/2006/main">
              <a:ext uri="{FF2B5EF4-FFF2-40B4-BE49-F238E27FC236}">
                <a16:creationId xmlns:a16="http://schemas.microsoft.com/office/drawing/2014/main" id="{51487B66-E75A-4664-985B-23A778EC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717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3" name="validation-phase-label-0">
            <a:extLst xmlns:a="http://schemas.openxmlformats.org/drawingml/2006/main">
              <a:ext uri="{FF2B5EF4-FFF2-40B4-BE49-F238E27FC236}">
                <a16:creationId xmlns:a16="http://schemas.microsoft.com/office/drawing/2014/main" id="{BC5E866D-9BE6-4075-9BDE-146C43C1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574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Clinician reference set</a:t>
            </a:r>
          </a:p>
        </p:txBody>
      </p:sp>
      <p:sp>
        <p:nvSpPr>
          <p:cNvPr id="14" name="validation-phase-body-0">
            <a:extLst xmlns:a="http://schemas.openxmlformats.org/drawingml/2006/main">
              <a:ext uri="{FF2B5EF4-FFF2-40B4-BE49-F238E27FC236}">
                <a16:creationId xmlns:a16="http://schemas.microsoft.com/office/drawing/2014/main" id="{0344F508-71A5-4FCB-8FC0-E8C4BE8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146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Agree the domains, source notes and unresolved cases.</a:t>
            </a:r>
          </a:p>
        </p:txBody>
      </p:sp>
      <p:sp>
        <p:nvSpPr>
          <p:cNvPr id="15" name="validation-node-1">
            <a:extLst xmlns:a="http://schemas.openxmlformats.org/drawingml/2006/main">
              <a:ext uri="{FF2B5EF4-FFF2-40B4-BE49-F238E27FC236}">
                <a16:creationId xmlns:a16="http://schemas.microsoft.com/office/drawing/2014/main" id="{1CDB5653-7909-49A3-9033-3ACEB3B4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validation-node-number-1">
            <a:extLst xmlns:a="http://schemas.openxmlformats.org/drawingml/2006/main">
              <a:ext uri="{FF2B5EF4-FFF2-40B4-BE49-F238E27FC236}">
                <a16:creationId xmlns:a16="http://schemas.microsoft.com/office/drawing/2014/main" id="{C01EB258-0FC8-4D08-BA34-7D1E27ED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7" name="validation-phase-label-1">
            <a:extLst xmlns:a="http://schemas.openxmlformats.org/drawingml/2006/main">
              <a:ext uri="{FF2B5EF4-FFF2-40B4-BE49-F238E27FC236}">
                <a16:creationId xmlns:a16="http://schemas.microsoft.com/office/drawing/2014/main" id="{731DFA6C-CDE9-471F-9E94-91FB7D0C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0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Draft review</a:t>
            </a:r>
          </a:p>
        </p:txBody>
      </p:sp>
      <p:sp>
        <p:nvSpPr>
          <p:cNvPr id="18" name="validation-phase-body-1">
            <a:extLst xmlns:a="http://schemas.openxmlformats.org/drawingml/2006/main">
              <a:ext uri="{FF2B5EF4-FFF2-40B4-BE49-F238E27FC236}">
                <a16:creationId xmlns:a16="http://schemas.microsoft.com/office/drawing/2014/main" id="{12BA65C6-863F-4860-AAC3-0ADFABB0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Check field faithfulness, traceability and visible uncertainty.</a:t>
            </a:r>
          </a:p>
        </p:txBody>
      </p:sp>
      <p:sp>
        <p:nvSpPr>
          <p:cNvPr id="19" name="validation-node-2">
            <a:extLst xmlns:a="http://schemas.openxmlformats.org/drawingml/2006/main">
              <a:ext uri="{FF2B5EF4-FFF2-40B4-BE49-F238E27FC236}">
                <a16:creationId xmlns:a16="http://schemas.microsoft.com/office/drawing/2014/main" id="{2CCBDFBC-BBBB-4C71-8497-323BE9B6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58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validation-node-number-2">
            <a:extLst xmlns:a="http://schemas.openxmlformats.org/drawingml/2006/main">
              <a:ext uri="{FF2B5EF4-FFF2-40B4-BE49-F238E27FC236}">
                <a16:creationId xmlns:a16="http://schemas.microsoft.com/office/drawing/2014/main" id="{3181E04B-05FE-4664-ADFE-9F6E2884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21" name="validation-phase-label-2">
            <a:extLst xmlns:a="http://schemas.openxmlformats.org/drawingml/2006/main">
              <a:ext uri="{FF2B5EF4-FFF2-40B4-BE49-F238E27FC236}">
                <a16:creationId xmlns:a16="http://schemas.microsoft.com/office/drawing/2014/main" id="{48545346-790E-4B49-9B1A-F31F05D1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433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Retrieval test</a:t>
            </a:r>
          </a:p>
        </p:txBody>
      </p:sp>
      <p:sp>
        <p:nvSpPr>
          <p:cNvPr id="22" name="validation-phase-body-2">
            <a:extLst xmlns:a="http://schemas.openxmlformats.org/drawingml/2006/main">
              <a:ext uri="{FF2B5EF4-FFF2-40B4-BE49-F238E27FC236}">
                <a16:creationId xmlns:a16="http://schemas.microsoft.com/office/drawing/2014/main" id="{1B984D48-ADC1-4958-A56F-4FC03D15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Ask a receiving clinician to find and reconfirm the latest version.</a:t>
            </a:r>
          </a:p>
        </p:txBody>
      </p:sp>
      <p:sp>
        <p:nvSpPr>
          <p:cNvPr id="23" name="validation-node-3">
            <a:extLst xmlns:a="http://schemas.openxmlformats.org/drawingml/2006/main">
              <a:ext uri="{FF2B5EF4-FFF2-40B4-BE49-F238E27FC236}">
                <a16:creationId xmlns:a16="http://schemas.microsoft.com/office/drawing/2014/main" id="{E1C5E222-F425-420D-9CCC-89EB5F3E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validation-node-number-3">
            <a:extLst xmlns:a="http://schemas.openxmlformats.org/drawingml/2006/main">
              <a:ext uri="{FF2B5EF4-FFF2-40B4-BE49-F238E27FC236}">
                <a16:creationId xmlns:a16="http://schemas.microsoft.com/office/drawing/2014/main" id="{B2E634FC-F219-4938-A6E7-0BBA666C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5" name="validation-phase-label-3">
            <a:extLst xmlns:a="http://schemas.openxmlformats.org/drawingml/2006/main">
              <a:ext uri="{FF2B5EF4-FFF2-40B4-BE49-F238E27FC236}">
                <a16:creationId xmlns:a16="http://schemas.microsoft.com/office/drawing/2014/main" id="{33355AA0-9D8A-475B-AC45-E6596902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862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03580"/>
                </a:solidFill>
                <a:latin typeface="Helvetica Neue"/>
                <a:ea typeface="Helvetica Neue"/>
                <a:cs typeface="Helvetica Neue"/>
              </a:rPr>
              <a:t>Follow-up closure</a:t>
            </a:r>
          </a:p>
        </p:txBody>
      </p:sp>
      <p:sp>
        <p:nvSpPr>
          <p:cNvPr id="26" name="validation-phase-body-3">
            <a:extLst xmlns:a="http://schemas.openxmlformats.org/drawingml/2006/main">
              <a:ext uri="{FF2B5EF4-FFF2-40B4-BE49-F238E27FC236}">
                <a16:creationId xmlns:a16="http://schemas.microsoft.com/office/drawing/2014/main" id="{676A4C65-1F8D-429F-BB95-0ED1BA70C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Track whether named owners revisit open topics on time.</a:t>
            </a:r>
          </a:p>
        </p:txBody>
      </p:sp>
      <p:sp>
        <p:nvSpPr>
          <p:cNvPr id="27" name="validation-metrics-label">
            <a:extLst xmlns:a="http://schemas.openxmlformats.org/drawingml/2006/main">
              <a:ext uri="{FF2B5EF4-FFF2-40B4-BE49-F238E27FC236}">
                <a16:creationId xmlns:a16="http://schemas.microsoft.com/office/drawing/2014/main" id="{24C6A41C-EA19-41E1-B66B-6BFFC92D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24075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PILOT TARGETS  /  TO BE MEASURED</a:t>
            </a:r>
          </a:p>
        </p:txBody>
      </p:sp>
      <p:sp>
        <p:nvSpPr>
          <p:cNvPr id="28" name="metric-0">
            <a:extLst xmlns:a="http://schemas.openxmlformats.org/drawingml/2006/main">
              <a:ext uri="{FF2B5EF4-FFF2-40B4-BE49-F238E27FC236}">
                <a16:creationId xmlns:a16="http://schemas.microsoft.com/office/drawing/2014/main" id="{26D55BC0-D714-4079-956E-D99B7E7C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29" name="metric-0-bar">
            <a:extLst xmlns:a="http://schemas.openxmlformats.org/drawingml/2006/main">
              <a:ext uri="{FF2B5EF4-FFF2-40B4-BE49-F238E27FC236}">
                <a16:creationId xmlns:a16="http://schemas.microsoft.com/office/drawing/2014/main" id="{E40608CA-18DC-4000-8865-26B330D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20574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etric-0-label">
            <a:extLst xmlns:a="http://schemas.openxmlformats.org/drawingml/2006/main">
              <a:ext uri="{FF2B5EF4-FFF2-40B4-BE49-F238E27FC236}">
                <a16:creationId xmlns:a16="http://schemas.microsoft.com/office/drawing/2014/main" id="{8EA0FA5E-9343-4C33-98B8-60E7EBE6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051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8FCE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008FCE"/>
                </a:solidFill>
                <a:latin typeface="Consolas"/>
                <a:ea typeface="Consolas"/>
                <a:cs typeface="Consolas"/>
              </a:rPr>
              <a:t>FAITHFUL DRAFT</a:t>
            </a:r>
          </a:p>
        </p:txBody>
      </p:sp>
      <p:sp>
        <p:nvSpPr>
          <p:cNvPr id="31" name="metric-0-body">
            <a:extLst xmlns:a="http://schemas.openxmlformats.org/drawingml/2006/main">
              <a:ext uri="{FF2B5EF4-FFF2-40B4-BE49-F238E27FC236}">
                <a16:creationId xmlns:a16="http://schemas.microsoft.com/office/drawing/2014/main" id="{B2CF5E45-E48A-4607-944C-0D2F3F6A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908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Clinician agreement on source-linked fields</a:t>
            </a:r>
          </a:p>
        </p:txBody>
      </p:sp>
      <p:sp>
        <p:nvSpPr>
          <p:cNvPr id="32" name="metric-1">
            <a:extLst xmlns:a="http://schemas.openxmlformats.org/drawingml/2006/main">
              <a:ext uri="{FF2B5EF4-FFF2-40B4-BE49-F238E27FC236}">
                <a16:creationId xmlns:a16="http://schemas.microsoft.com/office/drawing/2014/main" id="{66E0F19B-39B8-403B-9578-5B91BEAB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1460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3" name="metric-1-bar">
            <a:extLst xmlns:a="http://schemas.openxmlformats.org/drawingml/2006/main">
              <a:ext uri="{FF2B5EF4-FFF2-40B4-BE49-F238E27FC236}">
                <a16:creationId xmlns:a16="http://schemas.microsoft.com/office/drawing/2014/main" id="{F996E75C-2CEB-4ED1-8218-BAC841CF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14600"/>
            <a:ext cx="20574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5978657D-866F-435C-8695-7857A260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70510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VISIBLE UNCERTAINTY</a:t>
            </a:r>
          </a:p>
        </p:txBody>
      </p:sp>
      <p:sp>
        <p:nvSpPr>
          <p:cNvPr id="35" name="metric-1-body">
            <a:extLst xmlns:a="http://schemas.openxmlformats.org/drawingml/2006/main">
              <a:ext uri="{FF2B5EF4-FFF2-40B4-BE49-F238E27FC236}">
                <a16:creationId xmlns:a16="http://schemas.microsoft.com/office/drawing/2014/main" id="{68BCFC2D-55EA-4BD1-B7CB-77FCEC4B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9908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Unresolved topics remain explicit</a:t>
            </a:r>
          </a:p>
        </p:txBody>
      </p:sp>
      <p:sp>
        <p:nvSpPr>
          <p:cNvPr id="36" name="metric-2">
            <a:extLst xmlns:a="http://schemas.openxmlformats.org/drawingml/2006/main">
              <a:ext uri="{FF2B5EF4-FFF2-40B4-BE49-F238E27FC236}">
                <a16:creationId xmlns:a16="http://schemas.microsoft.com/office/drawing/2014/main" id="{89C2540B-6333-4AD0-B62A-E03DCF98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4F5F3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37" name="metric-2-bar">
            <a:extLst xmlns:a="http://schemas.openxmlformats.org/drawingml/2006/main">
              <a:ext uri="{FF2B5EF4-FFF2-40B4-BE49-F238E27FC236}">
                <a16:creationId xmlns:a16="http://schemas.microsoft.com/office/drawing/2014/main" id="{70EE6B6D-958E-4739-A365-57958711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20574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658E879A-172C-47B3-9F68-8FDF3B3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FAST RETRIEVAL</a:t>
            </a:r>
          </a:p>
        </p:txBody>
      </p:sp>
      <p:sp>
        <p:nvSpPr>
          <p:cNvPr id="39" name="metric-2-body">
            <a:extLst xmlns:a="http://schemas.openxmlformats.org/drawingml/2006/main">
              <a:ext uri="{FF2B5EF4-FFF2-40B4-BE49-F238E27FC236}">
                <a16:creationId xmlns:a16="http://schemas.microsoft.com/office/drawing/2014/main" id="{D924ACC3-B86B-49CE-80AF-300C1D51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Receiving clinician can find the current version</a:t>
            </a:r>
          </a:p>
        </p:txBody>
      </p:sp>
      <p:sp>
        <p:nvSpPr>
          <p:cNvPr id="40" name="metric-3">
            <a:extLst xmlns:a="http://schemas.openxmlformats.org/drawingml/2006/main">
              <a:ext uri="{FF2B5EF4-FFF2-40B4-BE49-F238E27FC236}">
                <a16:creationId xmlns:a16="http://schemas.microsoft.com/office/drawing/2014/main" id="{2CEFFF6E-CBF0-4133-A312-25E6E000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14750"/>
            <a:ext cx="2057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CE4EF"/>
            </a:solidFill>
            <a:prstDash val="solid"/>
          </a:ln>
        </p:spPr>
      </p:sp>
      <p:sp>
        <p:nvSpPr>
          <p:cNvPr id="41" name="metric-3-bar">
            <a:extLst xmlns:a="http://schemas.openxmlformats.org/drawingml/2006/main">
              <a:ext uri="{FF2B5EF4-FFF2-40B4-BE49-F238E27FC236}">
                <a16:creationId xmlns:a16="http://schemas.microsoft.com/office/drawing/2014/main" id="{B68C25FC-B015-4BDB-826A-BC613782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714750"/>
            <a:ext cx="20574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EC2A34AC-33A2-4D68-B0D3-4414BD9A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052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825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CLOSED FOLLOW-UP</a:t>
            </a:r>
          </a:p>
        </p:txBody>
      </p:sp>
      <p:sp>
        <p:nvSpPr>
          <p:cNvPr id="43" name="metric-3-body">
            <a:extLst xmlns:a="http://schemas.openxmlformats.org/drawingml/2006/main">
              <a:ext uri="{FF2B5EF4-FFF2-40B4-BE49-F238E27FC236}">
                <a16:creationId xmlns:a16="http://schemas.microsoft.com/office/drawing/2014/main" id="{05F2412B-0912-4DAC-8C25-AB0044F2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19100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Named owners revisit open items</a:t>
            </a:r>
          </a:p>
        </p:txBody>
      </p:sp>
      <p:sp>
        <p:nvSpPr>
          <p:cNvPr id="44" name="validation-ask">
            <a:extLst xmlns:a="http://schemas.openxmlformats.org/drawingml/2006/main">
              <a:ext uri="{FF2B5EF4-FFF2-40B4-BE49-F238E27FC236}">
                <a16:creationId xmlns:a16="http://schemas.microsoft.com/office/drawing/2014/main" id="{4E2C1158-9B9A-4316-93ED-D5D3EE81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067300"/>
            <a:ext cx="429577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FF8A24"/>
            </a:solidFill>
            <a:prstDash val="solid"/>
          </a:ln>
        </p:spPr>
      </p:sp>
      <p:sp>
        <p:nvSpPr>
          <p:cNvPr id="45" name="validation-ask-label">
            <a:extLst xmlns:a="http://schemas.openxmlformats.org/drawingml/2006/main">
              <a:ext uri="{FF2B5EF4-FFF2-40B4-BE49-F238E27FC236}">
                <a16:creationId xmlns:a16="http://schemas.microsoft.com/office/drawing/2014/main" id="{166518F9-9491-4119-B37F-87792E67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197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WE NEED</a:t>
            </a:r>
          </a:p>
        </p:txBody>
      </p:sp>
      <p:sp>
        <p:nvSpPr>
          <p:cNvPr id="46" name="validation-ask-copy">
            <a:extLst xmlns:a="http://schemas.openxmlformats.org/drawingml/2006/main">
              <a:ext uri="{FF2B5EF4-FFF2-40B4-BE49-F238E27FC236}">
                <a16:creationId xmlns:a16="http://schemas.microsoft.com/office/drawing/2014/main" id="{830A7F3D-92F3-41BF-B103-F63A6BAD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4864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2 clinicians  +  1 coordinator  +  agreed scenarios  +  a pilot owner</a:t>
            </a:r>
          </a:p>
        </p:txBody>
      </p:sp>
    </p:spTree>
    <p:extLst>
      <p:ext uri="{BB962C8B-B14F-4D97-AF65-F5344CB8AC3E}">
        <p14:creationId xmlns:p14="http://schemas.microsoft.com/office/powerpoint/2010/main" val="1627004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tripe-orange">
            <a:extLst xmlns:a="http://schemas.openxmlformats.org/drawingml/2006/main">
              <a:ext uri="{FF2B5EF4-FFF2-40B4-BE49-F238E27FC236}">
                <a16:creationId xmlns:a16="http://schemas.microsoft.com/office/drawing/2014/main" id="{7D1CD161-761B-41F5-B7D8-F54B6FA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576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tripe-white">
            <a:extLst xmlns:a="http://schemas.openxmlformats.org/drawingml/2006/main">
              <a:ext uri="{FF2B5EF4-FFF2-40B4-BE49-F238E27FC236}">
                <a16:creationId xmlns:a16="http://schemas.microsoft.com/office/drawing/2014/main" id="{56EFFCF5-4289-426B-AD87-F7536745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tripe-green">
            <a:extLst xmlns:a="http://schemas.openxmlformats.org/drawingml/2006/main">
              <a:ext uri="{FF2B5EF4-FFF2-40B4-BE49-F238E27FC236}">
                <a16:creationId xmlns:a16="http://schemas.microsoft.com/office/drawing/2014/main" id="{066E9BE8-0583-4F8C-9759-4FF68940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0"/>
            <a:ext cx="40671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880E8FCF-DF3A-4A31-AF15-F6A034D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brand-8">
            <a:extLst xmlns:a="http://schemas.openxmlformats.org/drawingml/2006/main">
              <a:ext uri="{FF2B5EF4-FFF2-40B4-BE49-F238E27FC236}">
                <a16:creationId xmlns:a16="http://schemas.microsoft.com/office/drawing/2014/main" id="{45C54903-20C1-4539-A99C-C8DE993E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B9CCEA"/>
                </a:solidFill>
                <a:latin typeface="Consolas"/>
                <a:ea typeface="Consolas"/>
                <a:cs typeface="Consolas"/>
              </a:rPr>
              <a:t>CONTINUITY LOOP  /  HEALTH-A-THON 2026</a:t>
            </a:r>
          </a:p>
        </p:txBody>
      </p:sp>
      <p:sp>
        <p:nvSpPr>
          <p:cNvPr id="6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D35E01DF-85DF-48B5-BCB5-AC396F4D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FFD465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A4625CB-6935-482E-A360-4551AEE8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THE ASK</a:t>
            </a:r>
          </a:p>
        </p:txBody>
      </p:sp>
      <p:sp>
        <p:nvSpPr>
          <p:cNvPr id="8" name="close-title">
            <a:extLst xmlns:a="http://schemas.openxmlformats.org/drawingml/2006/main">
              <a:ext uri="{FF2B5EF4-FFF2-40B4-BE49-F238E27FC236}">
                <a16:creationId xmlns:a16="http://schemas.microsoft.com/office/drawing/2014/main" id="{0EE3BA5E-7B0D-4C7E-9988-1B72812B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048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864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Keep the patient's voice</a:t>
            </a:r>
          </a:p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 the next room.</a:t>
            </a:r>
          </a:p>
        </p:txBody>
      </p:sp>
      <p:sp>
        <p:nvSpPr>
          <p:cNvPr id="9" name="close-body">
            <a:extLst xmlns:a="http://schemas.openxmlformats.org/drawingml/2006/main">
              <a:ext uri="{FF2B5EF4-FFF2-40B4-BE49-F238E27FC236}">
                <a16:creationId xmlns:a16="http://schemas.microsoft.com/office/drawing/2014/main" id="{6EB60C1C-6033-4ADA-B2B0-3044FA92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06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D7E5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 i="0">
                <a:solidFill>
                  <a:srgbClr val="D7E5F5"/>
                </a:solidFill>
                <a:latin typeface="Helvetica Neue"/>
                <a:ea typeface="Helvetica Neue"/>
                <a:cs typeface="Helvetica Neue"/>
              </a:rPr>
              <a:t>Continuity Loop turns a difficult conversation into a reviewed handoff that can be found, revisited and carried forward.</a:t>
            </a:r>
          </a:p>
        </p:txBody>
      </p:sp>
      <p:sp>
        <p:nvSpPr>
          <p:cNvPr id="10" name="close-ask-bar-0">
            <a:extLst xmlns:a="http://schemas.openxmlformats.org/drawingml/2006/main">
              <a:ext uri="{FF2B5EF4-FFF2-40B4-BE49-F238E27FC236}">
                <a16:creationId xmlns:a16="http://schemas.microsoft.com/office/drawing/2014/main" id="{5157E95D-991F-45C4-A0D2-E1F30A9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lose-ask-label-0">
            <a:extLst xmlns:a="http://schemas.openxmlformats.org/drawingml/2006/main">
              <a:ext uri="{FF2B5EF4-FFF2-40B4-BE49-F238E27FC236}">
                <a16:creationId xmlns:a16="http://schemas.microsoft.com/office/drawing/2014/main" id="{E6CF8072-0C21-49F2-A606-0F7ECDD8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138808"/>
                </a:solidFill>
                <a:latin typeface="Consolas"/>
                <a:ea typeface="Consolas"/>
                <a:cs typeface="Consolas"/>
              </a:rPr>
              <a:t>CLINICAL OWNERS</a:t>
            </a:r>
          </a:p>
        </p:txBody>
      </p:sp>
      <p:sp>
        <p:nvSpPr>
          <p:cNvPr id="12" name="close-ask-body-0">
            <a:extLst xmlns:a="http://schemas.openxmlformats.org/drawingml/2006/main">
              <a:ext uri="{FF2B5EF4-FFF2-40B4-BE49-F238E27FC236}">
                <a16:creationId xmlns:a16="http://schemas.microsoft.com/office/drawing/2014/main" id="{654B13C3-5605-47DA-85BC-59533385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6707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Define the domains and review rules.</a:t>
            </a:r>
          </a:p>
        </p:txBody>
      </p:sp>
      <p:sp>
        <p:nvSpPr>
          <p:cNvPr id="13" name="close-ask-bar-1">
            <a:extLst xmlns:a="http://schemas.openxmlformats.org/drawingml/2006/main">
              <a:ext uri="{FF2B5EF4-FFF2-40B4-BE49-F238E27FC236}">
                <a16:creationId xmlns:a16="http://schemas.microsoft.com/office/drawing/2014/main" id="{B6856396-35E6-4591-841A-C619140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ose-ask-label-1">
            <a:extLst xmlns:a="http://schemas.openxmlformats.org/drawingml/2006/main">
              <a:ext uri="{FF2B5EF4-FFF2-40B4-BE49-F238E27FC236}">
                <a16:creationId xmlns:a16="http://schemas.microsoft.com/office/drawing/2014/main" id="{FC66DDA7-85F2-46FC-BE65-B272B44A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8142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8FCE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8FCE"/>
                </a:solidFill>
                <a:latin typeface="Consolas"/>
                <a:ea typeface="Consolas"/>
                <a:cs typeface="Consolas"/>
              </a:rPr>
              <a:t>PILOT PARTNER</a:t>
            </a:r>
          </a:p>
        </p:txBody>
      </p:sp>
      <p:sp>
        <p:nvSpPr>
          <p:cNvPr id="15" name="close-ask-body-1">
            <a:extLst xmlns:a="http://schemas.openxmlformats.org/drawingml/2006/main">
              <a:ext uri="{FF2B5EF4-FFF2-40B4-BE49-F238E27FC236}">
                <a16:creationId xmlns:a16="http://schemas.microsoft.com/office/drawing/2014/main" id="{19E3A42A-C95A-4CD7-9815-6B6D90CE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Test across oncology, palliative, emergency or home care.</a:t>
            </a:r>
          </a:p>
        </p:txBody>
      </p:sp>
      <p:sp>
        <p:nvSpPr>
          <p:cNvPr id="16" name="close-ask-bar-2">
            <a:extLst xmlns:a="http://schemas.openxmlformats.org/drawingml/2006/main">
              <a:ext uri="{FF2B5EF4-FFF2-40B4-BE49-F238E27FC236}">
                <a16:creationId xmlns:a16="http://schemas.microsoft.com/office/drawing/2014/main" id="{5BEC7E6D-A792-49E1-93EF-D6C258C3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57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e-ask-label-2">
            <a:extLst xmlns:a="http://schemas.openxmlformats.org/drawingml/2006/main">
              <a:ext uri="{FF2B5EF4-FFF2-40B4-BE49-F238E27FC236}">
                <a16:creationId xmlns:a16="http://schemas.microsoft.com/office/drawing/2014/main" id="{8190FF9C-B5CE-4498-A4A7-6F299D7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F8A24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F8A24"/>
                </a:solidFill>
                <a:latin typeface="Consolas"/>
                <a:ea typeface="Consolas"/>
                <a:cs typeface="Consolas"/>
              </a:rPr>
              <a:t>FEEDBACK LOOP</a:t>
            </a:r>
          </a:p>
        </p:txBody>
      </p:sp>
      <p:sp>
        <p:nvSpPr>
          <p:cNvPr id="18" name="close-ask-body-2">
            <a:extLst xmlns:a="http://schemas.openxmlformats.org/drawingml/2006/main">
              <a:ext uri="{FF2B5EF4-FFF2-40B4-BE49-F238E27FC236}">
                <a16:creationId xmlns:a16="http://schemas.microsoft.com/office/drawing/2014/main" id="{5DE4EC59-3895-4F34-9D76-619B1ED7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Measure what still gets missed and what gets repeated.</a:t>
            </a:r>
          </a:p>
        </p:txBody>
      </p:sp>
      <p:sp>
        <p:nvSpPr>
          <p:cNvPr id="19" name="close-screenshot-frame">
            <a:extLst xmlns:a="http://schemas.openxmlformats.org/drawingml/2006/main">
              <a:ext uri="{FF2B5EF4-FFF2-40B4-BE49-F238E27FC236}">
                <a16:creationId xmlns:a16="http://schemas.microsoft.com/office/drawing/2014/main" id="{6C3653CF-BC22-44E4-A560-13FCBD3C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619625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7B9AB7"/>
            </a:solidFill>
            <a:prstDash val="solid"/>
          </a:ln>
        </p:spPr>
      </p:sp>
      <p:sp>
        <p:nvSpPr>
          <p:cNvPr id="20" name="close-screenshot-inner">
            <a:extLst xmlns:a="http://schemas.openxmlformats.org/drawingml/2006/main">
              <a:ext uri="{FF2B5EF4-FFF2-40B4-BE49-F238E27FC236}">
                <a16:creationId xmlns:a16="http://schemas.microsoft.com/office/drawing/2014/main" id="{BCBAEC2B-D1BC-49FE-BDDE-EC487ED0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62150"/>
            <a:ext cx="4314825" cy="1933575"/>
          </a:xfrm>
          <a:prstGeom xmlns:a="http://schemas.openxmlformats.org/drawingml/2006/main" prst="roundRect">
            <a:avLst>
              <a:gd name="adj" fmla="val 394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B9AB7"/>
            </a:solidFill>
            <a:prstDash val="solid"/>
          </a:ln>
        </p:spPr>
      </p:sp>
      <p:sp>
        <p:nvSpPr>
          <p:cNvPr id="21" name="close-screenshot-icon-circle">
            <a:extLst xmlns:a="http://schemas.openxmlformats.org/drawingml/2006/main">
              <a:ext uri="{FF2B5EF4-FFF2-40B4-BE49-F238E27FC236}">
                <a16:creationId xmlns:a16="http://schemas.microsoft.com/office/drawing/2014/main" id="{D0AFA850-EA0F-49F9-BED8-C11113C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2490788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4FA"/>
          </a:solidFill>
          <a:ln xmlns:a="http://schemas.openxmlformats.org/drawingml/2006/main" w="9525">
            <a:solidFill>
              <a:srgbClr val="7B9AB7"/>
            </a:solidFill>
            <a:prstDash val="solid"/>
          </a:ln>
        </p:spPr>
      </p:sp>
      <p:sp>
        <p:nvSpPr>
          <p:cNvPr id="22" name="close-screenshot-icon-screen">
            <a:extLst xmlns:a="http://schemas.openxmlformats.org/drawingml/2006/main">
              <a:ext uri="{FF2B5EF4-FFF2-40B4-BE49-F238E27FC236}">
                <a16:creationId xmlns:a16="http://schemas.microsoft.com/office/drawing/2014/main" id="{E8B79B2A-BB00-4FFC-AA8A-3DDFE9AA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3013" y="2586038"/>
            <a:ext cx="228600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9AB7"/>
            </a:solidFill>
            <a:prstDash val="solid"/>
          </a:ln>
        </p:spPr>
      </p:sp>
      <p:sp>
        <p:nvSpPr>
          <p:cNvPr id="23" name="close-screenshot-label">
            <a:extLst xmlns:a="http://schemas.openxmlformats.org/drawingml/2006/main">
              <a:ext uri="{FF2B5EF4-FFF2-40B4-BE49-F238E27FC236}">
                <a16:creationId xmlns:a16="http://schemas.microsoft.com/office/drawing/2014/main" id="{13B43B1C-D429-4CB8-9949-645B747F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43238"/>
            <a:ext cx="404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FINAL PRODUCT MONTAGE / SCREENSHOT SLOT</a:t>
            </a:r>
          </a:p>
        </p:txBody>
      </p:sp>
      <p:sp>
        <p:nvSpPr>
          <p:cNvPr id="24" name="close-screenshot-body">
            <a:extLst xmlns:a="http://schemas.openxmlformats.org/drawingml/2006/main">
              <a:ext uri="{FF2B5EF4-FFF2-40B4-BE49-F238E27FC236}">
                <a16:creationId xmlns:a16="http://schemas.microsoft.com/office/drawing/2014/main" id="{CADC0961-F174-4723-8665-1F38E24F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28988"/>
            <a:ext cx="3895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Drop the live app capture here after the UI build.</a:t>
            </a:r>
          </a:p>
        </p:txBody>
      </p:sp>
      <p:sp>
        <p:nvSpPr>
          <p:cNvPr id="25" name="close-qr-card">
            <a:extLst xmlns:a="http://schemas.openxmlformats.org/drawingml/2006/main">
              <a:ext uri="{FF2B5EF4-FFF2-40B4-BE49-F238E27FC236}">
                <a16:creationId xmlns:a16="http://schemas.microsoft.com/office/drawing/2014/main" id="{59F8E046-AF10-42B2-8CEB-F4E10071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619625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a8ac115b84f87"/>
          <a:stretch xmlns:a="http://schemas.openxmlformats.org/drawingml/2006/main"/>
        </p:blipFill>
        <p:spPr>
          <a:xfrm xmlns:a="http://schemas.openxmlformats.org/drawingml/2006/main">
            <a:off x="6858000" y="463867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27" name="close-qr-label">
            <a:extLst xmlns:a="http://schemas.openxmlformats.org/drawingml/2006/main">
              <a:ext uri="{FF2B5EF4-FFF2-40B4-BE49-F238E27FC236}">
                <a16:creationId xmlns:a16="http://schemas.microsoft.com/office/drawing/2014/main" id="{9EA1D37C-DE82-4597-A0C3-0C4349A0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defRPr>
            </a:pPr>
            <a:r>
              <a:rPr sz="975" b="1" i="0">
                <a:solidFill>
                  <a:srgbClr val="003580"/>
                </a:solidFill>
                <a:latin typeface="Consolas"/>
                <a:ea typeface="Consolas"/>
                <a:cs typeface="Consolas"/>
              </a:rPr>
              <a:t>CURRENT SYNTHETIC MVP</a:t>
            </a:r>
          </a:p>
        </p:txBody>
      </p:sp>
      <p:sp>
        <p:nvSpPr>
          <p:cNvPr id="28" name="close-url">
            <a:extLst xmlns:a="http://schemas.openxmlformats.org/drawingml/2006/main">
              <a:ext uri="{FF2B5EF4-FFF2-40B4-BE49-F238E27FC236}">
                <a16:creationId xmlns:a16="http://schemas.microsoft.com/office/drawing/2014/main" id="{9DF60FFF-CCFE-4A40-8884-BCC833C2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387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1744"/>
                </a:solidFill>
                <a:latin typeface="Helvetica Neue"/>
                <a:ea typeface="Helvetica Neue"/>
                <a:cs typeface="Helvetica Neue"/>
              </a:rPr>
              <a:t>continuity-loop-healthathon.vercel.app</a:t>
            </a:r>
          </a:p>
        </p:txBody>
      </p:sp>
      <p:sp>
        <p:nvSpPr>
          <p:cNvPr id="29" name="close-url-note">
            <a:extLst xmlns:a="http://schemas.openxmlformats.org/drawingml/2006/main">
              <a:ext uri="{FF2B5EF4-FFF2-40B4-BE49-F238E27FC236}">
                <a16:creationId xmlns:a16="http://schemas.microsoft.com/office/drawing/2014/main" id="{DCAC5382-73F4-4092-B35E-7E511245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91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81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26079"/>
                </a:solidFill>
                <a:latin typeface="Helvetica Neue"/>
                <a:ea typeface="Helvetica Neue"/>
                <a:cs typeface="Helvetica Neue"/>
              </a:rPr>
              <a:t>Replace the capture and URL when the final UI build is ready.</a:t>
            </a:r>
          </a:p>
        </p:txBody>
      </p:sp>
    </p:spTree>
    <p:extLst>
      <p:ext uri="{BB962C8B-B14F-4D97-AF65-F5344CB8AC3E}">
        <p14:creationId xmlns:p14="http://schemas.microsoft.com/office/powerpoint/2010/main" val="1751326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2026-09-13T11:05:22.3160000Z</dcterms:created>
  <dcterms:modified xsi:type="dcterms:W3CDTF">2026-09-13T11:05:22.3160000Z</dcterms:modified>
</coreProperties>
</file>