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33"/>
  </p:normalViewPr>
  <p:slideViewPr>
    <p:cSldViewPr snapToGrid="0" showGuides="1">
      <p:cViewPr varScale="1">
        <p:scale>
          <a:sx n="86" d="100"/>
          <a:sy n="86" d="100"/>
        </p:scale>
        <p:origin x="76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83E4-489A-DAFB-AF18-2997510DA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2CB51-6105-259F-E906-220AB3988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0355C-9BD3-B7A6-7788-3A0668C6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8A588-9B2B-D65D-E940-7A205320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923-D56F-DEC3-B44F-D10F3E3B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58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65C6-FDFA-2789-F2A1-4C1A58F6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E6ED-79AB-DCC4-C0EE-1F58D3EE3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DF7B3-2D1F-65DA-3A0D-3773DD22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8032-6CC6-1EDA-CA5E-296055BC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B0B11-420F-8B67-63DE-1B0751F2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9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82B2-7F9A-AF85-F39B-F53F548F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D8D80-12A2-D0B9-71C6-D9E9A46D7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F4ED5-8D88-D879-881A-8B66B674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8DBFE-76DC-1AEC-A536-673B7CD03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A9557-1570-370A-E518-E6F900AD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09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B1E67-BFBF-9187-280F-4B20B5D59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FCAF3-AFA6-AEF0-8C5B-17AA76324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37C8D-529C-6455-EF2A-F2D002ECF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C224B-2D70-7940-2198-C2ADE1E8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B3873-2F78-95BC-AF4F-D540D11A4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107BD-8D9B-BA5E-8882-C68F5FD5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4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0E1E-027C-1782-3A52-1685C0D8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AA816-A7D2-9231-1A85-05A60CAA9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08D3C-B247-74EC-55D3-7D6EBD8C3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2D3E1-BFD8-7B06-6896-7D7AE4836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AEDE8-6436-9E82-2A1B-D64CDD2E1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126E7-0791-E8AC-B19F-542ADB6AF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C4FEB-D893-570A-9EDC-C7320904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F97C9-E61E-D451-E7F6-DDD5104E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3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469A-EC43-13ED-5C2F-5A878804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7102A-2DFF-6DA9-877B-66E2B75E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1D3BB-0C5A-F636-BD71-63DFE172E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DE526-D355-13A2-4AE9-34E88B6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57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A51042-903B-3F98-1425-88FEDBC1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B375E-DEC1-842F-5080-F0484820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54676-89B7-F9FA-93F0-6D2CE0A0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24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A2DB-562C-399D-AD54-BBFD99E5B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70582-0B4C-36A5-A7E5-C31EF5822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440A4-46F4-D3BC-AF14-562CB8F3D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7C3AE-630D-7754-4C93-DAEAAB697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620D2-A9B5-6141-4860-9F0F36FF9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1EE86-34D4-D1C6-B51C-863616CC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9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3BEE-D8F5-4230-B9E0-581FB81CA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2A9F34-B831-D8F1-A3A5-C9DD2CE20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1FF42-243A-A037-F15B-6F53ED10F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58436-ADFF-A506-3F2D-E5447D42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929AF-9E02-034E-BC8C-D6838191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236ED-6C2D-11DB-FCFF-64D45CA5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61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E5AA-098A-8FFE-0C7D-EBD73579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525BB-1A2A-2D31-D457-332BB91A2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D97C5-249C-F683-34D0-08B3191BA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726E8-1514-1E56-990F-0D154F01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28F01-5D11-AEA7-ABED-A2879AF8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7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B7230F-31DD-F9DC-F822-06EB07F9B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9EC3F-EB4F-5E14-7D5E-D1EEF37B9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DB28-8202-523B-22E3-AADAD0C7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0E86C-40EE-0E7F-7A42-DF71A9BD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4102E-8511-17AA-C116-9D0B3E82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8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449F1-27B0-782E-AEB6-F961747B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74B10-B9DB-98C2-6DE1-B28C741A6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A1B76-CDB7-0C1B-AC71-763948F366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E111B-7FE8-A14D-B814-60240B7EC36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61827-5AA7-1D33-C8A5-CF923FDC5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D84AD-3735-5841-ED4D-E3087652D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E9537-2346-984D-91C6-FE3E5935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2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oncolo/article/19/5/515/6399315" TargetMode="External"/><Relationship Id="rId2" Type="http://schemas.openxmlformats.org/officeDocument/2006/relationships/hyperlink" Target="https://scroll.in/article/925875/73-urban-indians-do-not-know-about-their-right-to-make-a-living-will-finds-a-surve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20EF52-B967-C734-257B-2C76C18D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7BCA34-CA89-BD51-BCEF-D4C9ACBA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/>
            <a:r>
              <a:rPr lang="en-US" dirty="0"/>
              <a:t>66-year-old male with Metastatic Ca Lung with baseline ECOG 4 performance status on best supportive care after multi-disciplinary discussion</a:t>
            </a:r>
          </a:p>
          <a:p>
            <a:pPr marL="285750" indent="-285750"/>
            <a:r>
              <a:rPr lang="en-US" dirty="0"/>
              <a:t>Develops worsening breathlessness and brought to the Emergency Department </a:t>
            </a:r>
          </a:p>
          <a:p>
            <a:pPr marL="285750" indent="-285750"/>
            <a:r>
              <a:rPr lang="en-US" dirty="0"/>
              <a:t>The family is told that the patient requires ICU care and needs to be put on a ventilator</a:t>
            </a:r>
          </a:p>
          <a:p>
            <a:pPr marL="285750" indent="-285750"/>
            <a:r>
              <a:rPr lang="en-US" dirty="0"/>
              <a:t>Family members are worried about putting the patient on the ventilator – The discussion done only once in the past and not documented</a:t>
            </a:r>
          </a:p>
          <a:p>
            <a:pPr marL="285750" indent="-285750"/>
            <a:r>
              <a:rPr lang="en-US" dirty="0"/>
              <a:t>There is no consensus among family members and the patient is put on a ventilator and shifted to the ICU</a:t>
            </a:r>
          </a:p>
          <a:p>
            <a:pPr marL="285750" indent="-285750"/>
            <a:r>
              <a:rPr lang="en-US" dirty="0"/>
              <a:t>The patient succumbs to the worsening 4 days later. Alone. In the ICU.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035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F1DA0-862F-F5C5-BE9C-F8050AB1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0CB3-D525-C7FD-87D9-2802D0957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Annual new cancers in India – 1.56 million</a:t>
            </a:r>
          </a:p>
          <a:p>
            <a:pPr lvl="1"/>
            <a:r>
              <a:rPr lang="en-US" dirty="0"/>
              <a:t>5 year prevalence – 3.3 million (</a:t>
            </a:r>
            <a:r>
              <a:rPr lang="en-US" dirty="0">
                <a:solidFill>
                  <a:srgbClr val="5A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GLOBOCAN 2024, IARC (India fact sheet) )</a:t>
            </a:r>
            <a:endParaRPr lang="en-US" dirty="0"/>
          </a:p>
          <a:p>
            <a:r>
              <a:rPr lang="en-US" dirty="0"/>
              <a:t>Unmet need of palliative care in India – 98.3% (https://</a:t>
            </a:r>
            <a:r>
              <a:rPr lang="en-US" dirty="0" err="1"/>
              <a:t>spcare.bmj.com</a:t>
            </a:r>
            <a:r>
              <a:rPr lang="en-US" dirty="0"/>
              <a:t>/content/early/2024/06/07/spcare-2024-004978)</a:t>
            </a:r>
          </a:p>
          <a:p>
            <a:r>
              <a:rPr lang="en-US" dirty="0"/>
              <a:t>Goals of care discussions led to </a:t>
            </a:r>
          </a:p>
          <a:p>
            <a:pPr lvl="1"/>
            <a:r>
              <a:rPr lang="en-IN" dirty="0"/>
              <a:t>Improved patient-family-provider communication, Enhanced understanding of patient values and preferences, Better alignment of treatment plans with patient wishes, and Reduced patient and family stress. (https://</a:t>
            </a:r>
            <a:r>
              <a:rPr lang="en-IN" dirty="0" err="1"/>
              <a:t>www.sciencedirect.com</a:t>
            </a:r>
            <a:r>
              <a:rPr lang="en-IN" dirty="0"/>
              <a:t>/science/article/abs/</a:t>
            </a:r>
            <a:r>
              <a:rPr lang="en-IN" dirty="0" err="1"/>
              <a:t>pii</a:t>
            </a:r>
            <a:r>
              <a:rPr lang="en-IN" dirty="0"/>
              <a:t>/S0885392424001131)</a:t>
            </a:r>
          </a:p>
          <a:p>
            <a:r>
              <a:rPr lang="en-IN" dirty="0"/>
              <a:t>Goals of care documentation ~ 0% in dedicated cancer centres in India</a:t>
            </a:r>
          </a:p>
          <a:p>
            <a:pPr lvl="1"/>
            <a:r>
              <a:rPr lang="en-IN" dirty="0"/>
              <a:t>Main barriers - absence of a standard operating procedure/document and limited awareness about GOC (https://</a:t>
            </a:r>
            <a:r>
              <a:rPr lang="en-IN" dirty="0" err="1"/>
              <a:t>pubmed.ncbi.nlm.nih.gov</a:t>
            </a:r>
            <a:r>
              <a:rPr lang="en-IN" dirty="0"/>
              <a:t>/41340644/)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10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9D81-B6C1-92E6-B2DE-09EB65B3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53535-C8B7-9D56-C73A-A61DD746C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Advance Care Planning in India is bad</a:t>
            </a:r>
          </a:p>
          <a:p>
            <a:pPr lvl="1"/>
            <a:r>
              <a:rPr lang="en-IN" dirty="0"/>
              <a:t>A survey of over 2,400 urban Indians across seven cities (Delhi, Mumbai, Kolkata, Hyderabad, Bengaluru, Chandigarh, Jaipur) — all of whom had been hospitalized for more than a day in the prior year — found only 27% were aware living wills existed at all, and of that aware group, only 6% had actually created one (roughly 1–2% of the total sample). 88% said they'd prefer to decide their own end-of-life treatment, and 76% found living wills "highly relevant" once the concept was explained to them. (</a:t>
            </a:r>
            <a:r>
              <a:rPr lang="en-IN" dirty="0">
                <a:hlinkClick r:id="rId2"/>
              </a:rPr>
              <a:t>https://scroll.in/article/925875/73-urban-indians-do-not-know-about-their-right-to-make-a-living-will-finds-a-survey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A study of 391 doctors at a tertiary care hospital found Only 11.5% had ever received any formal training on advance directives, and doctors were particularly weak on practical specifics: only 15.6% had adequate understanding of when in a patient's illness an AD discussion should ideally happen. (https://</a:t>
            </a:r>
            <a:r>
              <a:rPr lang="en-IN" dirty="0" err="1"/>
              <a:t>nmji.in</a:t>
            </a:r>
            <a:r>
              <a:rPr lang="en-IN" dirty="0"/>
              <a:t>/knowledge-and-attitude-towards-advance-directives-for-patients-with-terminal-illnesses-among-doctors-working-in-a-tertiary-care-hospital/)</a:t>
            </a:r>
          </a:p>
          <a:p>
            <a:pPr lvl="1"/>
            <a:r>
              <a:rPr lang="en-IN" dirty="0"/>
              <a:t>mixed-methods study of 140 Indian physicians (focused on neurodegenerative disease care) found near-universal agreement that advance care planning matters in principle (93.6%), but structural barriers dominate in practice: 80% said they lack adequate resources, 75% said they lack adequate time, 65.7% cited lack of institutional support, and 52.1% cited lack of legal clarity. (https://</a:t>
            </a:r>
            <a:r>
              <a:rPr lang="en-IN" dirty="0" err="1"/>
              <a:t>www.medrxiv.org</a:t>
            </a:r>
            <a:r>
              <a:rPr lang="en-IN" dirty="0"/>
              <a:t>/content/10.1101/2025.10.17.25338242v1)</a:t>
            </a:r>
          </a:p>
          <a:p>
            <a:r>
              <a:rPr lang="en-IN" dirty="0"/>
              <a:t>Access to morphine in India is poor</a:t>
            </a:r>
          </a:p>
          <a:p>
            <a:pPr lvl="1"/>
            <a:r>
              <a:rPr lang="en-IN" dirty="0"/>
              <a:t>only about 0.4% of the Indian population that could benefit from opioid therapy can actually access morphine, against an estimated 1.6 million of India's 2.4 million cancer patients experiencing pain. (</a:t>
            </a:r>
            <a:r>
              <a:rPr lang="en-IN" dirty="0">
                <a:hlinkClick r:id="rId3"/>
              </a:rPr>
              <a:t>https://academic.oup.com/oncolo/article/19/5/515/6399315</a:t>
            </a:r>
            <a:r>
              <a:rPr lang="en-IN" dirty="0"/>
              <a:t>)</a:t>
            </a:r>
          </a:p>
          <a:p>
            <a:r>
              <a:rPr lang="en-US" dirty="0"/>
              <a:t>Patient support group referrals and utilization is poor</a:t>
            </a:r>
          </a:p>
          <a:p>
            <a:pPr lvl="1"/>
            <a:r>
              <a:rPr lang="en-IN" dirty="0"/>
              <a:t>Most survivors (55.1%) reported neither provider discussions nor use of PCSG; 31.4% reported provider discussion only, 4.4% reported use of PCSG only, and 8.9% reported both.</a:t>
            </a:r>
          </a:p>
          <a:p>
            <a:pPr lvl="1"/>
            <a:r>
              <a:rPr lang="en-IN" dirty="0"/>
              <a:t>Among those who cited an actual barrier, 92.9% of those barriers were "lack of knowledge about or unavailability of services,”</a:t>
            </a:r>
          </a:p>
          <a:p>
            <a:pPr lvl="1"/>
            <a:r>
              <a:rPr lang="en-IN" dirty="0"/>
              <a:t>only about 10% of survivors report a support group was ever recommended by their physician. (https://</a:t>
            </a:r>
            <a:r>
              <a:rPr lang="en-IN" dirty="0" err="1"/>
              <a:t>pmc.ncbi.nlm.nih.gov</a:t>
            </a:r>
            <a:r>
              <a:rPr lang="en-IN" dirty="0"/>
              <a:t>/articles/PMC3661934/)</a:t>
            </a:r>
          </a:p>
        </p:txBody>
      </p:sp>
    </p:spTree>
    <p:extLst>
      <p:ext uri="{BB962C8B-B14F-4D97-AF65-F5344CB8AC3E}">
        <p14:creationId xmlns:p14="http://schemas.microsoft.com/office/powerpoint/2010/main" val="292617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674</Words>
  <Application>Microsoft Macintosh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Sujay Halkur Shankar</dc:creator>
  <cp:lastModifiedBy>Sujay Halkur Shankar</cp:lastModifiedBy>
  <cp:revision>1</cp:revision>
  <dcterms:created xsi:type="dcterms:W3CDTF">2026-09-18T13:40:45Z</dcterms:created>
  <dcterms:modified xsi:type="dcterms:W3CDTF">2026-09-18T14:55:40Z</dcterms:modified>
</cp:coreProperties>
</file>