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4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7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5T18:38:31.249" idx="1">
    <p:pos x="5758" y="1241"/>
    <p:text>Her husband is the only family member present.</p:text>
    <p:extLst>
      <p:ext uri="{C676402C-5697-4E1C-873F-D02D1690AC5C}">
        <p15:threadingInfo xmlns:p15="http://schemas.microsoft.com/office/powerpoint/2012/main" timeZoneBias="-330"/>
      </p:ext>
    </p:extLst>
  </p:cm>
  <p:cm authorId="1" dt="2026-09-25T18:39:02.108" idx="2">
    <p:pos x="5737" y="2075"/>
    <p:text>She becomes unconscious and is brought to the emergency department. The doctor asks if the patient wished to receive CPR</p:text>
    <p:extLst>
      <p:ext uri="{C676402C-5697-4E1C-873F-D02D1690AC5C}">
        <p15:threadingInfo xmlns:p15="http://schemas.microsoft.com/office/powerpoint/2012/main" timeZoneBias="-330"/>
      </p:ext>
    </p:extLst>
  </p:cm>
  <p:cm authorId="1" dt="2026-09-25T18:40:54.335" idx="3">
    <p:pos x="7313" y="3407"/>
    <p:text>Her son is paying for her treatment and is unavailable at the moment. A consensus is not reached.</p:text>
    <p:extLst>
      <p:ext uri="{C676402C-5697-4E1C-873F-D02D1690AC5C}">
        <p15:threadingInfo xmlns:p15="http://schemas.microsoft.com/office/powerpoint/2012/main" timeZoneBias="-330"/>
      </p:ext>
    </p:extLst>
  </p:cm>
  <p:cm authorId="1" dt="2026-09-25T18:42:18.522" idx="4">
    <p:pos x="7190" y="3948"/>
    <p:text>Families need to "Know" the patients wishes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63F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63F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63F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63F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5895" y="287020"/>
            <a:ext cx="8704969" cy="548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63F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.me/919553321211" TargetMode="External"/><Relationship Id="rId5" Type="http://schemas.openxmlformats.org/officeDocument/2006/relationships/hyperlink" Target="https://github.com/basithladdu/healthathon" TargetMode="External"/><Relationship Id="rId4" Type="http://schemas.openxmlformats.org/officeDocument/2006/relationships/hyperlink" Target="https://saathi.wedevit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26892820251392545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jpg"/><Relationship Id="rId18" Type="http://schemas.openxmlformats.org/officeDocument/2006/relationships/hyperlink" Target="https://saathi.wedevit.in/calendar" TargetMode="External"/><Relationship Id="rId3" Type="http://schemas.openxmlformats.org/officeDocument/2006/relationships/image" Target="../media/image15.png"/><Relationship Id="rId21" Type="http://schemas.openxmlformats.org/officeDocument/2006/relationships/image" Target="../media/image30.jpg"/><Relationship Id="rId7" Type="http://schemas.openxmlformats.org/officeDocument/2006/relationships/image" Target="../media/image19.jpg"/><Relationship Id="rId12" Type="http://schemas.openxmlformats.org/officeDocument/2006/relationships/image" Target="../media/image24.jpg"/><Relationship Id="rId17" Type="http://schemas.openxmlformats.org/officeDocument/2006/relationships/hyperlink" Target="https://saathi.wedevit.in/medicines" TargetMode="External"/><Relationship Id="rId2" Type="http://schemas.openxmlformats.org/officeDocument/2006/relationships/image" Target="../media/image14.jpg"/><Relationship Id="rId16" Type="http://schemas.openxmlformats.org/officeDocument/2006/relationships/image" Target="../media/image28.jpg"/><Relationship Id="rId20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jpg"/><Relationship Id="rId24" Type="http://schemas.openxmlformats.org/officeDocument/2006/relationships/hyperlink" Target="https://saathi.wedevit.in/" TargetMode="External"/><Relationship Id="rId5" Type="http://schemas.openxmlformats.org/officeDocument/2006/relationships/image" Target="../media/image17.jpg"/><Relationship Id="rId15" Type="http://schemas.openxmlformats.org/officeDocument/2006/relationships/image" Target="../media/image27.jpg"/><Relationship Id="rId23" Type="http://schemas.openxmlformats.org/officeDocument/2006/relationships/hyperlink" Target="https://saathi.wedevit.in/costs" TargetMode="External"/><Relationship Id="rId10" Type="http://schemas.openxmlformats.org/officeDocument/2006/relationships/image" Target="../media/image22.jpg"/><Relationship Id="rId19" Type="http://schemas.openxmlformats.org/officeDocument/2006/relationships/hyperlink" Target="https://saathi.wedevit.in/my-space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1.jpg"/><Relationship Id="rId14" Type="http://schemas.openxmlformats.org/officeDocument/2006/relationships/image" Target="../media/image26.jpg"/><Relationship Id="rId22" Type="http://schemas.openxmlformats.org/officeDocument/2006/relationships/image" Target="../media/image3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42.png"/><Relationship Id="rId18" Type="http://schemas.openxmlformats.org/officeDocument/2006/relationships/image" Target="../media/image47.jpg"/><Relationship Id="rId26" Type="http://schemas.openxmlformats.org/officeDocument/2006/relationships/hyperlink" Target="https://palliumindia.org/clinics/telangana" TargetMode="External"/><Relationship Id="rId3" Type="http://schemas.openxmlformats.org/officeDocument/2006/relationships/image" Target="../media/image33.png"/><Relationship Id="rId21" Type="http://schemas.openxmlformats.org/officeDocument/2006/relationships/image" Target="../media/image49.png"/><Relationship Id="rId7" Type="http://schemas.openxmlformats.org/officeDocument/2006/relationships/image" Target="../media/image36.jpg"/><Relationship Id="rId12" Type="http://schemas.openxmlformats.org/officeDocument/2006/relationships/image" Target="../media/image41.jpg"/><Relationship Id="rId17" Type="http://schemas.openxmlformats.org/officeDocument/2006/relationships/image" Target="../media/image46.jpg"/><Relationship Id="rId25" Type="http://schemas.openxmlformats.org/officeDocument/2006/relationships/image" Target="../media/image50.png"/><Relationship Id="rId2" Type="http://schemas.openxmlformats.org/officeDocument/2006/relationships/image" Target="../media/image32.jpg"/><Relationship Id="rId16" Type="http://schemas.openxmlformats.org/officeDocument/2006/relationships/image" Target="../media/image45.jp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24" Type="http://schemas.openxmlformats.org/officeDocument/2006/relationships/hyperlink" Target="https://www.openstreetmap.org/copyright" TargetMode="External"/><Relationship Id="rId5" Type="http://schemas.openxmlformats.org/officeDocument/2006/relationships/image" Target="../media/image34.jpg"/><Relationship Id="rId15" Type="http://schemas.openxmlformats.org/officeDocument/2006/relationships/image" Target="../media/image44.jpg"/><Relationship Id="rId23" Type="http://schemas.openxmlformats.org/officeDocument/2006/relationships/hyperlink" Target="https://saathi.wedevit.in/help-at-home" TargetMode="External"/><Relationship Id="rId10" Type="http://schemas.openxmlformats.org/officeDocument/2006/relationships/image" Target="../media/image39.png"/><Relationship Id="rId19" Type="http://schemas.openxmlformats.org/officeDocument/2006/relationships/hyperlink" Target="https://saathi.wedevit.in/support-groups" TargetMode="External"/><Relationship Id="rId4" Type="http://schemas.openxmlformats.org/officeDocument/2006/relationships/hyperlink" Target="https://saathi.wedevit.in/find-support" TargetMode="External"/><Relationship Id="rId9" Type="http://schemas.openxmlformats.org/officeDocument/2006/relationships/image" Target="../media/image38.jpg"/><Relationship Id="rId14" Type="http://schemas.openxmlformats.org/officeDocument/2006/relationships/image" Target="../media/image43.jpg"/><Relationship Id="rId22" Type="http://schemas.openxmlformats.org/officeDocument/2006/relationships/hyperlink" Target="https://saathi.wedevit.in/medicine-acces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scroll.in/article/925875/73-urban-indians-do-not-know-about-their-right-to-make-a-living-will-finds-a-survey" TargetMode="External"/><Relationship Id="rId13" Type="http://schemas.openxmlformats.org/officeDocument/2006/relationships/hyperlink" Target="https://doi.org/10.1634/theoncologist.2013-0435" TargetMode="External"/><Relationship Id="rId3" Type="http://schemas.openxmlformats.org/officeDocument/2006/relationships/hyperlink" Target="https://doi.org/10.1200/JCO.2012.46.2101" TargetMode="External"/><Relationship Id="rId7" Type="http://schemas.openxmlformats.org/officeDocument/2006/relationships/hyperlink" Target="https://gco.iarc.who.int/media/globocan/factsheets/populations/356-india-fact-sheet.pdf" TargetMode="External"/><Relationship Id="rId12" Type="http://schemas.openxmlformats.org/officeDocument/2006/relationships/hyperlink" Target="https://doi.org/10.1177/26892820251392545" TargetMode="External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11" Type="http://schemas.openxmlformats.org/officeDocument/2006/relationships/hyperlink" Target="https://doi.org/10.1101/2025.10.17.25338242" TargetMode="External"/><Relationship Id="rId5" Type="http://schemas.openxmlformats.org/officeDocument/2006/relationships/hyperlink" Target="https://doi.org/10.1016/j.jpainsymman.2024.02.030" TargetMode="External"/><Relationship Id="rId10" Type="http://schemas.openxmlformats.org/officeDocument/2006/relationships/hyperlink" Target="https://doi.org/10.25259/NMJI_817_2023" TargetMode="External"/><Relationship Id="rId4" Type="http://schemas.openxmlformats.org/officeDocument/2006/relationships/image" Target="../media/image52.png"/><Relationship Id="rId9" Type="http://schemas.openxmlformats.org/officeDocument/2006/relationships/hyperlink" Target="https://doi.org/10.1136/spcare-2024-00497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487680"/>
            <a:ext cx="5539740" cy="822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5723" y="671829"/>
            <a:ext cx="2012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985" dirty="0">
                <a:solidFill>
                  <a:srgbClr val="163F33"/>
                </a:solidFill>
                <a:latin typeface="Arial MT"/>
                <a:cs typeface="Arial MT"/>
              </a:rPr>
              <a:t>Saathi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41951" y="553720"/>
            <a:ext cx="15487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615" dirty="0">
                <a:solidFill>
                  <a:srgbClr val="B65D42"/>
                </a:solidFill>
              </a:rPr>
              <a:t>Companion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514912" y="1525270"/>
            <a:ext cx="10012680" cy="7302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3970" marR="5080" indent="-1905">
              <a:lnSpc>
                <a:spcPts val="2730"/>
              </a:lnSpc>
              <a:spcBef>
                <a:spcPts val="265"/>
              </a:spcBef>
            </a:pP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Saathi</a:t>
            </a:r>
            <a:r>
              <a:rPr sz="2350" spc="1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spc="75" dirty="0">
                <a:solidFill>
                  <a:srgbClr val="163F33"/>
                </a:solidFill>
                <a:latin typeface="Arial MT"/>
                <a:cs typeface="Arial MT"/>
              </a:rPr>
              <a:t>is</a:t>
            </a:r>
            <a:r>
              <a:rPr sz="2350" spc="-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a</a:t>
            </a:r>
            <a:r>
              <a:rPr sz="235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palliative</a:t>
            </a:r>
            <a:r>
              <a:rPr sz="2350" spc="1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2350" spc="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companion</a:t>
            </a:r>
            <a:r>
              <a:rPr sz="2350" spc="1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that</a:t>
            </a:r>
            <a:r>
              <a:rPr sz="2350" spc="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helps</a:t>
            </a:r>
            <a:r>
              <a:rPr sz="2350" spc="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align</a:t>
            </a:r>
            <a:r>
              <a:rPr sz="235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2350" spc="2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2350" spc="114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spc="55" dirty="0">
                <a:solidFill>
                  <a:srgbClr val="163F33"/>
                </a:solidFill>
                <a:latin typeface="Arial MT"/>
                <a:cs typeface="Arial MT"/>
              </a:rPr>
              <a:t>with</a:t>
            </a:r>
            <a:r>
              <a:rPr sz="2350" spc="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solidFill>
                  <a:srgbClr val="163F33"/>
                </a:solidFill>
                <a:latin typeface="Arial MT"/>
                <a:cs typeface="Arial MT"/>
              </a:rPr>
              <a:t>the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patient's</a:t>
            </a:r>
            <a:r>
              <a:rPr sz="2350" spc="1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values</a:t>
            </a:r>
            <a:r>
              <a:rPr sz="235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2350" spc="-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makes</a:t>
            </a:r>
            <a:r>
              <a:rPr sz="2350" spc="1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2350" spc="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163F33"/>
                </a:solidFill>
                <a:latin typeface="Arial MT"/>
                <a:cs typeface="Arial MT"/>
              </a:rPr>
              <a:t>easier</a:t>
            </a:r>
            <a:r>
              <a:rPr sz="2350" spc="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spc="85" dirty="0">
                <a:solidFill>
                  <a:srgbClr val="163F33"/>
                </a:solidFill>
                <a:latin typeface="Arial MT"/>
                <a:cs typeface="Arial MT"/>
              </a:rPr>
              <a:t>to</a:t>
            </a:r>
            <a:r>
              <a:rPr sz="2350" spc="-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163F33"/>
                </a:solidFill>
                <a:latin typeface="Arial MT"/>
                <a:cs typeface="Arial MT"/>
              </a:rPr>
              <a:t>access.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19" y="2705100"/>
            <a:ext cx="1051560" cy="10515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5496" y="2795270"/>
            <a:ext cx="863981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6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OPEN</a:t>
            </a:r>
            <a:r>
              <a:rPr sz="3750" spc="-125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3750" spc="-8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THE</a:t>
            </a:r>
            <a:r>
              <a:rPr sz="3750" spc="-18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3750" spc="-4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WEBSITE</a:t>
            </a:r>
            <a:r>
              <a:rPr sz="3750" spc="7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375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-</a:t>
            </a:r>
            <a:r>
              <a:rPr sz="3750" spc="-26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 </a:t>
            </a:r>
            <a:r>
              <a:rPr sz="3750" spc="-10" dirty="0">
                <a:solidFill>
                  <a:srgbClr val="1359C6"/>
                </a:solidFill>
                <a:latin typeface="Arial MT"/>
                <a:cs typeface="Arial MT"/>
                <a:hlinkClick r:id="rId4"/>
              </a:rPr>
              <a:t>saathi.wedevit.in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869" y="4237990"/>
            <a:ext cx="34899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sng" spc="40" dirty="0">
                <a:solidFill>
                  <a:srgbClr val="1359C6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5"/>
              </a:rPr>
              <a:t>github.com/basithladdu/healthathon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4642" y="3994827"/>
            <a:ext cx="2418715" cy="74612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700" u="sng" spc="60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Questions?</a:t>
            </a:r>
            <a:r>
              <a:rPr sz="1700" u="sng" spc="125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700" u="sng" spc="45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Contact</a:t>
            </a:r>
            <a:r>
              <a:rPr sz="1700" u="sng" spc="229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700" u="sng" spc="45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us</a:t>
            </a:r>
            <a:endParaRPr sz="17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860"/>
              </a:spcBef>
            </a:pPr>
            <a:r>
              <a:rPr sz="1500" u="sng" spc="-10" dirty="0">
                <a:solidFill>
                  <a:srgbClr val="118C49"/>
                </a:solidFill>
                <a:uFill>
                  <a:solidFill>
                    <a:srgbClr val="28935B"/>
                  </a:solidFill>
                </a:uFill>
                <a:latin typeface="Arial MT"/>
                <a:cs typeface="Arial MT"/>
                <a:hlinkClick r:id="rId6"/>
              </a:rPr>
              <a:t>wa.me/919553321211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985" y="5043170"/>
            <a:ext cx="16624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B5B5B"/>
                </a:solidFill>
                <a:latin typeface="Arial MT"/>
                <a:cs typeface="Arial MT"/>
              </a:rPr>
              <a:t>By</a:t>
            </a:r>
            <a:r>
              <a:rPr sz="1500" spc="-7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B5B5B"/>
                </a:solidFill>
                <a:latin typeface="Arial MT"/>
                <a:cs typeface="Arial MT"/>
              </a:rPr>
              <a:t>Zeros</a:t>
            </a:r>
            <a:r>
              <a:rPr sz="1500" spc="1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B5B5B"/>
                </a:solidFill>
                <a:latin typeface="Arial MT"/>
                <a:cs typeface="Arial MT"/>
              </a:rPr>
              <a:t>and</a:t>
            </a:r>
            <a:r>
              <a:rPr sz="1500" spc="-20" dirty="0">
                <a:solidFill>
                  <a:srgbClr val="5B5B5B"/>
                </a:solidFill>
                <a:latin typeface="Arial MT"/>
                <a:cs typeface="Arial MT"/>
              </a:rPr>
              <a:t> Ones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400" y="5494020"/>
            <a:ext cx="9639300" cy="7772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69676" y="5490209"/>
            <a:ext cx="977900" cy="4368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>
              <a:lnSpc>
                <a:spcPts val="1560"/>
              </a:lnSpc>
              <a:spcBef>
                <a:spcPts val="250"/>
              </a:spcBef>
            </a:pPr>
            <a:r>
              <a:rPr sz="1400" dirty="0">
                <a:solidFill>
                  <a:srgbClr val="163F33"/>
                </a:solidFill>
                <a:latin typeface="Arial MT"/>
                <a:cs typeface="Arial MT"/>
              </a:rPr>
              <a:t>Shaik</a:t>
            </a:r>
            <a:r>
              <a:rPr sz="1400" spc="-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63F33"/>
                </a:solidFill>
                <a:latin typeface="Arial MT"/>
                <a:cs typeface="Arial MT"/>
              </a:rPr>
              <a:t>Abdul Basith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2612" y="5490209"/>
            <a:ext cx="1418590" cy="4368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-635">
              <a:lnSpc>
                <a:spcPts val="1560"/>
              </a:lnSpc>
              <a:spcBef>
                <a:spcPts val="250"/>
              </a:spcBef>
            </a:pPr>
            <a:r>
              <a:rPr sz="1400" dirty="0">
                <a:solidFill>
                  <a:srgbClr val="163F33"/>
                </a:solidFill>
                <a:latin typeface="Arial MT"/>
                <a:cs typeface="Arial MT"/>
              </a:rPr>
              <a:t>Shaik</a:t>
            </a:r>
            <a:r>
              <a:rPr sz="1400" spc="-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6D8274"/>
                </a:solidFill>
                <a:latin typeface="Arial MT"/>
                <a:cs typeface="Arial MT"/>
              </a:rPr>
              <a:t>Muhammad </a:t>
            </a:r>
            <a:r>
              <a:rPr sz="1400" spc="-10" dirty="0">
                <a:solidFill>
                  <a:srgbClr val="163F33"/>
                </a:solidFill>
                <a:latin typeface="Arial MT"/>
                <a:cs typeface="Arial MT"/>
              </a:rPr>
              <a:t>Awaiz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5271" y="5496559"/>
            <a:ext cx="947419" cy="4292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7145" marR="5080" indent="-5080">
              <a:lnSpc>
                <a:spcPts val="1560"/>
              </a:lnSpc>
              <a:spcBef>
                <a:spcPts val="200"/>
              </a:spcBef>
            </a:pPr>
            <a:r>
              <a:rPr sz="1350" dirty="0">
                <a:solidFill>
                  <a:srgbClr val="163F33"/>
                </a:solidFill>
                <a:latin typeface="Arial MT"/>
                <a:cs typeface="Arial MT"/>
              </a:rPr>
              <a:t>Dr</a:t>
            </a:r>
            <a:r>
              <a:rPr sz="135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63F33"/>
                </a:solidFill>
                <a:latin typeface="Arial MT"/>
                <a:cs typeface="Arial MT"/>
              </a:rPr>
              <a:t>Sharada </a:t>
            </a:r>
            <a:r>
              <a:rPr sz="1350" dirty="0">
                <a:solidFill>
                  <a:srgbClr val="163F33"/>
                </a:solidFill>
                <a:latin typeface="Arial MT"/>
                <a:cs typeface="Arial MT"/>
              </a:rPr>
              <a:t>Vinod</a:t>
            </a:r>
            <a:r>
              <a:rPr sz="1350" spc="1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63F33"/>
                </a:solidFill>
                <a:latin typeface="Arial MT"/>
                <a:cs typeface="Arial MT"/>
              </a:rPr>
              <a:t>Kutty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12669" y="5496559"/>
            <a:ext cx="1234440" cy="4292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560"/>
              </a:lnSpc>
              <a:spcBef>
                <a:spcPts val="200"/>
              </a:spcBef>
            </a:pPr>
            <a:r>
              <a:rPr sz="1350" dirty="0">
                <a:solidFill>
                  <a:srgbClr val="163F33"/>
                </a:solidFill>
                <a:latin typeface="Arial MT"/>
                <a:cs typeface="Arial MT"/>
              </a:rPr>
              <a:t>Dr</a:t>
            </a:r>
            <a:r>
              <a:rPr sz="135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63F33"/>
                </a:solidFill>
                <a:latin typeface="Arial MT"/>
                <a:cs typeface="Arial MT"/>
              </a:rPr>
              <a:t>Sujay</a:t>
            </a:r>
            <a:r>
              <a:rPr sz="1350" spc="5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163F33"/>
                </a:solidFill>
                <a:latin typeface="Arial MT"/>
                <a:cs typeface="Arial MT"/>
              </a:rPr>
              <a:t>Halkur</a:t>
            </a:r>
            <a:r>
              <a:rPr sz="1350" spc="204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163F33"/>
                </a:solidFill>
                <a:latin typeface="Arial MT"/>
                <a:cs typeface="Arial MT"/>
              </a:rPr>
              <a:t>Shankar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66883" y="5502909"/>
            <a:ext cx="9461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0" dirty="0">
                <a:solidFill>
                  <a:srgbClr val="163F33"/>
                </a:solidFill>
                <a:latin typeface="Arial MT"/>
                <a:cs typeface="Arial MT"/>
              </a:rPr>
              <a:t>Shirin</a:t>
            </a:r>
            <a:r>
              <a:rPr sz="1300" spc="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63F33"/>
                </a:solidFill>
                <a:latin typeface="Arial MT"/>
                <a:cs typeface="Arial MT"/>
              </a:rPr>
              <a:t>Ayub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1657" y="6131559"/>
            <a:ext cx="92456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30" dirty="0">
                <a:solidFill>
                  <a:srgbClr val="5B5B5B"/>
                </a:solidFill>
                <a:latin typeface="Arial MT"/>
                <a:cs typeface="Arial MT"/>
              </a:rPr>
              <a:t>Technical</a:t>
            </a:r>
            <a:r>
              <a:rPr sz="1150" spc="-20" dirty="0">
                <a:solidFill>
                  <a:srgbClr val="5B5B5B"/>
                </a:solidFill>
                <a:latin typeface="Arial MT"/>
                <a:cs typeface="Arial MT"/>
              </a:rPr>
              <a:t> lead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9557" y="6131559"/>
            <a:ext cx="117348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30" dirty="0">
                <a:solidFill>
                  <a:srgbClr val="5B5B5B"/>
                </a:solidFill>
                <a:latin typeface="Arial MT"/>
                <a:cs typeface="Arial MT"/>
              </a:rPr>
              <a:t>Technical</a:t>
            </a:r>
            <a:r>
              <a:rPr sz="1150" spc="-20" dirty="0">
                <a:solidFill>
                  <a:srgbClr val="5B5B5B"/>
                </a:solidFill>
                <a:latin typeface="Arial MT"/>
                <a:cs typeface="Arial MT"/>
              </a:rPr>
              <a:t> member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67231" y="6131559"/>
            <a:ext cx="93345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5B5B5B"/>
                </a:solidFill>
                <a:latin typeface="Arial MT"/>
                <a:cs typeface="Arial MT"/>
              </a:rPr>
              <a:t>Doctor</a:t>
            </a:r>
            <a:r>
              <a:rPr sz="1150" spc="-7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5B5B5B"/>
                </a:solidFill>
                <a:latin typeface="Arial MT"/>
                <a:cs typeface="Arial MT"/>
              </a:rPr>
              <a:t>partner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9125" y="6131559"/>
            <a:ext cx="5556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5B5B5B"/>
                </a:solidFill>
                <a:latin typeface="Arial MT"/>
                <a:cs typeface="Arial MT"/>
              </a:rPr>
              <a:t>Clinician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63460" y="6131559"/>
            <a:ext cx="101663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5B5B5B"/>
                </a:solidFill>
                <a:latin typeface="Arial MT"/>
                <a:cs typeface="Arial MT"/>
              </a:rPr>
              <a:t>Medical</a:t>
            </a:r>
            <a:r>
              <a:rPr sz="1150" spc="-5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5B5B5B"/>
                </a:solidFill>
                <a:latin typeface="Arial MT"/>
                <a:cs typeface="Arial MT"/>
              </a:rPr>
              <a:t>student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620" y="464819"/>
            <a:ext cx="12176760" cy="365760"/>
          </a:xfrm>
          <a:custGeom>
            <a:avLst/>
            <a:gdLst/>
            <a:ahLst/>
            <a:cxnLst/>
            <a:rect l="l" t="t" r="r" b="b"/>
            <a:pathLst>
              <a:path w="12176760" h="365759">
                <a:moveTo>
                  <a:pt x="12176760" y="365760"/>
                </a:moveTo>
                <a:lnTo>
                  <a:pt x="0" y="365760"/>
                </a:lnTo>
                <a:lnTo>
                  <a:pt x="0" y="0"/>
                </a:lnTo>
                <a:lnTo>
                  <a:pt x="12176760" y="0"/>
                </a:lnTo>
                <a:lnTo>
                  <a:pt x="12176760" y="365760"/>
                </a:lnTo>
                <a:close/>
              </a:path>
            </a:pathLst>
          </a:custGeom>
          <a:solidFill>
            <a:srgbClr val="006B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739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90" dirty="0">
                <a:solidFill>
                  <a:srgbClr val="FFFFFF"/>
                </a:solidFill>
              </a:rPr>
              <a:t>When</a:t>
            </a:r>
            <a:r>
              <a:rPr spc="165" dirty="0">
                <a:solidFill>
                  <a:srgbClr val="FFFFFF"/>
                </a:solidFill>
              </a:rPr>
              <a:t> </a:t>
            </a:r>
            <a:r>
              <a:rPr spc="105" dirty="0">
                <a:solidFill>
                  <a:srgbClr val="FFFFFF"/>
                </a:solidFill>
              </a:rPr>
              <a:t>the</a:t>
            </a:r>
            <a:r>
              <a:rPr spc="100" dirty="0">
                <a:solidFill>
                  <a:srgbClr val="FFFFFF"/>
                </a:solidFill>
              </a:rPr>
              <a:t> </a:t>
            </a:r>
            <a:r>
              <a:rPr spc="135" dirty="0">
                <a:solidFill>
                  <a:srgbClr val="FFFFFF"/>
                </a:solidFill>
              </a:rPr>
              <a:t>patient's</a:t>
            </a:r>
            <a:r>
              <a:rPr spc="235" dirty="0">
                <a:solidFill>
                  <a:srgbClr val="FFFFFF"/>
                </a:solidFill>
              </a:rPr>
              <a:t> </a:t>
            </a:r>
            <a:r>
              <a:rPr spc="135" dirty="0">
                <a:solidFill>
                  <a:srgbClr val="FFFFFF"/>
                </a:solidFill>
              </a:rPr>
              <a:t>voice</a:t>
            </a:r>
            <a:r>
              <a:rPr spc="245" dirty="0">
                <a:solidFill>
                  <a:srgbClr val="FFFFFF"/>
                </a:solidFill>
              </a:rPr>
              <a:t> </a:t>
            </a:r>
            <a:r>
              <a:rPr spc="105" dirty="0">
                <a:solidFill>
                  <a:srgbClr val="FFFFFF"/>
                </a:solidFill>
              </a:rPr>
              <a:t>is</a:t>
            </a:r>
            <a:r>
              <a:rPr spc="220" dirty="0">
                <a:solidFill>
                  <a:srgbClr val="FFFFFF"/>
                </a:solidFill>
              </a:rPr>
              <a:t> </a:t>
            </a:r>
            <a:r>
              <a:rPr spc="135" dirty="0">
                <a:solidFill>
                  <a:srgbClr val="FFFFFF"/>
                </a:solidFill>
              </a:rPr>
              <a:t>lost</a:t>
            </a:r>
          </a:p>
        </p:txBody>
      </p:sp>
      <p:sp>
        <p:nvSpPr>
          <p:cNvPr id="5" name="object 5"/>
          <p:cNvSpPr/>
          <p:nvPr/>
        </p:nvSpPr>
        <p:spPr>
          <a:xfrm>
            <a:off x="7620" y="1203960"/>
            <a:ext cx="12176760" cy="266700"/>
          </a:xfrm>
          <a:custGeom>
            <a:avLst/>
            <a:gdLst/>
            <a:ahLst/>
            <a:cxnLst/>
            <a:rect l="l" t="t" r="r" b="b"/>
            <a:pathLst>
              <a:path w="12176760" h="266700">
                <a:moveTo>
                  <a:pt x="12176760" y="266700"/>
                </a:moveTo>
                <a:lnTo>
                  <a:pt x="0" y="266700"/>
                </a:lnTo>
                <a:lnTo>
                  <a:pt x="0" y="0"/>
                </a:lnTo>
                <a:lnTo>
                  <a:pt x="12176760" y="0"/>
                </a:lnTo>
                <a:lnTo>
                  <a:pt x="12176760" y="266700"/>
                </a:lnTo>
                <a:close/>
              </a:path>
            </a:pathLst>
          </a:custGeom>
          <a:solidFill>
            <a:srgbClr val="006B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1101" y="1116329"/>
            <a:ext cx="1068006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15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62-year-old</a:t>
            </a:r>
            <a:r>
              <a:rPr sz="2150" spc="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50" dirty="0">
                <a:solidFill>
                  <a:srgbClr val="FFFFFF"/>
                </a:solidFill>
                <a:latin typeface="Arial MT"/>
                <a:cs typeface="Arial MT"/>
              </a:rPr>
              <a:t>woman</a:t>
            </a:r>
            <a:r>
              <a:rPr sz="2150" spc="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9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150" spc="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sz="2150" spc="3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breast</a:t>
            </a:r>
            <a:r>
              <a:rPr sz="2150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50" dirty="0">
                <a:solidFill>
                  <a:srgbClr val="FFFFFF"/>
                </a:solidFill>
                <a:latin typeface="Arial MT"/>
                <a:cs typeface="Arial MT"/>
              </a:rPr>
              <a:t>cancer</a:t>
            </a:r>
            <a:r>
              <a:rPr sz="2150" spc="2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50" dirty="0">
                <a:solidFill>
                  <a:srgbClr val="FFFFFF"/>
                </a:solidFill>
                <a:latin typeface="Arial MT"/>
                <a:cs typeface="Arial MT"/>
              </a:rPr>
              <a:t>receives</a:t>
            </a:r>
            <a:r>
              <a:rPr sz="2150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55" dirty="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sz="215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75" dirty="0">
                <a:solidFill>
                  <a:srgbClr val="FFFFFF"/>
                </a:solidFill>
                <a:latin typeface="Arial MT"/>
                <a:cs typeface="Arial MT"/>
              </a:rPr>
              <a:t>supportive</a:t>
            </a:r>
            <a:r>
              <a:rPr sz="2150" spc="3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care.</a:t>
            </a:r>
            <a:endParaRPr sz="21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" y="2011680"/>
            <a:ext cx="12184380" cy="355092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620" y="5562600"/>
            <a:ext cx="12176760" cy="434340"/>
            <a:chOff x="7620" y="5562600"/>
            <a:chExt cx="12176760" cy="4343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39" y="5692139"/>
              <a:ext cx="4008120" cy="1371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20" y="5562600"/>
              <a:ext cx="12176760" cy="434340"/>
            </a:xfrm>
            <a:custGeom>
              <a:avLst/>
              <a:gdLst/>
              <a:ahLst/>
              <a:cxnLst/>
              <a:rect l="l" t="t" r="r" b="b"/>
              <a:pathLst>
                <a:path w="12176760" h="434339">
                  <a:moveTo>
                    <a:pt x="12176760" y="434340"/>
                  </a:moveTo>
                  <a:lnTo>
                    <a:pt x="0" y="434340"/>
                  </a:lnTo>
                  <a:lnTo>
                    <a:pt x="0" y="0"/>
                  </a:lnTo>
                  <a:lnTo>
                    <a:pt x="12176760" y="0"/>
                  </a:lnTo>
                  <a:lnTo>
                    <a:pt x="12176760" y="434340"/>
                  </a:lnTo>
                  <a:close/>
                </a:path>
              </a:pathLst>
            </a:custGeom>
            <a:solidFill>
              <a:srgbClr val="006B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620" y="6477000"/>
            <a:ext cx="12176760" cy="243840"/>
          </a:xfrm>
          <a:custGeom>
            <a:avLst/>
            <a:gdLst/>
            <a:ahLst/>
            <a:cxnLst/>
            <a:rect l="l" t="t" r="r" b="b"/>
            <a:pathLst>
              <a:path w="12176760" h="243840">
                <a:moveTo>
                  <a:pt x="12176760" y="243840"/>
                </a:moveTo>
                <a:lnTo>
                  <a:pt x="0" y="243840"/>
                </a:lnTo>
                <a:lnTo>
                  <a:pt x="0" y="0"/>
                </a:lnTo>
                <a:lnTo>
                  <a:pt x="12176760" y="0"/>
                </a:lnTo>
                <a:lnTo>
                  <a:pt x="12176760" y="243840"/>
                </a:lnTo>
                <a:close/>
              </a:path>
            </a:pathLst>
          </a:custGeom>
          <a:solidFill>
            <a:srgbClr val="073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2724" y="5472429"/>
            <a:ext cx="10785475" cy="12509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6236970">
              <a:lnSpc>
                <a:spcPct val="100000"/>
              </a:lnSpc>
              <a:spcBef>
                <a:spcPts val="27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son</a:t>
            </a:r>
            <a:r>
              <a:rPr sz="17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calls</a:t>
            </a:r>
            <a:r>
              <a:rPr sz="17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another</a:t>
            </a:r>
            <a:r>
              <a:rPr sz="17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city.</a:t>
            </a:r>
            <a:r>
              <a:rPr sz="17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find</a:t>
            </a:r>
            <a:r>
              <a:rPr sz="17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endParaRPr sz="1700" dirty="0">
              <a:latin typeface="Arial MT"/>
              <a:cs typeface="Arial MT"/>
            </a:endParaRPr>
          </a:p>
          <a:p>
            <a:pPr marL="6236335">
              <a:lnSpc>
                <a:spcPct val="100000"/>
              </a:lnSpc>
              <a:spcBef>
                <a:spcPts val="16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earlier</a:t>
            </a:r>
            <a:r>
              <a:rPr sz="1600" spc="3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discussion.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Families</a:t>
            </a:r>
            <a:r>
              <a:rPr sz="2000" spc="2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need</a:t>
            </a:r>
            <a:r>
              <a:rPr sz="2000" spc="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Arial MT"/>
                <a:cs typeface="Arial MT"/>
              </a:rPr>
              <a:t>patient's</a:t>
            </a:r>
            <a:r>
              <a:rPr sz="2000" spc="2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Arial MT"/>
                <a:cs typeface="Arial MT"/>
              </a:rPr>
              <a:t>wishes</a:t>
            </a:r>
            <a:r>
              <a:rPr sz="20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 MT"/>
                <a:cs typeface="Arial MT"/>
              </a:rPr>
              <a:t>guide</a:t>
            </a:r>
            <a:r>
              <a:rPr sz="2000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care</a:t>
            </a:r>
            <a:r>
              <a:rPr sz="2000" spc="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0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Arial MT"/>
                <a:cs typeface="Arial MT"/>
              </a:rPr>
              <a:t>patient</a:t>
            </a:r>
            <a:r>
              <a:rPr sz="2000" spc="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Arial MT"/>
                <a:cs typeface="Arial MT"/>
              </a:rPr>
              <a:t>cannot</a:t>
            </a:r>
            <a:r>
              <a:rPr sz="20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Arial MT"/>
                <a:cs typeface="Arial MT"/>
              </a:rPr>
              <a:t>speak.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60" dirty="0"/>
              <a:t>Why</a:t>
            </a:r>
            <a:r>
              <a:rPr sz="3100" spc="145" dirty="0"/>
              <a:t> </a:t>
            </a:r>
            <a:r>
              <a:rPr sz="3100" dirty="0"/>
              <a:t>a</a:t>
            </a:r>
            <a:r>
              <a:rPr sz="3100" spc="5" dirty="0"/>
              <a:t> </a:t>
            </a:r>
            <a:r>
              <a:rPr sz="3100" spc="90" dirty="0"/>
              <a:t>palliative</a:t>
            </a:r>
            <a:r>
              <a:rPr sz="3100" spc="150" dirty="0"/>
              <a:t> </a:t>
            </a:r>
            <a:r>
              <a:rPr sz="3100" dirty="0"/>
              <a:t>care</a:t>
            </a:r>
            <a:r>
              <a:rPr sz="3100" spc="95" dirty="0"/>
              <a:t> </a:t>
            </a:r>
            <a:r>
              <a:rPr sz="3100" spc="75" dirty="0"/>
              <a:t>companion</a:t>
            </a:r>
            <a:r>
              <a:rPr sz="3100" spc="365" dirty="0"/>
              <a:t> </a:t>
            </a:r>
            <a:r>
              <a:rPr sz="3100" spc="65" dirty="0"/>
              <a:t>is</a:t>
            </a:r>
            <a:r>
              <a:rPr sz="3100" spc="160" dirty="0"/>
              <a:t> </a:t>
            </a:r>
            <a:r>
              <a:rPr sz="3100" spc="-10" dirty="0"/>
              <a:t>needed</a:t>
            </a:r>
            <a:endParaRPr sz="3100"/>
          </a:p>
        </p:txBody>
      </p:sp>
      <p:sp>
        <p:nvSpPr>
          <p:cNvPr id="4" name="object 4"/>
          <p:cNvSpPr txBox="1"/>
          <p:nvPr/>
        </p:nvSpPr>
        <p:spPr>
          <a:xfrm>
            <a:off x="515803" y="984324"/>
            <a:ext cx="2782570" cy="1311910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467359">
              <a:lnSpc>
                <a:spcPct val="100000"/>
              </a:lnSpc>
              <a:spcBef>
                <a:spcPts val="1630"/>
              </a:spcBef>
            </a:pPr>
            <a:r>
              <a:rPr sz="3250" dirty="0">
                <a:solidFill>
                  <a:srgbClr val="B65D42"/>
                </a:solidFill>
                <a:latin typeface="Arial MT"/>
                <a:cs typeface="Arial MT"/>
              </a:rPr>
              <a:t>15.6</a:t>
            </a:r>
            <a:r>
              <a:rPr sz="3250" spc="150" dirty="0">
                <a:solidFill>
                  <a:srgbClr val="B65D42"/>
                </a:solidFill>
                <a:latin typeface="Arial MT"/>
                <a:cs typeface="Arial MT"/>
              </a:rPr>
              <a:t> </a:t>
            </a:r>
            <a:r>
              <a:rPr sz="3250" spc="105" dirty="0">
                <a:solidFill>
                  <a:srgbClr val="B65D42"/>
                </a:solidFill>
                <a:latin typeface="Arial MT"/>
                <a:cs typeface="Arial MT"/>
              </a:rPr>
              <a:t>lakh</a:t>
            </a:r>
            <a:endParaRPr sz="3250">
              <a:latin typeface="Arial MT"/>
              <a:cs typeface="Arial MT"/>
            </a:endParaRPr>
          </a:p>
          <a:p>
            <a:pPr marL="12700" marR="5080" indent="2540">
              <a:lnSpc>
                <a:spcPts val="1860"/>
              </a:lnSpc>
              <a:spcBef>
                <a:spcPts val="1010"/>
              </a:spcBef>
            </a:pPr>
            <a:r>
              <a:rPr sz="1700" spc="-85" dirty="0">
                <a:solidFill>
                  <a:srgbClr val="163F33"/>
                </a:solidFill>
                <a:latin typeface="Arial MT"/>
                <a:cs typeface="Arial MT"/>
              </a:rPr>
              <a:t>Estimated</a:t>
            </a:r>
            <a:r>
              <a:rPr sz="17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2F544D"/>
                </a:solidFill>
                <a:latin typeface="Arial MT"/>
                <a:cs typeface="Arial MT"/>
              </a:rPr>
              <a:t>new</a:t>
            </a:r>
            <a:r>
              <a:rPr sz="1700" spc="-25" dirty="0">
                <a:solidFill>
                  <a:srgbClr val="2F544D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170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63F33"/>
                </a:solidFill>
                <a:latin typeface="Arial MT"/>
                <a:cs typeface="Arial MT"/>
              </a:rPr>
              <a:t>cases</a:t>
            </a:r>
            <a:r>
              <a:rPr sz="170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3F33"/>
                </a:solidFill>
                <a:latin typeface="Arial MT"/>
                <a:cs typeface="Arial MT"/>
              </a:rPr>
              <a:t>in </a:t>
            </a:r>
            <a:r>
              <a:rPr sz="1700" spc="-60" dirty="0">
                <a:solidFill>
                  <a:srgbClr val="163F33"/>
                </a:solidFill>
                <a:latin typeface="Arial MT"/>
                <a:cs typeface="Arial MT"/>
              </a:rPr>
              <a:t>India</a:t>
            </a:r>
            <a:r>
              <a:rPr sz="1700" spc="-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63F33"/>
                </a:solidFill>
                <a:latin typeface="Arial MT"/>
                <a:cs typeface="Arial MT"/>
              </a:rPr>
              <a:t>in</a:t>
            </a:r>
            <a:r>
              <a:rPr sz="1700" spc="-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3F33"/>
                </a:solidFill>
                <a:latin typeface="Arial MT"/>
                <a:cs typeface="Arial MT"/>
              </a:rPr>
              <a:t>2024.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2341" y="984324"/>
            <a:ext cx="2875280" cy="1555750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30"/>
              </a:spcBef>
            </a:pPr>
            <a:r>
              <a:rPr sz="3250" spc="-260" dirty="0">
                <a:solidFill>
                  <a:srgbClr val="157B67"/>
                </a:solidFill>
                <a:latin typeface="Arial MT"/>
                <a:cs typeface="Arial MT"/>
              </a:rPr>
              <a:t>*P</a:t>
            </a:r>
            <a:r>
              <a:rPr sz="3250" spc="-135" dirty="0">
                <a:solidFill>
                  <a:srgbClr val="157B67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157B67"/>
                </a:solidFill>
                <a:latin typeface="Arial MT"/>
                <a:cs typeface="Arial MT"/>
              </a:rPr>
              <a:t>98.39</a:t>
            </a:r>
            <a:r>
              <a:rPr sz="2625" spc="-15" baseline="38095" dirty="0">
                <a:solidFill>
                  <a:srgbClr val="157B67"/>
                </a:solidFill>
                <a:latin typeface="Arial MT"/>
                <a:cs typeface="Arial MT"/>
              </a:rPr>
              <a:t>0</a:t>
            </a:r>
            <a:r>
              <a:rPr sz="3250" spc="-10" dirty="0">
                <a:solidFill>
                  <a:srgbClr val="157B67"/>
                </a:solidFill>
                <a:latin typeface="Arial MT"/>
                <a:cs typeface="Arial MT"/>
              </a:rPr>
              <a:t>/o</a:t>
            </a:r>
            <a:endParaRPr sz="3250">
              <a:latin typeface="Arial MT"/>
              <a:cs typeface="Arial MT"/>
            </a:endParaRPr>
          </a:p>
          <a:p>
            <a:pPr marL="43180" marR="30480" indent="-1905">
              <a:lnSpc>
                <a:spcPct val="92600"/>
              </a:lnSpc>
              <a:spcBef>
                <a:spcPts val="950"/>
              </a:spcBef>
            </a:pPr>
            <a:r>
              <a:rPr sz="1700" spc="-75" dirty="0">
                <a:solidFill>
                  <a:srgbClr val="163F33"/>
                </a:solidFill>
                <a:latin typeface="Arial MT"/>
                <a:cs typeface="Arial MT"/>
              </a:rPr>
              <a:t>Estimated</a:t>
            </a:r>
            <a:r>
              <a:rPr sz="1700" spc="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163F33"/>
                </a:solidFill>
                <a:latin typeface="Arial MT"/>
                <a:cs typeface="Arial MT"/>
              </a:rPr>
              <a:t>unmet</a:t>
            </a:r>
            <a:r>
              <a:rPr sz="170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63F33"/>
                </a:solidFill>
                <a:latin typeface="Arial MT"/>
                <a:cs typeface="Arial MT"/>
              </a:rPr>
              <a:t>palliative-</a:t>
            </a:r>
            <a:r>
              <a:rPr sz="1700" spc="-20" dirty="0">
                <a:solidFill>
                  <a:srgbClr val="163F33"/>
                </a:solidFill>
                <a:latin typeface="Arial MT"/>
                <a:cs typeface="Arial MT"/>
              </a:rPr>
              <a:t>care </a:t>
            </a:r>
            <a:r>
              <a:rPr sz="1700" spc="-100" dirty="0">
                <a:solidFill>
                  <a:srgbClr val="163F33"/>
                </a:solidFill>
                <a:latin typeface="Arial MT"/>
                <a:cs typeface="Arial MT"/>
              </a:rPr>
              <a:t>need</a:t>
            </a:r>
            <a:r>
              <a:rPr sz="1700" spc="-20" dirty="0">
                <a:solidFill>
                  <a:srgbClr val="163F33"/>
                </a:solidFill>
                <a:latin typeface="Arial MT"/>
                <a:cs typeface="Arial MT"/>
              </a:rPr>
              <a:t> in</a:t>
            </a:r>
            <a:r>
              <a:rPr sz="1700" spc="-1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63F33"/>
                </a:solidFill>
                <a:latin typeface="Arial MT"/>
                <a:cs typeface="Arial MT"/>
              </a:rPr>
              <a:t>metastatic</a:t>
            </a:r>
            <a:r>
              <a:rPr sz="1700" spc="-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3F33"/>
                </a:solidFill>
                <a:latin typeface="Arial MT"/>
                <a:cs typeface="Arial MT"/>
              </a:rPr>
              <a:t>disease </a:t>
            </a:r>
            <a:r>
              <a:rPr sz="1700" spc="-80" dirty="0">
                <a:solidFill>
                  <a:srgbClr val="163F33"/>
                </a:solidFill>
                <a:latin typeface="Arial MT"/>
                <a:cs typeface="Arial MT"/>
              </a:rPr>
              <a:t>across</a:t>
            </a:r>
            <a:r>
              <a:rPr sz="1700" spc="-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63F33"/>
                </a:solidFill>
                <a:latin typeface="Arial MT"/>
                <a:cs typeface="Arial MT"/>
              </a:rPr>
              <a:t>10</a:t>
            </a:r>
            <a:r>
              <a:rPr sz="1700" spc="-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1700" spc="-10" dirty="0">
                <a:solidFill>
                  <a:srgbClr val="163F33"/>
                </a:solidFill>
                <a:latin typeface="Arial MT"/>
                <a:cs typeface="Arial MT"/>
              </a:rPr>
              <a:t> types.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8703" y="1093688"/>
            <a:ext cx="4135754" cy="13906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050" spc="-25" dirty="0">
                <a:solidFill>
                  <a:srgbClr val="163F33"/>
                </a:solidFill>
                <a:latin typeface="Arial MT"/>
                <a:cs typeface="Arial MT"/>
              </a:rPr>
              <a:t>Goals-</a:t>
            </a:r>
            <a:r>
              <a:rPr sz="2050" spc="-20" dirty="0">
                <a:solidFill>
                  <a:srgbClr val="163F33"/>
                </a:solidFill>
                <a:latin typeface="Arial MT"/>
                <a:cs typeface="Arial MT"/>
              </a:rPr>
              <a:t>of-</a:t>
            </a:r>
            <a:r>
              <a:rPr sz="205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2050" spc="1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163F33"/>
                </a:solidFill>
                <a:latin typeface="Arial MT"/>
                <a:cs typeface="Arial MT"/>
              </a:rPr>
              <a:t>discussion</a:t>
            </a:r>
            <a:endParaRPr sz="2050">
              <a:latin typeface="Arial MT"/>
              <a:cs typeface="Arial MT"/>
            </a:endParaRPr>
          </a:p>
          <a:p>
            <a:pPr marL="12700" marR="5080" indent="6350">
              <a:lnSpc>
                <a:spcPct val="97700"/>
              </a:lnSpc>
              <a:spcBef>
                <a:spcPts val="640"/>
              </a:spcBef>
            </a:pPr>
            <a:r>
              <a:rPr sz="1450" dirty="0">
                <a:solidFill>
                  <a:srgbClr val="163F33"/>
                </a:solidFill>
                <a:latin typeface="Arial MT"/>
                <a:cs typeface="Arial MT"/>
              </a:rPr>
              <a:t>A</a:t>
            </a:r>
            <a:r>
              <a:rPr sz="1450" spc="-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163F33"/>
                </a:solidFill>
                <a:latin typeface="Arial MT"/>
                <a:cs typeface="Arial MT"/>
              </a:rPr>
              <a:t>clinician-</a:t>
            </a:r>
            <a:r>
              <a:rPr sz="1450" dirty="0">
                <a:solidFill>
                  <a:srgbClr val="163F33"/>
                </a:solidFill>
                <a:latin typeface="Arial MT"/>
                <a:cs typeface="Arial MT"/>
              </a:rPr>
              <a:t>led</a:t>
            </a:r>
            <a:r>
              <a:rPr sz="145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63F33"/>
                </a:solidFill>
                <a:latin typeface="Arial MT"/>
                <a:cs typeface="Arial MT"/>
              </a:rPr>
              <a:t>conversation</a:t>
            </a:r>
            <a:r>
              <a:rPr sz="145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about</a:t>
            </a:r>
            <a:r>
              <a:rPr sz="145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63F33"/>
                </a:solidFill>
                <a:latin typeface="Arial MT"/>
                <a:cs typeface="Arial MT"/>
              </a:rPr>
              <a:t>a</a:t>
            </a:r>
            <a:r>
              <a:rPr sz="1450" spc="-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patient's </a:t>
            </a:r>
            <a:r>
              <a:rPr sz="1450" spc="-20" dirty="0">
                <a:solidFill>
                  <a:srgbClr val="A7A7A7"/>
                </a:solidFill>
                <a:latin typeface="Arial MT"/>
                <a:cs typeface="Arial MT"/>
              </a:rPr>
              <a:t>values,</a:t>
            </a:r>
            <a:r>
              <a:rPr sz="1450" spc="-50" dirty="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63F33"/>
                </a:solidFill>
                <a:latin typeface="Arial MT"/>
                <a:cs typeface="Arial MT"/>
              </a:rPr>
              <a:t>priorities</a:t>
            </a:r>
            <a:r>
              <a:rPr sz="145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45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69827C"/>
                </a:solidFill>
                <a:latin typeface="Arial MT"/>
                <a:cs typeface="Arial MT"/>
              </a:rPr>
              <a:t>care</a:t>
            </a:r>
            <a:r>
              <a:rPr sz="1450" spc="-80" dirty="0">
                <a:solidFill>
                  <a:srgbClr val="69827C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A7A7A7"/>
                </a:solidFill>
                <a:latin typeface="Arial MT"/>
                <a:cs typeface="Arial MT"/>
              </a:rPr>
              <a:t>preferences,</a:t>
            </a:r>
            <a:r>
              <a:rPr sz="1450" spc="35" dirty="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used</a:t>
            </a:r>
            <a:r>
              <a:rPr sz="145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63F33"/>
                </a:solidFill>
                <a:latin typeface="Arial MT"/>
                <a:cs typeface="Arial MT"/>
              </a:rPr>
              <a:t>to </a:t>
            </a:r>
            <a:r>
              <a:rPr sz="1450" spc="-20" dirty="0">
                <a:solidFill>
                  <a:srgbClr val="69827C"/>
                </a:solidFill>
                <a:latin typeface="Arial MT"/>
                <a:cs typeface="Arial MT"/>
              </a:rPr>
              <a:t>agree</a:t>
            </a:r>
            <a:r>
              <a:rPr sz="1450" spc="-55" dirty="0">
                <a:solidFill>
                  <a:srgbClr val="69827C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1450" spc="-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goals</a:t>
            </a:r>
            <a:r>
              <a:rPr sz="1450" spc="-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86760"/>
                </a:solidFill>
                <a:latin typeface="Arial MT"/>
                <a:cs typeface="Arial MT"/>
              </a:rPr>
              <a:t>with</a:t>
            </a:r>
            <a:r>
              <a:rPr sz="1450" spc="-40" dirty="0">
                <a:solidFill>
                  <a:srgbClr val="486760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63F33"/>
                </a:solidFill>
                <a:latin typeface="Arial MT"/>
                <a:cs typeface="Arial MT"/>
              </a:rPr>
              <a:t>the</a:t>
            </a:r>
            <a:r>
              <a:rPr sz="1450" spc="-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63F33"/>
                </a:solidFill>
                <a:latin typeface="Arial MT"/>
                <a:cs typeface="Arial MT"/>
              </a:rPr>
              <a:t>patient</a:t>
            </a:r>
            <a:r>
              <a:rPr sz="1450" spc="-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A7A7A7"/>
                </a:solidFill>
                <a:latin typeface="Arial MT"/>
                <a:cs typeface="Arial MT"/>
              </a:rPr>
              <a:t>and,</a:t>
            </a:r>
            <a:r>
              <a:rPr sz="1450" spc="-45" dirty="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63F33"/>
                </a:solidFill>
                <a:latin typeface="Arial MT"/>
                <a:cs typeface="Arial MT"/>
              </a:rPr>
              <a:t>with</a:t>
            </a:r>
            <a:r>
              <a:rPr sz="1450" spc="-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A7A7A7"/>
                </a:solidFill>
                <a:latin typeface="Arial MT"/>
                <a:cs typeface="Arial MT"/>
              </a:rPr>
              <a:t>consent,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their</a:t>
            </a:r>
            <a:r>
              <a:rPr sz="1450" spc="-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63F33"/>
                </a:solidFill>
                <a:latin typeface="Arial MT"/>
                <a:cs typeface="Arial MT"/>
              </a:rPr>
              <a:t>family.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857500"/>
            <a:ext cx="10843260" cy="245363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60037" y="5346700"/>
            <a:ext cx="165290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Thanoasamv</a:t>
            </a:r>
            <a:r>
              <a:rPr sz="1150" u="sng" spc="15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1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et</a:t>
            </a:r>
            <a:r>
              <a:rPr sz="1150" u="sng" spc="-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1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al..</a:t>
            </a:r>
            <a:r>
              <a:rPr sz="1150" u="sng" spc="-2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150" u="sng" spc="-20" dirty="0">
                <a:solidFill>
                  <a:srgbClr val="2F6DCA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3"/>
              </a:rPr>
              <a:t>2025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071" y="5459729"/>
            <a:ext cx="389064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5B5B5B"/>
                </a:solidFill>
                <a:latin typeface="Arial MT"/>
                <a:cs typeface="Arial MT"/>
              </a:rPr>
              <a:t>Different</a:t>
            </a:r>
            <a:r>
              <a:rPr sz="1250" spc="-5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5B5B5B"/>
                </a:solidFill>
                <a:latin typeface="Arial MT"/>
                <a:cs typeface="Arial MT"/>
              </a:rPr>
              <a:t>study</a:t>
            </a:r>
            <a:r>
              <a:rPr sz="1250" spc="-5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5B5B5B"/>
                </a:solidFill>
                <a:latin typeface="Arial MT"/>
                <a:cs typeface="Arial MT"/>
              </a:rPr>
              <a:t>groups.</a:t>
            </a:r>
            <a:r>
              <a:rPr sz="1250" spc="-5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5B5B5B"/>
                </a:solidFill>
                <a:latin typeface="Arial MT"/>
                <a:cs typeface="Arial MT"/>
              </a:rPr>
              <a:t>These </a:t>
            </a:r>
            <a:r>
              <a:rPr sz="1250" spc="-20" dirty="0">
                <a:solidFill>
                  <a:srgbClr val="5B5B5B"/>
                </a:solidFill>
                <a:latin typeface="Arial MT"/>
                <a:cs typeface="Arial MT"/>
              </a:rPr>
              <a:t>are</a:t>
            </a:r>
            <a:r>
              <a:rPr sz="1250" spc="-6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5B5B5B"/>
                </a:solidFill>
                <a:latin typeface="Arial MT"/>
                <a:cs typeface="Arial MT"/>
              </a:rPr>
              <a:t>not</a:t>
            </a:r>
            <a:r>
              <a:rPr sz="1250" spc="-5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5B5B5B"/>
                </a:solidFill>
                <a:latin typeface="Arial MT"/>
                <a:cs typeface="Arial MT"/>
              </a:rPr>
              <a:t>results</a:t>
            </a:r>
            <a:r>
              <a:rPr sz="1250" spc="-3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5B5B5B"/>
                </a:solidFill>
                <a:latin typeface="Arial MT"/>
                <a:cs typeface="Arial MT"/>
              </a:rPr>
              <a:t>from</a:t>
            </a:r>
            <a:r>
              <a:rPr sz="1250" spc="-2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5B5B5B"/>
                </a:solidFill>
                <a:latin typeface="Arial MT"/>
                <a:cs typeface="Arial MT"/>
              </a:rPr>
              <a:t>Saathi.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302" y="5850890"/>
            <a:ext cx="5732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7252AC"/>
                </a:solidFill>
                <a:latin typeface="Arial MT"/>
                <a:cs typeface="Arial MT"/>
              </a:rPr>
              <a:t>Proposed</a:t>
            </a:r>
            <a:r>
              <a:rPr sz="1800" spc="100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7252AC"/>
                </a:solidFill>
                <a:latin typeface="Arial MT"/>
                <a:cs typeface="Arial MT"/>
              </a:rPr>
              <a:t>60-</a:t>
            </a:r>
            <a:r>
              <a:rPr sz="1800" dirty="0">
                <a:solidFill>
                  <a:srgbClr val="7252AC"/>
                </a:solidFill>
                <a:latin typeface="Arial MT"/>
                <a:cs typeface="Arial MT"/>
              </a:rPr>
              <a:t>90</a:t>
            </a:r>
            <a:r>
              <a:rPr sz="1800" spc="120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252AC"/>
                </a:solidFill>
                <a:latin typeface="Arial MT"/>
                <a:cs typeface="Arial MT"/>
              </a:rPr>
              <a:t>day</a:t>
            </a:r>
            <a:r>
              <a:rPr sz="1800" spc="105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7252AC"/>
                </a:solidFill>
                <a:latin typeface="Arial MT"/>
                <a:cs typeface="Arial MT"/>
              </a:rPr>
              <a:t>study:</a:t>
            </a:r>
            <a:r>
              <a:rPr sz="1800" spc="110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7252AC"/>
                </a:solidFill>
                <a:latin typeface="Arial MT"/>
                <a:cs typeface="Arial MT"/>
              </a:rPr>
              <a:t>compare</a:t>
            </a:r>
            <a:r>
              <a:rPr sz="1800" spc="85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7252AC"/>
                </a:solidFill>
                <a:latin typeface="Arial MT"/>
                <a:cs typeface="Arial MT"/>
              </a:rPr>
              <a:t>before</a:t>
            </a:r>
            <a:r>
              <a:rPr sz="1800" spc="50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7252AC"/>
                </a:solidFill>
                <a:latin typeface="Arial MT"/>
                <a:cs typeface="Arial MT"/>
              </a:rPr>
              <a:t>and</a:t>
            </a:r>
            <a:r>
              <a:rPr sz="1800" spc="25" dirty="0">
                <a:solidFill>
                  <a:srgbClr val="7252A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252AC"/>
                </a:solidFill>
                <a:latin typeface="Arial MT"/>
                <a:cs typeface="Arial MT"/>
              </a:rPr>
              <a:t>after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429" y="6224270"/>
            <a:ext cx="32791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Number</a:t>
            </a:r>
            <a:r>
              <a:rPr sz="1500" spc="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7726E"/>
                </a:solidFill>
                <a:latin typeface="Arial MT"/>
                <a:cs typeface="Arial MT"/>
              </a:rPr>
              <a:t>of</a:t>
            </a:r>
            <a:r>
              <a:rPr sz="1500" spc="-95" dirty="0">
                <a:solidFill>
                  <a:srgbClr val="57726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patient-</a:t>
            </a:r>
            <a:r>
              <a:rPr sz="1500" spc="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500" spc="-20" dirty="0">
                <a:solidFill>
                  <a:srgbClr val="163F33"/>
                </a:solidFill>
                <a:latin typeface="Arial MT"/>
                <a:cs typeface="Arial MT"/>
              </a:rPr>
              <a:t> doctor-</a:t>
            </a:r>
            <a:r>
              <a:rPr sz="1500" spc="-10" dirty="0">
                <a:solidFill>
                  <a:srgbClr val="163F33"/>
                </a:solidFill>
                <a:latin typeface="Arial MT"/>
                <a:cs typeface="Arial MT"/>
              </a:rPr>
              <a:t>initiated </a:t>
            </a:r>
            <a:r>
              <a:rPr sz="1500" spc="-35" dirty="0">
                <a:solidFill>
                  <a:srgbClr val="163F33"/>
                </a:solidFill>
                <a:latin typeface="Arial MT"/>
                <a:cs typeface="Arial MT"/>
              </a:rPr>
              <a:t>goals-</a:t>
            </a:r>
            <a:r>
              <a:rPr sz="1500" spc="-30" dirty="0">
                <a:solidFill>
                  <a:srgbClr val="163F33"/>
                </a:solidFill>
                <a:latin typeface="Arial MT"/>
                <a:cs typeface="Arial MT"/>
              </a:rPr>
              <a:t>of-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1500" spc="1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63F33"/>
                </a:solidFill>
                <a:latin typeface="Arial MT"/>
                <a:cs typeface="Arial MT"/>
              </a:rPr>
              <a:t>discussions.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9049" y="6224270"/>
            <a:ext cx="2972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Number</a:t>
            </a:r>
            <a:r>
              <a:rPr sz="150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of</a:t>
            </a:r>
            <a:r>
              <a:rPr sz="1500" spc="-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829395"/>
                </a:solidFill>
                <a:latin typeface="Arial MT"/>
                <a:cs typeface="Arial MT"/>
              </a:rPr>
              <a:t>written</a:t>
            </a:r>
            <a:r>
              <a:rPr sz="1500" spc="-5" dirty="0">
                <a:solidFill>
                  <a:srgbClr val="829395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500" spc="-8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signed</a:t>
            </a:r>
            <a:r>
              <a:rPr sz="1500" spc="-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163F33"/>
                </a:solidFill>
                <a:latin typeface="Arial MT"/>
                <a:cs typeface="Arial MT"/>
              </a:rPr>
              <a:t>Care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Notes</a:t>
            </a:r>
            <a:r>
              <a:rPr sz="1500" spc="-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per</a:t>
            </a:r>
            <a:r>
              <a:rPr sz="150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150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63F33"/>
                </a:solidFill>
                <a:latin typeface="Arial MT"/>
                <a:cs typeface="Arial MT"/>
              </a:rPr>
              <a:t>facility.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7047" y="6224270"/>
            <a:ext cx="28790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Time</a:t>
            </a:r>
            <a:r>
              <a:rPr sz="150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to</a:t>
            </a:r>
            <a:r>
              <a:rPr sz="1500" spc="-10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retrieve</a:t>
            </a:r>
            <a:r>
              <a:rPr sz="1500" spc="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spc="-35" dirty="0">
                <a:solidFill>
                  <a:srgbClr val="163F33"/>
                </a:solidFill>
                <a:latin typeface="Arial MT"/>
                <a:cs typeface="Arial MT"/>
              </a:rPr>
              <a:t>goals-</a:t>
            </a:r>
            <a:r>
              <a:rPr sz="1500" spc="-30" dirty="0">
                <a:solidFill>
                  <a:srgbClr val="163F33"/>
                </a:solidFill>
                <a:latin typeface="Arial MT"/>
                <a:cs typeface="Arial MT"/>
              </a:rPr>
              <a:t>of-</a:t>
            </a:r>
            <a:r>
              <a:rPr sz="1500" spc="-20" dirty="0">
                <a:solidFill>
                  <a:srgbClr val="163F33"/>
                </a:solidFill>
                <a:latin typeface="Arial MT"/>
                <a:cs typeface="Arial MT"/>
              </a:rPr>
              <a:t>care </a:t>
            </a:r>
            <a:r>
              <a:rPr sz="1500" spc="-10" dirty="0">
                <a:solidFill>
                  <a:srgbClr val="34564D"/>
                </a:solidFill>
                <a:latin typeface="Arial MT"/>
                <a:cs typeface="Arial MT"/>
              </a:rPr>
              <a:t>discussions</a:t>
            </a:r>
            <a:r>
              <a:rPr sz="1500" spc="60" dirty="0">
                <a:solidFill>
                  <a:srgbClr val="34564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63F33"/>
                </a:solidFill>
                <a:latin typeface="Arial MT"/>
                <a:cs typeface="Arial MT"/>
              </a:rPr>
              <a:t>during an</a:t>
            </a:r>
            <a:r>
              <a:rPr sz="1500" spc="-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163F33"/>
                </a:solidFill>
                <a:latin typeface="Arial MT"/>
                <a:cs typeface="Arial MT"/>
              </a:rPr>
              <a:t>emergency.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089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2950" spc="120" dirty="0"/>
              <a:t>AI</a:t>
            </a:r>
            <a:r>
              <a:rPr sz="2950" spc="-55" dirty="0"/>
              <a:t> </a:t>
            </a:r>
            <a:r>
              <a:rPr sz="2950" spc="125" dirty="0"/>
              <a:t>helps</a:t>
            </a:r>
            <a:r>
              <a:rPr sz="2950" spc="204" dirty="0"/>
              <a:t> </a:t>
            </a:r>
            <a:r>
              <a:rPr sz="2950" spc="120" dirty="0"/>
              <a:t>families</a:t>
            </a:r>
            <a:r>
              <a:rPr sz="2950" spc="275" dirty="0"/>
              <a:t> </a:t>
            </a:r>
            <a:r>
              <a:rPr sz="2950" spc="105" dirty="0"/>
              <a:t>use</a:t>
            </a:r>
            <a:r>
              <a:rPr sz="2950" spc="100" dirty="0"/>
              <a:t> </a:t>
            </a:r>
            <a:r>
              <a:rPr sz="2950" spc="105" dirty="0"/>
              <a:t>patient</a:t>
            </a:r>
            <a:r>
              <a:rPr sz="2950" spc="245" dirty="0"/>
              <a:t> </a:t>
            </a:r>
            <a:r>
              <a:rPr sz="2950" spc="130" dirty="0"/>
              <a:t>records</a:t>
            </a:r>
            <a:endParaRPr sz="2950"/>
          </a:p>
        </p:txBody>
      </p:sp>
      <p:sp>
        <p:nvSpPr>
          <p:cNvPr id="9" name="object 9"/>
          <p:cNvSpPr txBox="1"/>
          <p:nvPr/>
        </p:nvSpPr>
        <p:spPr>
          <a:xfrm>
            <a:off x="517910" y="1012190"/>
            <a:ext cx="7383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With</a:t>
            </a:r>
            <a:r>
              <a:rPr sz="1800" spc="-2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sz="1800" spc="-5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patient's</a:t>
            </a:r>
            <a:r>
              <a:rPr sz="1800" spc="8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permission,</a:t>
            </a:r>
            <a:r>
              <a:rPr sz="1800" spc="9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find</a:t>
            </a:r>
            <a:r>
              <a:rPr sz="1800" spc="-5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answers</a:t>
            </a:r>
            <a:r>
              <a:rPr sz="1800" spc="-2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see</a:t>
            </a:r>
            <a:r>
              <a:rPr sz="1800" spc="-9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sz="1800" spc="-7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B5B5B"/>
                </a:solidFill>
                <a:latin typeface="Arial MT"/>
                <a:cs typeface="Arial MT"/>
              </a:rPr>
              <a:t>original</a:t>
            </a:r>
            <a:r>
              <a:rPr sz="1800" spc="2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B5B5B"/>
                </a:solidFill>
                <a:latin typeface="Arial MT"/>
                <a:cs typeface="Arial MT"/>
              </a:rPr>
              <a:t>passage.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691639"/>
            <a:ext cx="7688580" cy="43129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2040" y="1821179"/>
            <a:ext cx="487679" cy="6019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1080" y="3299459"/>
            <a:ext cx="609600" cy="6019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53469" y="1784350"/>
            <a:ext cx="1915160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07975" algn="l"/>
              </a:tabLst>
            </a:pPr>
            <a:r>
              <a:rPr sz="2050" spc="90" dirty="0">
                <a:solidFill>
                  <a:srgbClr val="163F33"/>
                </a:solidFill>
                <a:latin typeface="Arial MT"/>
                <a:cs typeface="Arial MT"/>
              </a:rPr>
              <a:t>Add</a:t>
            </a:r>
            <a:r>
              <a:rPr sz="2050" spc="-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63F33"/>
                </a:solidFill>
                <a:latin typeface="Arial MT"/>
                <a:cs typeface="Arial MT"/>
              </a:rPr>
              <a:t>a</a:t>
            </a:r>
            <a:r>
              <a:rPr sz="205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163F33"/>
                </a:solidFill>
                <a:latin typeface="Arial MT"/>
                <a:cs typeface="Arial MT"/>
              </a:rPr>
              <a:t>report.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AutoNum type="arabicPeriod"/>
            </a:pPr>
            <a:endParaRPr sz="2050">
              <a:latin typeface="Arial MT"/>
              <a:cs typeface="Arial MT"/>
            </a:endParaRPr>
          </a:p>
          <a:p>
            <a:pPr marL="19050" marR="816610" indent="3175">
              <a:lnSpc>
                <a:spcPts val="1920"/>
              </a:lnSpc>
            </a:pPr>
            <a:r>
              <a:rPr sz="1650" spc="-20" dirty="0">
                <a:solidFill>
                  <a:srgbClr val="5B5B5B"/>
                </a:solidFill>
                <a:latin typeface="Arial MT"/>
                <a:cs typeface="Arial MT"/>
              </a:rPr>
              <a:t>Or</a:t>
            </a:r>
            <a:r>
              <a:rPr sz="1650" spc="-5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5B5B5B"/>
                </a:solidFill>
                <a:latin typeface="Arial MT"/>
                <a:cs typeface="Arial MT"/>
              </a:rPr>
              <a:t>a</a:t>
            </a:r>
            <a:r>
              <a:rPr sz="1650" spc="-8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650" spc="-30" dirty="0">
                <a:solidFill>
                  <a:srgbClr val="5B5B5B"/>
                </a:solidFill>
                <a:latin typeface="Arial MT"/>
                <a:cs typeface="Arial MT"/>
              </a:rPr>
              <a:t>printed </a:t>
            </a:r>
            <a:r>
              <a:rPr sz="1650" spc="-50" dirty="0">
                <a:solidFill>
                  <a:srgbClr val="5D5D5D"/>
                </a:solidFill>
                <a:latin typeface="Arial MT"/>
                <a:cs typeface="Arial MT"/>
              </a:rPr>
              <a:t>prescription.</a:t>
            </a:r>
            <a:endParaRPr sz="1650">
              <a:latin typeface="Arial MT"/>
              <a:cs typeface="Arial MT"/>
            </a:endParaRPr>
          </a:p>
          <a:p>
            <a:pPr marL="24130" marR="203200" indent="-6985">
              <a:lnSpc>
                <a:spcPts val="2400"/>
              </a:lnSpc>
              <a:spcBef>
                <a:spcPts val="1745"/>
              </a:spcBef>
              <a:buAutoNum type="arabicPeriod" startAt="2"/>
              <a:tabLst>
                <a:tab pos="24130" algn="l"/>
                <a:tab pos="306705" algn="l"/>
              </a:tabLst>
            </a:pPr>
            <a:r>
              <a:rPr sz="2200" dirty="0">
                <a:solidFill>
                  <a:srgbClr val="163F33"/>
                </a:solidFill>
                <a:latin typeface="Arial MT"/>
                <a:cs typeface="Arial MT"/>
              </a:rPr>
              <a:t>Ask</a:t>
            </a:r>
            <a:r>
              <a:rPr sz="220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163F33"/>
                </a:solidFill>
                <a:latin typeface="Arial MT"/>
                <a:cs typeface="Arial MT"/>
              </a:rPr>
              <a:t>in</a:t>
            </a:r>
            <a:r>
              <a:rPr sz="2200" spc="-1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63F33"/>
                </a:solidFill>
                <a:latin typeface="Arial MT"/>
                <a:cs typeface="Arial MT"/>
              </a:rPr>
              <a:t>your </a:t>
            </a:r>
            <a:r>
              <a:rPr sz="2200" dirty="0">
                <a:solidFill>
                  <a:srgbClr val="163F33"/>
                </a:solidFill>
                <a:latin typeface="Arial MT"/>
                <a:cs typeface="Arial MT"/>
              </a:rPr>
              <a:t>own</a:t>
            </a:r>
            <a:r>
              <a:rPr sz="2200" spc="-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63F33"/>
                </a:solidFill>
                <a:latin typeface="Arial MT"/>
                <a:cs typeface="Arial MT"/>
              </a:rPr>
              <a:t>words.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4419" y="4770120"/>
            <a:ext cx="495300" cy="6096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463265" y="4744720"/>
            <a:ext cx="1552575" cy="63881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4604" marR="5080" indent="-2540">
              <a:lnSpc>
                <a:spcPts val="2370"/>
              </a:lnSpc>
              <a:spcBef>
                <a:spcPts val="250"/>
              </a:spcBef>
            </a:pPr>
            <a:r>
              <a:rPr sz="2050" dirty="0">
                <a:solidFill>
                  <a:srgbClr val="163F33"/>
                </a:solidFill>
                <a:latin typeface="Arial MT"/>
                <a:cs typeface="Arial MT"/>
              </a:rPr>
              <a:t>3.</a:t>
            </a:r>
            <a:r>
              <a:rPr sz="205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63F33"/>
                </a:solidFill>
                <a:latin typeface="Arial MT"/>
                <a:cs typeface="Arial MT"/>
              </a:rPr>
              <a:t>Check</a:t>
            </a:r>
            <a:r>
              <a:rPr sz="2050" spc="1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163F33"/>
                </a:solidFill>
                <a:latin typeface="Arial MT"/>
                <a:cs typeface="Arial MT"/>
              </a:rPr>
              <a:t>the </a:t>
            </a:r>
            <a:r>
              <a:rPr sz="2050" spc="65" dirty="0">
                <a:solidFill>
                  <a:srgbClr val="163F33"/>
                </a:solidFill>
                <a:latin typeface="Arial MT"/>
                <a:cs typeface="Arial MT"/>
              </a:rPr>
              <a:t>original</a:t>
            </a:r>
            <a:r>
              <a:rPr sz="2050" spc="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163F33"/>
                </a:solidFill>
                <a:latin typeface="Arial MT"/>
                <a:cs typeface="Arial MT"/>
              </a:rPr>
              <a:t>text.</a:t>
            </a:r>
            <a:endParaRPr sz="205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3880" y="6294120"/>
            <a:ext cx="320039" cy="3352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8285" y="6252209"/>
            <a:ext cx="3168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63F33"/>
                </a:solidFill>
                <a:latin typeface="Arial MT"/>
                <a:cs typeface="Arial MT"/>
              </a:rPr>
              <a:t>Keep</a:t>
            </a:r>
            <a:r>
              <a:rPr sz="1700" spc="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163F33"/>
                </a:solidFill>
                <a:latin typeface="Arial MT"/>
                <a:cs typeface="Arial MT"/>
              </a:rPr>
              <a:t>treatment</a:t>
            </a:r>
            <a:r>
              <a:rPr sz="1700" spc="2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163F33"/>
                </a:solidFill>
                <a:latin typeface="Arial MT"/>
                <a:cs typeface="Arial MT"/>
              </a:rPr>
              <a:t>dates</a:t>
            </a:r>
            <a:r>
              <a:rPr sz="1700" spc="10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3F33"/>
                </a:solidFill>
                <a:latin typeface="Arial MT"/>
                <a:cs typeface="Arial MT"/>
              </a:rPr>
              <a:t>in</a:t>
            </a:r>
            <a:r>
              <a:rPr sz="1700" spc="1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3F33"/>
                </a:solidFill>
                <a:latin typeface="Arial MT"/>
                <a:cs typeface="Arial MT"/>
              </a:rPr>
              <a:t>order.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33159" y="6301740"/>
            <a:ext cx="335280" cy="33528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27549" y="6245859"/>
            <a:ext cx="435610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163F33"/>
                </a:solidFill>
                <a:latin typeface="Arial MT"/>
                <a:cs typeface="Arial MT"/>
              </a:rPr>
              <a:t>Check</a:t>
            </a:r>
            <a:r>
              <a:rPr sz="1750" spc="2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63F33"/>
                </a:solidFill>
                <a:latin typeface="Arial MT"/>
                <a:cs typeface="Arial MT"/>
              </a:rPr>
              <a:t>medicine</a:t>
            </a:r>
            <a:r>
              <a:rPr sz="1750" spc="3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63F33"/>
                </a:solidFill>
                <a:latin typeface="Arial MT"/>
                <a:cs typeface="Arial MT"/>
              </a:rPr>
              <a:t>reminders</a:t>
            </a:r>
            <a:r>
              <a:rPr sz="1750" spc="3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63F33"/>
                </a:solidFill>
                <a:latin typeface="Arial MT"/>
                <a:cs typeface="Arial MT"/>
              </a:rPr>
              <a:t>before</a:t>
            </a:r>
            <a:r>
              <a:rPr sz="1750" spc="1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63F33"/>
                </a:solidFill>
                <a:latin typeface="Arial MT"/>
                <a:cs typeface="Arial MT"/>
              </a:rPr>
              <a:t>saving.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Saathi</a:t>
            </a:r>
            <a:r>
              <a:rPr spc="110" dirty="0"/>
              <a:t> </a:t>
            </a:r>
            <a:r>
              <a:rPr spc="105" dirty="0"/>
              <a:t>also</a:t>
            </a:r>
            <a:r>
              <a:rPr spc="110" dirty="0"/>
              <a:t> </a:t>
            </a:r>
            <a:r>
              <a:rPr spc="60" dirty="0"/>
              <a:t>keeps</a:t>
            </a:r>
            <a:r>
              <a:rPr spc="195" dirty="0"/>
              <a:t> </a:t>
            </a:r>
            <a:r>
              <a:rPr spc="145" dirty="0"/>
              <a:t>your</a:t>
            </a:r>
            <a:r>
              <a:rPr spc="140" dirty="0"/>
              <a:t> </a:t>
            </a:r>
            <a:r>
              <a:rPr spc="85" dirty="0"/>
              <a:t>cancer</a:t>
            </a:r>
            <a:r>
              <a:rPr spc="200" dirty="0"/>
              <a:t> </a:t>
            </a:r>
            <a:r>
              <a:rPr spc="50" dirty="0"/>
              <a:t>care</a:t>
            </a:r>
            <a:r>
              <a:rPr spc="180" dirty="0"/>
              <a:t> </a:t>
            </a:r>
            <a:r>
              <a:rPr dirty="0"/>
              <a:t>in</a:t>
            </a:r>
            <a:r>
              <a:rPr spc="280" dirty="0"/>
              <a:t> </a:t>
            </a:r>
            <a:r>
              <a:rPr spc="75" dirty="0"/>
              <a:t>one </a:t>
            </a:r>
            <a:r>
              <a:rPr spc="70" dirty="0"/>
              <a:t>place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1165860"/>
            <a:ext cx="464819" cy="1219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6440" y="1188719"/>
            <a:ext cx="563879" cy="838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7019" y="1203960"/>
            <a:ext cx="266700" cy="7620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8207674" y="1036320"/>
            <a:ext cx="5651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5" dirty="0">
                <a:solidFill>
                  <a:srgbClr val="333333"/>
                </a:solidFill>
                <a:latin typeface="Cambria"/>
                <a:cs typeface="Cambria"/>
              </a:rPr>
              <a:t>Calendar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33881" y="1494790"/>
            <a:ext cx="56705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5" dirty="0">
                <a:solidFill>
                  <a:srgbClr val="878787"/>
                </a:solidFill>
                <a:latin typeface="Cambria"/>
                <a:cs typeface="Cambria"/>
              </a:rPr>
              <a:t>Mv</a:t>
            </a:r>
            <a:r>
              <a:rPr sz="700" dirty="0">
                <a:solidFill>
                  <a:srgbClr val="878787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878787"/>
                </a:solidFill>
                <a:latin typeface="Cambria"/>
                <a:cs typeface="Cambria"/>
              </a:rPr>
              <a:t>documents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95708" y="1494790"/>
            <a:ext cx="4946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9A9A9A"/>
                </a:solidFill>
                <a:latin typeface="Cambria"/>
                <a:cs typeface="Cambria"/>
              </a:rPr>
              <a:t>Find</a:t>
            </a:r>
            <a:r>
              <a:rPr sz="700" spc="25" dirty="0">
                <a:solidFill>
                  <a:srgbClr val="9A9A9A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777777"/>
                </a:solidFill>
                <a:latin typeface="Cambria"/>
                <a:cs typeface="Cambria"/>
              </a:rPr>
              <a:t>gupoon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1681" y="1494790"/>
            <a:ext cx="38036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0" dirty="0">
                <a:solidFill>
                  <a:srgbClr val="6B6B6B"/>
                </a:solidFill>
                <a:latin typeface="Cambria"/>
                <a:cs typeface="Cambria"/>
              </a:rPr>
              <a:t>Mv</a:t>
            </a:r>
            <a:r>
              <a:rPr sz="700" spc="-5" dirty="0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777777"/>
                </a:solidFill>
                <a:latin typeface="Cambria"/>
                <a:cs typeface="Cambria"/>
              </a:rPr>
              <a:t>space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57304" y="1494790"/>
            <a:ext cx="3816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757575"/>
                </a:solidFill>
                <a:latin typeface="Cambria"/>
                <a:cs typeface="Cambria"/>
              </a:rPr>
              <a:t>Visit</a:t>
            </a:r>
            <a:r>
              <a:rPr sz="700" spc="5" dirty="0">
                <a:solidFill>
                  <a:srgbClr val="757575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959595"/>
                </a:solidFill>
                <a:latin typeface="Cambria"/>
                <a:cs typeface="Cambria"/>
              </a:rPr>
              <a:t>pack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1572" y="1845309"/>
            <a:ext cx="1096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2A2A2A"/>
                </a:solidFill>
                <a:latin typeface="Cambria"/>
                <a:cs typeface="Cambria"/>
              </a:rPr>
              <a:t>Meera's</a:t>
            </a:r>
            <a:r>
              <a:rPr sz="1600" spc="-3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262626"/>
                </a:solidFill>
                <a:latin typeface="Cambria"/>
                <a:cs typeface="Cambria"/>
              </a:rPr>
              <a:t>care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2560" y="2529839"/>
            <a:ext cx="518159" cy="266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1700" y="2316479"/>
            <a:ext cx="769620" cy="76961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165080" y="2461260"/>
            <a:ext cx="480059" cy="228600"/>
            <a:chOff x="10165080" y="2461260"/>
            <a:chExt cx="480059" cy="228600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5080" y="2461260"/>
              <a:ext cx="480059" cy="228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5080" y="2461260"/>
              <a:ext cx="480059" cy="2286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1119" y="3451859"/>
            <a:ext cx="5615939" cy="3886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29600" y="3459479"/>
            <a:ext cx="594359" cy="114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92840" y="3398520"/>
            <a:ext cx="350520" cy="22098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374368" y="4004309"/>
            <a:ext cx="815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00"/>
              </a:spcBef>
              <a:buClr>
                <a:srgbClr val="23805B"/>
              </a:buClr>
              <a:buChar char="•"/>
              <a:tabLst>
                <a:tab pos="104139" algn="l"/>
              </a:tabLst>
            </a:pPr>
            <a:r>
              <a:rPr sz="800" dirty="0">
                <a:solidFill>
                  <a:srgbClr val="2D2D2D"/>
                </a:solidFill>
                <a:latin typeface="Cambria"/>
                <a:cs typeface="Cambria"/>
              </a:rPr>
              <a:t>25</a:t>
            </a:r>
            <a:r>
              <a:rPr sz="800" spc="204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800" dirty="0">
                <a:solidFill>
                  <a:srgbClr val="2D2D2D"/>
                </a:solidFill>
                <a:latin typeface="Cambria"/>
                <a:cs typeface="Cambria"/>
              </a:rPr>
              <a:t>&amp;pt</a:t>
            </a:r>
            <a:r>
              <a:rPr sz="800" spc="185" dirty="0">
                <a:solidFill>
                  <a:srgbClr val="2D2D2D"/>
                </a:solidFill>
                <a:latin typeface="Cambria"/>
                <a:cs typeface="Cambria"/>
              </a:rPr>
              <a:t>  </a:t>
            </a:r>
            <a:r>
              <a:rPr sz="800" spc="-10" dirty="0">
                <a:solidFill>
                  <a:srgbClr val="2F2F2F"/>
                </a:solidFill>
                <a:latin typeface="Cambria"/>
                <a:cs typeface="Cambria"/>
              </a:rPr>
              <a:t>:2O23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00700" y="3985259"/>
            <a:ext cx="990600" cy="1981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37219" y="3695700"/>
            <a:ext cx="609600" cy="42671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305800" y="4878070"/>
            <a:ext cx="6870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63636"/>
                </a:solidFill>
                <a:latin typeface="Cambria"/>
                <a:cs typeface="Cambria"/>
              </a:rPr>
              <a:t>Quick</a:t>
            </a:r>
            <a:r>
              <a:rPr sz="1000" spc="-3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solidFill>
                  <a:srgbClr val="363636"/>
                </a:solidFill>
                <a:latin typeface="Cambria"/>
                <a:cs typeface="Cambria"/>
              </a:rPr>
              <a:t>access</a:t>
            </a:r>
            <a:endParaRPr sz="1000">
              <a:latin typeface="Cambria"/>
              <a:cs typeface="Cambr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17319" y="5219700"/>
            <a:ext cx="548640" cy="1295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60320" y="5212079"/>
            <a:ext cx="2415539" cy="152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22620" y="5219700"/>
            <a:ext cx="1165859" cy="12954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196153" y="5044440"/>
            <a:ext cx="1638935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dirty="0">
                <a:solidFill>
                  <a:srgbClr val="163F33"/>
                </a:solidFill>
                <a:latin typeface="Arial MT"/>
                <a:cs typeface="Arial MT"/>
              </a:rPr>
              <a:t>Three</a:t>
            </a:r>
            <a:r>
              <a:rPr sz="1850" spc="2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50" spc="85" dirty="0">
                <a:solidFill>
                  <a:srgbClr val="163F33"/>
                </a:solidFill>
                <a:latin typeface="Arial MT"/>
                <a:cs typeface="Arial MT"/>
              </a:rPr>
              <a:t>sign-</a:t>
            </a:r>
            <a:r>
              <a:rPr sz="1850" spc="60" dirty="0">
                <a:solidFill>
                  <a:srgbClr val="163F33"/>
                </a:solidFill>
                <a:latin typeface="Arial MT"/>
                <a:cs typeface="Arial MT"/>
              </a:rPr>
              <a:t>ins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2625" y="5506689"/>
            <a:ext cx="4900295" cy="125920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0"/>
              </a:spcBef>
            </a:pPr>
            <a:r>
              <a:rPr sz="2100" spc="-135" dirty="0">
                <a:solidFill>
                  <a:srgbClr val="B65D42"/>
                </a:solidFill>
                <a:latin typeface="Calibri"/>
                <a:cs typeface="Calibri"/>
              </a:rPr>
              <a:t>/$*</a:t>
            </a:r>
            <a:r>
              <a:rPr sz="2100" spc="380" dirty="0">
                <a:solidFill>
                  <a:srgbClr val="B65D42"/>
                </a:solidFill>
                <a:latin typeface="Calibri"/>
                <a:cs typeface="Calibri"/>
              </a:rPr>
              <a:t> </a:t>
            </a:r>
            <a:r>
              <a:rPr sz="2100" u="sng" spc="5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Medicines</a:t>
            </a:r>
            <a:r>
              <a:rPr sz="21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2100" u="sng" spc="9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and</a:t>
            </a:r>
            <a:r>
              <a:rPr sz="2100" u="sng" spc="6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2100" u="sng" spc="7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arescrigtion</a:t>
            </a:r>
            <a:r>
              <a:rPr sz="2100" u="sng" spc="13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2100" u="sng" spc="4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7"/>
              </a:rPr>
              <a:t>reminders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050" dirty="0">
                <a:solidFill>
                  <a:srgbClr val="4256C6"/>
                </a:solidFill>
                <a:latin typeface="Calibri"/>
                <a:cs typeface="Calibri"/>
              </a:rPr>
              <a:t>{/|</a:t>
            </a:r>
            <a:r>
              <a:rPr sz="2050" spc="335" dirty="0">
                <a:solidFill>
                  <a:srgbClr val="4256C6"/>
                </a:solidFill>
                <a:latin typeface="Calibri"/>
                <a:cs typeface="Calibri"/>
              </a:rPr>
              <a:t> </a:t>
            </a:r>
            <a:r>
              <a:rPr sz="2050" u="sng" spc="10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Visits,</a:t>
            </a:r>
            <a:r>
              <a:rPr sz="2050" u="sng" spc="22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2050" u="sng" spc="9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tests</a:t>
            </a:r>
            <a:r>
              <a:rPr sz="2050" u="sng" spc="12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2050" u="sng" spc="12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and</a:t>
            </a:r>
            <a:r>
              <a:rPr sz="2050" u="sng" spc="6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20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treatment</a:t>
            </a:r>
            <a:r>
              <a:rPr sz="2050" u="sng" spc="18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2050" u="sng" spc="8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8"/>
              </a:rPr>
              <a:t>dates</a:t>
            </a:r>
            <a:endParaRPr sz="2050">
              <a:latin typeface="Calibri"/>
              <a:cs typeface="Calibri"/>
            </a:endParaRPr>
          </a:p>
          <a:p>
            <a:pPr marL="433705">
              <a:lnSpc>
                <a:spcPct val="100000"/>
              </a:lnSpc>
              <a:spcBef>
                <a:spcPts val="830"/>
              </a:spcBef>
            </a:pPr>
            <a:r>
              <a:rPr sz="1850" u="sng" spc="13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Journals</a:t>
            </a:r>
            <a:r>
              <a:rPr sz="1850" u="sng" spc="13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sz="1850" u="sng" spc="16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and</a:t>
            </a:r>
            <a:r>
              <a:rPr sz="1850" u="sng" spc="-4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sz="1850" u="sng" spc="10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svmptom</a:t>
            </a:r>
            <a:r>
              <a:rPr sz="1850" u="sng" spc="1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sz="1850" u="sng" spc="8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19"/>
              </a:rPr>
              <a:t>tracking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95359" y="5692140"/>
            <a:ext cx="403859" cy="3429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44840" y="5654040"/>
            <a:ext cx="1874520" cy="72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888980" y="5897879"/>
            <a:ext cx="396240" cy="1524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891326" y="6106159"/>
            <a:ext cx="3867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30" dirty="0">
                <a:solidFill>
                  <a:srgbClr val="5B5B5B"/>
                </a:solidFill>
                <a:latin typeface="Cambria"/>
                <a:cs typeface="Cambria"/>
              </a:rPr>
              <a:t>Doctor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23487" y="6457950"/>
            <a:ext cx="186690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u="sng" spc="8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23"/>
              </a:rPr>
              <a:t>Financial</a:t>
            </a:r>
            <a:r>
              <a:rPr sz="1850" u="sng" spc="6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23"/>
              </a:rPr>
              <a:t> </a:t>
            </a:r>
            <a:r>
              <a:rPr sz="1850" u="sng" spc="4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Calibri"/>
                <a:cs typeface="Calibri"/>
                <a:hlinkClick r:id="rId23"/>
              </a:rPr>
              <a:t>tracking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90958" y="6581140"/>
            <a:ext cx="216027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u="sng" spc="95" dirty="0">
                <a:solidFill>
                  <a:srgbClr val="1359C6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  <a:hlinkClick r:id="rId24"/>
              </a:rPr>
              <a:t>OPEN</a:t>
            </a:r>
            <a:r>
              <a:rPr sz="1450" u="sng" spc="215" dirty="0">
                <a:solidFill>
                  <a:srgbClr val="1359C6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  <a:hlinkClick r:id="rId24"/>
              </a:rPr>
              <a:t> </a:t>
            </a:r>
            <a:r>
              <a:rPr sz="1450" u="sng" dirty="0">
                <a:solidFill>
                  <a:srgbClr val="1359C6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  <a:hlinkClick r:id="rId24"/>
              </a:rPr>
              <a:t>-</a:t>
            </a:r>
            <a:r>
              <a:rPr sz="1450" u="sng" spc="45" dirty="0">
                <a:solidFill>
                  <a:srgbClr val="1359C6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  <a:hlinkClick r:id="rId24"/>
              </a:rPr>
              <a:t> </a:t>
            </a:r>
            <a:r>
              <a:rPr sz="1450" u="sng" spc="-10" dirty="0">
                <a:solidFill>
                  <a:srgbClr val="1359C6"/>
                </a:solidFill>
                <a:uFill>
                  <a:solidFill>
                    <a:srgbClr val="000000"/>
                  </a:solidFill>
                </a:uFill>
                <a:latin typeface="Cambria"/>
                <a:cs typeface="Cambria"/>
                <a:hlinkClick r:id="rId24"/>
              </a:rPr>
              <a:t>saathi.wedevit.in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Help</a:t>
            </a:r>
            <a:r>
              <a:rPr sz="3100" spc="215" dirty="0"/>
              <a:t> </a:t>
            </a:r>
            <a:r>
              <a:rPr sz="3100" spc="120" dirty="0"/>
              <a:t>with</a:t>
            </a:r>
            <a:r>
              <a:rPr sz="3100" spc="160" dirty="0"/>
              <a:t> </a:t>
            </a:r>
            <a:r>
              <a:rPr sz="3100" spc="90" dirty="0"/>
              <a:t>palliative</a:t>
            </a:r>
            <a:r>
              <a:rPr sz="3100" spc="200" dirty="0"/>
              <a:t> </a:t>
            </a:r>
            <a:r>
              <a:rPr sz="3100" dirty="0"/>
              <a:t>care</a:t>
            </a:r>
            <a:r>
              <a:rPr sz="3100" spc="190" dirty="0"/>
              <a:t> </a:t>
            </a:r>
            <a:r>
              <a:rPr sz="3100" dirty="0"/>
              <a:t>near</a:t>
            </a:r>
            <a:r>
              <a:rPr sz="3100" spc="185" dirty="0"/>
              <a:t> </a:t>
            </a:r>
            <a:r>
              <a:rPr sz="3100" spc="85" dirty="0"/>
              <a:t>you</a:t>
            </a:r>
            <a:endParaRPr sz="3100"/>
          </a:p>
        </p:txBody>
      </p:sp>
      <p:sp>
        <p:nvSpPr>
          <p:cNvPr id="24" name="object 24"/>
          <p:cNvSpPr txBox="1"/>
          <p:nvPr/>
        </p:nvSpPr>
        <p:spPr>
          <a:xfrm>
            <a:off x="952426" y="1512570"/>
            <a:ext cx="19583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745E85"/>
                </a:solidFill>
                <a:latin typeface="Arial MT"/>
                <a:cs typeface="Arial MT"/>
              </a:rPr>
              <a:t>Baaavstaraknm</a:t>
            </a:r>
            <a:r>
              <a:rPr sz="1100" spc="30" dirty="0">
                <a:solidFill>
                  <a:srgbClr val="745E8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57EA3"/>
                </a:solidFill>
                <a:latin typeface="Arial MT"/>
                <a:cs typeface="Arial MT"/>
              </a:rPr>
              <a:t>Indo-</a:t>
            </a:r>
            <a:r>
              <a:rPr sz="1100" spc="-10" dirty="0">
                <a:solidFill>
                  <a:srgbClr val="957EA3"/>
                </a:solidFill>
                <a:latin typeface="Arial MT"/>
                <a:cs typeface="Arial MT"/>
              </a:rPr>
              <a:t>American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7492" y="1512570"/>
            <a:ext cx="555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543F60"/>
                </a:solidFill>
                <a:latin typeface="Arial MT"/>
                <a:cs typeface="Arial MT"/>
              </a:rPr>
              <a:t>Hospital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0" y="1295400"/>
            <a:ext cx="358140" cy="3429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8379" y="1600200"/>
            <a:ext cx="91439" cy="9143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53033" y="1833879"/>
            <a:ext cx="250253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97B97"/>
                </a:solidFill>
                <a:latin typeface="Arial MT"/>
                <a:cs typeface="Arial MT"/>
              </a:rPr>
              <a:t>Raad</a:t>
            </a:r>
            <a:r>
              <a:rPr sz="850" spc="-40" dirty="0">
                <a:solidFill>
                  <a:srgbClr val="897B97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A190AE"/>
                </a:solidFill>
                <a:latin typeface="Arial MT"/>
                <a:cs typeface="Arial MT"/>
              </a:rPr>
              <a:t>No</a:t>
            </a:r>
            <a:r>
              <a:rPr sz="850" spc="190" dirty="0">
                <a:solidFill>
                  <a:srgbClr val="A190AE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rgbClr val="B1B1B1"/>
                </a:solidFill>
                <a:latin typeface="Arial MT"/>
                <a:cs typeface="Arial MT"/>
              </a:rPr>
              <a:t>10,</a:t>
            </a:r>
            <a:r>
              <a:rPr sz="850" spc="20" dirty="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sz="850" spc="225" dirty="0">
                <a:solidFill>
                  <a:srgbClr val="B5B5B5"/>
                </a:solidFill>
                <a:latin typeface="Arial MT"/>
                <a:cs typeface="Arial MT"/>
              </a:rPr>
              <a:t>Baba</a:t>
            </a:r>
            <a:r>
              <a:rPr sz="850" spc="-120" dirty="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B1B1B1"/>
                </a:solidFill>
                <a:latin typeface="Arial MT"/>
                <a:cs typeface="Arial MT"/>
              </a:rPr>
              <a:t>Hills.</a:t>
            </a:r>
            <a:r>
              <a:rPr sz="850" spc="-5" dirty="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CACACA"/>
                </a:solidFill>
                <a:latin typeface="Arial MT"/>
                <a:cs typeface="Arial MT"/>
              </a:rPr>
              <a:t>.-</a:t>
            </a:r>
            <a:r>
              <a:rPr sz="850" spc="-10" dirty="0">
                <a:solidFill>
                  <a:srgbClr val="CACACA"/>
                </a:solidFill>
                <a:latin typeface="Arial MT"/>
                <a:cs typeface="Arial MT"/>
              </a:rPr>
              <a:t>Iyaerabad</a:t>
            </a:r>
            <a:r>
              <a:rPr sz="850" spc="25" dirty="0">
                <a:solidFill>
                  <a:srgbClr val="CACAC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B3B3B3"/>
                </a:solidFill>
                <a:latin typeface="Arial MT"/>
                <a:cs typeface="Arial MT"/>
              </a:rPr>
              <a:t>500€i3^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94385" algn="l"/>
              </a:tabLst>
            </a:pPr>
            <a:r>
              <a:rPr sz="900" spc="265" dirty="0">
                <a:solidFill>
                  <a:srgbClr val="5B3B69"/>
                </a:solidFill>
                <a:latin typeface="Arial MT"/>
                <a:cs typeface="Arial MT"/>
              </a:rPr>
              <a:t>11.8</a:t>
            </a:r>
            <a:r>
              <a:rPr sz="900" spc="20" dirty="0">
                <a:solidFill>
                  <a:srgbClr val="5B3B69"/>
                </a:solidFill>
                <a:latin typeface="Arial MT"/>
                <a:cs typeface="Arial MT"/>
              </a:rPr>
              <a:t> </a:t>
            </a:r>
            <a:r>
              <a:rPr sz="900" spc="340" dirty="0">
                <a:solidFill>
                  <a:srgbClr val="543360"/>
                </a:solidFill>
                <a:latin typeface="Arial MT"/>
                <a:cs typeface="Arial MT"/>
              </a:rPr>
              <a:t>km</a:t>
            </a:r>
            <a:r>
              <a:rPr sz="900" dirty="0">
                <a:solidFill>
                  <a:srgbClr val="543360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9E89A8"/>
                </a:solidFill>
                <a:latin typeface="Arial MT"/>
                <a:cs typeface="Arial MT"/>
              </a:rPr>
              <a:t>About</a:t>
            </a:r>
            <a:r>
              <a:rPr sz="900" spc="-5" dirty="0">
                <a:solidFill>
                  <a:srgbClr val="9E89A8"/>
                </a:solidFill>
                <a:latin typeface="Arial MT"/>
                <a:cs typeface="Arial MT"/>
              </a:rPr>
              <a:t> </a:t>
            </a:r>
            <a:r>
              <a:rPr sz="900" spc="-105" dirty="0">
                <a:solidFill>
                  <a:srgbClr val="AC9CBA"/>
                </a:solidFill>
                <a:latin typeface="Arial MT"/>
                <a:cs typeface="Arial MT"/>
              </a:rPr>
              <a:t>15</a:t>
            </a:r>
            <a:r>
              <a:rPr sz="900" spc="-5" dirty="0">
                <a:solidFill>
                  <a:srgbClr val="AC9CB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B1B1B1"/>
                </a:solidFill>
                <a:latin typeface="Arial MT"/>
                <a:cs typeface="Arial MT"/>
              </a:rPr>
              <a:t>min</a:t>
            </a:r>
            <a:r>
              <a:rPr sz="900" spc="-70" dirty="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6B6B6"/>
                </a:solidFill>
                <a:latin typeface="Arial MT"/>
                <a:cs typeface="Arial MT"/>
              </a:rPr>
              <a:t>drivina</a:t>
            </a:r>
            <a:r>
              <a:rPr sz="900" spc="430" dirty="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A395B1"/>
                </a:solidFill>
                <a:latin typeface="Arial MT"/>
                <a:cs typeface="Arial MT"/>
              </a:rPr>
              <a:t>no</a:t>
            </a:r>
            <a:r>
              <a:rPr sz="900" spc="-35" dirty="0">
                <a:solidFill>
                  <a:srgbClr val="A395B1"/>
                </a:solidFill>
                <a:latin typeface="Arial MT"/>
                <a:cs typeface="Arial MT"/>
              </a:rPr>
              <a:t> </a:t>
            </a:r>
            <a:r>
              <a:rPr sz="900" spc="-110" dirty="0">
                <a:solidFill>
                  <a:srgbClr val="A797B5"/>
                </a:solidFill>
                <a:latin typeface="Arial MT"/>
                <a:cs typeface="Arial MT"/>
              </a:rPr>
              <a:t>Eve</a:t>
            </a:r>
            <a:r>
              <a:rPr sz="900" spc="35" dirty="0">
                <a:solidFill>
                  <a:srgbClr val="A797B5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7E708A"/>
                </a:solidFill>
                <a:latin typeface="Arial MT"/>
                <a:cs typeface="Arial MT"/>
              </a:rPr>
              <a:t>gallic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82807" y="1096010"/>
            <a:ext cx="3860800" cy="111506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40"/>
              </a:spcBef>
            </a:pPr>
            <a:r>
              <a:rPr sz="1800" u="sng" spc="5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1.</a:t>
            </a:r>
            <a:r>
              <a:rPr sz="1800" u="sng" spc="-3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sng" spc="1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Find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sng" spc="8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palliative</a:t>
            </a:r>
            <a:r>
              <a:rPr sz="1800" u="sng" spc="16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care</a:t>
            </a:r>
            <a:r>
              <a:rPr sz="1800" u="sng" spc="2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sng" spc="8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nearby</a:t>
            </a:r>
            <a:endParaRPr sz="1800">
              <a:latin typeface="Arial MT"/>
              <a:cs typeface="Arial MT"/>
            </a:endParaRPr>
          </a:p>
          <a:p>
            <a:pPr marL="15240" marR="5080" indent="-3175">
              <a:lnSpc>
                <a:spcPts val="1980"/>
              </a:lnSpc>
              <a:spcBef>
                <a:spcPts val="1355"/>
              </a:spcBef>
            </a:pPr>
            <a:r>
              <a:rPr sz="1800" spc="-70" dirty="0">
                <a:solidFill>
                  <a:srgbClr val="163F33"/>
                </a:solidFill>
                <a:latin typeface="Arial MT"/>
                <a:cs typeface="Arial MT"/>
              </a:rPr>
              <a:t>Find</a:t>
            </a:r>
            <a:r>
              <a:rPr sz="1800" spc="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163F33"/>
                </a:solidFill>
                <a:latin typeface="Arial MT"/>
                <a:cs typeface="Arial MT"/>
              </a:rPr>
              <a:t>palliative-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1800" spc="-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centres</a:t>
            </a:r>
            <a:r>
              <a:rPr sz="1800" spc="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1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8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hospitals, with</a:t>
            </a:r>
            <a:r>
              <a:rPr sz="1800" spc="-8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34564D"/>
                </a:solidFill>
                <a:latin typeface="Arial MT"/>
                <a:cs typeface="Arial MT"/>
              </a:rPr>
              <a:t>phone</a:t>
            </a:r>
            <a:r>
              <a:rPr sz="1800" spc="-65" dirty="0">
                <a:solidFill>
                  <a:srgbClr val="34564D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163F33"/>
                </a:solidFill>
                <a:latin typeface="Arial MT"/>
                <a:cs typeface="Arial MT"/>
              </a:rPr>
              <a:t>numbers</a:t>
            </a:r>
            <a:r>
              <a:rPr sz="1800" spc="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1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63F33"/>
                </a:solidFill>
                <a:latin typeface="Arial MT"/>
                <a:cs typeface="Arial MT"/>
              </a:rPr>
              <a:t>directions.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8180" y="2392679"/>
            <a:ext cx="868680" cy="373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0" y="2590800"/>
            <a:ext cx="358140" cy="3581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00" y="3436620"/>
            <a:ext cx="327659" cy="3200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28900" y="3040379"/>
            <a:ext cx="342900" cy="75438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238500" y="3048000"/>
            <a:ext cx="1272540" cy="754380"/>
            <a:chOff x="3238500" y="3048000"/>
            <a:chExt cx="1272540" cy="75438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8500" y="3268979"/>
              <a:ext cx="495300" cy="533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58540" y="3048000"/>
              <a:ext cx="952500" cy="6248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9580" y="3604259"/>
              <a:ext cx="251460" cy="198119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8040" y="2994660"/>
            <a:ext cx="160020" cy="2667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91940" y="3688079"/>
            <a:ext cx="129539" cy="114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24400" y="3124200"/>
            <a:ext cx="586739" cy="67818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33059" y="3200400"/>
            <a:ext cx="792480" cy="601980"/>
            <a:chOff x="5433059" y="3200400"/>
            <a:chExt cx="792480" cy="601980"/>
          </a:xfrm>
        </p:grpSpPr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0679" y="3200400"/>
              <a:ext cx="784860" cy="2209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33059" y="3459479"/>
              <a:ext cx="792479" cy="34290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13560" y="3855720"/>
            <a:ext cx="4625340" cy="227837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58000" y="3901440"/>
            <a:ext cx="365759" cy="327659"/>
          </a:xfrm>
          <a:prstGeom prst="rect">
            <a:avLst/>
          </a:prstGeom>
        </p:spPr>
      </p:pic>
      <p:pic>
        <p:nvPicPr>
          <p:cNvPr id="3" name="object 3">
            <a:hlinkClick r:id="rId19"/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99019" y="3954779"/>
            <a:ext cx="4107179" cy="16763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65619" y="5227320"/>
            <a:ext cx="342900" cy="28194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369413" y="2536190"/>
            <a:ext cx="4137660" cy="3561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 indent="-203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29235" algn="l"/>
              </a:tabLst>
            </a:pPr>
            <a:r>
              <a:rPr sz="1800" u="sng" spc="3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 </a:t>
            </a:r>
            <a:r>
              <a:rPr sz="1800" u="sng" spc="10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Access</a:t>
            </a:r>
            <a:r>
              <a:rPr sz="1800" u="sng" spc="12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 </a:t>
            </a:r>
            <a:r>
              <a:rPr sz="1800" u="sng" spc="8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to</a:t>
            </a:r>
            <a:r>
              <a:rPr sz="1800" u="sng" spc="16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 </a:t>
            </a:r>
            <a:r>
              <a:rPr sz="1800" u="sng" spc="10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prescribed</a:t>
            </a:r>
            <a:r>
              <a:rPr sz="1800" u="sng" spc="16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 </a:t>
            </a:r>
            <a:r>
              <a:rPr sz="1800" u="sng" spc="10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2"/>
              </a:rPr>
              <a:t>opioids</a:t>
            </a:r>
            <a:endParaRPr sz="1800">
              <a:latin typeface="Arial MT"/>
              <a:cs typeface="Arial MT"/>
            </a:endParaRPr>
          </a:p>
          <a:p>
            <a:pPr marL="29845" marR="573405" indent="-635">
              <a:lnSpc>
                <a:spcPct val="101600"/>
              </a:lnSpc>
              <a:spcBef>
                <a:spcPts val="1310"/>
              </a:spcBef>
            </a:pP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Ask</a:t>
            </a:r>
            <a:r>
              <a:rPr sz="1600" spc="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about</a:t>
            </a:r>
            <a:r>
              <a:rPr sz="160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oral</a:t>
            </a:r>
            <a:r>
              <a:rPr sz="160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morphine,</a:t>
            </a:r>
            <a:r>
              <a:rPr sz="1600" spc="1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3F33"/>
                </a:solidFill>
                <a:latin typeface="Arial MT"/>
                <a:cs typeface="Arial MT"/>
              </a:rPr>
              <a:t>prescriptiDn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documents</a:t>
            </a:r>
            <a:r>
              <a:rPr sz="1600" spc="1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600" spc="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collection</a:t>
            </a:r>
            <a:r>
              <a:rPr sz="1600" spc="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3F33"/>
                </a:solidFill>
                <a:latin typeface="Arial MT"/>
                <a:cs typeface="Arial MT"/>
              </a:rPr>
              <a:t>hours</a:t>
            </a:r>
            <a:r>
              <a:rPr sz="1600" spc="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3F33"/>
                </a:solidFill>
                <a:latin typeface="Arial MT"/>
                <a:cs typeface="Arial MT"/>
              </a:rPr>
              <a:t>before travelling.</a:t>
            </a:r>
            <a:endParaRPr sz="1600">
              <a:latin typeface="Arial MT"/>
              <a:cs typeface="Arial MT"/>
            </a:endParaRPr>
          </a:p>
          <a:p>
            <a:pPr marL="12700" marR="5080" indent="277495">
              <a:lnSpc>
                <a:spcPts val="2280"/>
              </a:lnSpc>
              <a:spcBef>
                <a:spcPts val="855"/>
              </a:spcBef>
              <a:buAutoNum type="arabicPeriod" startAt="3"/>
              <a:tabLst>
                <a:tab pos="290195" algn="l"/>
                <a:tab pos="1003300" algn="l"/>
                <a:tab pos="3815079" algn="l"/>
              </a:tabLst>
            </a:pPr>
            <a:r>
              <a:rPr sz="2050" spc="-2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Find</a:t>
            </a:r>
            <a:r>
              <a:rPr sz="205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	our</a:t>
            </a:r>
            <a:r>
              <a:rPr sz="2050" spc="1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 </a:t>
            </a:r>
            <a:r>
              <a:rPr sz="2050" spc="-5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cancer-</a:t>
            </a:r>
            <a:r>
              <a:rPr sz="205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s</a:t>
            </a:r>
            <a:r>
              <a:rPr sz="2050" spc="6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  </a:t>
            </a:r>
            <a:r>
              <a:rPr sz="205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ecific</a:t>
            </a:r>
            <a:r>
              <a:rPr sz="2050" spc="3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 </a:t>
            </a:r>
            <a:r>
              <a:rPr sz="2050" spc="-2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su</a:t>
            </a:r>
            <a:r>
              <a:rPr sz="2050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	</a:t>
            </a:r>
            <a:r>
              <a:rPr sz="2050" spc="-2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ort </a:t>
            </a:r>
            <a:r>
              <a:rPr sz="2050" spc="-38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rog</a:t>
            </a:r>
            <a:r>
              <a:rPr sz="2050" u="heavy" spc="135" dirty="0">
                <a:solidFill>
                  <a:srgbClr val="1359C6"/>
                </a:solidFill>
                <a:uFill>
                  <a:solidFill>
                    <a:srgbClr val="1258C5"/>
                  </a:solidFill>
                </a:uFill>
                <a:latin typeface="Arial MT"/>
                <a:cs typeface="Arial MT"/>
                <a:hlinkClick r:id="rId19"/>
              </a:rPr>
              <a:t>  </a:t>
            </a:r>
            <a:r>
              <a:rPr sz="2050" spc="-465" dirty="0">
                <a:solidFill>
                  <a:srgbClr val="1359C6"/>
                </a:solidFill>
                <a:latin typeface="Arial MT"/>
                <a:cs typeface="Arial MT"/>
                <a:hlinkClick r:id="rId19"/>
              </a:rPr>
              <a:t>11g</a:t>
            </a:r>
            <a:endParaRPr sz="2050">
              <a:latin typeface="Arial MT"/>
              <a:cs typeface="Arial MT"/>
            </a:endParaRPr>
          </a:p>
          <a:p>
            <a:pPr marL="27940" marR="225425" indent="-2540">
              <a:lnSpc>
                <a:spcPts val="1980"/>
              </a:lnSpc>
              <a:spcBef>
                <a:spcPts val="540"/>
              </a:spcBef>
            </a:pPr>
            <a:r>
              <a:rPr sz="1800" spc="-70" dirty="0">
                <a:solidFill>
                  <a:srgbClr val="163F33"/>
                </a:solidFill>
                <a:latin typeface="Arial MT"/>
                <a:cs typeface="Arial MT"/>
              </a:rPr>
              <a:t>Find</a:t>
            </a:r>
            <a:r>
              <a:rPr sz="1800" spc="-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patient</a:t>
            </a:r>
            <a:r>
              <a:rPr sz="1800" spc="-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163F33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caregiver</a:t>
            </a:r>
            <a:r>
              <a:rPr sz="1800" spc="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163F33"/>
                </a:solidFill>
                <a:latin typeface="Arial MT"/>
                <a:cs typeface="Arial MT"/>
              </a:rPr>
              <a:t>groups</a:t>
            </a:r>
            <a:r>
              <a:rPr sz="180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163F33"/>
                </a:solidFill>
                <a:latin typeface="Arial MT"/>
                <a:cs typeface="Arial MT"/>
              </a:rPr>
              <a:t>for</a:t>
            </a:r>
            <a:r>
              <a:rPr sz="1800" spc="-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163F33"/>
                </a:solidFill>
                <a:latin typeface="Arial MT"/>
                <a:cs typeface="Arial MT"/>
              </a:rPr>
              <a:t>your 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1800" spc="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163F33"/>
                </a:solidFill>
                <a:latin typeface="Arial MT"/>
                <a:cs typeface="Arial MT"/>
              </a:rPr>
              <a:t>type,</a:t>
            </a:r>
            <a:r>
              <a:rPr sz="180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163F33"/>
                </a:solidFill>
                <a:latin typeface="Arial MT"/>
                <a:cs typeface="Arial MT"/>
              </a:rPr>
              <a:t>locally</a:t>
            </a:r>
            <a:r>
              <a:rPr sz="1800" spc="-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163F33"/>
                </a:solidFill>
                <a:latin typeface="Arial MT"/>
                <a:cs typeface="Arial MT"/>
              </a:rPr>
              <a:t>or</a:t>
            </a:r>
            <a:r>
              <a:rPr sz="1800" spc="-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63F33"/>
                </a:solidFill>
                <a:latin typeface="Arial MT"/>
                <a:cs typeface="Arial MT"/>
              </a:rPr>
              <a:t>online.</a:t>
            </a:r>
            <a:endParaRPr sz="1800">
              <a:latin typeface="Arial MT"/>
              <a:cs typeface="Arial MT"/>
            </a:endParaRPr>
          </a:p>
          <a:p>
            <a:pPr marL="227965" indent="-203200">
              <a:lnSpc>
                <a:spcPct val="100000"/>
              </a:lnSpc>
              <a:spcBef>
                <a:spcPts val="1165"/>
              </a:spcBef>
              <a:buAutoNum type="arabicPeriod" startAt="4"/>
              <a:tabLst>
                <a:tab pos="227965" algn="l"/>
              </a:tabLst>
            </a:pPr>
            <a:r>
              <a:rPr sz="1800" u="sng" spc="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Plan</a:t>
            </a:r>
            <a:r>
              <a:rPr sz="1800" u="sng" spc="6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9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travel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8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and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114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helg</a:t>
            </a:r>
            <a:r>
              <a:rPr sz="1800" u="sng" spc="-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5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at</a:t>
            </a:r>
            <a:r>
              <a:rPr sz="1800" u="sng" spc="1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 </a:t>
            </a:r>
            <a:r>
              <a:rPr sz="1800" u="sng" spc="7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3"/>
              </a:rPr>
              <a:t>home</a:t>
            </a:r>
            <a:endParaRPr sz="1800">
              <a:latin typeface="Arial MT"/>
              <a:cs typeface="Arial MT"/>
            </a:endParaRPr>
          </a:p>
          <a:p>
            <a:pPr marL="29209" marR="80010">
              <a:lnSpc>
                <a:spcPts val="1980"/>
              </a:lnSpc>
              <a:spcBef>
                <a:spcPts val="1355"/>
              </a:spcBef>
            </a:pPr>
            <a:r>
              <a:rPr sz="1800" spc="-90" dirty="0">
                <a:solidFill>
                  <a:srgbClr val="163F33"/>
                </a:solidFill>
                <a:latin typeface="Arial MT"/>
                <a:cs typeface="Arial MT"/>
              </a:rPr>
              <a:t>Arrange</a:t>
            </a:r>
            <a:r>
              <a:rPr sz="1800" spc="-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63F33"/>
                </a:solidFill>
                <a:latin typeface="Arial MT"/>
                <a:cs typeface="Arial MT"/>
              </a:rPr>
              <a:t>a</a:t>
            </a:r>
            <a:r>
              <a:rPr sz="1800" spc="-1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163F33"/>
                </a:solidFill>
                <a:latin typeface="Arial MT"/>
                <a:cs typeface="Arial MT"/>
              </a:rPr>
              <a:t>ride</a:t>
            </a:r>
            <a:r>
              <a:rPr sz="1800" spc="-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163F33"/>
                </a:solidFill>
                <a:latin typeface="Arial MT"/>
                <a:cs typeface="Arial MT"/>
              </a:rPr>
              <a:t>or</a:t>
            </a:r>
            <a:r>
              <a:rPr sz="1800" spc="-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95" dirty="0">
                <a:solidFill>
                  <a:srgbClr val="163F33"/>
                </a:solidFill>
                <a:latin typeface="Arial MT"/>
                <a:cs typeface="Arial MT"/>
              </a:rPr>
              <a:t>ambulance,</a:t>
            </a:r>
            <a:r>
              <a:rPr sz="1800" spc="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20" dirty="0">
                <a:solidFill>
                  <a:srgbClr val="163F33"/>
                </a:solidFill>
                <a:latin typeface="Arial MT"/>
                <a:cs typeface="Arial MT"/>
              </a:rPr>
              <a:t>home</a:t>
            </a:r>
            <a:r>
              <a:rPr sz="180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163F33"/>
                </a:solidFill>
                <a:latin typeface="Arial MT"/>
                <a:cs typeface="Arial MT"/>
              </a:rPr>
              <a:t>nursing </a:t>
            </a:r>
            <a:r>
              <a:rPr sz="1800" spc="-60" dirty="0">
                <a:solidFill>
                  <a:srgbClr val="163F33"/>
                </a:solidFill>
                <a:latin typeface="Arial MT"/>
                <a:cs typeface="Arial MT"/>
              </a:rPr>
              <a:t>or</a:t>
            </a:r>
            <a:r>
              <a:rPr sz="1800" spc="-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163F33"/>
                </a:solidFill>
                <a:latin typeface="Arial MT"/>
                <a:cs typeface="Arial MT"/>
              </a:rPr>
              <a:t>medicine</a:t>
            </a:r>
            <a:r>
              <a:rPr sz="1800" spc="-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163F33"/>
                </a:solidFill>
                <a:latin typeface="Arial MT"/>
                <a:cs typeface="Arial MT"/>
              </a:rPr>
              <a:t>collection</a:t>
            </a:r>
            <a:r>
              <a:rPr sz="1800" spc="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163F33"/>
                </a:solidFill>
                <a:latin typeface="Arial MT"/>
                <a:cs typeface="Arial MT"/>
              </a:rPr>
              <a:t>with</a:t>
            </a:r>
            <a:r>
              <a:rPr sz="1800" spc="-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163F33"/>
                </a:solidFill>
                <a:latin typeface="Arial MT"/>
                <a:cs typeface="Arial MT"/>
              </a:rPr>
              <a:t>your</a:t>
            </a:r>
            <a:r>
              <a:rPr sz="1800" spc="-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163F33"/>
                </a:solidFill>
                <a:latin typeface="Arial MT"/>
                <a:cs typeface="Arial MT"/>
              </a:rPr>
              <a:t>care</a:t>
            </a:r>
            <a:r>
              <a:rPr sz="1800" spc="-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63F33"/>
                </a:solidFill>
                <a:latin typeface="Arial MT"/>
                <a:cs typeface="Arial MT"/>
              </a:rPr>
              <a:t>circle.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8" name="object 18">
            <a:hlinkClick r:id="rId24"/>
          </p:cNvPr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41019" y="6195059"/>
            <a:ext cx="2266188" cy="1143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18803" y="6423659"/>
            <a:ext cx="1818639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Open</a:t>
            </a:r>
            <a:r>
              <a:rPr sz="1550" u="sng" spc="21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550" u="sng" spc="5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the</a:t>
            </a:r>
            <a:r>
              <a:rPr sz="1550" u="sng" spc="9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55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care</a:t>
            </a:r>
            <a:r>
              <a:rPr sz="1550" u="sng" spc="14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550" u="sng" spc="-2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4"/>
              </a:rPr>
              <a:t>map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93081" y="6427470"/>
            <a:ext cx="179641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6"/>
              </a:rPr>
              <a:t>Pallium</a:t>
            </a:r>
            <a:r>
              <a:rPr sz="1400" u="sng" spc="3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6"/>
              </a:rPr>
              <a:t> </a:t>
            </a:r>
            <a:r>
              <a:rPr sz="1400" u="sng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6"/>
              </a:rPr>
              <a:t>India</a:t>
            </a:r>
            <a:r>
              <a:rPr sz="1400" u="sng" spc="25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6"/>
              </a:rPr>
              <a:t> </a:t>
            </a:r>
            <a:r>
              <a:rPr sz="1400" u="sng" spc="-10" dirty="0">
                <a:solidFill>
                  <a:srgbClr val="1359C6"/>
                </a:solidFill>
                <a:uFill>
                  <a:solidFill>
                    <a:srgbClr val="1357C3"/>
                  </a:solidFill>
                </a:uFill>
                <a:latin typeface="Arial MT"/>
                <a:cs typeface="Arial MT"/>
                <a:hlinkClick r:id="rId26"/>
              </a:rPr>
              <a:t>directorv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0340" y="6103620"/>
              <a:ext cx="266700" cy="129539"/>
            </a:xfrm>
            <a:prstGeom prst="rect">
              <a:avLst/>
            </a:prstGeom>
          </p:spPr>
        </p:pic>
        <p:pic>
          <p:nvPicPr>
            <p:cNvPr id="5" name="object 5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7720" y="3737609"/>
              <a:ext cx="643889" cy="1333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11033" y="976776"/>
            <a:ext cx="3143885" cy="5511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1.</a:t>
            </a:r>
            <a:r>
              <a:rPr sz="1250" spc="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IARC.</a:t>
            </a:r>
            <a:r>
              <a:rPr sz="1250" spc="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Global</a:t>
            </a:r>
            <a:r>
              <a:rPr sz="1250" spc="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Cancer</a:t>
            </a:r>
            <a:r>
              <a:rPr sz="125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Observatory,</a:t>
            </a:r>
            <a:r>
              <a:rPr sz="1250" spc="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34564D"/>
                </a:solidFill>
                <a:latin typeface="Arial MT"/>
                <a:cs typeface="Arial MT"/>
              </a:rPr>
              <a:t>2024.</a:t>
            </a:r>
            <a:endParaRPr sz="1250">
              <a:latin typeface="Arial MT"/>
              <a:cs typeface="Arial MT"/>
            </a:endParaRPr>
          </a:p>
          <a:p>
            <a:pPr marL="282575">
              <a:lnSpc>
                <a:spcPct val="100000"/>
              </a:lnSpc>
              <a:spcBef>
                <a:spcPts val="550"/>
              </a:spcBef>
            </a:pPr>
            <a:r>
              <a:rPr sz="1300" dirty="0">
                <a:solidFill>
                  <a:srgbClr val="1359C6"/>
                </a:solidFill>
                <a:latin typeface="Arial MT"/>
                <a:cs typeface="Arial MT"/>
                <a:hlinkClick r:id="rId7"/>
              </a:rPr>
              <a:t>a:</a:t>
            </a:r>
            <a:r>
              <a:rPr sz="1300" spc="-70" dirty="0">
                <a:solidFill>
                  <a:srgbClr val="1359C6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300" spc="-10" dirty="0">
                <a:solidFill>
                  <a:srgbClr val="2364C8"/>
                </a:solidFill>
                <a:latin typeface="Arial MT"/>
                <a:cs typeface="Arial MT"/>
                <a:hlinkClick r:id="rId7"/>
              </a:rPr>
              <a:t>GLOBOCAN</a:t>
            </a:r>
            <a:r>
              <a:rPr sz="1300" spc="40" dirty="0">
                <a:solidFill>
                  <a:srgbClr val="2364C8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300" dirty="0">
                <a:solidFill>
                  <a:srgbClr val="2364C8"/>
                </a:solidFill>
                <a:latin typeface="Arial MT"/>
                <a:cs typeface="Arial MT"/>
                <a:hlinkClick r:id="rId7"/>
              </a:rPr>
              <a:t>2024</a:t>
            </a:r>
            <a:r>
              <a:rPr sz="1300" spc="-70" dirty="0">
                <a:solidFill>
                  <a:srgbClr val="2364C8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300" dirty="0">
                <a:solidFill>
                  <a:srgbClr val="1359C6"/>
                </a:solidFill>
                <a:latin typeface="Arial MT"/>
                <a:cs typeface="Arial MT"/>
                <a:hlinkClick r:id="rId7"/>
              </a:rPr>
              <a:t>Fact</a:t>
            </a:r>
            <a:r>
              <a:rPr sz="1300" spc="-50" dirty="0">
                <a:solidFill>
                  <a:srgbClr val="1359C6"/>
                </a:solidFill>
                <a:latin typeface="Arial MT"/>
                <a:cs typeface="Arial MT"/>
                <a:hlinkClick r:id="rId7"/>
              </a:rPr>
              <a:t> </a:t>
            </a:r>
            <a:r>
              <a:rPr sz="1300" spc="-10" dirty="0">
                <a:solidFill>
                  <a:srgbClr val="1359C6"/>
                </a:solidFill>
                <a:latin typeface="Arial MT"/>
                <a:cs typeface="Arial MT"/>
                <a:hlinkClick r:id="rId7"/>
              </a:rPr>
              <a:t>Sheet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3997" y="1019810"/>
            <a:ext cx="4585970" cy="7124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5.</a:t>
            </a:r>
            <a:r>
              <a:rPr sz="1200" spc="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Sharma</a:t>
            </a:r>
            <a:r>
              <a:rPr sz="1200" spc="204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80" dirty="0">
                <a:solidFill>
                  <a:srgbClr val="163F33"/>
                </a:solidFill>
                <a:latin typeface="Arial MT"/>
                <a:cs typeface="Arial MT"/>
              </a:rPr>
              <a:t>P.</a:t>
            </a:r>
            <a:r>
              <a:rPr sz="1200" spc="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IndiaSpend</a:t>
            </a:r>
            <a:r>
              <a:rPr sz="1200" spc="1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4564D"/>
                </a:solidFill>
                <a:latin typeface="Arial MT"/>
                <a:cs typeface="Arial MT"/>
              </a:rPr>
              <a:t>/</a:t>
            </a:r>
            <a:r>
              <a:rPr sz="1200" spc="75" dirty="0">
                <a:solidFill>
                  <a:srgbClr val="34564D"/>
                </a:solidFill>
                <a:latin typeface="Arial MT"/>
                <a:cs typeface="Arial MT"/>
              </a:rPr>
              <a:t> </a:t>
            </a:r>
            <a:r>
              <a:rPr sz="1200" spc="50" dirty="0">
                <a:solidFill>
                  <a:srgbClr val="163F33"/>
                </a:solidFill>
                <a:latin typeface="Arial MT"/>
                <a:cs typeface="Arial MT"/>
              </a:rPr>
              <a:t>Scroll.in,</a:t>
            </a:r>
            <a:r>
              <a:rPr sz="1200" spc="1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3F33"/>
                </a:solidFill>
                <a:latin typeface="Arial MT"/>
                <a:cs typeface="Arial MT"/>
              </a:rPr>
              <a:t>2019.</a:t>
            </a:r>
            <a:endParaRPr sz="1200">
              <a:latin typeface="Arial MT"/>
              <a:cs typeface="Arial MT"/>
            </a:endParaRPr>
          </a:p>
          <a:p>
            <a:pPr marL="14604" marR="5080" indent="-2540">
              <a:lnSpc>
                <a:spcPts val="1560"/>
              </a:lnSpc>
              <a:spcBef>
                <a:spcPts val="610"/>
              </a:spcBef>
            </a:pPr>
            <a:r>
              <a:rPr sz="1550" spc="-19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73%</a:t>
            </a:r>
            <a:r>
              <a:rPr sz="1550" spc="-5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4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urban</a:t>
            </a:r>
            <a:r>
              <a:rPr sz="1550" spc="-10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3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Indians</a:t>
            </a:r>
            <a:r>
              <a:rPr sz="1550" spc="-3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5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do</a:t>
            </a:r>
            <a:r>
              <a:rPr sz="1550" spc="-6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3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not</a:t>
            </a:r>
            <a:r>
              <a:rPr sz="1550" spc="-4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8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know</a:t>
            </a:r>
            <a:r>
              <a:rPr sz="1550" spc="-4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4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about</a:t>
            </a:r>
            <a:r>
              <a:rPr sz="1550" spc="-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14" dirty="0">
                <a:solidFill>
                  <a:srgbClr val="4479D1"/>
                </a:solidFill>
                <a:latin typeface="Arial MT"/>
                <a:cs typeface="Arial MT"/>
                <a:hlinkClick r:id="rId8"/>
              </a:rPr>
              <a:t>their</a:t>
            </a:r>
            <a:r>
              <a:rPr sz="1550" spc="-90" dirty="0">
                <a:solidFill>
                  <a:srgbClr val="4479D1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ri</a:t>
            </a:r>
            <a:r>
              <a:rPr sz="1550" spc="25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0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ht</a:t>
            </a:r>
            <a:r>
              <a:rPr sz="1550" spc="-6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2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to</a:t>
            </a:r>
            <a:r>
              <a:rPr sz="1550" spc="-6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8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make</a:t>
            </a:r>
            <a:r>
              <a:rPr sz="1550" spc="-5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195" dirty="0">
                <a:solidFill>
                  <a:srgbClr val="346ECD"/>
                </a:solidFill>
                <a:latin typeface="Arial MT"/>
                <a:cs typeface="Arial MT"/>
                <a:hlinkClick r:id="rId8"/>
              </a:rPr>
              <a:t>a</a:t>
            </a:r>
            <a:r>
              <a:rPr sz="1550" spc="-60" dirty="0">
                <a:solidFill>
                  <a:srgbClr val="346ECD"/>
                </a:solidFill>
                <a:latin typeface="Arial MT"/>
                <a:cs typeface="Arial MT"/>
                <a:hlinkClick r:id="rId8"/>
              </a:rPr>
              <a:t> </a:t>
            </a:r>
            <a:r>
              <a:rPr sz="1550" spc="-4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livin </a:t>
            </a:r>
            <a:r>
              <a:rPr sz="1550" u="sng" spc="-195" dirty="0">
                <a:solidFill>
                  <a:srgbClr val="1359C6"/>
                </a:solidFill>
                <a:uFill>
                  <a:solidFill>
                    <a:srgbClr val="1C60C8"/>
                  </a:solidFill>
                </a:uFill>
                <a:latin typeface="Arial MT"/>
                <a:cs typeface="Arial MT"/>
                <a:hlinkClick r:id="rId8"/>
              </a:rPr>
              <a:t>a</a:t>
            </a:r>
            <a:r>
              <a:rPr sz="1550" u="sng" spc="-20" dirty="0">
                <a:solidFill>
                  <a:srgbClr val="1359C6"/>
                </a:solidFill>
                <a:uFill>
                  <a:solidFill>
                    <a:srgbClr val="1C60C8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550" u="sng" spc="-10" dirty="0">
                <a:solidFill>
                  <a:srgbClr val="89A5E2"/>
                </a:solidFill>
                <a:uFill>
                  <a:solidFill>
                    <a:srgbClr val="1C60C8"/>
                  </a:solidFill>
                </a:uFill>
                <a:latin typeface="Arial MT"/>
                <a:cs typeface="Arial MT"/>
                <a:hlinkClick r:id="rId8"/>
              </a:rPr>
              <a:t>survev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07668" y="1907540"/>
            <a:ext cx="10598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-will-finds-a-</a:t>
            </a:r>
            <a:r>
              <a:rPr sz="1050" spc="-10" dirty="0">
                <a:solidFill>
                  <a:srgbClr val="1359C6"/>
                </a:solidFill>
                <a:latin typeface="Arial MT"/>
                <a:cs typeface="Arial MT"/>
                <a:hlinkClick r:id="rId8"/>
              </a:rPr>
              <a:t>surve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185" y="2269490"/>
            <a:ext cx="3869690" cy="13665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580"/>
              </a:spcBef>
              <a:buClr>
                <a:srgbClr val="34564D"/>
              </a:buClr>
              <a:buAutoNum type="arabicPeriod" startAt="2"/>
              <a:tabLst>
                <a:tab pos="187325" algn="l"/>
              </a:tabLst>
            </a:pP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Patil</a:t>
            </a:r>
            <a:r>
              <a:rPr sz="1200" spc="1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S,</a:t>
            </a:r>
            <a:r>
              <a:rPr sz="120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et</a:t>
            </a:r>
            <a:r>
              <a:rPr sz="1200" spc="1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at.</a:t>
            </a:r>
            <a:r>
              <a:rPr sz="1200" spc="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BMJ</a:t>
            </a:r>
            <a:r>
              <a:rPr sz="1200" spc="12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55" dirty="0">
                <a:solidFill>
                  <a:srgbClr val="163F33"/>
                </a:solidFill>
                <a:latin typeface="Arial MT"/>
                <a:cs typeface="Arial MT"/>
              </a:rPr>
              <a:t>Support</a:t>
            </a:r>
            <a:r>
              <a:rPr sz="1200" spc="2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Palliat</a:t>
            </a:r>
            <a:r>
              <a:rPr sz="1200" spc="1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Care,</a:t>
            </a:r>
            <a:r>
              <a:rPr sz="1200" spc="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4564D"/>
                </a:solidFill>
                <a:latin typeface="Arial MT"/>
                <a:cs typeface="Arial MT"/>
              </a:rPr>
              <a:t>2024.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540"/>
              </a:spcBef>
              <a:tabLst>
                <a:tab pos="1816735" algn="l"/>
              </a:tabLst>
            </a:pP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Unmet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spc="-45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need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dirty="0">
                <a:solidFill>
                  <a:srgbClr val="4F85D1"/>
                </a:solidFill>
                <a:latin typeface="Arial MT"/>
                <a:cs typeface="Arial MT"/>
                <a:hlinkClick r:id="rId9"/>
              </a:rPr>
              <a:t>for</a:t>
            </a:r>
            <a:r>
              <a:rPr sz="1350" spc="-45" dirty="0">
                <a:solidFill>
                  <a:srgbClr val="4F85D1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cancer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	</a:t>
            </a:r>
            <a:r>
              <a:rPr sz="1350" spc="-25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alliative</a:t>
            </a:r>
            <a:r>
              <a:rPr sz="1350" spc="-15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care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in</a:t>
            </a:r>
            <a:r>
              <a:rPr sz="1350" spc="-95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India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35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tabLst>
                <a:tab pos="908685" algn="l"/>
              </a:tabLst>
            </a:pPr>
            <a:r>
              <a:rPr sz="1875" spc="-37" baseline="2222" dirty="0">
                <a:solidFill>
                  <a:srgbClr val="1359C6"/>
                </a:solidFill>
                <a:latin typeface="Times New Roman"/>
                <a:cs typeface="Times New Roman"/>
                <a:hlinkClick r:id="rId9"/>
              </a:rPr>
              <a:t>htt</a:t>
            </a:r>
            <a:r>
              <a:rPr sz="1875" baseline="2222" dirty="0">
                <a:solidFill>
                  <a:srgbClr val="1359C6"/>
                </a:solidFill>
                <a:latin typeface="Times New Roman"/>
                <a:cs typeface="Times New Roman"/>
                <a:hlinkClick r:id="rId9"/>
              </a:rPr>
              <a:t>	</a:t>
            </a:r>
            <a:r>
              <a:rPr sz="1200" spc="-10" dirty="0">
                <a:solidFill>
                  <a:srgbClr val="3470CC"/>
                </a:solidFill>
                <a:latin typeface="Arial MT"/>
                <a:cs typeface="Arial MT"/>
                <a:hlinkClick r:id="rId9"/>
              </a:rPr>
              <a:t>/10.1136/s</a:t>
            </a:r>
            <a:r>
              <a:rPr sz="1200" spc="250" dirty="0">
                <a:solidFill>
                  <a:srgbClr val="3470CC"/>
                </a:solidFill>
                <a:latin typeface="Arial MT"/>
                <a:cs typeface="Arial MT"/>
                <a:hlinkClick r:id="rId9"/>
              </a:rPr>
              <a:t> </a:t>
            </a:r>
            <a:r>
              <a:rPr sz="1200" spc="-3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care-2024-</a:t>
            </a:r>
            <a:r>
              <a:rPr sz="1200" spc="-10" dirty="0">
                <a:solidFill>
                  <a:srgbClr val="1359C6"/>
                </a:solidFill>
                <a:latin typeface="Arial MT"/>
                <a:cs typeface="Arial MT"/>
                <a:hlinkClick r:id="rId9"/>
              </a:rPr>
              <a:t>004978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00">
              <a:latin typeface="Arial MT"/>
              <a:cs typeface="Arial MT"/>
            </a:endParaRPr>
          </a:p>
          <a:p>
            <a:pPr marL="191770" indent="-173355">
              <a:lnSpc>
                <a:spcPct val="100000"/>
              </a:lnSpc>
              <a:buAutoNum type="arabicPeriod" startAt="3"/>
              <a:tabLst>
                <a:tab pos="191770" algn="l"/>
              </a:tabLst>
            </a:pP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Aslam</a:t>
            </a:r>
            <a:r>
              <a:rPr sz="1200" spc="17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N,</a:t>
            </a:r>
            <a:r>
              <a:rPr sz="1200" spc="9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Hayat</a:t>
            </a:r>
            <a:r>
              <a:rPr sz="1200" spc="1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A.</a:t>
            </a:r>
            <a:r>
              <a:rPr sz="1200" spc="9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50" dirty="0">
                <a:solidFill>
                  <a:srgbClr val="163F33"/>
                </a:solidFill>
                <a:latin typeface="Arial MT"/>
                <a:cs typeface="Arial MT"/>
              </a:rPr>
              <a:t>J</a:t>
            </a:r>
            <a:r>
              <a:rPr sz="1200" spc="10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Pain</a:t>
            </a:r>
            <a:r>
              <a:rPr sz="1200" spc="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65" dirty="0">
                <a:solidFill>
                  <a:srgbClr val="163F33"/>
                </a:solidFill>
                <a:latin typeface="Arial MT"/>
                <a:cs typeface="Arial MT"/>
              </a:rPr>
              <a:t>Symptom</a:t>
            </a:r>
            <a:r>
              <a:rPr sz="1200" spc="1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Manage,</a:t>
            </a:r>
            <a:r>
              <a:rPr sz="1200" spc="1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3F33"/>
                </a:solidFill>
                <a:latin typeface="Arial MT"/>
                <a:cs typeface="Arial MT"/>
              </a:rPr>
              <a:t>2024.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28920" y="2280496"/>
            <a:ext cx="4951730" cy="139509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89230" indent="-168275">
              <a:lnSpc>
                <a:spcPct val="100000"/>
              </a:lnSpc>
              <a:spcBef>
                <a:spcPts val="550"/>
              </a:spcBef>
              <a:buAutoNum type="arabicPeriod" startAt="6"/>
              <a:tabLst>
                <a:tab pos="189230" algn="l"/>
              </a:tabLst>
            </a:pPr>
            <a:r>
              <a:rPr sz="1200" spc="55" dirty="0">
                <a:solidFill>
                  <a:srgbClr val="163F33"/>
                </a:solidFill>
                <a:latin typeface="Arial MT"/>
                <a:cs typeface="Arial MT"/>
              </a:rPr>
              <a:t>Jacob</a:t>
            </a:r>
            <a:r>
              <a:rPr sz="1200" spc="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JA,</a:t>
            </a:r>
            <a:r>
              <a:rPr sz="1200" spc="13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et</a:t>
            </a:r>
            <a:r>
              <a:rPr sz="1200" spc="1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4564D"/>
                </a:solidFill>
                <a:latin typeface="Arial MT"/>
                <a:cs typeface="Arial MT"/>
              </a:rPr>
              <a:t>at.</a:t>
            </a:r>
            <a:r>
              <a:rPr sz="1200" spc="60" dirty="0">
                <a:solidFill>
                  <a:srgbClr val="34564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Natl</a:t>
            </a:r>
            <a:r>
              <a:rPr sz="1200" spc="17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Med</a:t>
            </a:r>
            <a:r>
              <a:rPr sz="1200" spc="8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J</a:t>
            </a:r>
            <a:r>
              <a:rPr sz="120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India,</a:t>
            </a:r>
            <a:r>
              <a:rPr sz="1200" spc="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4564D"/>
                </a:solidFill>
                <a:latin typeface="Arial MT"/>
                <a:cs typeface="Arial MT"/>
              </a:rPr>
              <a:t>2026.</a:t>
            </a:r>
            <a:endParaRPr sz="1200">
              <a:latin typeface="Arial MT"/>
              <a:cs typeface="Arial MT"/>
            </a:endParaRPr>
          </a:p>
          <a:p>
            <a:pPr marL="16510" marR="5080" indent="-4445">
              <a:lnSpc>
                <a:spcPts val="1560"/>
              </a:lnSpc>
              <a:spcBef>
                <a:spcPts val="615"/>
              </a:spcBef>
              <a:tabLst>
                <a:tab pos="1862455" algn="l"/>
                <a:tab pos="3912870" algn="l"/>
                <a:tab pos="4118610" algn="l"/>
              </a:tabLst>
            </a:pP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Knowled</a:t>
            </a:r>
            <a:r>
              <a:rPr sz="1350" spc="49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e</a:t>
            </a:r>
            <a:r>
              <a:rPr sz="1350" spc="95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and </a:t>
            </a:r>
            <a:r>
              <a:rPr sz="1350" spc="-2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attitude</a:t>
            </a:r>
            <a:r>
              <a:rPr sz="1350" spc="1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4479D1"/>
                </a:solidFill>
                <a:latin typeface="Calibri"/>
                <a:cs typeface="Calibri"/>
                <a:hlinkClick r:id="rId10"/>
              </a:rPr>
              <a:t>towards</a:t>
            </a:r>
            <a:r>
              <a:rPr sz="1350" spc="95" dirty="0">
                <a:solidFill>
                  <a:srgbClr val="4479D1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advance</a:t>
            </a:r>
            <a:r>
              <a:rPr sz="1350" spc="9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directives</a:t>
            </a:r>
            <a:r>
              <a:rPr sz="1350" spc="165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spc="-25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for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	</a:t>
            </a:r>
            <a:r>
              <a:rPr sz="135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atients</a:t>
            </a:r>
            <a:r>
              <a:rPr sz="1350" spc="2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spc="-35" dirty="0">
                <a:solidFill>
                  <a:srgbClr val="4479D1"/>
                </a:solidFill>
                <a:latin typeface="Calibri"/>
                <a:cs typeface="Calibri"/>
                <a:hlinkClick r:id="rId10"/>
              </a:rPr>
              <a:t>with </a:t>
            </a:r>
            <a:r>
              <a:rPr sz="1350" spc="-1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terminal</a:t>
            </a:r>
            <a:r>
              <a:rPr sz="1350" spc="19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5282D4"/>
                </a:solidFill>
                <a:latin typeface="Calibri"/>
                <a:cs typeface="Calibri"/>
                <a:hlinkClick r:id="rId10"/>
              </a:rPr>
              <a:t>illnesses</a:t>
            </a:r>
            <a:r>
              <a:rPr sz="1350" spc="114" dirty="0">
                <a:solidFill>
                  <a:srgbClr val="5282D4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amon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	doctors</a:t>
            </a:r>
            <a:r>
              <a:rPr sz="1350" spc="4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4479D1"/>
                </a:solidFill>
                <a:latin typeface="Calibri"/>
                <a:cs typeface="Calibri"/>
                <a:hlinkClick r:id="rId10"/>
              </a:rPr>
              <a:t>working</a:t>
            </a:r>
            <a:r>
              <a:rPr sz="1350" spc="85" dirty="0">
                <a:solidFill>
                  <a:srgbClr val="4479D1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in</a:t>
            </a:r>
            <a:r>
              <a:rPr sz="1350" spc="-1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a</a:t>
            </a:r>
            <a:r>
              <a:rPr sz="1350" spc="110" dirty="0">
                <a:solidFill>
                  <a:srgbClr val="2364CA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spc="-10" dirty="0">
                <a:solidFill>
                  <a:srgbClr val="346ECD"/>
                </a:solidFill>
                <a:latin typeface="Calibri"/>
                <a:cs typeface="Calibri"/>
                <a:hlinkClick r:id="rId10"/>
              </a:rPr>
              <a:t>tertia</a:t>
            </a:r>
            <a:r>
              <a:rPr sz="1350" dirty="0">
                <a:solidFill>
                  <a:srgbClr val="346ECD"/>
                </a:solidFill>
                <a:latin typeface="Calibri"/>
                <a:cs typeface="Calibri"/>
                <a:hlinkClick r:id="rId10"/>
              </a:rPr>
              <a:t>	</a:t>
            </a:r>
            <a:r>
              <a:rPr sz="135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care</a:t>
            </a:r>
            <a:r>
              <a:rPr sz="1350" spc="135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Calibri"/>
                <a:cs typeface="Calibri"/>
                <a:hlinkClick r:id="rId10"/>
              </a:rPr>
              <a:t>hospital</a:t>
            </a:r>
            <a:endParaRPr sz="13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765"/>
              </a:spcBef>
              <a:tabLst>
                <a:tab pos="918210" algn="l"/>
              </a:tabLst>
            </a:pPr>
            <a:r>
              <a:rPr sz="1200" spc="-25" dirty="0">
                <a:solidFill>
                  <a:srgbClr val="1359C6"/>
                </a:solidFill>
                <a:latin typeface="Arial MT"/>
                <a:cs typeface="Arial MT"/>
                <a:hlinkClick r:id="rId10"/>
              </a:rPr>
              <a:t>hfl</a:t>
            </a:r>
            <a:r>
              <a:rPr sz="1200" dirty="0">
                <a:solidFill>
                  <a:srgbClr val="1359C6"/>
                </a:solidFill>
                <a:latin typeface="Arial MT"/>
                <a:cs typeface="Arial MT"/>
                <a:hlinkClick r:id="rId10"/>
              </a:rPr>
              <a:t>	</a:t>
            </a:r>
            <a:r>
              <a:rPr sz="1200" spc="-10" dirty="0">
                <a:solidFill>
                  <a:srgbClr val="346ECD"/>
                </a:solidFill>
                <a:latin typeface="Arial MT"/>
                <a:cs typeface="Arial MT"/>
                <a:hlinkClick r:id="rId10"/>
              </a:rPr>
              <a:t>/10.25259/NMJI</a:t>
            </a:r>
            <a:r>
              <a:rPr sz="1200" spc="135" dirty="0">
                <a:solidFill>
                  <a:srgbClr val="346ECD"/>
                </a:solidFill>
                <a:latin typeface="Arial MT"/>
                <a:cs typeface="Arial MT"/>
                <a:hlinkClick r:id="rId10"/>
              </a:rPr>
              <a:t> </a:t>
            </a:r>
            <a:r>
              <a:rPr sz="1200" dirty="0">
                <a:solidFill>
                  <a:srgbClr val="5282D4"/>
                </a:solidFill>
                <a:latin typeface="Arial MT"/>
                <a:cs typeface="Arial MT"/>
                <a:hlinkClick r:id="rId10"/>
              </a:rPr>
              <a:t>817</a:t>
            </a:r>
            <a:r>
              <a:rPr sz="1200" spc="220" dirty="0">
                <a:solidFill>
                  <a:srgbClr val="5282D4"/>
                </a:solidFill>
                <a:latin typeface="Arial MT"/>
                <a:cs typeface="Arial MT"/>
                <a:hlinkClick r:id="rId10"/>
              </a:rPr>
              <a:t> </a:t>
            </a:r>
            <a:r>
              <a:rPr sz="1200" spc="-20" dirty="0">
                <a:solidFill>
                  <a:srgbClr val="1359C6"/>
                </a:solidFill>
                <a:latin typeface="Arial MT"/>
                <a:cs typeface="Arial MT"/>
                <a:hlinkClick r:id="rId10"/>
              </a:rPr>
              <a:t>2023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Arial MT"/>
              <a:cs typeface="Arial MT"/>
            </a:endParaRPr>
          </a:p>
          <a:p>
            <a:pPr marL="186055" indent="-167005">
              <a:lnSpc>
                <a:spcPct val="100000"/>
              </a:lnSpc>
              <a:buAutoNum type="arabicPeriod" startAt="7"/>
              <a:tabLst>
                <a:tab pos="186055" algn="l"/>
              </a:tabLst>
            </a:pP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Singh</a:t>
            </a:r>
            <a:r>
              <a:rPr sz="1250" spc="1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90" dirty="0">
                <a:solidFill>
                  <a:srgbClr val="163F33"/>
                </a:solidFill>
                <a:latin typeface="Arial MT"/>
                <a:cs typeface="Arial MT"/>
              </a:rPr>
              <a:t>P,</a:t>
            </a:r>
            <a:r>
              <a:rPr sz="1250" spc="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et</a:t>
            </a:r>
            <a:r>
              <a:rPr sz="125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at.</a:t>
            </a:r>
            <a:r>
              <a:rPr sz="1250" spc="-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medRxiv,</a:t>
            </a:r>
            <a:r>
              <a:rPr sz="1250" spc="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163F33"/>
                </a:solidFill>
                <a:latin typeface="Arial MT"/>
                <a:cs typeface="Arial MT"/>
              </a:rPr>
              <a:t>2025.</a:t>
            </a:r>
            <a:r>
              <a:rPr sz="1250" spc="-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163F33"/>
                </a:solidFill>
                <a:latin typeface="Arial MT"/>
                <a:cs typeface="Arial MT"/>
              </a:rPr>
              <a:t>Preprint.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761" y="3865879"/>
            <a:ext cx="18497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Benefits</a:t>
            </a:r>
            <a:r>
              <a:rPr sz="1350" spc="-7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and</a:t>
            </a:r>
            <a:r>
              <a:rPr sz="1350" spc="-75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Perce</a:t>
            </a:r>
            <a:r>
              <a:rPr sz="1350" spc="24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 </a:t>
            </a:r>
            <a:r>
              <a:rPr sz="1350" spc="-20" dirty="0">
                <a:solidFill>
                  <a:srgbClr val="3470CC"/>
                </a:solidFill>
                <a:latin typeface="Arial MT"/>
                <a:cs typeface="Arial MT"/>
                <a:hlinkClick r:id="rId5"/>
              </a:rPr>
              <a:t>tions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9860" y="4241800"/>
            <a:ext cx="62166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3470CC"/>
                </a:solidFill>
                <a:latin typeface="Arial MT"/>
                <a:cs typeface="Arial MT"/>
                <a:hlinkClick r:id="rId5"/>
              </a:rPr>
              <a:t>/10.1016/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312" y="4229100"/>
            <a:ext cx="332359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335" algn="l"/>
              </a:tabLst>
            </a:pPr>
            <a:r>
              <a:rPr sz="1250" spc="-25" dirty="0">
                <a:solidFill>
                  <a:srgbClr val="1359C6"/>
                </a:solidFill>
                <a:latin typeface="Times New Roman"/>
                <a:cs typeface="Times New Roman"/>
                <a:hlinkClick r:id="rId5"/>
              </a:rPr>
              <a:t>htt</a:t>
            </a:r>
            <a:r>
              <a:rPr sz="1250" dirty="0">
                <a:solidFill>
                  <a:srgbClr val="1359C6"/>
                </a:solidFill>
                <a:latin typeface="Times New Roman"/>
                <a:cs typeface="Times New Roman"/>
                <a:hlinkClick r:id="rId5"/>
              </a:rPr>
              <a:t>	</a:t>
            </a:r>
            <a:r>
              <a:rPr sz="1200" spc="-25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mman.2024</a:t>
            </a:r>
            <a:r>
              <a:rPr sz="1200" spc="2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 </a:t>
            </a:r>
            <a:r>
              <a:rPr sz="1200" spc="-20" dirty="0">
                <a:solidFill>
                  <a:srgbClr val="1359C6"/>
                </a:solidFill>
                <a:latin typeface="Arial MT"/>
                <a:cs typeface="Arial MT"/>
                <a:hlinkClick r:id="rId5"/>
              </a:rPr>
              <a:t>02.030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1691" y="3903979"/>
            <a:ext cx="4395470" cy="10134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9050" marR="5080" indent="-635">
              <a:lnSpc>
                <a:spcPts val="1560"/>
              </a:lnSpc>
              <a:spcBef>
                <a:spcPts val="200"/>
              </a:spcBef>
              <a:tabLst>
                <a:tab pos="3688715" algn="l"/>
              </a:tabLst>
            </a:pP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Patients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20" dirty="0">
                <a:solidFill>
                  <a:srgbClr val="4479D1"/>
                </a:solidFill>
                <a:latin typeface="Arial MT"/>
                <a:cs typeface="Arial MT"/>
                <a:hlinkClick r:id="rId11"/>
              </a:rPr>
              <a:t>with</a:t>
            </a:r>
            <a:r>
              <a:rPr sz="1350" spc="-60" dirty="0">
                <a:solidFill>
                  <a:srgbClr val="4479D1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Neurode</a:t>
            </a:r>
            <a:r>
              <a:rPr sz="1350" spc="225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enerative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Diseases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amon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	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Indian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Ph 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Mixed-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Methods</a:t>
            </a:r>
            <a:r>
              <a:rPr sz="1350" spc="65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Anal</a:t>
            </a:r>
            <a:endParaRPr sz="13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350"/>
              </a:spcBef>
              <a:tabLst>
                <a:tab pos="915669" algn="l"/>
              </a:tabLst>
            </a:pPr>
            <a:r>
              <a:rPr sz="1200" spc="-25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hfl</a:t>
            </a:r>
            <a:r>
              <a:rPr sz="120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	</a:t>
            </a:r>
            <a:r>
              <a:rPr sz="1200" spc="-30" dirty="0">
                <a:solidFill>
                  <a:srgbClr val="346ECD"/>
                </a:solidFill>
                <a:latin typeface="Arial MT"/>
                <a:cs typeface="Arial MT"/>
                <a:hlinkClick r:id="rId11"/>
              </a:rPr>
              <a:t>/10.11</a:t>
            </a:r>
            <a:r>
              <a:rPr sz="1200" spc="-3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01/2025.1</a:t>
            </a:r>
            <a:r>
              <a:rPr sz="1200" spc="-30" dirty="0">
                <a:solidFill>
                  <a:srgbClr val="A5B6E8"/>
                </a:solidFill>
                <a:latin typeface="Arial MT"/>
                <a:cs typeface="Arial MT"/>
                <a:hlinkClick r:id="rId11"/>
              </a:rPr>
              <a:t>0.17</a:t>
            </a:r>
            <a:r>
              <a:rPr sz="1200" spc="25" dirty="0">
                <a:solidFill>
                  <a:srgbClr val="A5B6E8"/>
                </a:solidFill>
                <a:latin typeface="Arial MT"/>
                <a:cs typeface="Arial MT"/>
                <a:hlinkClick r:id="rId11"/>
              </a:rPr>
              <a:t> </a:t>
            </a:r>
            <a:r>
              <a:rPr sz="1200" spc="-10" dirty="0">
                <a:solidFill>
                  <a:srgbClr val="1359C6"/>
                </a:solidFill>
                <a:latin typeface="Arial MT"/>
                <a:cs typeface="Arial MT"/>
                <a:hlinkClick r:id="rId11"/>
              </a:rPr>
              <a:t>25338242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250" spc="-75" dirty="0">
                <a:solidFill>
                  <a:srgbClr val="163F33"/>
                </a:solidFill>
                <a:latin typeface="Arial MT"/>
                <a:cs typeface="Arial MT"/>
              </a:rPr>
              <a:t>B.</a:t>
            </a:r>
            <a:r>
              <a:rPr sz="1250" spc="1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LeBaron</a:t>
            </a:r>
            <a:r>
              <a:rPr sz="1250" spc="10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85" dirty="0">
                <a:solidFill>
                  <a:srgbClr val="163F33"/>
                </a:solidFill>
                <a:latin typeface="Arial MT"/>
                <a:cs typeface="Arial MT"/>
              </a:rPr>
              <a:t>V,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 et</a:t>
            </a:r>
            <a:r>
              <a:rPr sz="1250" spc="1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at.</a:t>
            </a:r>
            <a:r>
              <a:rPr sz="1250" spc="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The</a:t>
            </a:r>
            <a:r>
              <a:rPr sz="1250" spc="6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Oncologist,</a:t>
            </a:r>
            <a:r>
              <a:rPr sz="1250" spc="1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163F33"/>
                </a:solidFill>
                <a:latin typeface="Arial MT"/>
                <a:cs typeface="Arial MT"/>
              </a:rPr>
              <a:t>2014.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764" y="4612216"/>
            <a:ext cx="5069205" cy="93281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4.</a:t>
            </a:r>
            <a:r>
              <a:rPr sz="1200" spc="5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Thangasamy</a:t>
            </a:r>
            <a:r>
              <a:rPr sz="1200" spc="3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DRJ,</a:t>
            </a:r>
            <a:r>
              <a:rPr sz="1200" spc="1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et</a:t>
            </a:r>
            <a:r>
              <a:rPr sz="1200" spc="1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at.</a:t>
            </a:r>
            <a:r>
              <a:rPr sz="120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Palliat</a:t>
            </a:r>
            <a:r>
              <a:rPr sz="1200" spc="1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5ACA5"/>
                </a:solidFill>
                <a:latin typeface="Arial MT"/>
                <a:cs typeface="Arial MT"/>
              </a:rPr>
              <a:t>Med</a:t>
            </a:r>
            <a:r>
              <a:rPr sz="1200" spc="170" dirty="0">
                <a:solidFill>
                  <a:srgbClr val="95ACA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63F33"/>
                </a:solidFill>
                <a:latin typeface="Arial MT"/>
                <a:cs typeface="Arial MT"/>
              </a:rPr>
              <a:t>Rep,</a:t>
            </a:r>
            <a:r>
              <a:rPr sz="1200" spc="10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63F33"/>
                </a:solidFill>
                <a:latin typeface="Arial MT"/>
                <a:cs typeface="Arial MT"/>
              </a:rPr>
              <a:t>2025.</a:t>
            </a:r>
            <a:endParaRPr sz="1200">
              <a:latin typeface="Arial MT"/>
              <a:cs typeface="Arial MT"/>
            </a:endParaRPr>
          </a:p>
          <a:p>
            <a:pPr marL="14604" marR="5080" indent="171450">
              <a:lnSpc>
                <a:spcPts val="1560"/>
              </a:lnSpc>
              <a:spcBef>
                <a:spcPts val="615"/>
              </a:spcBef>
              <a:tabLst>
                <a:tab pos="671195" algn="l"/>
                <a:tab pos="1993900" algn="l"/>
                <a:tab pos="4392295" algn="l"/>
              </a:tabLst>
            </a:pP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tiatin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	</a:t>
            </a:r>
            <a:r>
              <a:rPr sz="1350" spc="-4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and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Documentin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	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Goals</a:t>
            </a:r>
            <a:r>
              <a:rPr sz="1350" spc="-7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dirty="0">
                <a:solidFill>
                  <a:srgbClr val="3470CC"/>
                </a:solidFill>
                <a:latin typeface="Arial MT"/>
                <a:cs typeface="Arial MT"/>
                <a:hlinkClick r:id="rId12"/>
              </a:rPr>
              <a:t>of</a:t>
            </a:r>
            <a:r>
              <a:rPr sz="1350" spc="-75" dirty="0">
                <a:solidFill>
                  <a:srgbClr val="3470CC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Care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Discussion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in</a:t>
            </a:r>
            <a:r>
              <a:rPr sz="1350" spc="-9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Patients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20" dirty="0">
                <a:solidFill>
                  <a:srgbClr val="5E90D4"/>
                </a:solidFill>
                <a:latin typeface="Arial MT"/>
                <a:cs typeface="Arial MT"/>
                <a:hlinkClick r:id="rId12"/>
              </a:rPr>
              <a:t>with 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Advanced</a:t>
            </a:r>
            <a:r>
              <a:rPr sz="1350" spc="-5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Pancreatic</a:t>
            </a:r>
            <a:r>
              <a:rPr sz="1350" spc="4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and</a:t>
            </a:r>
            <a:r>
              <a:rPr sz="1350" spc="-6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Colorectal</a:t>
            </a:r>
            <a:r>
              <a:rPr sz="1350" spc="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Cancers: </a:t>
            </a:r>
            <a:r>
              <a:rPr sz="1350" spc="-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A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	</a:t>
            </a:r>
            <a:r>
              <a:rPr sz="1350" spc="-6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rovement </a:t>
            </a: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Proiect</a:t>
            </a:r>
            <a:r>
              <a:rPr sz="1350" spc="-5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in</a:t>
            </a:r>
            <a:r>
              <a:rPr sz="1350" spc="-9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a</a:t>
            </a:r>
            <a:r>
              <a:rPr sz="1350" spc="-9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Low</a:t>
            </a:r>
            <a:r>
              <a:rPr sz="1350" spc="-1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Resource</a:t>
            </a:r>
            <a:r>
              <a:rPr sz="1350" spc="35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 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2"/>
              </a:rPr>
              <a:t>Settin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35951" y="4955540"/>
            <a:ext cx="6921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An</a:t>
            </a:r>
            <a:r>
              <a:rPr sz="1350" spc="-6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Ethno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2312" y="5379720"/>
            <a:ext cx="174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0" dirty="0">
                <a:solidFill>
                  <a:srgbClr val="1359C6"/>
                </a:solidFill>
                <a:latin typeface="Times New Roman"/>
                <a:cs typeface="Times New Roman"/>
                <a:hlinkClick r:id="rId13"/>
              </a:rPr>
              <a:t>htt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34859" y="4955540"/>
            <a:ext cx="4048760" cy="6375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99390" marR="5080" indent="-84455">
              <a:lnSpc>
                <a:spcPts val="1560"/>
              </a:lnSpc>
              <a:spcBef>
                <a:spcPts val="200"/>
              </a:spcBef>
            </a:pPr>
            <a:r>
              <a:rPr sz="1350" spc="-3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hic</a:t>
            </a:r>
            <a:r>
              <a:rPr sz="1350" spc="-6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Stud</a:t>
            </a:r>
            <a:r>
              <a:rPr sz="1350" spc="38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of</a:t>
            </a:r>
            <a:r>
              <a:rPr sz="1350" spc="-4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Barriers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to</a:t>
            </a:r>
            <a:r>
              <a:rPr sz="1350" spc="-7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Cancer</a:t>
            </a:r>
            <a:r>
              <a:rPr sz="1350" spc="-1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Pain</a:t>
            </a:r>
            <a:r>
              <a:rPr sz="1350" spc="-7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dirty="0">
                <a:solidFill>
                  <a:srgbClr val="4479D1"/>
                </a:solidFill>
                <a:latin typeface="Arial MT"/>
                <a:cs typeface="Arial MT"/>
                <a:hlinkClick r:id="rId13"/>
              </a:rPr>
              <a:t>Mana</a:t>
            </a:r>
            <a:r>
              <a:rPr sz="1350" spc="254" dirty="0">
                <a:solidFill>
                  <a:srgbClr val="4479D1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4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ement</a:t>
            </a:r>
            <a:r>
              <a:rPr sz="1350" spc="-5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and </a:t>
            </a:r>
            <a:r>
              <a:rPr sz="135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litv</a:t>
            </a:r>
            <a:r>
              <a:rPr sz="1350" spc="-65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dirty="0">
                <a:solidFill>
                  <a:srgbClr val="5282D4"/>
                </a:solidFill>
                <a:latin typeface="Arial MT"/>
                <a:cs typeface="Arial MT"/>
                <a:hlinkClick r:id="rId13"/>
              </a:rPr>
              <a:t>in</a:t>
            </a:r>
            <a:r>
              <a:rPr sz="1350" spc="-95" dirty="0">
                <a:solidFill>
                  <a:srgbClr val="5282D4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350" spc="-2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India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50" dirty="0">
                <a:solidFill>
                  <a:srgbClr val="346ECD"/>
                </a:solidFill>
                <a:latin typeface="Arial MT"/>
                <a:cs typeface="Arial MT"/>
                <a:hlinkClick r:id="rId13"/>
              </a:rPr>
              <a:t>/10.1634JheoncoIo</a:t>
            </a:r>
            <a:r>
              <a:rPr sz="1150" spc="350" dirty="0">
                <a:solidFill>
                  <a:srgbClr val="346ECD"/>
                </a:solidFill>
                <a:latin typeface="Arial MT"/>
                <a:cs typeface="Arial MT"/>
                <a:hlinkClick r:id="rId13"/>
              </a:rPr>
              <a:t> </a:t>
            </a:r>
            <a:r>
              <a:rPr sz="1150" spc="-1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ist.2013-</a:t>
            </a:r>
            <a:r>
              <a:rPr sz="1150" spc="-20" dirty="0">
                <a:solidFill>
                  <a:srgbClr val="1359C6"/>
                </a:solidFill>
                <a:latin typeface="Arial MT"/>
                <a:cs typeface="Arial MT"/>
                <a:hlinkClick r:id="rId13"/>
              </a:rPr>
              <a:t>0435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36731" y="5783579"/>
            <a:ext cx="38411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9.</a:t>
            </a:r>
            <a:r>
              <a:rPr sz="1250" spc="-40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Forsythe</a:t>
            </a:r>
            <a:r>
              <a:rPr sz="1250" spc="10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163F33"/>
                </a:solidFill>
                <a:latin typeface="Arial MT"/>
                <a:cs typeface="Arial MT"/>
              </a:rPr>
              <a:t>LP,</a:t>
            </a:r>
            <a:r>
              <a:rPr sz="1250" spc="5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et</a:t>
            </a:r>
            <a:r>
              <a:rPr sz="1250" spc="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at.</a:t>
            </a:r>
            <a:r>
              <a:rPr sz="1250" spc="-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J</a:t>
            </a:r>
            <a:r>
              <a:rPr sz="1250" spc="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Clin</a:t>
            </a:r>
            <a:r>
              <a:rPr sz="1250" spc="3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Oncol,</a:t>
            </a:r>
            <a:r>
              <a:rPr sz="1250" spc="2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163F33"/>
                </a:solidFill>
                <a:latin typeface="Arial MT"/>
                <a:cs typeface="Arial MT"/>
              </a:rPr>
              <a:t>2013.</a:t>
            </a:r>
            <a:r>
              <a:rPr sz="1250" spc="-6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63F33"/>
                </a:solidFill>
                <a:latin typeface="Arial MT"/>
                <a:cs typeface="Arial MT"/>
              </a:rPr>
              <a:t>U.S.</a:t>
            </a:r>
            <a:r>
              <a:rPr sz="1250" spc="45" dirty="0">
                <a:solidFill>
                  <a:srgbClr val="163F3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163F33"/>
                </a:solidFill>
                <a:latin typeface="Arial MT"/>
                <a:cs typeface="Arial MT"/>
              </a:rPr>
              <a:t>cohort.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312" y="5989320"/>
            <a:ext cx="174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0" dirty="0">
                <a:solidFill>
                  <a:srgbClr val="1359C6"/>
                </a:solidFill>
                <a:latin typeface="Times New Roman"/>
                <a:cs typeface="Times New Roman"/>
                <a:hlinkClick r:id="rId12"/>
              </a:rPr>
              <a:t>htt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9860" y="6002020"/>
            <a:ext cx="20148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3470CC"/>
                </a:solidFill>
                <a:latin typeface="Arial MT"/>
                <a:cs typeface="Arial MT"/>
                <a:hlinkClick r:id="rId12"/>
              </a:rPr>
              <a:t>/10.1177/26892820251392545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32855" y="6148527"/>
            <a:ext cx="490220" cy="5753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25"/>
              </a:spcBef>
            </a:pPr>
            <a:r>
              <a:rPr sz="1350" spc="-30" dirty="0">
                <a:solidFill>
                  <a:srgbClr val="1359C6"/>
                </a:solidFill>
                <a:latin typeface="Arial MT"/>
                <a:cs typeface="Arial MT"/>
                <a:hlinkClick r:id="rId3"/>
              </a:rPr>
              <a:t>States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250" spc="-25" dirty="0">
                <a:solidFill>
                  <a:srgbClr val="1359C6"/>
                </a:solidFill>
                <a:latin typeface="Arial MT"/>
                <a:cs typeface="Arial MT"/>
                <a:hlinkClick r:id="rId3"/>
              </a:rPr>
              <a:t>hfl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7118" y="6517640"/>
            <a:ext cx="1864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46ECD"/>
                </a:solidFill>
                <a:latin typeface="Calibri"/>
                <a:cs typeface="Calibri"/>
                <a:hlinkClick r:id="rId3"/>
              </a:rPr>
              <a:t>/10.1200/JCO.2012.46.2101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754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Cambria</vt:lpstr>
      <vt:lpstr>Times New Roman</vt:lpstr>
      <vt:lpstr>Office Theme</vt:lpstr>
      <vt:lpstr>Companion</vt:lpstr>
      <vt:lpstr>When the patient's voice is lost</vt:lpstr>
      <vt:lpstr>Why a palliative care companion is needed</vt:lpstr>
      <vt:lpstr>PowerPoint Presentation</vt:lpstr>
      <vt:lpstr>AI helps families use patient records</vt:lpstr>
      <vt:lpstr>Saathi also keeps your cancer care in one place</vt:lpstr>
      <vt:lpstr>Help with palliative care near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- Health-a-thon Round 1</dc:title>
  <dc:subject>unspecified</dc:subject>
  <dc:creator>Zeros and Ones</dc:creator>
  <cp:lastModifiedBy>ADMIN</cp:lastModifiedBy>
  <cp:revision>1</cp:revision>
  <dcterms:created xsi:type="dcterms:W3CDTF">2026-09-25T13:07:21Z</dcterms:created>
  <dcterms:modified xsi:type="dcterms:W3CDTF">2026-09-25T13:14:19Z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2026-09-25T00:00:00Z</vt:filetime>
  </property>
  <property fmtid="{D5CDD505-2E9C-101B-9397-08002B2CF9AE}" pid="6" name="Producer">
    <vt:lpwstr>ReportLab PDF Library - (opensource)</vt:lpwstr>
  </property>
</Properties>
</file>