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59" r:id="R59166dac17cf49bf"/>
    <p:sldId xmlns:r="http://schemas.openxmlformats.org/officeDocument/2006/relationships" id="260" r:id="Rd6c92623501342cb"/>
    <p:sldId xmlns:r="http://schemas.openxmlformats.org/officeDocument/2006/relationships" id="261" r:id="Re83c611e8e934a20"/>
    <p:sldId xmlns:r="http://schemas.openxmlformats.org/officeDocument/2006/relationships" id="262" r:id="Rd37524cd11a946eb"/>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Saathi (साथी) means companion.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https://saathi.wedevit.in/. GitHub opens the public project repository; WhatsApp is a contact for questions, not an access request. Entry: Cancer / Patient and Caregiver / Family &amp; Caregiver Support. The cover frames Saathi as a palliative care companion centred on patient values and access to cancer care.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Saathi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Saathi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Saathi.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Saathi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6f435501c8d849b1" /><Relationship Type="http://schemas.openxmlformats.org/officeDocument/2006/relationships/image" Target="/ppt/media/image.jpeg" Id="R67b096afd75e47f8" /><Relationship Type="http://schemas.openxmlformats.org/officeDocument/2006/relationships/image" Target="/ppt/media/image.svg" Id="Ra14bc79648b74bd1" /><Relationship Type="http://schemas.openxmlformats.org/officeDocument/2006/relationships/image" Target="/ppt/media/image.png" Id="R8a3b53d0d79f4b84" /><Relationship Type="http://schemas.openxmlformats.org/officeDocument/2006/relationships/hyperlink" Target="https://continuity-loop-healthathon.vercel.app/" TargetMode="External" Id="R593aca00b6c74443" /><Relationship Type="http://schemas.openxmlformats.org/officeDocument/2006/relationships/image" Target="/ppt/media/image2.jpeg" Id="R4e3bea323c2742cd" /><Relationship Type="http://schemas.openxmlformats.org/officeDocument/2006/relationships/image" Target="/ppt/media/image2.svg" Id="Rb460003250414198" /><Relationship Type="http://schemas.openxmlformats.org/officeDocument/2006/relationships/hyperlink" Target="https://github.com/basithladdu/healthathon" TargetMode="External" Id="R85748387410e4b26" /><Relationship Type="http://schemas.openxmlformats.org/officeDocument/2006/relationships/image" Target="/ppt/media/image2.png" Id="R27759e5c1c1f41f0" /><Relationship Type="http://schemas.openxmlformats.org/officeDocument/2006/relationships/image" Target="/ppt/media/image3.svg" Id="Rad2f2ba686374324" /><Relationship Type="http://schemas.openxmlformats.org/officeDocument/2006/relationships/hyperlink" Target="https://wa.me/919553321211" TargetMode="External" Id="Rd8d0cc57c67245d2" /><Relationship Type="http://schemas.openxmlformats.org/officeDocument/2006/relationships/hyperlink" Target="https://wa.me/919553321211" TargetMode="External" Id="R2526c413a84f477c" /><Relationship Type="http://schemas.openxmlformats.org/officeDocument/2006/relationships/image" Target="/ppt/media/image3.png" Id="R66b1e8c459bd4bcf" /><Relationship Type="http://schemas.openxmlformats.org/officeDocument/2006/relationships/image" Target="/ppt/media/image4.png" Id="R5961c383bdc14943" /><Relationship Type="http://schemas.openxmlformats.org/officeDocument/2006/relationships/notesSlide" Target="/ppt/notesSlides/notesSlide1.xml" Id="R80f0f97949594e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continuity-loop-healthathon.vercel.app/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continuity-loop-healthathon.vercel.app/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continuity-loop-healthathon.vercel.app/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continuity-loop-healthathon.vercel.app/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continuity-loop-healthathon.vercel.app/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continuity-loop-healthathon.vercel.app/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continuity-loop-healthathon.vercel.app/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continuity-loop-healthathon.vercel.app/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continuity-loop-healthathon.vercel.app/costs" TargetMode="External" Id="Rf4880cd3a86e4fa4" /><Relationship Type="http://schemas.openxmlformats.org/officeDocument/2006/relationships/image" Target="/ppt/media/image6.jpeg" Id="R1d8be228ee2a42c0" /><Relationship Type="http://schemas.openxmlformats.org/officeDocument/2006/relationships/hyperlink" Target="https://continuity-loop-healthathon.vercel.app/"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Arial"/>
                <a:ea typeface="Arial"/>
                <a:cs typeface="Arial"/>
              </a:defRPr>
            </a:pPr>
            <a:r>
              <a:rPr sz="4350" b="1">
                <a:solidFill>
                  <a:srgbClr val="173F33"/>
                </a:solidFill>
                <a:latin typeface="Arial"/>
                <a:ea typeface="Arial"/>
                <a:cs typeface="Arial"/>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Arial"/>
                <a:ea typeface="Arial"/>
                <a:cs typeface="Arial"/>
              </a:defRPr>
            </a:pPr>
            <a:r>
              <a:rPr sz="2400" b="0">
                <a:solidFill>
                  <a:srgbClr val="B75E43"/>
                </a:solidFill>
                <a:latin typeface="Arial"/>
                <a:ea typeface="Arial"/>
                <a:cs typeface="Arial"/>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Arial"/>
                <a:ea typeface="Arial"/>
                <a:cs typeface="Arial"/>
              </a:defRPr>
            </a:pPr>
            <a:r>
              <a:rPr sz="2250" b="1">
                <a:solidFill>
                  <a:srgbClr val="173F33"/>
                </a:solidFill>
                <a:latin typeface="Arial"/>
                <a:ea typeface="Arial"/>
                <a:cs typeface="Arial"/>
              </a:rPr>
              <a:t>One place for cancer-care records, medicines, visits and local support. Doctors and families can find what matters, when it matters.</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145AC6"/>
                </a:solidFill>
                <a:latin typeface="Arial"/>
                <a:ea typeface="Arial"/>
                <a:cs typeface="Arial"/>
              </a:defRPr>
            </a:pPr>
            <a:r>
              <a:rPr sz="3150" b="1" u="sng">
                <a:solidFill>
                  <a:srgbClr val="145AC6"/>
                </a:solidFill>
                <a:latin typeface="Arial"/>
                <a:ea typeface="Arial"/>
                <a:cs typeface="Arial"/>
                <a:hlinkClick xmlns:r="http://schemas.openxmlformats.org/officeDocument/2006/relationships" r:id="R593aca00b6c74443"/>
              </a:rPr>
              <a:t>continuity-loop-healthathon.vercel.app</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Arial"/>
                <a:ea typeface="Arial"/>
                <a:cs typeface="Arial"/>
              </a:defRPr>
            </a:pPr>
            <a:r>
              <a:rPr sz="1725" b="1" u="sng">
                <a:solidFill>
                  <a:srgbClr val="128C4A"/>
                </a:solidFill>
                <a:latin typeface="Arial"/>
                <a:ea typeface="Arial"/>
                <a:cs typeface="Arial"/>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2526c413a84f477c"/>
              </a:rPr>
              <a:t>wa.me/919553321211</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Medical student</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Arial"/>
                <a:ea typeface="Arial"/>
                <a:cs typeface="Arial"/>
              </a:defRPr>
            </a:pPr>
            <a:r>
              <a:rPr sz="3075" b="1">
                <a:solidFill>
                  <a:srgbClr val="FFFFFF"/>
                </a:solidFill>
                <a:latin typeface="Arial"/>
                <a:ea typeface="Arial"/>
                <a:cs typeface="Arial"/>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Arial"/>
                <a:ea typeface="Arial"/>
                <a:cs typeface="Arial"/>
              </a:defRPr>
            </a:pPr>
            <a:r>
              <a:rPr sz="1163" b="0">
                <a:solidFill>
                  <a:srgbClr val="DAEDEF"/>
                </a:solidFill>
                <a:latin typeface="Arial"/>
                <a:ea typeface="Arial"/>
                <a:cs typeface="Arial"/>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36E6C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Arial"/>
                <a:ea typeface="Arial"/>
                <a:cs typeface="Arial"/>
              </a:defRPr>
            </a:pPr>
            <a:r>
              <a:rPr sz="2100" b="1">
                <a:solidFill>
                  <a:srgbClr val="073F49"/>
                </a:solidFill>
                <a:latin typeface="Arial"/>
                <a:ea typeface="Arial"/>
                <a:cs typeface="Arial"/>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FC24D"/>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Arial"/>
                <a:ea typeface="Arial"/>
                <a:cs typeface="Arial"/>
              </a:defRPr>
            </a:pPr>
            <a:r>
              <a:rPr sz="2100" b="1">
                <a:solidFill>
                  <a:srgbClr val="073F49"/>
                </a:solidFill>
                <a:latin typeface="Arial"/>
                <a:ea typeface="Arial"/>
                <a:cs typeface="Arial"/>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FF5F86"/>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Arial"/>
                <a:ea typeface="Arial"/>
                <a:cs typeface="Arial"/>
              </a:defRPr>
            </a:pPr>
            <a:r>
              <a:rPr sz="2100" b="1">
                <a:solidFill>
                  <a:srgbClr val="073F49"/>
                </a:solidFill>
                <a:latin typeface="Arial"/>
                <a:ea typeface="Arial"/>
                <a:cs typeface="Arial"/>
              </a:rPr>
              <a:t>The family disagrees</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575" b="0">
                <a:solidFill>
                  <a:srgbClr val="FFFFFF"/>
                </a:solidFill>
                <a:latin typeface="Arial"/>
                <a:ea typeface="Arial"/>
                <a:cs typeface="Arial"/>
              </a:rPr>
              <a:t>Her husband says yes; her daughter says no. Her son pays for treatment but is away. They cannot agree,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When the patient cannot speak, the family needs to know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Arial"/>
                <a:ea typeface="Arial"/>
                <a:cs typeface="Arial"/>
              </a:defRPr>
            </a:pPr>
            <a:r>
              <a:rPr sz="3075" b="1">
                <a:solidFill>
                  <a:srgbClr val="173F33"/>
                </a:solidFill>
                <a:latin typeface="Arial"/>
                <a:ea typeface="Arial"/>
                <a:cs typeface="Arial"/>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Arial"/>
                <a:ea typeface="Arial"/>
                <a:cs typeface="Arial"/>
              </a:defRPr>
            </a:pPr>
            <a:r>
              <a:rPr sz="3300" b="1">
                <a:solidFill>
                  <a:srgbClr val="B75E43"/>
                </a:solidFill>
                <a:latin typeface="Arial"/>
                <a:ea typeface="Arial"/>
                <a:cs typeface="Arial"/>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Arial"/>
                <a:ea typeface="Arial"/>
                <a:cs typeface="Arial"/>
              </a:defRPr>
            </a:pPr>
            <a:r>
              <a:rPr sz="3300" b="1">
                <a:solidFill>
                  <a:srgbClr val="157B68"/>
                </a:solidFill>
                <a:latin typeface="Arial"/>
                <a:ea typeface="Arial"/>
                <a:cs typeface="Arial"/>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Arial"/>
                <a:ea typeface="Arial"/>
                <a:cs typeface="Arial"/>
              </a:defRPr>
            </a:pPr>
            <a:r>
              <a:rPr sz="3300" b="1">
                <a:solidFill>
                  <a:srgbClr val="7353AC"/>
                </a:solidFill>
                <a:latin typeface="Arial"/>
                <a:ea typeface="Arial"/>
                <a:cs typeface="Arial"/>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Arial"/>
                <a:ea typeface="Arial"/>
                <a:cs typeface="Arial"/>
              </a:defRPr>
            </a:pPr>
            <a:r>
              <a:rPr sz="3300" b="1">
                <a:solidFill>
                  <a:srgbClr val="4357C7"/>
                </a:solidFill>
                <a:latin typeface="Arial"/>
                <a:ea typeface="Arial"/>
                <a:cs typeface="Arial"/>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Arial"/>
                <a:ea typeface="Arial"/>
                <a:cs typeface="Arial"/>
              </a:defRPr>
            </a:pPr>
            <a:r>
              <a:rPr sz="1950" b="1">
                <a:solidFill>
                  <a:srgbClr val="173F33"/>
                </a:solidFill>
                <a:latin typeface="Arial"/>
                <a:ea typeface="Arial"/>
                <a:cs typeface="Arial"/>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Arial"/>
                <a:ea typeface="Arial"/>
                <a:cs typeface="Arial"/>
              </a:defRPr>
            </a:pPr>
            <a:r>
              <a:rPr sz="1538" b="0">
                <a:solidFill>
                  <a:srgbClr val="173F33"/>
                </a:solidFill>
                <a:latin typeface="Arial"/>
                <a:ea typeface="Arial"/>
                <a:cs typeface="Arial"/>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Arial"/>
                <a:ea typeface="Arial"/>
                <a:cs typeface="Arial"/>
              </a:defRPr>
            </a:pPr>
            <a:r>
              <a:rPr sz="1163" b="0">
                <a:solidFill>
                  <a:srgbClr val="53655C"/>
                </a:solidFill>
                <a:latin typeface="Arial"/>
                <a:ea typeface="Arial"/>
                <a:cs typeface="Arial"/>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Arial"/>
                <a:ea typeface="Arial"/>
                <a:cs typeface="Arial"/>
              </a:defRPr>
            </a:pPr>
            <a:r>
              <a:rPr sz="1200" b="0">
                <a:solidFill>
                  <a:srgbClr val="53655C"/>
                </a:solidFill>
                <a:latin typeface="Arial"/>
                <a:ea typeface="Arial"/>
                <a:cs typeface="Arial"/>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Arial"/>
                <a:ea typeface="Arial"/>
                <a:cs typeface="Arial"/>
              </a:defRPr>
            </a:pPr>
            <a:r>
              <a:rPr sz="1800" b="1">
                <a:solidFill>
                  <a:srgbClr val="7353AC"/>
                </a:solidFill>
                <a:latin typeface="Arial"/>
                <a:ea typeface="Arial"/>
                <a:cs typeface="Arial"/>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Arial"/>
                <a:ea typeface="Arial"/>
                <a:cs typeface="Arial"/>
              </a:defRPr>
            </a:pPr>
            <a:r>
              <a:rPr sz="3075" b="1">
                <a:solidFill>
                  <a:srgbClr val="173F33"/>
                </a:solidFill>
                <a:latin typeface="Arial"/>
                <a:ea typeface="Arial"/>
                <a:cs typeface="Arial"/>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145AC6"/>
                </a:solidFill>
                <a:latin typeface="Arial"/>
                <a:ea typeface="Arial"/>
                <a:cs typeface="Arial"/>
              </a:defRPr>
            </a:pPr>
            <a:r>
              <a:rPr sz="1425" b="0" u="sng">
                <a:solidFill>
                  <a:srgbClr val="145AC6"/>
                </a:solidFill>
                <a:latin typeface="Arial"/>
                <a:ea typeface="Arial"/>
                <a:cs typeface="Arial"/>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145AC6"/>
                </a:solidFill>
                <a:latin typeface="Arial"/>
                <a:ea typeface="Arial"/>
                <a:cs typeface="Arial"/>
              </a:defRPr>
            </a:pPr>
            <a:r>
              <a:rPr sz="975" b="0" u="sng">
                <a:solidFill>
                  <a:srgbClr val="145AC6"/>
                </a:solidFill>
                <a:latin typeface="Arial"/>
                <a:ea typeface="Arial"/>
                <a:cs typeface="Arial"/>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Arial"/>
                <a:ea typeface="Arial"/>
                <a:cs typeface="Arial"/>
              </a:defRPr>
            </a:pPr>
            <a:r>
              <a:rPr sz="3000" b="1">
                <a:solidFill>
                  <a:srgbClr val="173F33"/>
                </a:solidFill>
                <a:latin typeface="Arial"/>
                <a:ea typeface="Arial"/>
                <a:cs typeface="Arial"/>
              </a:rPr>
              <a:t>Saanthvana keeps your cancer care in one place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45AC6"/>
                </a:solidFill>
                <a:latin typeface="Arial"/>
                <a:ea typeface="Arial"/>
                <a:cs typeface="Arial"/>
              </a:defRPr>
            </a:pPr>
            <a:r>
              <a:rPr sz="1950" b="1" u="sng">
                <a:solidFill>
                  <a:srgbClr val="145AC6"/>
                </a:solidFill>
                <a:latin typeface="Arial"/>
                <a:ea typeface="Arial"/>
                <a:cs typeface="Arial"/>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45AC6"/>
                </a:solidFill>
                <a:latin typeface="Arial"/>
                <a:ea typeface="Arial"/>
                <a:cs typeface="Arial"/>
              </a:defRPr>
            </a:pPr>
            <a:r>
              <a:rPr sz="1950" b="1" u="sng">
                <a:solidFill>
                  <a:srgbClr val="145AC6"/>
                </a:solidFill>
                <a:latin typeface="Arial"/>
                <a:ea typeface="Arial"/>
                <a:cs typeface="Arial"/>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45AC6"/>
                </a:solidFill>
                <a:latin typeface="Arial"/>
                <a:ea typeface="Arial"/>
                <a:cs typeface="Arial"/>
              </a:defRPr>
            </a:pPr>
            <a:r>
              <a:rPr sz="1800" b="1" u="sng">
                <a:solidFill>
                  <a:srgbClr val="145AC6"/>
                </a:solidFill>
                <a:latin typeface="Arial"/>
                <a:ea typeface="Arial"/>
                <a:cs typeface="Arial"/>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45AC6"/>
                </a:solidFill>
                <a:latin typeface="Arial"/>
                <a:ea typeface="Arial"/>
                <a:cs typeface="Arial"/>
              </a:defRPr>
            </a:pPr>
            <a:r>
              <a:rPr sz="1725" b="1" u="sng">
                <a:solidFill>
                  <a:srgbClr val="145AC6"/>
                </a:solidFill>
                <a:latin typeface="Arial"/>
                <a:ea typeface="Arial"/>
                <a:cs typeface="Arial"/>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145AC6"/>
                </a:solidFill>
                <a:latin typeface="Arial"/>
                <a:ea typeface="Arial"/>
                <a:cs typeface="Arial"/>
              </a:defRPr>
            </a:pPr>
            <a:r>
              <a:rPr sz="1425" b="1" u="sng">
                <a:solidFill>
                  <a:srgbClr val="145AC6"/>
                </a:solidFill>
                <a:latin typeface="Arial"/>
                <a:ea typeface="Arial"/>
                <a:cs typeface="Arial"/>
                <a:hlinkClick xmlns:r="http://schemas.openxmlformats.org/officeDocument/2006/relationships" r:id="Rf2d11867fa694910"/>
              </a:rPr>
              <a:t>OPEN - continuity-loop-healthathon.vercel.app</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Arial"/>
                <a:ea typeface="Arial"/>
                <a:cs typeface="Arial"/>
              </a:defRPr>
            </a:pPr>
            <a:r>
              <a:rPr sz="3000" b="1">
                <a:solidFill>
                  <a:srgbClr val="173F33"/>
                </a:solidFill>
                <a:latin typeface="Arial"/>
                <a:ea typeface="Arial"/>
                <a:cs typeface="Arial"/>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Arial"/>
                <a:ea typeface="Arial"/>
                <a:cs typeface="Arial"/>
              </a:defRPr>
            </a:pPr>
            <a:r>
              <a:rPr sz="1800" b="0">
                <a:solidFill>
                  <a:srgbClr val="53655C"/>
                </a:solidFill>
                <a:latin typeface="Arial"/>
                <a:ea typeface="Arial"/>
                <a:cs typeface="Arial"/>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Arial"/>
                <a:ea typeface="Arial"/>
                <a:cs typeface="Arial"/>
              </a:defRPr>
            </a:pPr>
            <a:r>
              <a:rPr sz="1575" b="0">
                <a:solidFill>
                  <a:srgbClr val="53655C"/>
                </a:solidFill>
                <a:latin typeface="Arial"/>
                <a:ea typeface="Arial"/>
                <a:cs typeface="Arial"/>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Arial"/>
                <a:ea typeface="Arial"/>
                <a:cs typeface="Arial"/>
              </a:defRPr>
            </a:pPr>
            <a:r>
              <a:rPr sz="1725" b="1">
                <a:solidFill>
                  <a:srgbClr val="173F33"/>
                </a:solidFill>
                <a:latin typeface="Arial"/>
                <a:ea typeface="Arial"/>
                <a:cs typeface="Arial"/>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Arial"/>
                <a:ea typeface="Arial"/>
                <a:cs typeface="Arial"/>
              </a:defRPr>
            </a:pPr>
            <a:r>
              <a:rPr sz="1725" b="1">
                <a:solidFill>
                  <a:srgbClr val="173F33"/>
                </a:solidFill>
                <a:latin typeface="Arial"/>
                <a:ea typeface="Arial"/>
                <a:cs typeface="Arial"/>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FC799"/>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Arial"/>
                <a:ea typeface="Arial"/>
                <a:cs typeface="Arial"/>
              </a:defRPr>
            </a:pPr>
            <a:r>
              <a:rPr sz="2925" b="1">
                <a:solidFill>
                  <a:srgbClr val="173F33"/>
                </a:solidFill>
                <a:latin typeface="Arial"/>
                <a:ea typeface="Arial"/>
                <a:cs typeface="Arial"/>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Arial"/>
                <a:ea typeface="Arial"/>
                <a:cs typeface="Arial"/>
              </a:defRPr>
            </a:pPr>
            <a:r>
              <a:rPr sz="1875" b="0">
                <a:solidFill>
                  <a:srgbClr val="53655C"/>
                </a:solidFill>
                <a:latin typeface="Arial"/>
                <a:ea typeface="Arial"/>
                <a:cs typeface="Arial"/>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thi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145AC6"/>
                </a:solidFill>
                <a:latin typeface="Arial"/>
                <a:ea typeface="Arial"/>
                <a:cs typeface="Arial"/>
              </a:defRPr>
            </a:pPr>
            <a:r>
              <a:rPr sz="1313" b="0" u="sng">
                <a:solidFill>
                  <a:srgbClr val="145AC6"/>
                </a:solidFill>
                <a:latin typeface="Arial"/>
                <a:ea typeface="Arial"/>
                <a:cs typeface="Arial"/>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Arial"/>
                <a:ea typeface="Arial"/>
                <a:cs typeface="Arial"/>
              </a:defRPr>
            </a:pPr>
            <a:r>
              <a:rPr sz="3450" b="1">
                <a:solidFill>
                  <a:srgbClr val="FFD154"/>
                </a:solidFill>
                <a:latin typeface="Arial"/>
                <a:ea typeface="Arial"/>
                <a:cs typeface="Arial"/>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