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77eb3fcb5b4ab6" /><Relationship Type="http://schemas.openxmlformats.org/officeDocument/2006/relationships/extended-properties" Target="/docProps/app.xml" Id="R780139788fa14364" /><Relationship Type="http://schemas.openxmlformats.org/officeDocument/2006/relationships/officeDocument" Target="/ppt/presentation.xml" Id="R2ee0001fff9f4885" /></Relationships>
</file>

<file path=ppt/presentation.xml><?xml version="1.0" encoding="utf-8"?>
<p:presentation xmlns:p="http://schemas.openxmlformats.org/presentationml/2006/main">
  <p:sldMasterIdLst>
    <p:sldMasterId xmlns:r="http://schemas.openxmlformats.org/officeDocument/2006/relationships" id="2147483648" r:id="R68f56ea220f54a09"/>
  </p:sldMasterIdLst>
  <p:notesMasterIdLst>
    <p:notesMasterId xmlns:r="http://schemas.openxmlformats.org/officeDocument/2006/relationships" r:id="R9821a3c00c774e52"/>
  </p:notesMasterIdLst>
  <p:sldIdLst>
    <p:sldId xmlns:r="http://schemas.openxmlformats.org/officeDocument/2006/relationships" id="256" r:id="R914aca0435664c85"/>
    <p:sldId xmlns:r="http://schemas.openxmlformats.org/officeDocument/2006/relationships" id="257" r:id="R3725c5c038ba4a0d"/>
    <p:sldId xmlns:r="http://schemas.openxmlformats.org/officeDocument/2006/relationships" id="258" r:id="Rd5ed35591f5f4ab7"/>
    <p:sldId xmlns:r="http://schemas.openxmlformats.org/officeDocument/2006/relationships" id="260" r:id="Rd6c92623501342cb"/>
    <p:sldId xmlns:r="http://schemas.openxmlformats.org/officeDocument/2006/relationships" id="262" r:id="Rd37524cd11a946eb"/>
    <p:sldId xmlns:r="http://schemas.openxmlformats.org/officeDocument/2006/relationships" id="261" r:id="Re83c611e8e934a20"/>
    <p:sldId xmlns:r="http://schemas.openxmlformats.org/officeDocument/2006/relationships" id="259" r:id="R59166dac17cf49bf"/>
    <p:sldId xmlns:r="http://schemas.openxmlformats.org/officeDocument/2006/relationships" id="263" r:id="R841b7f7ae6cb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36b133c284740" /><Relationship Type="http://schemas.openxmlformats.org/officeDocument/2006/relationships/slideMaster" Target="/ppt/slideMasters/slideMaster1.xml" Id="R68f56ea220f54a09" /><Relationship Type="http://schemas.openxmlformats.org/officeDocument/2006/relationships/notesMaster" Target="/ppt/notesMasters/notesMaster1.xml" Id="R9821a3c00c774e52" /><Relationship Type="http://schemas.openxmlformats.org/officeDocument/2006/relationships/presProps" Target="/ppt/presProps.xml" Id="R71102f121fef43db" /><Relationship Type="http://schemas.openxmlformats.org/officeDocument/2006/relationships/tableStyles" Target="/ppt/tableStyles.xml" Id="Rd12ac7ed3ad046f9" /><Relationship Type="http://schemas.openxmlformats.org/officeDocument/2006/relationships/slide" Target="/ppt/slides/slide1.xml" Id="R914aca0435664c85" /><Relationship Type="http://schemas.openxmlformats.org/officeDocument/2006/relationships/slide" Target="/ppt/slides/slide2.xml" Id="R3725c5c038ba4a0d" /><Relationship Type="http://schemas.openxmlformats.org/officeDocument/2006/relationships/slide" Target="/ppt/slides/slide3.xml" Id="Rd5ed35591f5f4ab7" /><Relationship Type="http://schemas.openxmlformats.org/officeDocument/2006/relationships/slide" Target="/ppt/slides/slide4.xml" Id="R59166dac17cf49bf" /><Relationship Type="http://schemas.openxmlformats.org/officeDocument/2006/relationships/slide" Target="/ppt/slides/slide5.xml" Id="Rd6c92623501342cb" /><Relationship Type="http://schemas.openxmlformats.org/officeDocument/2006/relationships/slide" Target="/ppt/slides/slide6.xml" Id="Re83c611e8e934a20" /><Relationship Type="http://schemas.openxmlformats.org/officeDocument/2006/relationships/slide" Target="/ppt/slides/slide7.xml" Id="Rd37524cd11a946eb" /><Relationship Type="http://schemas.openxmlformats.org/officeDocument/2006/relationships/slide" Target="/ppt/slides/slide8.xml" Id="R841b7f7ae6cb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bf51cf944244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c2c47b5e44383" /><Relationship Type="http://schemas.openxmlformats.org/officeDocument/2006/relationships/notesMaster" Target="/ppt/notesMasters/notesMaster1.xml" Id="Rdcd70b99b5ed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cb6fa81e44205" /><Relationship Type="http://schemas.openxmlformats.org/officeDocument/2006/relationships/notesMaster" Target="/ppt/notesMasters/notesMaster1.xml" Id="Rd290b23ccaa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cfb10587e4875" /><Relationship Type="http://schemas.openxmlformats.org/officeDocument/2006/relationships/notesMaster" Target="/ppt/notesMasters/notesMaster1.xml" Id="R4c0e1c9442c6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cf60789ed40e1" /><Relationship Type="http://schemas.openxmlformats.org/officeDocument/2006/relationships/notesMaster" Target="/ppt/notesMasters/notesMaster1.xml" Id="Rcf6d4f795f1642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39ddc58374c46" /><Relationship Type="http://schemas.openxmlformats.org/officeDocument/2006/relationships/notesMaster" Target="/ppt/notesMasters/notesMaster1.xml" Id="Reb875ed1dc82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fd2981544c4011" /><Relationship Type="http://schemas.openxmlformats.org/officeDocument/2006/relationships/notesMaster" Target="/ppt/notesMasters/notesMaster1.xml" Id="R432c9e99741848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2426152854492" /><Relationship Type="http://schemas.openxmlformats.org/officeDocument/2006/relationships/notesMaster" Target="/ppt/notesMasters/notesMaster1.xml" Id="R7f0503eaeb87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a55d3b0dd44af" /><Relationship Type="http://schemas.openxmlformats.org/officeDocument/2006/relationships/notesMaster" Target="/ppt/notesMasters/notesMaster1.xml" Id="Rad8c16735d75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Saanthvana (सांत्वना) means comfort and reassurance.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https://saanthvana.wedevit.in/. GitHub opens the public project repository; WhatsApp is a contact for questions, not an access request. Entry: Cancer / Patient and Caregiver / Family &amp; Caregiver Support. The cover presents Saanthvana as one connected cancer-care record for patients, families and care teams, centred on patient values and easier access to support.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Saanthvana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Saanthvana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Saanthvana.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Saanthvana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6111cfec5140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2e7bd171646f2" /><Relationship Type="http://schemas.openxmlformats.org/officeDocument/2006/relationships/slideLayout" Target="/ppt/slideLayouts/slideLayout1.xml" Id="R02e8f8d7126742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8f8d7126742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f435501c8d849b1"/><Relationship Type="http://schemas.openxmlformats.org/officeDocument/2006/relationships/image" Target="/ppt/media/image.jpeg" Id="R67b096afd75e47f8"/><Relationship Type="http://schemas.openxmlformats.org/officeDocument/2006/relationships/image" Target="/ppt/media/image.svg" Id="Ra14bc79648b74bd1"/><Relationship Type="http://schemas.openxmlformats.org/officeDocument/2006/relationships/image" Target="/ppt/media/image.png" Id="R8a3b53d0d79f4b84"/><Relationship Type="http://schemas.openxmlformats.org/officeDocument/2006/relationships/hyperlink" Target="https://saanthvana.wedevit.in/" TargetMode="External" Id="R593aca00b6c74443"/><Relationship Type="http://schemas.openxmlformats.org/officeDocument/2006/relationships/image" Target="/ppt/media/image2.jpeg" Id="R4e3bea323c2742cd"/><Relationship Type="http://schemas.openxmlformats.org/officeDocument/2006/relationships/image" Target="/ppt/media/image2.svg" Id="Rb460003250414198"/><Relationship Type="http://schemas.openxmlformats.org/officeDocument/2006/relationships/hyperlink" Target="https://github.com/basithladdu/healthathon" TargetMode="External" Id="R85748387410e4b26"/><Relationship Type="http://schemas.openxmlformats.org/officeDocument/2006/relationships/image" Target="/ppt/media/image2.png" Id="R27759e5c1c1f41f0"/><Relationship Type="http://schemas.openxmlformats.org/officeDocument/2006/relationships/image" Target="/ppt/media/image3.svg" Id="Rad2f2ba686374324"/><Relationship Type="http://schemas.openxmlformats.org/officeDocument/2006/relationships/hyperlink" Target="https://wa.me/919553321211" TargetMode="External" Id="Rd8d0cc57c67245d2"/><Relationship Type="http://schemas.openxmlformats.org/officeDocument/2006/relationships/hyperlink" Target="https://wa.me/919553321211" TargetMode="External" Id="R2526c413a84f477c"/><Relationship Type="http://schemas.openxmlformats.org/officeDocument/2006/relationships/image" Target="/ppt/media/image3.png" Id="R66b1e8c459bd4bcf"/><Relationship Type="http://schemas.openxmlformats.org/officeDocument/2006/relationships/image" Target="/ppt/media/image4.png" Id="R5961c383bdc14943"/><Relationship Type="http://schemas.openxmlformats.org/officeDocument/2006/relationships/notesSlide" Target="/ppt/notesSlides/notesSlide1.xml" Id="R80f0f97949594eb6"/><Relationship Id="RcodexDriveIcon" Type="http://schemas.openxmlformats.org/officeDocument/2006/relationships/image" Target="/ppt/media/saanthvana-drive.png"/><Relationship Id="RcodexDriveFolder" Type="http://schemas.openxmlformats.org/officeDocument/2006/relationships/hyperlink" Target="https://drive.google.com/drive/folders/1WPtw-7iEZoMObEr4pzd9-Gziyo9D3VYV?usp=drive_link" TargetMode="External"/><Relationship Id="rIdSharadaAvatar" Type="http://schemas.openxmlformats.org/officeDocument/2006/relationships/image" Target="../media/sharada-avatar-20261002.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a8628b9324492c" /><Relationship Type="http://schemas.openxmlformats.org/officeDocument/2006/relationships/image" Target="/ppt/media/image2.png" Id="R750f8d0abcc74b07" /><Relationship Type="http://schemas.openxmlformats.org/officeDocument/2006/relationships/image" Target="/ppt/media/image3.jpeg" Id="R4d32691d8898464f" /><Relationship Type="http://schemas.openxmlformats.org/officeDocument/2006/relationships/image" Target="/ppt/media/image4.svg" Id="Rd8abaa6dbd6d4233" /><Relationship Type="http://schemas.openxmlformats.org/officeDocument/2006/relationships/image" Target="/ppt/media/image4.jpeg" Id="R87bb52a62d474d80" /><Relationship Type="http://schemas.openxmlformats.org/officeDocument/2006/relationships/image" Target="/ppt/media/image5.svg" Id="R4c3d8d0005d74fdf" /><Relationship Type="http://schemas.openxmlformats.org/officeDocument/2006/relationships/image" Target="/ppt/media/image5.jpeg" Id="Rc3ab599ff6114d49" /><Relationship Type="http://schemas.openxmlformats.org/officeDocument/2006/relationships/image" Target="/ppt/media/image6.svg" Id="R0245618c6ea348b9" /><Relationship Type="http://schemas.openxmlformats.org/officeDocument/2006/relationships/notesSlide" Target="/ppt/notesSlides/notesSlide2.xml" Id="Rf8b92705f22247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e2efde0b4e4101" /><Relationship Type="http://schemas.openxmlformats.org/officeDocument/2006/relationships/chart" Target="/ppt/slides/charts/chart1.xml" Id="R1ab151852da747a6" /><Relationship Type="http://schemas.openxmlformats.org/officeDocument/2006/relationships/image" Target="/ppt/media/image6.jpeg" Id="R0a75c197d4d54d1b" /><Relationship Type="http://schemas.openxmlformats.org/officeDocument/2006/relationships/image" Target="/ppt/media/image7.svg" Id="Rb6f24024de5c477f" /><Relationship Type="http://schemas.openxmlformats.org/officeDocument/2006/relationships/hyperlink" Target="https://gco.iarc.who.int/media/globocan/factsheets/populations/356-india-fact-sheet.pdf" TargetMode="External" Id="R73b10087f87746a4" /><Relationship Type="http://schemas.openxmlformats.org/officeDocument/2006/relationships/image" Target="/ppt/media/image5.png" Id="Rd7e3fa530c1346c7" /><Relationship Type="http://schemas.openxmlformats.org/officeDocument/2006/relationships/image" Target="/ppt/media/image8.svg" Id="R3b04ef403cba4597" /><Relationship Type="http://schemas.openxmlformats.org/officeDocument/2006/relationships/hyperlink" Target="https://doi.org/10.1136/spcare-2024-004978" TargetMode="External" Id="Rb6276b5e57ad4faf" /><Relationship Type="http://schemas.openxmlformats.org/officeDocument/2006/relationships/image" Target="/ppt/media/image6.png" Id="R1c259f215c16441f" /><Relationship Type="http://schemas.openxmlformats.org/officeDocument/2006/relationships/image" Target="/ppt/media/image9.svg" Id="Rf00f80e2f96d47ed" /><Relationship Type="http://schemas.openxmlformats.org/officeDocument/2006/relationships/hyperlink" Target="https://scroll.in/article/925875/73-urban-indians-do-not-know-about-their-right-to-make-a-living-will-finds-a-survey" TargetMode="External" Id="Re1c242180c4e4312" /><Relationship Type="http://schemas.openxmlformats.org/officeDocument/2006/relationships/image" Target="/ppt/media/image7.png" Id="R3d25f752ebc743df" /><Relationship Type="http://schemas.openxmlformats.org/officeDocument/2006/relationships/image" Target="/ppt/media/image10.svg" Id="R8e964e0ad26b42f8" /><Relationship Type="http://schemas.openxmlformats.org/officeDocument/2006/relationships/hyperlink" Target="https://doi.org/10.25259/NMJI_817_2023" TargetMode="External" Id="Rf5a2979d5c584e0f" /><Relationship Type="http://schemas.openxmlformats.org/officeDocument/2006/relationships/hyperlink" Target="https://doi.org/10.1177/26892820251392545" TargetMode="External" Id="Rac49bcc6987047ae" /><Relationship Type="http://schemas.openxmlformats.org/officeDocument/2006/relationships/notesSlide" Target="/ppt/notesSlides/notesSlide3.xml" Id="R0c5af1c90047464c"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cc222bd9a3ad489d" /><Relationship Type="http://schemas.openxmlformats.org/officeDocument/2006/relationships/image" Target="/ppt/media/image3.jpeg" Id="R8356c6b342074944" /><Relationship Type="http://schemas.openxmlformats.org/officeDocument/2006/relationships/hyperlink" Target="https://saanthvana.wedevit.in/find-support" TargetMode="External" Id="R4e2cb4b2837e4080" /><Relationship Type="http://schemas.openxmlformats.org/officeDocument/2006/relationships/hyperlink" Target="https://palliumindia.org/clinics/telangana" TargetMode="External" Id="R80f710b708eb42d5" /><Relationship Type="http://schemas.openxmlformats.org/officeDocument/2006/relationships/hyperlink" Target="https://www.openstreetmap.org/copyright" TargetMode="External" Id="R55b2c0ada24d43e9" /><Relationship Type="http://schemas.openxmlformats.org/officeDocument/2006/relationships/image" Target="/ppt/media/image8.png" Id="R967fab9928674e1d" /><Relationship Type="http://schemas.openxmlformats.org/officeDocument/2006/relationships/image" Target="/ppt/media/image11.svg" Id="Rada46fabc36a4d09" /><Relationship Type="http://schemas.openxmlformats.org/officeDocument/2006/relationships/hyperlink" Target="https://saanthvana.wedevit.in/find-support" TargetMode="External" Id="R995b251a7f8846a6" /><Relationship Type="http://schemas.openxmlformats.org/officeDocument/2006/relationships/image" Target="/ppt/media/image9.png" Id="R9b13a7be4987432e" /><Relationship Type="http://schemas.openxmlformats.org/officeDocument/2006/relationships/image" Target="/ppt/media/image12.svg" Id="R9e091dc9577c4775" /><Relationship Type="http://schemas.openxmlformats.org/officeDocument/2006/relationships/hyperlink" Target="https://saanthvana.wedevit.in/medicine-access" TargetMode="External" Id="Rd997f9577e4e4d3f" /><Relationship Type="http://schemas.openxmlformats.org/officeDocument/2006/relationships/image" Target="/ppt/media/image10.png" Id="R7b14f8277d0c499c" /><Relationship Type="http://schemas.openxmlformats.org/officeDocument/2006/relationships/image" Target="/ppt/media/image13.svg" Id="Re70573b6bcff45c7" /><Relationship Type="http://schemas.openxmlformats.org/officeDocument/2006/relationships/hyperlink" Target="https://saanthvana.wedevit.in/support-groups" TargetMode="External" Id="R1a8cb134a38d489c" /><Relationship Type="http://schemas.openxmlformats.org/officeDocument/2006/relationships/image" Target="/ppt/media/image11.png" Id="R2385b0853c4e417b" /><Relationship Type="http://schemas.openxmlformats.org/officeDocument/2006/relationships/image" Target="/ppt/media/image14.svg" Id="R393780158089439d" /><Relationship Type="http://schemas.openxmlformats.org/officeDocument/2006/relationships/hyperlink" Target="https://saanthvana.wedevit.in/help-at-home" TargetMode="External" Id="R9f5de05d992f4698" /><Relationship Type="http://schemas.openxmlformats.org/officeDocument/2006/relationships/notesSlide" Target="/ppt/notesSlides/notesSlide4.xml" Id="R7e622ec5c6c34880"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62092c75e6f743de" /><Relationship Type="http://schemas.openxmlformats.org/officeDocument/2006/relationships/image" Target="/ppt/media/image4.jpeg" Id="R3667933a6ee1478a" /><Relationship Type="http://schemas.openxmlformats.org/officeDocument/2006/relationships/image" Target="/ppt/media/image5.jpeg" Id="Re46a54831cc245d1" /><Relationship Type="http://schemas.openxmlformats.org/officeDocument/2006/relationships/image" Target="/ppt/media/image12.png" Id="R4b10351eecf44f09" /><Relationship Type="http://schemas.openxmlformats.org/officeDocument/2006/relationships/image" Target="/ppt/media/image15.svg" Id="R61309462f1154fdb" /><Relationship Type="http://schemas.openxmlformats.org/officeDocument/2006/relationships/hyperlink" Target="https://saanthvana.wedevit.in/medicines" TargetMode="External" Id="Rb6fb981b607744bb" /><Relationship Type="http://schemas.openxmlformats.org/officeDocument/2006/relationships/image" Target="/ppt/media/image13.png" Id="R10ac72d85b734933" /><Relationship Type="http://schemas.openxmlformats.org/officeDocument/2006/relationships/image" Target="/ppt/media/image16.svg" Id="Rc01cf3eb367c49e4" /><Relationship Type="http://schemas.openxmlformats.org/officeDocument/2006/relationships/hyperlink" Target="https://saanthvana.wedevit.in/calendar" TargetMode="External" Id="R5b3214e6ec8043d6" /><Relationship Type="http://schemas.openxmlformats.org/officeDocument/2006/relationships/image" Target="/ppt/media/image14.png" Id="R6445dbbd60e144e3" /><Relationship Type="http://schemas.openxmlformats.org/officeDocument/2006/relationships/image" Target="/ppt/media/image17.svg" Id="R14275f736eeb4849" /><Relationship Type="http://schemas.openxmlformats.org/officeDocument/2006/relationships/hyperlink" Target="https://saanthvana.wedevit.in/my-space" TargetMode="External" Id="R33db8d9a16b14618" /><Relationship Type="http://schemas.openxmlformats.org/officeDocument/2006/relationships/image" Target="/ppt/media/image15.png" Id="R2f90a8d0536a498c" /><Relationship Type="http://schemas.openxmlformats.org/officeDocument/2006/relationships/image" Target="/ppt/media/image18.svg" Id="Rcb7838309d5b4ec8" /><Relationship Type="http://schemas.openxmlformats.org/officeDocument/2006/relationships/hyperlink" Target="https://saanthvana.wedevit.in/costs" TargetMode="External" Id="Rf4880cd3a86e4fa4" /><Relationship Type="http://schemas.openxmlformats.org/officeDocument/2006/relationships/image" Target="/ppt/media/image6.jpeg" Id="R1d8be228ee2a42c0" /><Relationship Type="http://schemas.openxmlformats.org/officeDocument/2006/relationships/hyperlink" Target="https://saanthvana.wedevit.in/" TargetMode="External" Id="Rf2d11867fa694910" /><Relationship Type="http://schemas.openxmlformats.org/officeDocument/2006/relationships/notesSlide" Target="/ppt/notesSlides/notesSlide5.xml" Id="Rfd6d04d153774b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2062387594a79" /><Relationship Type="http://schemas.openxmlformats.org/officeDocument/2006/relationships/image" Target="/ppt/media/image16.png" Id="R28263da5f1e74ab8" /><Relationship Type="http://schemas.openxmlformats.org/officeDocument/2006/relationships/image" Target="/ppt/media/image17.png" Id="R87a0ab13476c4c6a" /><Relationship Type="http://schemas.openxmlformats.org/officeDocument/2006/relationships/image" Target="/ppt/media/image19.svg" Id="R12116d5be3c24533" /><Relationship Type="http://schemas.openxmlformats.org/officeDocument/2006/relationships/image" Target="/ppt/media/image18.png" Id="R71ea8974cf234d82" /><Relationship Type="http://schemas.openxmlformats.org/officeDocument/2006/relationships/image" Target="/ppt/media/image20.svg" Id="Rb9534b2ea31f43e7" /><Relationship Type="http://schemas.openxmlformats.org/officeDocument/2006/relationships/image" Target="/ppt/media/image19.png" Id="R0ca542b92f52489d" /><Relationship Type="http://schemas.openxmlformats.org/officeDocument/2006/relationships/image" Target="/ppt/media/image21.svg" Id="Rf236de00fcce4de4" /><Relationship Type="http://schemas.openxmlformats.org/officeDocument/2006/relationships/image" Target="/ppt/media/image20.png" Id="Rd69bfac708ba4b74" /><Relationship Type="http://schemas.openxmlformats.org/officeDocument/2006/relationships/image" Target="/ppt/media/image22.svg" Id="Rf4b2f39e62d04797" /><Relationship Type="http://schemas.openxmlformats.org/officeDocument/2006/relationships/image" Target="/ppt/media/image21.png" Id="R4448e180ac1f4b0d" /><Relationship Type="http://schemas.openxmlformats.org/officeDocument/2006/relationships/image" Target="/ppt/media/image23.svg" Id="R3ae965c44f724d0c" /><Relationship Type="http://schemas.openxmlformats.org/officeDocument/2006/relationships/image" Target="/ppt/media/image24.svg" Id="R94c15d90a7844c79" /><Relationship Type="http://schemas.openxmlformats.org/officeDocument/2006/relationships/image" Target="/ppt/media/image22.png" Id="R4adaba22ec464e42" /><Relationship Type="http://schemas.openxmlformats.org/officeDocument/2006/relationships/image" Target="/ppt/media/image25.svg" Id="R1764baf1e5c54f02" /><Relationship Type="http://schemas.openxmlformats.org/officeDocument/2006/relationships/notesSlide" Target="/ppt/notesSlides/notesSlide6.xml" Id="Re023c2f21ba94a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cfa98ecec44815" /><Relationship Type="http://schemas.openxmlformats.org/officeDocument/2006/relationships/image" Target="/ppt/media/image23.png" Id="R9f96e274c66a4124" /><Relationship Type="http://schemas.openxmlformats.org/officeDocument/2006/relationships/image" Target="/ppt/media/image24.png" Id="Ra6e70ba24e734d4f" /><Relationship Type="http://schemas.openxmlformats.org/officeDocument/2006/relationships/image" Target="/ppt/media/image25.png" Id="Ra9a6f2d94400453d" /><Relationship Type="http://schemas.openxmlformats.org/officeDocument/2006/relationships/image" Target="/ppt/media/image26.svg" Id="R33d94916fc594ca4" /><Relationship Type="http://schemas.openxmlformats.org/officeDocument/2006/relationships/image" Target="/ppt/media/image26.png" Id="Rf1a75a02a5854542" /><Relationship Type="http://schemas.openxmlformats.org/officeDocument/2006/relationships/image" Target="/ppt/media/image27.svg" Id="Rbfe691097a194dc5" /><Relationship Type="http://schemas.openxmlformats.org/officeDocument/2006/relationships/image" Target="/ppt/media/image27.png" Id="Ra068625786b54861" /><Relationship Type="http://schemas.openxmlformats.org/officeDocument/2006/relationships/image" Target="/ppt/media/image28.svg" Id="Rdc1b889508424252" /><Relationship Type="http://schemas.openxmlformats.org/officeDocument/2006/relationships/image" Target="/ppt/media/image29.svg" Id="R3c44ea93690b4561" /><Relationship Type="http://schemas.openxmlformats.org/officeDocument/2006/relationships/image" Target="/ppt/media/image30.svg" Id="Rac1f22c188e74834" /><Relationship Type="http://schemas.openxmlformats.org/officeDocument/2006/relationships/hyperlink" Target="https://docs.sarvam.ai/api/getting-started/building-for-india" TargetMode="External" Id="R3862a1e8ebc2480c" /><Relationship Type="http://schemas.openxmlformats.org/officeDocument/2006/relationships/notesSlide" Target="/ppt/notesSlides/notesSlide7.xml" Id="R531eb0c56d7d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9091b3aa24a0a" /><Relationship Type="http://schemas.openxmlformats.org/officeDocument/2006/relationships/hyperlink" Target="https://gco.iarc.who.int/media/globocan/factsheets/populations/356-india-fact-sheet.pdf" TargetMode="External" Id="Rc4d2e3d9fad244f7" /><Relationship Type="http://schemas.openxmlformats.org/officeDocument/2006/relationships/hyperlink" Target="https://gco.iarc.who.int/media/globocan/factsheets/populations/356-india-fact-sheet.pdf" TargetMode="External" Id="R8e3a0d16031f4a83" /><Relationship Type="http://schemas.openxmlformats.org/officeDocument/2006/relationships/hyperlink" Target="https://doi.org/10.1136/spcare-2024-004978" TargetMode="External" Id="Re8d112ae2e1d4244" /><Relationship Type="http://schemas.openxmlformats.org/officeDocument/2006/relationships/hyperlink" Target="https://doi.org/10.1136/spcare-2024-004978" TargetMode="External" Id="R3f0c473611954036" /><Relationship Type="http://schemas.openxmlformats.org/officeDocument/2006/relationships/hyperlink" Target="https://doi.org/10.1016/j.jpainsymman.2024.02.030" TargetMode="External" Id="Rceaa2afcd47843d4" /><Relationship Type="http://schemas.openxmlformats.org/officeDocument/2006/relationships/hyperlink" Target="https://doi.org/10.1016/j.jpainsymman.2024.02.030" TargetMode="External" Id="R9bc987a6d4c14332" /><Relationship Type="http://schemas.openxmlformats.org/officeDocument/2006/relationships/hyperlink" Target="https://doi.org/10.1177/26892820251392545" TargetMode="External" Id="Rbdb531332d2d4f28" /><Relationship Type="http://schemas.openxmlformats.org/officeDocument/2006/relationships/hyperlink" Target="https://doi.org/10.1177/26892820251392545" TargetMode="External" Id="R9ce71ff2abe649e8" /><Relationship Type="http://schemas.openxmlformats.org/officeDocument/2006/relationships/hyperlink" Target="https://scroll.in/article/925875/73-urban-indians-do-not-know-about-their-right-to-make-a-living-will-finds-a-survey" TargetMode="External" Id="R6d6ab34736c143ed" /><Relationship Type="http://schemas.openxmlformats.org/officeDocument/2006/relationships/hyperlink" Target="https://scroll.in/article/925875/73-urban-indians-do-not-know-about-their-right-to-make-a-living-will-finds-a-survey" TargetMode="External" Id="R9bb52c682f264b1f" /><Relationship Type="http://schemas.openxmlformats.org/officeDocument/2006/relationships/hyperlink" Target="https://doi.org/10.25259/NMJI_817_2023" TargetMode="External" Id="R05b4e40292194aee" /><Relationship Type="http://schemas.openxmlformats.org/officeDocument/2006/relationships/hyperlink" Target="https://doi.org/10.25259/NMJI_817_2023" TargetMode="External" Id="Rc461d4757c0d44c7" /><Relationship Type="http://schemas.openxmlformats.org/officeDocument/2006/relationships/hyperlink" Target="https://doi.org/10.1101/2025.10.17.25338242" TargetMode="External" Id="Rb828da62ca754619" /><Relationship Type="http://schemas.openxmlformats.org/officeDocument/2006/relationships/hyperlink" Target="https://doi.org/10.1101/2025.10.17.25338242" TargetMode="External" Id="R2ea94daa9145450c" /><Relationship Type="http://schemas.openxmlformats.org/officeDocument/2006/relationships/hyperlink" Target="https://doi.org/10.1634/theoncologist.2013-0435" TargetMode="External" Id="R646043e586c74101" /><Relationship Type="http://schemas.openxmlformats.org/officeDocument/2006/relationships/hyperlink" Target="https://doi.org/10.1634/theoncologist.2013-0435" TargetMode="External" Id="R67156725c7544956" /><Relationship Type="http://schemas.openxmlformats.org/officeDocument/2006/relationships/hyperlink" Target="https://doi.org/10.1200/JCO.2012.46.2101" TargetMode="External" Id="Rc605e0239a85435c" /><Relationship Type="http://schemas.openxmlformats.org/officeDocument/2006/relationships/hyperlink" Target="https://doi.org/10.1200/JCO.2012.46.2101" TargetMode="External" Id="R228f1105c9fd4623" /><Relationship Type="http://schemas.openxmlformats.org/officeDocument/2006/relationships/notesSlide" Target="/ppt/notesSlides/notesSlide8.xml" Id="R8ce5ffc5ce5947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7b096afd75e47f8">
            <a:extLst>
              <a:ext uri="{96DAC541-7B7A-43D3-8B79-37D633B846F1}">
                <asvg:svgBlip xmlns:asvg="http://schemas.microsoft.com/office/drawing/2016/SVG/main" r:embed="Ra14bc79648b74bd1"/>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ED03697-8DF3-401C-99C9-03460BDE18E7}"/>
              </a:ext>
            </a:extLst>
          </p:cNvPr>
          <p:cNvSpPr>
            <a:spLocks xmlns:a="http://schemas.openxmlformats.org/drawingml/2006/main" noGrp="1"/>
          </p:cNvSpPr>
          <p:nvPr/>
        </p:nvSpPr>
        <p:spPr>
          <a:xfrm xmlns:a="http://schemas.openxmlformats.org/drawingml/2006/main">
            <a:off x="1581150" y="3810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5775" b="1">
                <a:solidFill>
                  <a:srgbClr val="173F33"/>
                </a:solidFill>
                <a:latin typeface="Calibri"/>
                <a:ea typeface="Calibri"/>
                <a:cs typeface="Calibri"/>
              </a:defRPr>
            </a:pPr>
            <a:r>
              <a:rPr sz="4350" b="1">
                <a:solidFill>
                  <a:srgbClr val="173F33"/>
                </a:solidFill>
                <a:latin typeface="Calibri"/>
                <a:ea typeface="Calibri"/>
                <a:cs typeface="Calibri"/>
              </a:rPr>
              <a:t>Saanthvana</a:t>
            </a:r>
          </a:p>
        </p:txBody>
      </p:sp>
      <p:sp>
        <p:nvSpPr>
          <p:cNvPr id="3" name="Hindi name">
            <a:extLst xmlns:a="http://schemas.openxmlformats.org/drawingml/2006/main">
              <a:ext uri="{FF2B5EF4-FFF2-40B4-BE49-F238E27FC236}">
                <a16:creationId xmlns:a16="http://schemas.microsoft.com/office/drawing/2014/main" id="{8CC91E0C-B6BC-44E8-937B-151CD731BB7B}"/>
              </a:ext>
            </a:extLst>
          </p:cNvPr>
          <p:cNvSpPr>
            <a:spLocks xmlns:a="http://schemas.openxmlformats.org/drawingml/2006/main" noGrp="1"/>
          </p:cNvSpPr>
          <p:nvPr/>
        </p:nvSpPr>
        <p:spPr>
          <a:xfrm xmlns:a="http://schemas.openxmlformats.org/drawingml/2006/main">
            <a:off x="5143500" y="504825"/>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सांत्वना</a:t>
            </a:r>
          </a:p>
        </p:txBody>
      </p:sp>
      <p:sp>
        <p:nvSpPr>
          <p:cNvPr id="4" name="Name meaning">
            <a:extLst xmlns:a="http://schemas.openxmlformats.org/drawingml/2006/main">
              <a:ext uri="{FF2B5EF4-FFF2-40B4-BE49-F238E27FC236}">
                <a16:creationId xmlns:a16="http://schemas.microsoft.com/office/drawing/2014/main" id="{4F5EC78B-2D4E-4D0B-B8B9-9DB90FDDE2F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400" b="0">
                <a:solidFill>
                  <a:srgbClr val="B75E43"/>
                </a:solidFill>
                <a:latin typeface="Calibri"/>
                <a:ea typeface="Calibri"/>
                <a:cs typeface="Calibri"/>
              </a:defRPr>
            </a:pPr>
            <a:r>
              <a:rPr sz="2400" b="0">
                <a:solidFill>
                  <a:srgbClr val="B75E43"/>
                </a:solidFill>
                <a:latin typeface="Calibri"/>
                <a:ea typeface="Calibri"/>
                <a:cs typeface="Calibri"/>
              </a:rPr>
              <a:t>Comfort &amp; reassurance</a:t>
            </a:r>
          </a:p>
        </p:txBody>
      </p:sp>
      <p:sp>
        <p:nvSpPr>
          <p:cNvPr id="5" name="Purpose">
            <a:extLst xmlns:a="http://schemas.openxmlformats.org/drawingml/2006/main">
              <a:ext uri="{FF2B5EF4-FFF2-40B4-BE49-F238E27FC236}">
                <a16:creationId xmlns:a16="http://schemas.microsoft.com/office/drawing/2014/main" id="{45EAC722-6A49-4604-9FD7-B4233F219A2B}"/>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250" b="1">
                <a:solidFill>
                  <a:srgbClr val="173F33"/>
                </a:solidFill>
                <a:latin typeface="Calibri"/>
                <a:ea typeface="Calibri"/>
                <a:cs typeface="Calibri"/>
              </a:defRPr>
            </a:pPr>
            <a:r>
              <a:rPr sz="2250" b="1">
                <a:solidFill>
                  <a:srgbClr val="173F33"/>
                </a:solidFill>
                <a:latin typeface="Calibri"/>
                <a:ea typeface="Calibri"/>
                <a:cs typeface="Calibri"/>
              </a:rPr>
              <a:t>Your palliative care companion for goals of care records, medicines, visits and local support. Doctors and families can find what matters, when it matters.</a:t>
            </a:r>
          </a:p>
        </p:txBody>
      </p:sp>
      <p:pic>
        <p:nvPicPr>
          <p:cNvPr id="43" name="Saanthvana website QR code" descr="Scan to open saanthvana.wedevit.in"/>
          <p:cNvPicPr>
            <a:picLocks xmlns:a="http://schemas.openxmlformats.org/drawingml/2006/main" noChangeAspect="1"/>
          </p:cNvPicPr>
          <p:nvPr/>
        </p:nvPicPr>
        <p:blipFill>
          <a:blip xmlns:r="http://schemas.openxmlformats.org/officeDocument/2006/relationships" xmlns:a="http://schemas.openxmlformats.org/drawingml/2006/main" r:embed="R8a3b53d0d79f4b84"/>
          <a:srcRect xmlns:a="http://schemas.openxmlformats.org/drawingml/2006/main" l="0" t="0" r="0" b="0"/>
          <a:stretch xmlns:a="http://schemas.openxmlformats.org/drawingml/2006/main">
            <a:fillRect l="0" t="0" r="0" b="0"/>
          </a:stretch>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F30C12A6-1431-4C25-8F09-D7233666979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600" b="1">
                <a:solidFill>
                  <a:srgbClr val="2D5F9A"/>
                </a:solidFill>
                <a:latin typeface="Calibri"/>
                <a:ea typeface="Calibri"/>
                <a:cs typeface="Calibri"/>
              </a:defRPr>
            </a:pPr>
            <a:r>
              <a:rPr sz="3150" b="1" u="sng">
                <a:solidFill>
                  <a:srgbClr val="2D5F9A"/>
                </a:solidFill>
                <a:latin typeface="Calibri"/>
                <a:ea typeface="Calibri"/>
                <a:cs typeface="Calibri"/>
                <a:hlinkClick xmlns:r="http://schemas.openxmlformats.org/officeDocument/2006/relationships" r:id="R593aca00b6c74443"/>
              </a:rPr>
              <a:t>saanthvana.wedevit.in</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e3bea323c2742cd">
            <a:extLst>
              <a:ext uri="{96DAC541-7B7A-43D3-8B79-37D633B846F1}">
                <asvg:svgBlip xmlns:asvg="http://schemas.microsoft.com/office/drawing/2016/SVG/main" r:embed="Rb460003250414198"/>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4506C395-16CD-4B44-B4D9-568613FF9975}"/>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85748387410e4b26"/>
              </a:rPr>
              <a:t>github.com/basithladdu/healthathon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7759e5c1c1f41f0">
            <a:extLst>
              <a:ext uri="{96DAC541-7B7A-43D3-8B79-37D633B846F1}">
                <asvg:svgBlip xmlns:asvg="http://schemas.microsoft.com/office/drawing/2016/SVG/main" r:embed="Rad2f2ba686374324"/>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E11BD72C-B7BB-49EB-A706-452F0AD8FA8C}"/>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28C4A"/>
                </a:solidFill>
                <a:latin typeface="Calibri"/>
                <a:ea typeface="Calibri"/>
                <a:cs typeface="Calibri"/>
              </a:defRPr>
            </a:pPr>
            <a:r>
              <a:rPr sz="1725" b="1" u="sng">
                <a:solidFill>
                  <a:srgbClr val="128C4A"/>
                </a:solidFill>
                <a:latin typeface="Calibri"/>
                <a:ea typeface="Calibri"/>
                <a:cs typeface="Calibri"/>
                <a:hlinkClick xmlns:r="http://schemas.openxmlformats.org/officeDocument/2006/relationships" r:id="Rd8d0cc57c67245d2"/>
              </a:rPr>
              <a:t>Questions? Contact us</a:t>
            </a:r>
          </a:p>
        </p:txBody>
      </p:sp>
      <p:sp>
        <p:nvSpPr>
          <p:cNvPr id="12" name="WhatsApp link">
            <a:extLst xmlns:a="http://schemas.openxmlformats.org/drawingml/2006/main">
              <a:ext uri="{FF2B5EF4-FFF2-40B4-BE49-F238E27FC236}">
                <a16:creationId xmlns:a16="http://schemas.microsoft.com/office/drawing/2014/main" id="{6E97E47B-4A76-4F44-8B28-93EC7E84161D}"/>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28C4A"/>
                </a:solidFill>
                <a:latin typeface="Calibri"/>
                <a:ea typeface="Calibri"/>
                <a:cs typeface="Calibri"/>
              </a:defRPr>
            </a:pPr>
            <a:r>
              <a:rPr sz="1500" b="0" u="sng">
                <a:solidFill>
                  <a:srgbClr val="128C4A"/>
                </a:solidFill>
                <a:latin typeface="Calibri"/>
                <a:ea typeface="Calibri"/>
                <a:cs typeface="Calibri"/>
                <a:hlinkClick xmlns:r="http://schemas.openxmlformats.org/officeDocument/2006/relationships" r:id="R2526c413a84f477c"/>
              </a:rPr>
              <a:t>wa.me/919553321211</a:t>
            </a:r>
          </a:p>
        </p:txBody>
      </p:sp>
      <p:pic>
        <p:nvPicPr>
          <p:cNvPr id="65" name="Google Drive logo" descr="Google Drive logo"/>
          <p:cNvPicPr>
            <a:picLocks xmlns:a="http://schemas.openxmlformats.org/drawingml/2006/main" noChangeAspect="1"/>
          </p:cNvPicPr>
          <p:nvPr/>
        </p:nvPicPr>
        <p:blipFill>
          <a:blip xmlns:r="http://schemas.openxmlformats.org/officeDocument/2006/relationships" xmlns:a="http://schemas.openxmlformats.org/drawingml/2006/main" r:embed="RcodexDriveIcon"/>
          <a:srcRect xmlns:a="http://schemas.openxmlformats.org/drawingml/2006/main" l="0" t="0" r="0" b="0"/>
          <a:stretch xmlns:a="http://schemas.openxmlformats.org/drawingml/2006/main">
            <a:fillRect l="0" t="0" r="0" b="0"/>
          </a:stretch>
        </p:blipFill>
        <p:spPr>
          <a:xfrm xmlns:a="http://schemas.openxmlformats.org/drawingml/2006/main">
            <a:off x="533400" y="4600575"/>
            <a:ext cx="228600" cy="228600"/>
          </a:xfrm>
          <a:prstGeom xmlns:a="http://schemas.openxmlformats.org/drawingml/2006/main" prst="rect">
            <a:avLst/>
          </a:prstGeom>
        </p:spPr>
      </p:pic>
      <p:sp>
        <p:nvSpPr>
          <p:cNvPr id="66" name="Video folder link">
            <a:extLst xmlns:a="http://schemas.openxmlformats.org/drawingml/2006/main">
              <a:ext uri="{FF2B5EF4-FFF2-40B4-BE49-F238E27FC236}">
                <a16:creationId xmlns:a16="http://schemas.microsoft.com/office/drawing/2014/main" id="{53CB6DB9-9053-4086-AF9B-89CC78B7D17F}"/>
              </a:ext>
            </a:extLst>
          </p:cNvPr>
          <p:cNvSpPr>
            <a:spLocks xmlns:a="http://schemas.openxmlformats.org/drawingml/2006/main" noGrp="1"/>
          </p:cNvSpPr>
          <p:nvPr/>
        </p:nvSpPr>
        <p:spPr>
          <a:xfrm xmlns:a="http://schemas.openxmlformats.org/drawingml/2006/main">
            <a:off x="962025" y="45720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codexDriveFolder"/>
              </a:rPr>
              <a:t>Video walkthrough</a:t>
            </a:r>
          </a:p>
        </p:txBody>
      </p:sp>
      <p:sp>
        <p:nvSpPr>
          <p:cNvPr id="13" name="">
            <a:extLst xmlns:a="http://schemas.openxmlformats.org/drawingml/2006/main">
              <a:ext uri="{FF2B5EF4-FFF2-40B4-BE49-F238E27FC236}">
                <a16:creationId xmlns:a16="http://schemas.microsoft.com/office/drawing/2014/main" id="{228B913E-34BF-40FB-A416-07C4E84822F7}"/>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430584D3-4EB0-4EFF-BD1D-E964E829562F}"/>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53655C"/>
                </a:solidFill>
                <a:latin typeface="Calibri"/>
                <a:ea typeface="Calibri"/>
                <a:cs typeface="Calibri"/>
              </a:defRPr>
            </a:pPr>
            <a:r>
              <a:rPr sz="1500" b="0">
                <a:solidFill>
                  <a:srgbClr val="53655C"/>
                </a:solidFill>
                <a:latin typeface="Calibri"/>
                <a:ea typeface="Calibri"/>
                <a:cs typeface="Calibri"/>
              </a:rPr>
              <a:t>By Zeros and Ones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7b096afd75e47f8"/>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0E56383F-EA88-4F31-920C-1DD2F731F0C9}"/>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Abdul</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Basith</a:t>
            </a:r>
          </a:p>
        </p:txBody>
      </p:sp>
      <p:sp>
        <p:nvSpPr>
          <p:cNvPr id="17" name="Team role 1">
            <a:extLst xmlns:a="http://schemas.openxmlformats.org/drawingml/2006/main">
              <a:ext uri="{FF2B5EF4-FFF2-40B4-BE49-F238E27FC236}">
                <a16:creationId xmlns:a16="http://schemas.microsoft.com/office/drawing/2014/main" id="{49A09F84-6216-4F84-9FB8-B951E9BABA2A}"/>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lead</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e3bea323c2742c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6A5BCE61-A66B-473C-B80B-751546940D37}"/>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Muhammad</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Awaiz</a:t>
            </a:r>
          </a:p>
        </p:txBody>
      </p:sp>
      <p:sp>
        <p:nvSpPr>
          <p:cNvPr id="20" name="Team role 2">
            <a:extLst xmlns:a="http://schemas.openxmlformats.org/drawingml/2006/main">
              <a:ext uri="{FF2B5EF4-FFF2-40B4-BE49-F238E27FC236}">
                <a16:creationId xmlns:a16="http://schemas.microsoft.com/office/drawing/2014/main" id="{C7103BBF-E9A8-4A2E-8925-A22CBB18E2C6}"/>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member</a:t>
            </a:r>
          </a:p>
        </p:txBody>
      </p:sp>
      <p:sp>
        <p:nvSpPr>
          <p:cNvPr id="21" name="Photo space for Dr Sharada&#10;Vinod Kutty">
            <a:extLst xmlns:a="http://schemas.openxmlformats.org/drawingml/2006/main">
              <a:ext uri="{FF2B5EF4-FFF2-40B4-BE49-F238E27FC236}">
                <a16:creationId xmlns:a16="http://schemas.microsoft.com/office/drawing/2014/main" id="{A953BBD6-B7E3-4CA6-83F3-5B947A87C0F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78B03224-4566-452F-8501-D3DF4A005F49}"/>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Sharada</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Vinod Kutty</a:t>
            </a:r>
          </a:p>
        </p:txBody>
      </p:sp>
      <p:sp>
        <p:nvSpPr>
          <p:cNvPr id="23" name="Team role 3">
            <a:extLst xmlns:a="http://schemas.openxmlformats.org/drawingml/2006/main">
              <a:ext uri="{FF2B5EF4-FFF2-40B4-BE49-F238E27FC236}">
                <a16:creationId xmlns:a16="http://schemas.microsoft.com/office/drawing/2014/main" id="{7E172EEF-6C21-43B8-BCE4-8FA91A80714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Doctor partner</a:t>
            </a:r>
          </a:p>
        </p:txBody>
      </p:sp>
      <p:pic>
        <p:nvPicPr>
          <p:cNvPr id="61" name="Portrait of Dr Sujay Halkur Shankar"/>
          <p:cNvPicPr>
            <a:picLocks xmlns:a="http://schemas.openxmlformats.org/drawingml/2006/main" noChangeAspect="1"/>
          </p:cNvPicPr>
          <p:nvPr/>
        </p:nvPicPr>
        <p:blipFill>
          <a:blip xmlns:r="http://schemas.openxmlformats.org/officeDocument/2006/relationships" xmlns:a="http://schemas.openxmlformats.org/drawingml/2006/main" r:embed="R66b1e8c459bd4bcf"/>
          <a:srcRect xmlns:a="http://schemas.openxmlformats.org/drawingml/2006/main" l="12868" t="13793" r="12868" b="19793"/>
          <a:stretch xmlns:a="http://schemas.openxmlformats.org/drawingml/2006/main">
            <a:fillRect l="0" t="0" r="0" b="0"/>
          </a:stretch>
        </p:blipFill>
        <p:spPr>
          <a:xfrm xmlns:a="http://schemas.openxmlformats.org/drawingml/2006/main">
            <a:off x="7277100" y="5495925"/>
            <a:ext cx="647700" cy="771525"/>
          </a:xfrm>
          <a:prstGeom xmlns:a="http://schemas.openxmlformats.org/drawingml/2006/main" prst="rect">
            <a:avLst/>
          </a:prstGeom>
        </p:spPr>
      </p:pic>
      <p:sp>
        <p:nvSpPr>
          <p:cNvPr id="25" name="Team member 4">
            <a:extLst xmlns:a="http://schemas.openxmlformats.org/drawingml/2006/main">
              <a:ext uri="{FF2B5EF4-FFF2-40B4-BE49-F238E27FC236}">
                <a16:creationId xmlns:a16="http://schemas.microsoft.com/office/drawing/2014/main" id="{904A1194-27D0-493A-828D-2917527FA6F7}"/>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Sujay</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Halkur Shankar</a:t>
            </a:r>
          </a:p>
        </p:txBody>
      </p:sp>
      <p:sp>
        <p:nvSpPr>
          <p:cNvPr id="26" name="Team role 4">
            <a:extLst xmlns:a="http://schemas.openxmlformats.org/drawingml/2006/main">
              <a:ext uri="{FF2B5EF4-FFF2-40B4-BE49-F238E27FC236}">
                <a16:creationId xmlns:a16="http://schemas.microsoft.com/office/drawing/2014/main" id="{5D05C0FB-7723-4899-AE8B-ED6EC79BB077}"/>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Clinician</a:t>
            </a:r>
          </a:p>
        </p:txBody>
      </p:sp>
      <p:pic>
        <p:nvPicPr>
          <p:cNvPr id="64" name="Portrait of Shirin Ayub"/>
          <p:cNvPicPr>
            <a:picLocks xmlns:a="http://schemas.openxmlformats.org/drawingml/2006/main" noChangeAspect="1"/>
          </p:cNvPicPr>
          <p:nvPr/>
        </p:nvPicPr>
        <p:blipFill>
          <a:blip xmlns:r="http://schemas.openxmlformats.org/officeDocument/2006/relationships" xmlns:a="http://schemas.openxmlformats.org/drawingml/2006/main" r:embed="R5961c383bdc14943"/>
          <a:srcRect xmlns:a="http://schemas.openxmlformats.org/drawingml/2006/main" l="22778" t="32188" r="22778" b="31312"/>
          <a:stretch xmlns:a="http://schemas.openxmlformats.org/drawingml/2006/main">
            <a:fillRect l="0" t="0" r="0" b="0"/>
          </a:stretch>
        </p:blipFill>
        <p:spPr>
          <a:xfrm xmlns:a="http://schemas.openxmlformats.org/drawingml/2006/main">
            <a:off x="9525000" y="5495925"/>
            <a:ext cx="647700" cy="771525"/>
          </a:xfrm>
          <a:prstGeom xmlns:a="http://schemas.openxmlformats.org/drawingml/2006/main" prst="rect">
            <a:avLst/>
          </a:prstGeom>
        </p:spPr>
      </p:pic>
      <p:sp>
        <p:nvSpPr>
          <p:cNvPr id="28" name="Team member 5">
            <a:extLst xmlns:a="http://schemas.openxmlformats.org/drawingml/2006/main">
              <a:ext uri="{FF2B5EF4-FFF2-40B4-BE49-F238E27FC236}">
                <a16:creationId xmlns:a16="http://schemas.microsoft.com/office/drawing/2014/main" id="{8AAE5AC2-40FB-44B2-99D6-A8C0D888265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Shirin Ayub</a:t>
            </a:r>
          </a:p>
        </p:txBody>
      </p:sp>
      <p:sp>
        <p:nvSpPr>
          <p:cNvPr id="29" name="Team role 5">
            <a:extLst xmlns:a="http://schemas.openxmlformats.org/drawingml/2006/main">
              <a:ext uri="{FF2B5EF4-FFF2-40B4-BE49-F238E27FC236}">
                <a16:creationId xmlns:a16="http://schemas.microsoft.com/office/drawing/2014/main" id="{C1197E28-0052-4E00-B161-8E7357A270C4}"/>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Medical student</a:t>
            </a:r>
          </a:p>
        </p:txBody>
      </p:sp>
      <p:pic>
        <p:nvPicPr>
          <p:cNvPr id="108" name="Portrait of Dr Sharada Vinod Kutty" descr="Portrait of Dr Sharada Vinod Kutty"/>
          <p:cNvPicPr>
            <a:picLocks xmlns:a="http://schemas.openxmlformats.org/drawingml/2006/main" noChangeAspect="1"/>
          </p:cNvPicPr>
          <p:nvPr/>
        </p:nvPicPr>
        <p:blipFill>
          <a:blip xmlns:r="http://schemas.openxmlformats.org/officeDocument/2006/relationships" xmlns:a="http://schemas.openxmlformats.org/drawingml/2006/main" r:embed="rIdSharadaAvatar"/>
          <a:srcRect xmlns:a="http://schemas.openxmlformats.org/drawingml/2006/main" l="0" t="10294" r="0" b="10294"/>
          <a:stretch xmlns:a="http://schemas.openxmlformats.org/drawingml/2006/main">
            <a:fillRect l="0" t="0" r="0" b="0"/>
          </a:stretch>
        </p:blipFill>
        <p:spPr>
          <a:xfrm xmlns:a="http://schemas.openxmlformats.org/drawingml/2006/main">
            <a:off x="5029200" y="5495925"/>
            <a:ext cx="647700" cy="771525"/>
          </a:xfrm>
          <a:prstGeom xmlns:a="http://schemas.openxmlformats.org/drawingml/2006/main" prst="rect">
            <a:avLst/>
          </a:prstGeom>
        </p:spPr>
      </p:pic>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073F4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4D2290DF-E9AD-4BE2-ABE4-CEE99251BA43}"/>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FFFFFF"/>
                </a:solidFill>
                <a:latin typeface="Georgia"/>
                <a:ea typeface="Georgia"/>
                <a:cs typeface="Georgia"/>
              </a:defRPr>
            </a:pPr>
            <a:r>
              <a:rPr sz="3075" b="1">
                <a:solidFill>
                  <a:srgbClr val="FFFFFF"/>
                </a:solidFill>
                <a:latin typeface="Georgia"/>
                <a:ea typeface="Georgia"/>
                <a:cs typeface="Georgia"/>
              </a:rPr>
              <a:t>A family is asked to decide without knowing her wishes</a:t>
            </a:r>
          </a:p>
        </p:txBody>
      </p:sp>
      <p:sp>
        <p:nvSpPr>
          <p:cNvPr id="2" name="Illustrative patient">
            <a:extLst xmlns:a="http://schemas.openxmlformats.org/drawingml/2006/main">
              <a:ext uri="{FF2B5EF4-FFF2-40B4-BE49-F238E27FC236}">
                <a16:creationId xmlns:a16="http://schemas.microsoft.com/office/drawing/2014/main" id="{E46F361C-3ED0-467E-9ACA-4E243C0DC4A4}"/>
              </a:ext>
            </a:extLst>
          </p:cNvPr>
          <p:cNvSpPr>
            <a:spLocks xmlns:a="http://schemas.openxmlformats.org/drawingml/2006/main" noGrp="1"/>
          </p:cNvSpPr>
          <p:nvPr/>
        </p:nvSpPr>
        <p:spPr>
          <a:xfrm xmlns:a="http://schemas.openxmlformats.org/drawingml/2006/main">
            <a:off x="533400" y="11334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75" b="1">
                <a:solidFill>
                  <a:srgbClr val="FFFFFF"/>
                </a:solidFill>
                <a:latin typeface="Calibri"/>
                <a:ea typeface="Calibri"/>
                <a:cs typeface="Calibri"/>
              </a:defRPr>
            </a:pPr>
            <a:r>
              <a:rPr sz="2175" b="1">
                <a:solidFill>
                  <a:srgbClr val="FFFFFF"/>
                </a:solidFill>
                <a:latin typeface="Calibri"/>
                <a:ea typeface="Calibri"/>
                <a:cs typeface="Calibri"/>
              </a:rPr>
              <a:t>A 62-year-old woman with advanced breast cancer receives best supportive 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50f8d0abcc74b07"/>
          <a:srcRect xmlns:a="http://schemas.openxmlformats.org/drawingml/2006/main" l="8449" t="0" r="8449" b="0"/>
          <a:stretch xmlns:a="http://schemas.openxmlformats.org/drawingml/2006/main">
            <a:fillRect l="0" t="0" r="0" b="0"/>
          </a:stretch>
        </p:blipFill>
        <p:spPr>
          <a:xfrm xmlns:a="http://schemas.openxmlformats.org/drawingml/2006/main">
            <a:off x="533400" y="2076822"/>
            <a:ext cx="5219700" cy="3466355"/>
          </a:xfrm>
          <a:prstGeom xmlns:a="http://schemas.openxmlformats.org/drawingml/2006/main" prst="rect">
            <a:avLst/>
          </a:prstGeom>
        </p:spPr>
      </p:pic>
      <p:sp>
        <p:nvSpPr>
          <p:cNvPr id="4" name="Care photo context">
            <a:extLst xmlns:a="http://schemas.openxmlformats.org/drawingml/2006/main">
              <a:ext uri="{FF2B5EF4-FFF2-40B4-BE49-F238E27FC236}">
                <a16:creationId xmlns:a16="http://schemas.microsoft.com/office/drawing/2014/main" id="{5606414A-611B-4F76-BD0E-F83728AFE8B8}"/>
              </a:ext>
            </a:extLst>
          </p:cNvPr>
          <p:cNvSpPr>
            <a:spLocks xmlns:a="http://schemas.openxmlformats.org/drawingml/2006/main" noGrp="1"/>
          </p:cNvSpPr>
          <p:nvPr/>
        </p:nvSpPr>
        <p:spPr>
          <a:xfrm xmlns:a="http://schemas.openxmlformats.org/drawingml/2006/main">
            <a:off x="533400" y="56483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DAEDEF"/>
                </a:solidFill>
                <a:latin typeface="Calibri"/>
                <a:ea typeface="Calibri"/>
                <a:cs typeface="Calibri"/>
              </a:defRPr>
            </a:pPr>
            <a:r>
              <a:rPr sz="1163" b="0">
                <a:solidFill>
                  <a:srgbClr val="DAEDEF"/>
                </a:solidFill>
                <a:latin typeface="Calibri"/>
                <a:ea typeface="Calibri"/>
                <a:cs typeface="Calibri"/>
              </a:rPr>
              <a:t>Illustrative consultation photo.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32691d8898464f">
            <a:extLst>
              <a:ext uri="{96DAC541-7B7A-43D3-8B79-37D633B846F1}">
                <asvg:svgBlip xmlns:asvg="http://schemas.microsoft.com/office/drawing/2016/SVG/main" r:embed="Rd8abaa6dbd6d4233"/>
              </a:ext>
            </a:extLst>
          </a:blip>
          <a:stretch xmlns:a="http://schemas.openxmlformats.org/drawingml/2006/main"/>
        </p:blipFill>
        <p:spPr>
          <a:xfrm xmlns:a="http://schemas.openxmlformats.org/drawingml/2006/main">
            <a:off x="6191250" y="1990725"/>
            <a:ext cx="381000" cy="381000"/>
          </a:xfrm>
          <a:prstGeom xmlns:a="http://schemas.openxmlformats.org/drawingml/2006/main" prst="rect">
            <a:avLst/>
          </a:prstGeom>
        </p:spPr>
      </p:pic>
      <p:sp>
        <p:nvSpPr>
          <p:cNvPr id="6" name="Story step 1">
            <a:extLst xmlns:a="http://schemas.openxmlformats.org/drawingml/2006/main">
              <a:ext uri="{FF2B5EF4-FFF2-40B4-BE49-F238E27FC236}">
                <a16:creationId xmlns:a16="http://schemas.microsoft.com/office/drawing/2014/main" id="{E1BFA0F2-6D23-43E5-A8E7-E7D34B565ABC}"/>
              </a:ext>
            </a:extLst>
          </p:cNvPr>
          <p:cNvSpPr>
            <a:spLocks xmlns:a="http://schemas.openxmlformats.org/drawingml/2006/main" noGrp="1"/>
          </p:cNvSpPr>
          <p:nvPr/>
        </p:nvSpPr>
        <p:spPr>
          <a:xfrm xmlns:a="http://schemas.openxmlformats.org/drawingml/2006/main">
            <a:off x="6753225" y="1990725"/>
            <a:ext cx="4905375" cy="400050"/>
          </a:xfrm>
          <a:prstGeom xmlns:a="http://schemas.openxmlformats.org/drawingml/2006/main" prst="roundRect">
            <a:avLst>
              <a:gd name="adj" fmla="val 28571"/>
            </a:avLst>
          </a:prstGeom>
          <a:solidFill xmlns:a="http://schemas.openxmlformats.org/drawingml/2006/main">
            <a:srgbClr val="56CBB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FD154"/>
                </a:solidFill>
                <a:latin typeface="Calibri"/>
                <a:ea typeface="Calibri"/>
                <a:cs typeface="Calibri"/>
              </a:defRPr>
            </a:pPr>
            <a:r>
              <a:rPr sz="2100" b="1">
                <a:solidFill>
                  <a:srgbClr val="073F49"/>
                </a:solidFill>
                <a:latin typeface="Calibri"/>
                <a:ea typeface="Calibri"/>
                <a:cs typeface="Calibri"/>
              </a:rPr>
              <a:t>At the clinic</a:t>
            </a:r>
          </a:p>
        </p:txBody>
      </p:sp>
      <p:sp>
        <p:nvSpPr>
          <p:cNvPr id="7" name="Story step 1 detail">
            <a:extLst xmlns:a="http://schemas.openxmlformats.org/drawingml/2006/main">
              <a:ext uri="{FF2B5EF4-FFF2-40B4-BE49-F238E27FC236}">
                <a16:creationId xmlns:a16="http://schemas.microsoft.com/office/drawing/2014/main" id="{E18B961B-9ED7-4410-9AD0-7A14D2927D2A}"/>
              </a:ext>
            </a:extLst>
          </p:cNvPr>
          <p:cNvSpPr>
            <a:spLocks xmlns:a="http://schemas.openxmlformats.org/drawingml/2006/main" noGrp="1"/>
          </p:cNvSpPr>
          <p:nvPr/>
        </p:nvSpPr>
        <p:spPr>
          <a:xfrm xmlns:a="http://schemas.openxmlformats.org/drawingml/2006/main">
            <a:off x="6753225" y="248602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Her doctor discusses her wishes. Only her husband attends.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bb52a62d474d80">
            <a:extLst>
              <a:ext uri="{96DAC541-7B7A-43D3-8B79-37D633B846F1}">
                <asvg:svgBlip xmlns:asvg="http://schemas.microsoft.com/office/drawing/2016/SVG/main" r:embed="R4c3d8d0005d74fdf"/>
              </a:ext>
            </a:extLst>
          </a:blip>
          <a:stretch xmlns:a="http://schemas.openxmlformats.org/drawingml/2006/main"/>
        </p:blipFill>
        <p:spPr>
          <a:xfrm xmlns:a="http://schemas.openxmlformats.org/drawingml/2006/main">
            <a:off x="6191250" y="3371850"/>
            <a:ext cx="381000" cy="381000"/>
          </a:xfrm>
          <a:prstGeom xmlns:a="http://schemas.openxmlformats.org/drawingml/2006/main" prst="rect">
            <a:avLst/>
          </a:prstGeom>
        </p:spPr>
      </p:pic>
      <p:sp>
        <p:nvSpPr>
          <p:cNvPr id="9" name="Story step 2">
            <a:extLst xmlns:a="http://schemas.openxmlformats.org/drawingml/2006/main">
              <a:ext uri="{FF2B5EF4-FFF2-40B4-BE49-F238E27FC236}">
                <a16:creationId xmlns:a16="http://schemas.microsoft.com/office/drawing/2014/main" id="{EEFC35A6-3BF3-423E-B3B2-91B0239D9197}"/>
              </a:ext>
            </a:extLst>
          </p:cNvPr>
          <p:cNvSpPr>
            <a:spLocks xmlns:a="http://schemas.openxmlformats.org/drawingml/2006/main" noGrp="1"/>
          </p:cNvSpPr>
          <p:nvPr/>
        </p:nvSpPr>
        <p:spPr>
          <a:xfrm xmlns:a="http://schemas.openxmlformats.org/drawingml/2006/main">
            <a:off x="6753225" y="3371850"/>
            <a:ext cx="4905375" cy="400050"/>
          </a:xfrm>
          <a:prstGeom xmlns:a="http://schemas.openxmlformats.org/drawingml/2006/main" prst="roundRect">
            <a:avLst>
              <a:gd name="adj" fmla="val 28571"/>
            </a:avLst>
          </a:prstGeom>
          <a:solidFill xmlns:a="http://schemas.openxmlformats.org/drawingml/2006/main">
            <a:srgbClr val="F0B84B"/>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E0D7FF"/>
                </a:solidFill>
                <a:latin typeface="Calibri"/>
                <a:ea typeface="Calibri"/>
                <a:cs typeface="Calibri"/>
              </a:defRPr>
            </a:pPr>
            <a:r>
              <a:rPr sz="2100" b="1">
                <a:solidFill>
                  <a:srgbClr val="073F49"/>
                </a:solidFill>
                <a:latin typeface="Calibri"/>
                <a:ea typeface="Calibri"/>
                <a:cs typeface="Calibri"/>
              </a:rPr>
              <a:t>Two months later</a:t>
            </a:r>
          </a:p>
        </p:txBody>
      </p:sp>
      <p:sp>
        <p:nvSpPr>
          <p:cNvPr id="10" name="Story step 2 detail">
            <a:extLst xmlns:a="http://schemas.openxmlformats.org/drawingml/2006/main">
              <a:ext uri="{FF2B5EF4-FFF2-40B4-BE49-F238E27FC236}">
                <a16:creationId xmlns:a16="http://schemas.microsoft.com/office/drawing/2014/main" id="{F7597F94-D63D-4F8A-8802-A869C9DABF57}"/>
              </a:ext>
            </a:extLst>
          </p:cNvPr>
          <p:cNvSpPr>
            <a:spLocks xmlns:a="http://schemas.openxmlformats.org/drawingml/2006/main" noGrp="1"/>
          </p:cNvSpPr>
          <p:nvPr/>
        </p:nvSpPr>
        <p:spPr>
          <a:xfrm xmlns:a="http://schemas.openxmlformats.org/drawingml/2006/main">
            <a:off x="6753225" y="38671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She becomes unconscious and is brought to the Emergency Department. The doctor asks if she wanted CPR if her heart stopped.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3ab599ff6114d49">
            <a:extLst>
              <a:ext uri="{96DAC541-7B7A-43D3-8B79-37D633B846F1}">
                <asvg:svgBlip xmlns:asvg="http://schemas.microsoft.com/office/drawing/2016/SVG/main" r:embed="R0245618c6ea348b9"/>
              </a:ext>
            </a:extLst>
          </a:blip>
          <a:stretch xmlns:a="http://schemas.openxmlformats.org/drawingml/2006/main"/>
        </p:blipFill>
        <p:spPr>
          <a:xfrm xmlns:a="http://schemas.openxmlformats.org/drawingml/2006/main">
            <a:off x="6191250" y="4752975"/>
            <a:ext cx="381000" cy="381000"/>
          </a:xfrm>
          <a:prstGeom xmlns:a="http://schemas.openxmlformats.org/drawingml/2006/main" prst="rect">
            <a:avLst/>
          </a:prstGeom>
        </p:spPr>
      </p:pic>
      <p:sp>
        <p:nvSpPr>
          <p:cNvPr id="12" name="Story step 3">
            <a:extLst xmlns:a="http://schemas.openxmlformats.org/drawingml/2006/main">
              <a:ext uri="{FF2B5EF4-FFF2-40B4-BE49-F238E27FC236}">
                <a16:creationId xmlns:a16="http://schemas.microsoft.com/office/drawing/2014/main" id="{ACE2060F-4CA4-4713-BCAB-481470B01F4F}"/>
              </a:ext>
            </a:extLst>
          </p:cNvPr>
          <p:cNvSpPr>
            <a:spLocks xmlns:a="http://schemas.openxmlformats.org/drawingml/2006/main" noGrp="1"/>
          </p:cNvSpPr>
          <p:nvPr/>
        </p:nvSpPr>
        <p:spPr>
          <a:xfrm xmlns:a="http://schemas.openxmlformats.org/drawingml/2006/main">
            <a:off x="6753225" y="4752975"/>
            <a:ext cx="4905375" cy="400050"/>
          </a:xfrm>
          <a:prstGeom xmlns:a="http://schemas.openxmlformats.org/drawingml/2006/main" prst="roundRect">
            <a:avLst>
              <a:gd name="adj" fmla="val 28571"/>
            </a:avLst>
          </a:prstGeom>
          <a:solidFill xmlns:a="http://schemas.openxmlformats.org/drawingml/2006/main">
            <a:srgbClr val="E46E83"/>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DBA74"/>
                </a:solidFill>
                <a:latin typeface="Calibri"/>
                <a:ea typeface="Calibri"/>
                <a:cs typeface="Calibri"/>
              </a:defRPr>
            </a:pPr>
            <a:r>
              <a:rPr sz="2100" b="1">
                <a:solidFill>
                  <a:srgbClr val="073F49"/>
                </a:solidFill>
                <a:latin typeface="Calibri"/>
                <a:ea typeface="Calibri"/>
                <a:cs typeface="Calibri"/>
              </a:rPr>
              <a:t>The family has not agreed</a:t>
            </a:r>
          </a:p>
        </p:txBody>
      </p:sp>
      <p:sp>
        <p:nvSpPr>
          <p:cNvPr id="13" name="Story step 3 detail">
            <a:extLst xmlns:a="http://schemas.openxmlformats.org/drawingml/2006/main">
              <a:ext uri="{FF2B5EF4-FFF2-40B4-BE49-F238E27FC236}">
                <a16:creationId xmlns:a16="http://schemas.microsoft.com/office/drawing/2014/main" id="{FD757984-482D-4B30-9EDA-D5D07420EE82}"/>
              </a:ext>
            </a:extLst>
          </p:cNvPr>
          <p:cNvSpPr>
            <a:spLocks xmlns:a="http://schemas.openxmlformats.org/drawingml/2006/main" noGrp="1"/>
          </p:cNvSpPr>
          <p:nvPr/>
        </p:nvSpPr>
        <p:spPr>
          <a:xfrm xmlns:a="http://schemas.openxmlformats.org/drawingml/2006/main">
            <a:off x="6753225" y="524827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575" b="0">
                <a:solidFill>
                  <a:srgbClr val="FFFFFF"/>
                </a:solidFill>
                <a:latin typeface="Calibri"/>
                <a:ea typeface="Calibri"/>
                <a:cs typeface="Calibri"/>
              </a:rPr>
              <a:t>Her husband says yes; her daughter says no. Her son pays for her treatment but is unavailable. The family has not agreed, and her earlier note is missing.</a:t>
            </a:r>
          </a:p>
        </p:txBody>
      </p:sp>
      <p:sp>
        <p:nvSpPr>
          <p:cNvPr id="14" name="Shared record takeaway">
            <a:extLst xmlns:a="http://schemas.openxmlformats.org/drawingml/2006/main">
              <a:ext uri="{FF2B5EF4-FFF2-40B4-BE49-F238E27FC236}">
                <a16:creationId xmlns:a16="http://schemas.microsoft.com/office/drawing/2014/main" id="{1A856099-6E43-41EE-918E-4C9D2B9E3B1B}"/>
              </a:ext>
            </a:extLst>
          </p:cNvPr>
          <p:cNvSpPr>
            <a:spLocks xmlns:a="http://schemas.openxmlformats.org/drawingml/2006/main" noGrp="1"/>
          </p:cNvSpPr>
          <p:nvPr/>
        </p:nvSpPr>
        <p:spPr>
          <a:xfrm xmlns:a="http://schemas.openxmlformats.org/drawingml/2006/main">
            <a:off x="381000" y="6296025"/>
            <a:ext cx="11430000" cy="561975"/>
          </a:xfrm>
          <a:prstGeom xmlns:a="http://schemas.openxmlformats.org/drawingml/2006/main" prst="rect">
            <a:avLst/>
          </a:prstGeom>
          <a:solidFill xmlns:a="http://schemas.openxmlformats.org/drawingml/2006/main">
            <a:srgbClr val="073F49"/>
          </a:solidFill>
          <a:ln xmlns:a="http://schemas.openxmlformats.org/drawingml/2006/main" w="0">
            <a:noFill/>
          </a:ln>
        </p:spPr>
      </p:sp>
      <p:sp>
        <p:nvSpPr>
          <p:cNvPr id="15" name="Closing thought">
            <a:extLst xmlns:a="http://schemas.openxmlformats.org/drawingml/2006/main">
              <a:ext uri="{FF2B5EF4-FFF2-40B4-BE49-F238E27FC236}">
                <a16:creationId xmlns:a16="http://schemas.microsoft.com/office/drawing/2014/main" id="{05A448ED-61A1-462B-91B4-94D437BF6485}"/>
              </a:ext>
            </a:extLst>
          </p:cNvPr>
          <p:cNvSpPr>
            <a:spLocks xmlns:a="http://schemas.openxmlformats.org/drawingml/2006/main" noGrp="1"/>
          </p:cNvSpPr>
          <p:nvPr/>
        </p:nvSpPr>
        <p:spPr>
          <a:xfrm xmlns:a="http://schemas.openxmlformats.org/drawingml/2006/main">
            <a:off x="533400" y="64103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FFFFFF"/>
                </a:solidFill>
                <a:latin typeface="Calibri"/>
                <a:ea typeface="Calibri"/>
                <a:cs typeface="Calibri"/>
              </a:defRPr>
            </a:pPr>
            <a:r>
              <a:rPr sz="2025" b="1">
                <a:solidFill>
                  <a:srgbClr val="FFFFFF"/>
                </a:solidFill>
                <a:latin typeface="Calibri"/>
                <a:ea typeface="Calibri"/>
                <a:cs typeface="Calibri"/>
              </a:rPr>
              <a:t>Her family needs a clear record of what she wanted.</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CAD8ED"/>
        </a:solidFill>
      </p:bgPr>
    </p:bg>
    <p:spTree>
      <p:nvGrpSpPr>
        <p:cNvPr id="1" name=""/>
        <p:cNvGrpSpPr/>
        <p:nvPr/>
      </p:nvGrpSpPr>
      <p:grpSpPr>
        <a:xfrm xmlns:a="http://schemas.openxmlformats.org/drawingml/2006/main"/>
      </p:grpSpPr>
      <p:graphicFrame>
        <p:nvGraphicFramePr>
          <p:cNvPr id="49" name="Chart"/>
          <p:cNvGraphicFramePr/>
          <p:nvPr/>
        </p:nvGraphicFramePr>
        <p:xfrm>
          <a:off xmlns:a="http://schemas.openxmlformats.org/drawingml/2006/main" x="7372350" y="2657475"/>
          <a:ext xmlns:a="http://schemas.openxmlformats.org/drawingml/2006/main" cx="4057650" cy="1619250"/>
        </p:xfrm>
        <a:graphic xmlns:a="http://schemas.openxmlformats.org/drawingml/2006/main">
          <a:graphicData uri="http://schemas.openxmlformats.org/drawingml/2006/chart">
            <c:chart xmlns:r="http://schemas.openxmlformats.org/officeDocument/2006/relationships" xmlns:c="http://schemas.openxmlformats.org/drawingml/2006/chart" r:id="R1ab151852da747a6"/>
          </a:graphicData>
        </a:graphic>
      </p:graphicFrame>
      <p:sp>
        <p:nvSpPr>
          <p:cNvPr id="15" name="Slide title">
            <a:extLst xmlns:a="http://schemas.openxmlformats.org/drawingml/2006/main">
              <a:ext uri="{FF2B5EF4-FFF2-40B4-BE49-F238E27FC236}">
                <a16:creationId xmlns:a16="http://schemas.microsoft.com/office/drawing/2014/main" id="{60CD0C70-7B6B-417B-8251-A230503B2094}"/>
              </a:ext>
            </a:extLst>
          </p:cNvPr>
          <p:cNvSpPr>
            <a:spLocks xmlns:a="http://schemas.openxmlformats.org/drawingml/2006/main" noGrp="1"/>
          </p:cNvSpPr>
          <p:nvPr/>
        </p:nvSpPr>
        <p:spPr>
          <a:xfrm xmlns:a="http://schemas.openxmlformats.org/drawingml/2006/main">
            <a:off x="533400" y="3048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Cancer care needs support between visits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a75c197d4d54d1b">
            <a:extLst>
              <a:ext uri="{96DAC541-7B7A-43D3-8B79-37D633B846F1}">
                <asvg:svgBlip xmlns:asvg="http://schemas.microsoft.com/office/drawing/2016/SVG/main" r:embed="Rb6f24024de5c477f"/>
              </a:ext>
            </a:extLst>
          </a:blip>
          <a:stretch xmlns:a="http://schemas.openxmlformats.org/drawingml/2006/main"/>
        </p:blipFill>
        <p:spPr>
          <a:xfrm xmlns:a="http://schemas.openxmlformats.org/drawingml/2006/main">
            <a:off x="533400" y="1257300"/>
            <a:ext cx="361950" cy="361950"/>
          </a:xfrm>
          <a:prstGeom xmlns:a="http://schemas.openxmlformats.org/drawingml/2006/main" prst="rect">
            <a:avLst/>
          </a:prstGeom>
        </p:spPr>
      </p:pic>
      <p:sp>
        <p:nvSpPr>
          <p:cNvPr id="17" name="Evidence 15.6 lakh">
            <a:extLst xmlns:a="http://schemas.openxmlformats.org/drawingml/2006/main">
              <a:ext uri="{FF2B5EF4-FFF2-40B4-BE49-F238E27FC236}">
                <a16:creationId xmlns:a16="http://schemas.microsoft.com/office/drawing/2014/main" id="{24987B7E-8832-4110-A7BD-4B4BED9FDAE5}"/>
              </a:ext>
            </a:extLst>
          </p:cNvPr>
          <p:cNvSpPr>
            <a:spLocks xmlns:a="http://schemas.openxmlformats.org/drawingml/2006/main" noGrp="1"/>
          </p:cNvSpPr>
          <p:nvPr/>
        </p:nvSpPr>
        <p:spPr>
          <a:xfrm xmlns:a="http://schemas.openxmlformats.org/drawingml/2006/main">
            <a:off x="1000125"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B75E43"/>
                </a:solidFill>
                <a:latin typeface="Calibri"/>
                <a:ea typeface="Calibri"/>
                <a:cs typeface="Calibri"/>
              </a:defRPr>
            </a:pPr>
            <a:r>
              <a:rPr sz="3300" b="1">
                <a:solidFill>
                  <a:srgbClr val="B75E43"/>
                </a:solidFill>
                <a:latin typeface="Calibri"/>
                <a:ea typeface="Calibri"/>
                <a:cs typeface="Calibri"/>
              </a:rPr>
              <a:t>15.6 lakh</a:t>
            </a:r>
          </a:p>
        </p:txBody>
      </p:sp>
      <p:sp>
        <p:nvSpPr>
          <p:cNvPr id="18" name="Evidence 15.6 lakh scope">
            <a:extLst xmlns:a="http://schemas.openxmlformats.org/drawingml/2006/main">
              <a:ext uri="{FF2B5EF4-FFF2-40B4-BE49-F238E27FC236}">
                <a16:creationId xmlns:a16="http://schemas.microsoft.com/office/drawing/2014/main" id="{42CAF70C-B982-46DC-926B-37F3A8E5639C}"/>
              </a:ext>
            </a:extLst>
          </p:cNvPr>
          <p:cNvSpPr>
            <a:spLocks xmlns:a="http://schemas.openxmlformats.org/drawingml/2006/main" noGrp="1"/>
          </p:cNvSpPr>
          <p:nvPr/>
        </p:nvSpPr>
        <p:spPr>
          <a:xfrm xmlns:a="http://schemas.openxmlformats.org/drawingml/2006/main">
            <a:off x="533400"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new cancer cases in India in 2024.</a:t>
            </a:r>
          </a:p>
        </p:txBody>
      </p:sp>
      <p:sp>
        <p:nvSpPr>
          <p:cNvPr id="19" name="Evidence 15.6 lakh source">
            <a:extLst xmlns:a="http://schemas.openxmlformats.org/drawingml/2006/main">
              <a:ext uri="{FF2B5EF4-FFF2-40B4-BE49-F238E27FC236}">
                <a16:creationId xmlns:a16="http://schemas.microsoft.com/office/drawing/2014/main" id="{73B33E90-3035-48FC-9042-712D7D53E04A}"/>
              </a:ext>
            </a:extLst>
          </p:cNvPr>
          <p:cNvSpPr>
            <a:spLocks xmlns:a="http://schemas.openxmlformats.org/drawingml/2006/main" noGrp="1"/>
          </p:cNvSpPr>
          <p:nvPr/>
        </p:nvSpPr>
        <p:spPr>
          <a:xfrm xmlns:a="http://schemas.openxmlformats.org/drawingml/2006/main">
            <a:off x="533400"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73b10087f87746a4"/>
              </a:rPr>
              <a:t>IARC, GLOBOCAN 2024</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7e3fa530c1346c7">
            <a:extLst>
              <a:ext uri="{96DAC541-7B7A-43D3-8B79-37D633B846F1}">
                <asvg:svgBlip xmlns:asvg="http://schemas.microsoft.com/office/drawing/2016/SVG/main" r:embed="R3b04ef403cba4597"/>
              </a:ext>
            </a:extLst>
          </a:blip>
          <a:stretch xmlns:a="http://schemas.openxmlformats.org/drawingml/2006/main"/>
        </p:blipFill>
        <p:spPr>
          <a:xfrm xmlns:a="http://schemas.openxmlformats.org/drawingml/2006/main">
            <a:off x="3857625" y="1257300"/>
            <a:ext cx="361950" cy="361950"/>
          </a:xfrm>
          <a:prstGeom xmlns:a="http://schemas.openxmlformats.org/drawingml/2006/main" prst="rect">
            <a:avLst/>
          </a:prstGeom>
        </p:spPr>
      </p:pic>
      <p:sp>
        <p:nvSpPr>
          <p:cNvPr id="21" name="Evidence 98.39%">
            <a:extLst xmlns:a="http://schemas.openxmlformats.org/drawingml/2006/main">
              <a:ext uri="{FF2B5EF4-FFF2-40B4-BE49-F238E27FC236}">
                <a16:creationId xmlns:a16="http://schemas.microsoft.com/office/drawing/2014/main" id="{92F62799-9EB2-41D4-A980-3E44BF96D7FD}"/>
              </a:ext>
            </a:extLst>
          </p:cNvPr>
          <p:cNvSpPr>
            <a:spLocks xmlns:a="http://schemas.openxmlformats.org/drawingml/2006/main" noGrp="1"/>
          </p:cNvSpPr>
          <p:nvPr/>
        </p:nvSpPr>
        <p:spPr>
          <a:xfrm xmlns:a="http://schemas.openxmlformats.org/drawingml/2006/main">
            <a:off x="4324350"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157B68"/>
                </a:solidFill>
                <a:latin typeface="Calibri"/>
                <a:ea typeface="Calibri"/>
                <a:cs typeface="Calibri"/>
              </a:defRPr>
            </a:pPr>
            <a:r>
              <a:rPr sz="3300" b="1">
                <a:solidFill>
                  <a:srgbClr val="157B68"/>
                </a:solidFill>
                <a:latin typeface="Calibri"/>
                <a:ea typeface="Calibri"/>
                <a:cs typeface="Calibri"/>
              </a:rPr>
              <a:t>98.39%</a:t>
            </a:r>
          </a:p>
        </p:txBody>
      </p:sp>
      <p:sp>
        <p:nvSpPr>
          <p:cNvPr id="22" name="Evidence 98.39% scope">
            <a:extLst xmlns:a="http://schemas.openxmlformats.org/drawingml/2006/main">
              <a:ext uri="{FF2B5EF4-FFF2-40B4-BE49-F238E27FC236}">
                <a16:creationId xmlns:a16="http://schemas.microsoft.com/office/drawing/2014/main" id="{6DD807BB-6DAE-4C17-B07E-2F8A6A2DC9F3}"/>
              </a:ext>
            </a:extLst>
          </p:cNvPr>
          <p:cNvSpPr>
            <a:spLocks xmlns:a="http://schemas.openxmlformats.org/drawingml/2006/main" noGrp="1"/>
          </p:cNvSpPr>
          <p:nvPr/>
        </p:nvSpPr>
        <p:spPr>
          <a:xfrm xmlns:a="http://schemas.openxmlformats.org/drawingml/2006/main">
            <a:off x="3857625"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unmet palliative-care need in metastatic disease across 10 cancer types.</a:t>
            </a:r>
          </a:p>
        </p:txBody>
      </p:sp>
      <p:sp>
        <p:nvSpPr>
          <p:cNvPr id="23" name="Evidence 98.39% source">
            <a:extLst xmlns:a="http://schemas.openxmlformats.org/drawingml/2006/main">
              <a:ext uri="{FF2B5EF4-FFF2-40B4-BE49-F238E27FC236}">
                <a16:creationId xmlns:a16="http://schemas.microsoft.com/office/drawing/2014/main" id="{570CF731-D8E6-4F6C-A97B-5198F0BEA49E}"/>
              </a:ext>
            </a:extLst>
          </p:cNvPr>
          <p:cNvSpPr>
            <a:spLocks xmlns:a="http://schemas.openxmlformats.org/drawingml/2006/main" noGrp="1"/>
          </p:cNvSpPr>
          <p:nvPr/>
        </p:nvSpPr>
        <p:spPr>
          <a:xfrm xmlns:a="http://schemas.openxmlformats.org/drawingml/2006/main">
            <a:off x="3857625"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b6276b5e57ad4faf"/>
              </a:rPr>
              <a:t>Patil et al., 2024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c259f215c16441f">
            <a:extLst>
              <a:ext uri="{96DAC541-7B7A-43D3-8B79-37D633B846F1}">
                <asvg:svgBlip xmlns:asvg="http://schemas.microsoft.com/office/drawing/2016/SVG/main" r:embed="Rf00f80e2f96d47ed"/>
              </a:ext>
            </a:extLst>
          </a:blip>
          <a:stretch xmlns:a="http://schemas.openxmlformats.org/drawingml/2006/main"/>
        </p:blipFill>
        <p:spPr>
          <a:xfrm xmlns:a="http://schemas.openxmlformats.org/drawingml/2006/main">
            <a:off x="533400" y="3390900"/>
            <a:ext cx="361950" cy="361950"/>
          </a:xfrm>
          <a:prstGeom xmlns:a="http://schemas.openxmlformats.org/drawingml/2006/main" prst="rect">
            <a:avLst/>
          </a:prstGeom>
        </p:spPr>
      </p:pic>
      <p:sp>
        <p:nvSpPr>
          <p:cNvPr id="25" name="Evidence 88%">
            <a:extLst xmlns:a="http://schemas.openxmlformats.org/drawingml/2006/main">
              <a:ext uri="{FF2B5EF4-FFF2-40B4-BE49-F238E27FC236}">
                <a16:creationId xmlns:a16="http://schemas.microsoft.com/office/drawing/2014/main" id="{18F0D7CE-ABE1-4F61-A6C5-C4089D8AF653}"/>
              </a:ext>
            </a:extLst>
          </p:cNvPr>
          <p:cNvSpPr>
            <a:spLocks xmlns:a="http://schemas.openxmlformats.org/drawingml/2006/main" noGrp="1"/>
          </p:cNvSpPr>
          <p:nvPr/>
        </p:nvSpPr>
        <p:spPr>
          <a:xfrm xmlns:a="http://schemas.openxmlformats.org/drawingml/2006/main">
            <a:off x="1000125"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7353AC"/>
                </a:solidFill>
                <a:latin typeface="Calibri"/>
                <a:ea typeface="Calibri"/>
                <a:cs typeface="Calibri"/>
              </a:defRPr>
            </a:pPr>
            <a:r>
              <a:rPr sz="3300" b="1">
                <a:solidFill>
                  <a:srgbClr val="7353AC"/>
                </a:solidFill>
                <a:latin typeface="Calibri"/>
                <a:ea typeface="Calibri"/>
                <a:cs typeface="Calibri"/>
              </a:rPr>
              <a:t>88%</a:t>
            </a:r>
          </a:p>
        </p:txBody>
      </p:sp>
      <p:sp>
        <p:nvSpPr>
          <p:cNvPr id="26" name="Evidence 88% scope">
            <a:extLst xmlns:a="http://schemas.openxmlformats.org/drawingml/2006/main">
              <a:ext uri="{FF2B5EF4-FFF2-40B4-BE49-F238E27FC236}">
                <a16:creationId xmlns:a16="http://schemas.microsoft.com/office/drawing/2014/main" id="{D5B76F32-4339-4891-A2C0-BC1B89A8B1CF}"/>
              </a:ext>
            </a:extLst>
          </p:cNvPr>
          <p:cNvSpPr>
            <a:spLocks xmlns:a="http://schemas.openxmlformats.org/drawingml/2006/main" noGrp="1"/>
          </p:cNvSpPr>
          <p:nvPr/>
        </p:nvSpPr>
        <p:spPr>
          <a:xfrm xmlns:a="http://schemas.openxmlformats.org/drawingml/2006/main">
            <a:off x="533400"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31"/>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Surveyed patients wanted to choose their end-of-life treatment. 2,400+ urban respondents with a recent hospital stay (2019).</a:t>
            </a:r>
          </a:p>
        </p:txBody>
      </p:sp>
      <p:sp>
        <p:nvSpPr>
          <p:cNvPr id="27" name="Evidence 88% source">
            <a:extLst xmlns:a="http://schemas.openxmlformats.org/drawingml/2006/main">
              <a:ext uri="{FF2B5EF4-FFF2-40B4-BE49-F238E27FC236}">
                <a16:creationId xmlns:a16="http://schemas.microsoft.com/office/drawing/2014/main" id="{972BBEEE-7A8A-4800-A953-DB42BFD92532}"/>
              </a:ext>
            </a:extLst>
          </p:cNvPr>
          <p:cNvSpPr>
            <a:spLocks xmlns:a="http://schemas.openxmlformats.org/drawingml/2006/main" noGrp="1"/>
          </p:cNvSpPr>
          <p:nvPr/>
        </p:nvSpPr>
        <p:spPr>
          <a:xfrm xmlns:a="http://schemas.openxmlformats.org/drawingml/2006/main">
            <a:off x="533400"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e1c242180c4e4312"/>
              </a:rPr>
              <a:t>IndiaSpend; seven-city survey</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d25f752ebc743df">
            <a:extLst>
              <a:ext uri="{96DAC541-7B7A-43D3-8B79-37D633B846F1}">
                <asvg:svgBlip xmlns:asvg="http://schemas.microsoft.com/office/drawing/2016/SVG/main" r:embed="R8e964e0ad26b42f8"/>
              </a:ext>
            </a:extLst>
          </a:blip>
          <a:stretch xmlns:a="http://schemas.openxmlformats.org/drawingml/2006/main"/>
        </p:blipFill>
        <p:spPr>
          <a:xfrm xmlns:a="http://schemas.openxmlformats.org/drawingml/2006/main">
            <a:off x="3857625" y="3390900"/>
            <a:ext cx="361950" cy="361950"/>
          </a:xfrm>
          <a:prstGeom xmlns:a="http://schemas.openxmlformats.org/drawingml/2006/main" prst="rect">
            <a:avLst/>
          </a:prstGeom>
        </p:spPr>
      </p:pic>
      <p:sp>
        <p:nvSpPr>
          <p:cNvPr id="29" name="Evidence 11.5%">
            <a:extLst xmlns:a="http://schemas.openxmlformats.org/drawingml/2006/main">
              <a:ext uri="{FF2B5EF4-FFF2-40B4-BE49-F238E27FC236}">
                <a16:creationId xmlns:a16="http://schemas.microsoft.com/office/drawing/2014/main" id="{D9315E79-7051-4CFE-A5BE-3F8B2608BCD5}"/>
              </a:ext>
            </a:extLst>
          </p:cNvPr>
          <p:cNvSpPr>
            <a:spLocks xmlns:a="http://schemas.openxmlformats.org/drawingml/2006/main" noGrp="1"/>
          </p:cNvSpPr>
          <p:nvPr/>
        </p:nvSpPr>
        <p:spPr>
          <a:xfrm xmlns:a="http://schemas.openxmlformats.org/drawingml/2006/main">
            <a:off x="4324350"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4357C7"/>
                </a:solidFill>
                <a:latin typeface="Calibri"/>
                <a:ea typeface="Calibri"/>
                <a:cs typeface="Calibri"/>
              </a:defRPr>
            </a:pPr>
            <a:r>
              <a:rPr sz="3300" b="1">
                <a:solidFill>
                  <a:srgbClr val="4357C7"/>
                </a:solidFill>
                <a:latin typeface="Calibri"/>
                <a:ea typeface="Calibri"/>
                <a:cs typeface="Calibri"/>
              </a:rPr>
              <a:t>11.5%</a:t>
            </a:r>
          </a:p>
        </p:txBody>
      </p:sp>
      <p:sp>
        <p:nvSpPr>
          <p:cNvPr id="30" name="Evidence 11.5% scope">
            <a:extLst xmlns:a="http://schemas.openxmlformats.org/drawingml/2006/main">
              <a:ext uri="{FF2B5EF4-FFF2-40B4-BE49-F238E27FC236}">
                <a16:creationId xmlns:a16="http://schemas.microsoft.com/office/drawing/2014/main" id="{D1C690C8-FA1D-4E00-ADF8-EF2CA51E6FFE}"/>
              </a:ext>
            </a:extLst>
          </p:cNvPr>
          <p:cNvSpPr>
            <a:spLocks xmlns:a="http://schemas.openxmlformats.org/drawingml/2006/main" noGrp="1"/>
          </p:cNvSpPr>
          <p:nvPr/>
        </p:nvSpPr>
        <p:spPr>
          <a:xfrm xmlns:a="http://schemas.openxmlformats.org/drawingml/2006/main">
            <a:off x="3857625"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45/391 doctors had training in advance directives and their practical aspects. One hospital.</a:t>
            </a:r>
          </a:p>
        </p:txBody>
      </p:sp>
      <p:sp>
        <p:nvSpPr>
          <p:cNvPr id="31" name="Evidence 11.5% source">
            <a:extLst xmlns:a="http://schemas.openxmlformats.org/drawingml/2006/main">
              <a:ext uri="{FF2B5EF4-FFF2-40B4-BE49-F238E27FC236}">
                <a16:creationId xmlns:a16="http://schemas.microsoft.com/office/drawing/2014/main" id="{80C1B682-B9A4-46C4-A603-CE8937D1418D}"/>
              </a:ext>
            </a:extLst>
          </p:cNvPr>
          <p:cNvSpPr>
            <a:spLocks xmlns:a="http://schemas.openxmlformats.org/drawingml/2006/main" noGrp="1"/>
          </p:cNvSpPr>
          <p:nvPr/>
        </p:nvSpPr>
        <p:spPr>
          <a:xfrm xmlns:a="http://schemas.openxmlformats.org/drawingml/2006/main">
            <a:off x="3857625"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f5a2979d5c584e0f"/>
              </a:rPr>
              <a:t>Jacob et al., CMC Vellore, 2026</a:t>
            </a:r>
          </a:p>
        </p:txBody>
      </p:sp>
      <p:sp>
        <p:nvSpPr>
          <p:cNvPr id="32" name="Goals of care definition">
            <a:extLst xmlns:a="http://schemas.openxmlformats.org/drawingml/2006/main">
              <a:ext uri="{FF2B5EF4-FFF2-40B4-BE49-F238E27FC236}">
                <a16:creationId xmlns:a16="http://schemas.microsoft.com/office/drawing/2014/main" id="{EA34D0C4-CE6A-490A-8EEE-D508FD33EE98}"/>
              </a:ext>
            </a:extLst>
          </p:cNvPr>
          <p:cNvSpPr>
            <a:spLocks xmlns:a="http://schemas.openxmlformats.org/drawingml/2006/main" noGrp="1"/>
          </p:cNvSpPr>
          <p:nvPr/>
        </p:nvSpPr>
        <p:spPr>
          <a:xfrm xmlns:a="http://schemas.openxmlformats.org/drawingml/2006/main">
            <a:off x="7143750" y="1104900"/>
            <a:ext cx="4514850" cy="1438275"/>
          </a:xfrm>
          <a:prstGeom xmlns:a="http://schemas.openxmlformats.org/drawingml/2006/main" prst="rect">
            <a:avLst/>
          </a:prstGeom>
          <a:solidFill xmlns:a="http://schemas.openxmlformats.org/drawingml/2006/main">
            <a:srgbClr val="F3F6FA"/>
          </a:solidFill>
          <a:ln xmlns:a="http://schemas.openxmlformats.org/drawingml/2006/main" w="0">
            <a:noFill/>
          </a:ln>
        </p:spPr>
      </p:sp>
      <p:sp>
        <p:nvSpPr>
          <p:cNvPr id="33" name="Definition title">
            <a:extLst xmlns:a="http://schemas.openxmlformats.org/drawingml/2006/main">
              <a:ext uri="{FF2B5EF4-FFF2-40B4-BE49-F238E27FC236}">
                <a16:creationId xmlns:a16="http://schemas.microsoft.com/office/drawing/2014/main" id="{A1E1DCC2-B636-4CE6-8386-1DEC52FE3EE1}"/>
              </a:ext>
            </a:extLst>
          </p:cNvPr>
          <p:cNvSpPr>
            <a:spLocks xmlns:a="http://schemas.openxmlformats.org/drawingml/2006/main" noGrp="1"/>
          </p:cNvSpPr>
          <p:nvPr/>
        </p:nvSpPr>
        <p:spPr>
          <a:xfrm xmlns:a="http://schemas.openxmlformats.org/drawingml/2006/main">
            <a:off x="7334250" y="12287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73F33"/>
                </a:solidFill>
                <a:latin typeface="Calibri"/>
                <a:ea typeface="Calibri"/>
                <a:cs typeface="Calibri"/>
              </a:defRPr>
            </a:pPr>
            <a:r>
              <a:rPr sz="1950" b="1">
                <a:solidFill>
                  <a:srgbClr val="173F33"/>
                </a:solidFill>
                <a:latin typeface="Calibri"/>
                <a:ea typeface="Calibri"/>
                <a:cs typeface="Calibri"/>
              </a:rPr>
              <a:t>Goals-of-care discussion</a:t>
            </a:r>
          </a:p>
        </p:txBody>
      </p:sp>
      <p:sp>
        <p:nvSpPr>
          <p:cNvPr id="34" name="Goals of care definition">
            <a:extLst xmlns:a="http://schemas.openxmlformats.org/drawingml/2006/main">
              <a:ext uri="{FF2B5EF4-FFF2-40B4-BE49-F238E27FC236}">
                <a16:creationId xmlns:a16="http://schemas.microsoft.com/office/drawing/2014/main" id="{6B9E964A-1E4D-4226-BAF5-A0C0F1FBBBBD}"/>
              </a:ext>
            </a:extLst>
          </p:cNvPr>
          <p:cNvSpPr>
            <a:spLocks xmlns:a="http://schemas.openxmlformats.org/drawingml/2006/main" noGrp="1"/>
          </p:cNvSpPr>
          <p:nvPr/>
        </p:nvSpPr>
        <p:spPr>
          <a:xfrm xmlns:a="http://schemas.openxmlformats.org/drawingml/2006/main">
            <a:off x="7334250" y="1609725"/>
            <a:ext cx="4143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450"/>
          </a:bodyPr>
          <a:lstStyle xmlns:a="http://schemas.openxmlformats.org/drawingml/2006/main"/>
          <a:p xmlns:a="http://schemas.openxmlformats.org/drawingml/2006/main">
            <a:pPr>
              <a:buNone/>
              <a:defRPr sz="1538" b="0">
                <a:solidFill>
                  <a:srgbClr val="173F33"/>
                </a:solidFill>
                <a:latin typeface="Calibri"/>
                <a:ea typeface="Calibri"/>
                <a:cs typeface="Calibri"/>
              </a:defRPr>
            </a:pPr>
            <a:r>
              <a:rPr sz="1538" b="0">
                <a:solidFill>
                  <a:srgbClr val="173F33"/>
                </a:solidFill>
                <a:latin typeface="Calibri"/>
                <a:ea typeface="Calibri"/>
                <a:cs typeface="Calibri"/>
              </a:rPr>
              <a:t>A clinician-led conversation about a patient’s values, priorities and care preferences, used to agree care goals with the patient and, with consent, their family.</a:t>
            </a:r>
          </a:p>
        </p:txBody>
      </p:sp>
      <p:sp>
        <p:nvSpPr>
          <p:cNvPr id="35" name="QI finding">
            <a:extLst xmlns:a="http://schemas.openxmlformats.org/drawingml/2006/main">
              <a:ext uri="{FF2B5EF4-FFF2-40B4-BE49-F238E27FC236}">
                <a16:creationId xmlns:a16="http://schemas.microsoft.com/office/drawing/2014/main" id="{2F03E078-4D25-4F20-B880-684B58BC7BC6}"/>
              </a:ext>
            </a:extLst>
          </p:cNvPr>
          <p:cNvSpPr>
            <a:spLocks xmlns:a="http://schemas.openxmlformats.org/drawingml/2006/main" noGrp="1"/>
          </p:cNvSpPr>
          <p:nvPr/>
        </p:nvSpPr>
        <p:spPr>
          <a:xfrm xmlns:a="http://schemas.openxmlformats.org/drawingml/2006/main">
            <a:off x="7372350" y="4333875"/>
            <a:ext cx="4057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 standard procedure improved goals-of-care documentation to 92% (24/26 eligible patients).</a:t>
            </a:r>
          </a:p>
        </p:txBody>
      </p:sp>
      <p:sp>
        <p:nvSpPr>
          <p:cNvPr id="36" name="QI scope">
            <a:extLst xmlns:a="http://schemas.openxmlformats.org/drawingml/2006/main">
              <a:ext uri="{FF2B5EF4-FFF2-40B4-BE49-F238E27FC236}">
                <a16:creationId xmlns:a16="http://schemas.microsoft.com/office/drawing/2014/main" id="{E6980F6E-CF5A-438B-A274-F7E7F3520EED}"/>
              </a:ext>
            </a:extLst>
          </p:cNvPr>
          <p:cNvSpPr>
            <a:spLocks xmlns:a="http://schemas.openxmlformats.org/drawingml/2006/main" noGrp="1"/>
          </p:cNvSpPr>
          <p:nvPr/>
        </p:nvSpPr>
        <p:spPr>
          <a:xfrm xmlns:a="http://schemas.openxmlformats.org/drawingml/2006/main">
            <a:off x="7372350" y="5133975"/>
            <a:ext cx="4057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53655C"/>
                </a:solidFill>
                <a:latin typeface="Calibri"/>
                <a:ea typeface="Calibri"/>
                <a:cs typeface="Calibri"/>
              </a:defRPr>
            </a:pPr>
            <a:r>
              <a:rPr sz="1163" b="0">
                <a:solidFill>
                  <a:srgbClr val="53655C"/>
                </a:solidFill>
                <a:latin typeface="Calibri"/>
                <a:ea typeface="Calibri"/>
                <a:cs typeface="Calibri"/>
              </a:rPr>
              <a:t>Advanced pancreatic / colorectal cancer, Chennai.</a:t>
            </a:r>
          </a:p>
        </p:txBody>
      </p:sp>
      <p:sp>
        <p:nvSpPr>
          <p:cNvPr id="37" name="QI source">
            <a:extLst xmlns:a="http://schemas.openxmlformats.org/drawingml/2006/main">
              <a:ext uri="{FF2B5EF4-FFF2-40B4-BE49-F238E27FC236}">
                <a16:creationId xmlns:a16="http://schemas.microsoft.com/office/drawing/2014/main" id="{24F37220-99F4-4E87-9782-ED0E96D7E7BC}"/>
              </a:ext>
            </a:extLst>
          </p:cNvPr>
          <p:cNvSpPr>
            <a:spLocks xmlns:a="http://schemas.openxmlformats.org/drawingml/2006/main" noGrp="1"/>
          </p:cNvSpPr>
          <p:nvPr/>
        </p:nvSpPr>
        <p:spPr>
          <a:xfrm xmlns:a="http://schemas.openxmlformats.org/drawingml/2006/main">
            <a:off x="7372350" y="5362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ac49bcc6987047ae"/>
              </a:rPr>
              <a:t>Thangasamy et al., 2025</a:t>
            </a:r>
          </a:p>
        </p:txBody>
      </p:sp>
      <p:sp>
        <p:nvSpPr>
          <p:cNvPr id="38" name="Evidence boundary">
            <a:extLst xmlns:a="http://schemas.openxmlformats.org/drawingml/2006/main">
              <a:ext uri="{FF2B5EF4-FFF2-40B4-BE49-F238E27FC236}">
                <a16:creationId xmlns:a16="http://schemas.microsoft.com/office/drawing/2014/main" id="{086EFB5F-F72D-4B2D-BE06-0FE711079C73}"/>
              </a:ext>
            </a:extLst>
          </p:cNvPr>
          <p:cNvSpPr>
            <a:spLocks xmlns:a="http://schemas.openxmlformats.org/drawingml/2006/main" noGrp="1"/>
          </p:cNvSpPr>
          <p:nvPr/>
        </p:nvSpPr>
        <p:spPr>
          <a:xfrm xmlns:a="http://schemas.openxmlformats.org/drawingml/2006/main">
            <a:off x="533400" y="5476875"/>
            <a:ext cx="11125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00" b="0">
                <a:solidFill>
                  <a:srgbClr val="53655C"/>
                </a:solidFill>
                <a:latin typeface="Calibri"/>
                <a:ea typeface="Calibri"/>
                <a:cs typeface="Calibri"/>
              </a:defRPr>
            </a:pPr>
            <a:r>
              <a:rPr sz="1200" b="0">
                <a:solidFill>
                  <a:srgbClr val="53655C"/>
                </a:solidFill>
                <a:latin typeface="Calibri"/>
                <a:ea typeface="Calibri"/>
                <a:cs typeface="Calibri"/>
              </a:rPr>
              <a:t>Different study groups. These are not results from Saanthvana.</a:t>
            </a:r>
          </a:p>
        </p:txBody>
      </p:sp>
      <p:sp>
        <p:nvSpPr>
          <p:cNvPr id="39" name="Planned impact study">
            <a:extLst xmlns:a="http://schemas.openxmlformats.org/drawingml/2006/main">
              <a:ext uri="{FF2B5EF4-FFF2-40B4-BE49-F238E27FC236}">
                <a16:creationId xmlns:a16="http://schemas.microsoft.com/office/drawing/2014/main" id="{8441278B-1591-4A93-B43E-589C1DCDC020}"/>
              </a:ext>
            </a:extLst>
          </p:cNvPr>
          <p:cNvSpPr>
            <a:spLocks xmlns:a="http://schemas.openxmlformats.org/drawingml/2006/main" noGrp="1"/>
          </p:cNvSpPr>
          <p:nvPr/>
        </p:nvSpPr>
        <p:spPr>
          <a:xfrm xmlns:a="http://schemas.openxmlformats.org/drawingml/2006/main">
            <a:off x="381000" y="5791200"/>
            <a:ext cx="11430000" cy="1066800"/>
          </a:xfrm>
          <a:prstGeom xmlns:a="http://schemas.openxmlformats.org/drawingml/2006/main" prst="rect">
            <a:avLst/>
          </a:prstGeom>
          <a:solidFill xmlns:a="http://schemas.openxmlformats.org/drawingml/2006/main">
            <a:srgbClr val="EFE8F8"/>
          </a:solidFill>
          <a:ln xmlns:a="http://schemas.openxmlformats.org/drawingml/2006/main" w="0">
            <a:noFill/>
          </a:ln>
        </p:spPr>
      </p:sp>
      <p:sp>
        <p:nvSpPr>
          <p:cNvPr id="40" name="Study length and design">
            <a:extLst xmlns:a="http://schemas.openxmlformats.org/drawingml/2006/main">
              <a:ext uri="{FF2B5EF4-FFF2-40B4-BE49-F238E27FC236}">
                <a16:creationId xmlns:a16="http://schemas.microsoft.com/office/drawing/2014/main" id="{7C193DA8-AAEA-410A-A93C-7CF61FB4BF1C}"/>
              </a:ext>
            </a:extLst>
          </p:cNvPr>
          <p:cNvSpPr>
            <a:spLocks xmlns:a="http://schemas.openxmlformats.org/drawingml/2006/main" noGrp="1"/>
          </p:cNvSpPr>
          <p:nvPr/>
        </p:nvSpPr>
        <p:spPr>
          <a:xfrm xmlns:a="http://schemas.openxmlformats.org/drawingml/2006/main">
            <a:off x="533400" y="58674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7353AC"/>
                </a:solidFill>
                <a:latin typeface="Calibri"/>
                <a:ea typeface="Calibri"/>
                <a:cs typeface="Calibri"/>
              </a:defRPr>
            </a:pPr>
            <a:r>
              <a:rPr sz="1800" b="1">
                <a:solidFill>
                  <a:srgbClr val="7353AC"/>
                </a:solidFill>
                <a:latin typeface="Calibri"/>
                <a:ea typeface="Calibri"/>
                <a:cs typeface="Calibri"/>
              </a:rPr>
              <a:t>Proposed 60-90 day study: compare before and after</a:t>
            </a:r>
          </a:p>
        </p:txBody>
      </p:sp>
      <p:sp>
        <p:nvSpPr>
          <p:cNvPr id="41" name="Pilot measure 1">
            <a:extLst xmlns:a="http://schemas.openxmlformats.org/drawingml/2006/main">
              <a:ext uri="{FF2B5EF4-FFF2-40B4-BE49-F238E27FC236}">
                <a16:creationId xmlns:a16="http://schemas.microsoft.com/office/drawing/2014/main" id="{27C00BA3-3D07-4919-AB24-9EE5CFFB8486}"/>
              </a:ext>
            </a:extLst>
          </p:cNvPr>
          <p:cNvSpPr>
            <a:spLocks xmlns:a="http://schemas.openxmlformats.org/drawingml/2006/main" noGrp="1"/>
          </p:cNvSpPr>
          <p:nvPr/>
        </p:nvSpPr>
        <p:spPr>
          <a:xfrm xmlns:a="http://schemas.openxmlformats.org/drawingml/2006/main">
            <a:off x="53340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patient- and doctor-initiated goals-of-care discussions.</a:t>
            </a:r>
          </a:p>
        </p:txBody>
      </p:sp>
      <p:sp>
        <p:nvSpPr>
          <p:cNvPr id="42" name="Pilot measure 2">
            <a:extLst xmlns:a="http://schemas.openxmlformats.org/drawingml/2006/main">
              <a:ext uri="{FF2B5EF4-FFF2-40B4-BE49-F238E27FC236}">
                <a16:creationId xmlns:a16="http://schemas.microsoft.com/office/drawing/2014/main" id="{F04F106B-5EEF-471C-A774-4DF7C6A75D5A}"/>
              </a:ext>
            </a:extLst>
          </p:cNvPr>
          <p:cNvSpPr>
            <a:spLocks xmlns:a="http://schemas.openxmlformats.org/drawingml/2006/main" noGrp="1"/>
          </p:cNvSpPr>
          <p:nvPr/>
        </p:nvSpPr>
        <p:spPr>
          <a:xfrm xmlns:a="http://schemas.openxmlformats.org/drawingml/2006/main">
            <a:off x="4352925" y="6238875"/>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written and signed Care Notes per cancer facility.</a:t>
            </a:r>
          </a:p>
        </p:txBody>
      </p:sp>
      <p:sp>
        <p:nvSpPr>
          <p:cNvPr id="43" name="Pilot measure 3">
            <a:extLst xmlns:a="http://schemas.openxmlformats.org/drawingml/2006/main">
              <a:ext uri="{FF2B5EF4-FFF2-40B4-BE49-F238E27FC236}">
                <a16:creationId xmlns:a16="http://schemas.microsoft.com/office/drawing/2014/main" id="{24EAA74D-6EFC-4A63-A9B6-0B74176D7E05}"/>
              </a:ext>
            </a:extLst>
          </p:cNvPr>
          <p:cNvSpPr>
            <a:spLocks xmlns:a="http://schemas.openxmlformats.org/drawingml/2006/main" noGrp="1"/>
          </p:cNvSpPr>
          <p:nvPr/>
        </p:nvSpPr>
        <p:spPr>
          <a:xfrm xmlns:a="http://schemas.openxmlformats.org/drawingml/2006/main">
            <a:off x="817245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Time to retrieve goals-of-care discussions during an emergency.</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3EAF8"/>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810C13B3-543E-4FB7-A494-19AEE4D5F9D4}"/>
              </a:ext>
            </a:extLst>
          </p:cNvPr>
          <p:cNvSpPr>
            <a:spLocks xmlns:a="http://schemas.openxmlformats.org/drawingml/2006/main" noGrp="1"/>
          </p:cNvSpPr>
          <p:nvPr/>
        </p:nvSpPr>
        <p:spPr>
          <a:xfrm xmlns:a="http://schemas.openxmlformats.org/drawingml/2006/main">
            <a:off x="533400" y="304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Help with palliative care near you</a:t>
            </a:r>
          </a:p>
        </p:txBody>
      </p:sp>
      <p:pic>
        <p:nvPicPr>
          <p:cNvPr id="25" name="Actual MapLibre care map with hospital markers, call and directions"/>
          <p:cNvPicPr>
            <a:picLocks xmlns:a="http://schemas.openxmlformats.org/drawingml/2006/main" noChangeAspect="1"/>
          </p:cNvPicPr>
          <p:nvPr/>
        </p:nvPicPr>
        <p:blipFill>
          <a:blip xmlns:r="http://schemas.openxmlformats.org/officeDocument/2006/relationships" xmlns:a="http://schemas.openxmlformats.org/drawingml/2006/main" r:embed="R8356c6b342074944"/>
          <a:srcRect xmlns:a="http://schemas.openxmlformats.org/drawingml/2006/main" l="3670" t="39922" r="23591" b="16570"/>
          <a:stretch xmlns:a="http://schemas.openxmlformats.org/drawingml/2006/main">
            <a:fillRect l="0" t="0" r="0" b="0"/>
          </a:stretch>
        </p:blipFill>
        <p:spPr>
          <a:xfrm xmlns:a="http://schemas.openxmlformats.org/drawingml/2006/main">
            <a:off x="533400" y="1333500"/>
            <a:ext cx="5943600" cy="4810125"/>
          </a:xfrm>
          <a:prstGeom xmlns:a="http://schemas.openxmlformats.org/drawingml/2006/main" prst="rect">
            <a:avLst/>
          </a:prstGeom>
        </p:spPr>
      </p:pic>
      <p:sp>
        <p:nvSpPr>
          <p:cNvPr id="3" name="Live map link">
            <a:extLst xmlns:a="http://schemas.openxmlformats.org/drawingml/2006/main">
              <a:ext uri="{FF2B5EF4-FFF2-40B4-BE49-F238E27FC236}">
                <a16:creationId xmlns:a16="http://schemas.microsoft.com/office/drawing/2014/main" id="{F9286181-CBF1-46D2-BFAD-A16A938D7023}"/>
              </a:ext>
            </a:extLst>
          </p:cNvPr>
          <p:cNvSpPr>
            <a:spLocks xmlns:a="http://schemas.openxmlformats.org/drawingml/2006/main" noGrp="1"/>
          </p:cNvSpPr>
          <p:nvPr/>
        </p:nvSpPr>
        <p:spPr>
          <a:xfrm xmlns:a="http://schemas.openxmlformats.org/drawingml/2006/main">
            <a:off x="533400" y="6438900"/>
            <a:ext cx="2886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4e2cb4b2837e4080"/>
              </a:rPr>
              <a:t>Open the care map</a:t>
            </a:r>
          </a:p>
        </p:txBody>
      </p:sp>
      <p:sp>
        <p:nvSpPr>
          <p:cNvPr id="4" name="Care directory source">
            <a:extLst xmlns:a="http://schemas.openxmlformats.org/drawingml/2006/main">
              <a:ext uri="{FF2B5EF4-FFF2-40B4-BE49-F238E27FC236}">
                <a16:creationId xmlns:a16="http://schemas.microsoft.com/office/drawing/2014/main" id="{343C6913-1B8A-458F-AF78-EEF9CCFF0961}"/>
              </a:ext>
            </a:extLst>
          </p:cNvPr>
          <p:cNvSpPr>
            <a:spLocks xmlns:a="http://schemas.openxmlformats.org/drawingml/2006/main" noGrp="1"/>
          </p:cNvSpPr>
          <p:nvPr/>
        </p:nvSpPr>
        <p:spPr>
          <a:xfrm xmlns:a="http://schemas.openxmlformats.org/drawingml/2006/main">
            <a:off x="3609975" y="6438900"/>
            <a:ext cx="2867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425" b="0">
                <a:solidFill>
                  <a:srgbClr val="2D5F9A"/>
                </a:solidFill>
                <a:latin typeface="Calibri"/>
                <a:ea typeface="Calibri"/>
                <a:cs typeface="Calibri"/>
              </a:defRPr>
            </a:pPr>
            <a:r>
              <a:rPr sz="1425" b="0" u="sng">
                <a:solidFill>
                  <a:srgbClr val="2D5F9A"/>
                </a:solidFill>
                <a:latin typeface="Calibri"/>
                <a:ea typeface="Calibri"/>
                <a:cs typeface="Calibri"/>
                <a:hlinkClick xmlns:r="http://schemas.openxmlformats.org/officeDocument/2006/relationships" r:id="R80f710b708eb42d5"/>
              </a:rPr>
              <a:t>Pallium India directory</a:t>
            </a:r>
          </a:p>
        </p:txBody>
      </p:sp>
      <p:sp>
        <p:nvSpPr>
          <p:cNvPr id="5" name="Map attribution">
            <a:extLst xmlns:a="http://schemas.openxmlformats.org/drawingml/2006/main">
              <a:ext uri="{FF2B5EF4-FFF2-40B4-BE49-F238E27FC236}">
                <a16:creationId xmlns:a16="http://schemas.microsoft.com/office/drawing/2014/main" id="{B2F88B1C-B6FB-48F2-B0D8-B499C765DF33}"/>
              </a:ext>
            </a:extLst>
          </p:cNvPr>
          <p:cNvSpPr>
            <a:spLocks xmlns:a="http://schemas.openxmlformats.org/drawingml/2006/main" noGrp="1"/>
          </p:cNvSpPr>
          <p:nvPr/>
        </p:nvSpPr>
        <p:spPr>
          <a:xfrm xmlns:a="http://schemas.openxmlformats.org/drawingml/2006/main">
            <a:off x="533400" y="6172200"/>
            <a:ext cx="5943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975" b="0">
                <a:solidFill>
                  <a:srgbClr val="2D5F9A"/>
                </a:solidFill>
                <a:latin typeface="Calibri"/>
                <a:ea typeface="Calibri"/>
                <a:cs typeface="Calibri"/>
              </a:defRPr>
            </a:pPr>
            <a:r>
              <a:rPr sz="975" b="0" u="sng">
                <a:solidFill>
                  <a:srgbClr val="2D5F9A"/>
                </a:solidFill>
                <a:latin typeface="Calibri"/>
                <a:ea typeface="Calibri"/>
                <a:cs typeface="Calibri"/>
                <a:hlinkClick xmlns:r="http://schemas.openxmlformats.org/officeDocument/2006/relationships" r:id="R55b2c0ada24d43e9"/>
              </a:rPr>
              <a:t>Map data: © OpenStreetMap contributors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7fab9928674e1d">
            <a:extLst>
              <a:ext uri="{96DAC541-7B7A-43D3-8B79-37D633B846F1}">
                <asvg:svgBlip xmlns:asvg="http://schemas.microsoft.com/office/drawing/2016/SVG/main" r:embed="Rada46fabc36a4d09"/>
              </a:ext>
            </a:extLst>
          </a:blip>
          <a:stretch xmlns:a="http://schemas.openxmlformats.org/drawingml/2006/main"/>
        </p:blipFill>
        <p:spPr>
          <a:xfrm xmlns:a="http://schemas.openxmlformats.org/drawingml/2006/main">
            <a:off x="6838950" y="1276350"/>
            <a:ext cx="400050" cy="400050"/>
          </a:xfrm>
          <a:prstGeom xmlns:a="http://schemas.openxmlformats.org/drawingml/2006/main" prst="rect">
            <a:avLst/>
          </a:prstGeom>
        </p:spPr>
      </p:pic>
      <p:sp>
        <p:nvSpPr>
          <p:cNvPr id="7" name="Family support 1">
            <a:extLst xmlns:a="http://schemas.openxmlformats.org/drawingml/2006/main">
              <a:ext uri="{FF2B5EF4-FFF2-40B4-BE49-F238E27FC236}">
                <a16:creationId xmlns:a16="http://schemas.microsoft.com/office/drawing/2014/main" id="{631231EB-C716-4D61-A187-AFE9A3E85949}"/>
              </a:ext>
            </a:extLst>
          </p:cNvPr>
          <p:cNvSpPr>
            <a:spLocks xmlns:a="http://schemas.openxmlformats.org/drawingml/2006/main" noGrp="1"/>
          </p:cNvSpPr>
          <p:nvPr/>
        </p:nvSpPr>
        <p:spPr>
          <a:xfrm xmlns:a="http://schemas.openxmlformats.org/drawingml/2006/main">
            <a:off x="7400925" y="12477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95b251a7f8846a6"/>
              </a:rPr>
              <a:t>1. Find palliative care nearby</a:t>
            </a:r>
          </a:p>
        </p:txBody>
      </p:sp>
      <p:sp>
        <p:nvSpPr>
          <p:cNvPr id="8" name="Family support 1 description">
            <a:extLst xmlns:a="http://schemas.openxmlformats.org/drawingml/2006/main">
              <a:ext uri="{FF2B5EF4-FFF2-40B4-BE49-F238E27FC236}">
                <a16:creationId xmlns:a16="http://schemas.microsoft.com/office/drawing/2014/main" id="{CE08D8E6-0466-4C64-A444-12DC69C96F87}"/>
              </a:ext>
            </a:extLst>
          </p:cNvPr>
          <p:cNvSpPr>
            <a:spLocks xmlns:a="http://schemas.openxmlformats.org/drawingml/2006/main" noGrp="1"/>
          </p:cNvSpPr>
          <p:nvPr/>
        </p:nvSpPr>
        <p:spPr>
          <a:xfrm xmlns:a="http://schemas.openxmlformats.org/drawingml/2006/main">
            <a:off x="7400925" y="16954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palliative-care centres and hospitals, with phone numbers and directions.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b13a7be4987432e">
            <a:extLst>
              <a:ext uri="{96DAC541-7B7A-43D3-8B79-37D633B846F1}">
                <asvg:svgBlip xmlns:asvg="http://schemas.microsoft.com/office/drawing/2016/SVG/main" r:embed="R9e091dc9577c4775"/>
              </a:ext>
            </a:extLst>
          </a:blip>
          <a:stretch xmlns:a="http://schemas.openxmlformats.org/drawingml/2006/main"/>
        </p:blipFill>
        <p:spPr>
          <a:xfrm xmlns:a="http://schemas.openxmlformats.org/drawingml/2006/main">
            <a:off x="6838950" y="2571750"/>
            <a:ext cx="400050" cy="400050"/>
          </a:xfrm>
          <a:prstGeom xmlns:a="http://schemas.openxmlformats.org/drawingml/2006/main" prst="rect">
            <a:avLst/>
          </a:prstGeom>
        </p:spPr>
      </p:pic>
      <p:sp>
        <p:nvSpPr>
          <p:cNvPr id="10" name="Family support 2">
            <a:extLst xmlns:a="http://schemas.openxmlformats.org/drawingml/2006/main">
              <a:ext uri="{FF2B5EF4-FFF2-40B4-BE49-F238E27FC236}">
                <a16:creationId xmlns:a16="http://schemas.microsoft.com/office/drawing/2014/main" id="{26893C00-FFC0-42B6-AFE1-033AA3760046}"/>
              </a:ext>
            </a:extLst>
          </p:cNvPr>
          <p:cNvSpPr>
            <a:spLocks xmlns:a="http://schemas.openxmlformats.org/drawingml/2006/main" noGrp="1"/>
          </p:cNvSpPr>
          <p:nvPr/>
        </p:nvSpPr>
        <p:spPr>
          <a:xfrm xmlns:a="http://schemas.openxmlformats.org/drawingml/2006/main">
            <a:off x="7400925" y="25431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d997f9577e4e4d3f"/>
              </a:rPr>
              <a:t>2. Access to prescribed opioids</a:t>
            </a:r>
          </a:p>
        </p:txBody>
      </p:sp>
      <p:sp>
        <p:nvSpPr>
          <p:cNvPr id="11" name="Family support 2 description">
            <a:extLst xmlns:a="http://schemas.openxmlformats.org/drawingml/2006/main">
              <a:ext uri="{FF2B5EF4-FFF2-40B4-BE49-F238E27FC236}">
                <a16:creationId xmlns:a16="http://schemas.microsoft.com/office/drawing/2014/main" id="{A916A27C-EE7A-48F2-BC8C-A419236A49CB}"/>
              </a:ext>
            </a:extLst>
          </p:cNvPr>
          <p:cNvSpPr>
            <a:spLocks xmlns:a="http://schemas.openxmlformats.org/drawingml/2006/main" noGrp="1"/>
          </p:cNvSpPr>
          <p:nvPr/>
        </p:nvSpPr>
        <p:spPr>
          <a:xfrm xmlns:a="http://schemas.openxmlformats.org/drawingml/2006/main">
            <a:off x="7400925" y="29908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485"/>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Ask about oral morphine, prescription documents and collection hours before travelling.</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14f8277d0c499c">
            <a:extLst>
              <a:ext uri="{96DAC541-7B7A-43D3-8B79-37D633B846F1}">
                <asvg:svgBlip xmlns:asvg="http://schemas.microsoft.com/office/drawing/2016/SVG/main" r:embed="Re70573b6bcff45c7"/>
              </a:ext>
            </a:extLst>
          </a:blip>
          <a:stretch xmlns:a="http://schemas.openxmlformats.org/drawingml/2006/main"/>
        </p:blipFill>
        <p:spPr>
          <a:xfrm xmlns:a="http://schemas.openxmlformats.org/drawingml/2006/main">
            <a:off x="6838950" y="3867150"/>
            <a:ext cx="400050" cy="400050"/>
          </a:xfrm>
          <a:prstGeom xmlns:a="http://schemas.openxmlformats.org/drawingml/2006/main" prst="rect">
            <a:avLst/>
          </a:prstGeom>
        </p:spPr>
      </p:pic>
      <p:sp>
        <p:nvSpPr>
          <p:cNvPr id="13" name="Family support 3">
            <a:extLst xmlns:a="http://schemas.openxmlformats.org/drawingml/2006/main">
              <a:ext uri="{FF2B5EF4-FFF2-40B4-BE49-F238E27FC236}">
                <a16:creationId xmlns:a16="http://schemas.microsoft.com/office/drawing/2014/main" id="{C16B9867-2BC7-4D7A-8A2B-5E846AAFB64E}"/>
              </a:ext>
            </a:extLst>
          </p:cNvPr>
          <p:cNvSpPr>
            <a:spLocks xmlns:a="http://schemas.openxmlformats.org/drawingml/2006/main" noGrp="1"/>
          </p:cNvSpPr>
          <p:nvPr/>
        </p:nvSpPr>
        <p:spPr>
          <a:xfrm xmlns:a="http://schemas.openxmlformats.org/drawingml/2006/main">
            <a:off x="7400925" y="3838575"/>
            <a:ext cx="4257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1a8cb134a38d489c"/>
              </a:rPr>
              <a:t>3. Find your cancer-specific support group</a:t>
            </a:r>
          </a:p>
        </p:txBody>
      </p:sp>
      <p:sp>
        <p:nvSpPr>
          <p:cNvPr id="14" name="Family support 3 description">
            <a:extLst xmlns:a="http://schemas.openxmlformats.org/drawingml/2006/main">
              <a:ext uri="{FF2B5EF4-FFF2-40B4-BE49-F238E27FC236}">
                <a16:creationId xmlns:a16="http://schemas.microsoft.com/office/drawing/2014/main" id="{DDACB552-D9E8-448F-9651-724326636C82}"/>
              </a:ext>
            </a:extLst>
          </p:cNvPr>
          <p:cNvSpPr>
            <a:spLocks xmlns:a="http://schemas.openxmlformats.org/drawingml/2006/main" noGrp="1"/>
          </p:cNvSpPr>
          <p:nvPr/>
        </p:nvSpPr>
        <p:spPr>
          <a:xfrm xmlns:a="http://schemas.openxmlformats.org/drawingml/2006/main">
            <a:off x="7400925" y="4486275"/>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patient and caregiver groups for your cancer type, locally or online.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385b0853c4e417b">
            <a:extLst>
              <a:ext uri="{96DAC541-7B7A-43D3-8B79-37D633B846F1}">
                <asvg:svgBlip xmlns:asvg="http://schemas.microsoft.com/office/drawing/2016/SVG/main" r:embed="R393780158089439d"/>
              </a:ext>
            </a:extLst>
          </a:blip>
          <a:stretch xmlns:a="http://schemas.openxmlformats.org/drawingml/2006/main"/>
        </p:blipFill>
        <p:spPr>
          <a:xfrm xmlns:a="http://schemas.openxmlformats.org/drawingml/2006/main">
            <a:off x="6838950" y="5162550"/>
            <a:ext cx="400050" cy="400050"/>
          </a:xfrm>
          <a:prstGeom xmlns:a="http://schemas.openxmlformats.org/drawingml/2006/main" prst="rect">
            <a:avLst/>
          </a:prstGeom>
        </p:spPr>
      </p:pic>
      <p:sp>
        <p:nvSpPr>
          <p:cNvPr id="16" name="Family support 4">
            <a:extLst xmlns:a="http://schemas.openxmlformats.org/drawingml/2006/main">
              <a:ext uri="{FF2B5EF4-FFF2-40B4-BE49-F238E27FC236}">
                <a16:creationId xmlns:a16="http://schemas.microsoft.com/office/drawing/2014/main" id="{7516B8E2-F14E-4585-A912-B7677ECD0D9D}"/>
              </a:ext>
            </a:extLst>
          </p:cNvPr>
          <p:cNvSpPr>
            <a:spLocks xmlns:a="http://schemas.openxmlformats.org/drawingml/2006/main" noGrp="1"/>
          </p:cNvSpPr>
          <p:nvPr/>
        </p:nvSpPr>
        <p:spPr>
          <a:xfrm xmlns:a="http://schemas.openxmlformats.org/drawingml/2006/main">
            <a:off x="7400925" y="51339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f5de05d992f4698"/>
              </a:rPr>
              <a:t>4. Plan travel and help at home</a:t>
            </a:r>
          </a:p>
        </p:txBody>
      </p:sp>
      <p:sp>
        <p:nvSpPr>
          <p:cNvPr id="17" name="Family support 4 description">
            <a:extLst xmlns:a="http://schemas.openxmlformats.org/drawingml/2006/main">
              <a:ext uri="{FF2B5EF4-FFF2-40B4-BE49-F238E27FC236}">
                <a16:creationId xmlns:a16="http://schemas.microsoft.com/office/drawing/2014/main" id="{393EFD93-B221-47B6-AC12-070B46966CFE}"/>
              </a:ext>
            </a:extLst>
          </p:cNvPr>
          <p:cNvSpPr>
            <a:spLocks xmlns:a="http://schemas.openxmlformats.org/drawingml/2006/main" noGrp="1"/>
          </p:cNvSpPr>
          <p:nvPr/>
        </p:nvSpPr>
        <p:spPr>
          <a:xfrm xmlns:a="http://schemas.openxmlformats.org/drawingml/2006/main">
            <a:off x="7400925" y="55816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Write down who will handle a ride, home-nursing visit or medicine pickup.</a:t>
            </a:r>
          </a:p>
        </p:txBody>
      </p:sp>
    </p:spTree>
    <p:extLst>
      <p:ext uri="{BB962C8B-B14F-4D97-AF65-F5344CB8AC3E}">
        <p14:creationId xmlns:p14="http://schemas.microsoft.com/office/powerpoint/2010/main" val="1410585306"/>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FDF7233B-E80A-4458-9433-4AECB7181B3D}"/>
              </a:ext>
            </a:extLst>
          </p:cNvPr>
          <p:cNvSpPr>
            <a:spLocks xmlns:a="http://schemas.openxmlformats.org/drawingml/2006/main" noGrp="1"/>
          </p:cNvSpPr>
          <p:nvPr/>
        </p:nvSpPr>
        <p:spPr>
          <a:xfrm xmlns:a="http://schemas.openxmlformats.org/drawingml/2006/main">
            <a:off x="533400" y="3048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Saanthvana keeps your cancer care in one place</a:t>
            </a:r>
          </a:p>
        </p:txBody>
      </p:sp>
      <p:pic>
        <p:nvPicPr>
          <p:cNvPr id="24" name="Live Saanthvana patient homepage" descr="Patient homepage captured from saanthvana.wedevit.in"/>
          <p:cNvPicPr>
            <a:picLocks xmlns:a="http://schemas.openxmlformats.org/drawingml/2006/main" noChangeAspect="1"/>
          </p:cNvPicPr>
          <p:nvPr/>
        </p:nvPicPr>
        <p:blipFill>
          <a:blip xmlns:r="http://schemas.openxmlformats.org/officeDocument/2006/relationships" xmlns:a="http://schemas.openxmlformats.org/drawingml/2006/main" r:embed="R3667933a6ee1478a"/>
          <a:stretch xmlns:a="http://schemas.openxmlformats.org/drawingml/2006/main"/>
        </p:blipFill>
        <p:spPr>
          <a:xfrm xmlns:a="http://schemas.openxmlformats.org/drawingml/2006/main">
            <a:off x="228600" y="1030856"/>
            <a:ext cx="7753350" cy="4529589"/>
          </a:xfrm>
          <a:prstGeom xmlns:a="http://schemas.openxmlformats.org/drawingml/2006/main" prst="rect">
            <a:avLst/>
          </a:prstGeom>
        </p:spPr>
      </p:pic>
      <p:pic>
        <p:nvPicPr>
          <p:cNvPr id="25" name="Actual care calendar with the upcoming clinic visit"/>
          <p:cNvPicPr>
            <a:picLocks xmlns:a="http://schemas.openxmlformats.org/drawingml/2006/main" noChangeAspect="1"/>
          </p:cNvPicPr>
          <p:nvPr/>
        </p:nvPicPr>
        <p:blipFill>
          <a:blip xmlns:r="http://schemas.openxmlformats.org/officeDocument/2006/relationships" xmlns:a="http://schemas.openxmlformats.org/drawingml/2006/main" r:embed="Re46a54831cc245d1"/>
          <a:srcRect xmlns:a="http://schemas.openxmlformats.org/drawingml/2006/main" l="3539" t="13901" r="23460" b="22629"/>
          <a:stretch xmlns:a="http://schemas.openxmlformats.org/drawingml/2006/main">
            <a:fillRect l="0" t="0" r="0" b="0"/>
          </a:stretch>
        </p:blipFill>
        <p:spPr>
          <a:xfrm xmlns:a="http://schemas.openxmlformats.org/drawingml/2006/main">
            <a:off x="8210550" y="1057275"/>
            <a:ext cx="3448050" cy="364807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b10351eecf44f09">
            <a:extLst>
              <a:ext uri="{96DAC541-7B7A-43D3-8B79-37D633B846F1}">
                <asvg:svgBlip xmlns:asvg="http://schemas.microsoft.com/office/drawing/2016/SVG/main" r:embed="R61309462f1154fdb"/>
              </a:ext>
            </a:extLst>
          </a:blip>
          <a:stretch xmlns:a="http://schemas.openxmlformats.org/drawingml/2006/main"/>
        </p:blipFill>
        <p:spPr>
          <a:xfrm xmlns:a="http://schemas.openxmlformats.org/drawingml/2006/main">
            <a:off x="533400" y="5638800"/>
            <a:ext cx="304800" cy="304800"/>
          </a:xfrm>
          <a:prstGeom xmlns:a="http://schemas.openxmlformats.org/drawingml/2006/main" prst="rect">
            <a:avLst/>
          </a:prstGeom>
        </p:spPr>
      </p:pic>
      <p:sp>
        <p:nvSpPr>
          <p:cNvPr id="5" name="Daily care pill">
            <a:extLst xmlns:a="http://schemas.openxmlformats.org/drawingml/2006/main">
              <a:ext uri="{FF2B5EF4-FFF2-40B4-BE49-F238E27FC236}">
                <a16:creationId xmlns:a16="http://schemas.microsoft.com/office/drawing/2014/main" id="{B398B9EC-2489-4BF9-955C-1036D4041EE2}"/>
              </a:ext>
            </a:extLst>
          </p:cNvPr>
          <p:cNvSpPr>
            <a:spLocks xmlns:a="http://schemas.openxmlformats.org/drawingml/2006/main" noGrp="1"/>
          </p:cNvSpPr>
          <p:nvPr/>
        </p:nvSpPr>
        <p:spPr>
          <a:xfrm xmlns:a="http://schemas.openxmlformats.org/drawingml/2006/main">
            <a:off x="962025" y="56483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b6fb981b607744bb"/>
              </a:rPr>
              <a:t>Medicines and prescription reminders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0ac72d85b734933">
            <a:extLst>
              <a:ext uri="{96DAC541-7B7A-43D3-8B79-37D633B846F1}">
                <asvg:svgBlip xmlns:asvg="http://schemas.microsoft.com/office/drawing/2016/SVG/main" r:embed="Rc01cf3eb367c49e4"/>
              </a:ext>
            </a:extLst>
          </a:blip>
          <a:stretch xmlns:a="http://schemas.openxmlformats.org/drawingml/2006/main"/>
        </p:blipFill>
        <p:spPr>
          <a:xfrm xmlns:a="http://schemas.openxmlformats.org/drawingml/2006/main">
            <a:off x="533400" y="6057900"/>
            <a:ext cx="304800" cy="304800"/>
          </a:xfrm>
          <a:prstGeom xmlns:a="http://schemas.openxmlformats.org/drawingml/2006/main" prst="rect">
            <a:avLst/>
          </a:prstGeom>
        </p:spPr>
      </p:pic>
      <p:sp>
        <p:nvSpPr>
          <p:cNvPr id="7" name="Daily care calendar-days">
            <a:extLst xmlns:a="http://schemas.openxmlformats.org/drawingml/2006/main">
              <a:ext uri="{FF2B5EF4-FFF2-40B4-BE49-F238E27FC236}">
                <a16:creationId xmlns:a16="http://schemas.microsoft.com/office/drawing/2014/main" id="{E24E494D-D347-472C-A200-824852B7E29D}"/>
              </a:ext>
            </a:extLst>
          </p:cNvPr>
          <p:cNvSpPr>
            <a:spLocks xmlns:a="http://schemas.openxmlformats.org/drawingml/2006/main" noGrp="1"/>
          </p:cNvSpPr>
          <p:nvPr/>
        </p:nvSpPr>
        <p:spPr>
          <a:xfrm xmlns:a="http://schemas.openxmlformats.org/drawingml/2006/main">
            <a:off x="962025" y="60674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5b3214e6ec8043d6"/>
              </a:rPr>
              <a:t>Visits, tests and treatment dates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445dbbd60e144e3">
            <a:extLst>
              <a:ext uri="{96DAC541-7B7A-43D3-8B79-37D633B846F1}">
                <asvg:svgBlip xmlns:asvg="http://schemas.microsoft.com/office/drawing/2016/SVG/main" r:embed="R14275f736eeb4849"/>
              </a:ext>
            </a:extLst>
          </a:blip>
          <a:stretch xmlns:a="http://schemas.openxmlformats.org/drawingml/2006/main"/>
        </p:blipFill>
        <p:spPr>
          <a:xfrm xmlns:a="http://schemas.openxmlformats.org/drawingml/2006/main">
            <a:off x="533400" y="6477000"/>
            <a:ext cx="304800" cy="304800"/>
          </a:xfrm>
          <a:prstGeom xmlns:a="http://schemas.openxmlformats.org/drawingml/2006/main" prst="rect">
            <a:avLst/>
          </a:prstGeom>
        </p:spPr>
      </p:pic>
      <p:sp>
        <p:nvSpPr>
          <p:cNvPr id="9" name="Daily care heart-handshake">
            <a:extLst xmlns:a="http://schemas.openxmlformats.org/drawingml/2006/main">
              <a:ext uri="{FF2B5EF4-FFF2-40B4-BE49-F238E27FC236}">
                <a16:creationId xmlns:a16="http://schemas.microsoft.com/office/drawing/2014/main" id="{7E6D31CB-8993-4EAE-90F8-F5DEAAF3C5F6}"/>
              </a:ext>
            </a:extLst>
          </p:cNvPr>
          <p:cNvSpPr>
            <a:spLocks xmlns:a="http://schemas.openxmlformats.org/drawingml/2006/main" noGrp="1"/>
          </p:cNvSpPr>
          <p:nvPr/>
        </p:nvSpPr>
        <p:spPr>
          <a:xfrm xmlns:a="http://schemas.openxmlformats.org/drawingml/2006/main">
            <a:off x="962025" y="6486525"/>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2D5F9A"/>
                </a:solidFill>
                <a:latin typeface="Calibri"/>
                <a:ea typeface="Calibri"/>
                <a:cs typeface="Calibri"/>
              </a:defRPr>
            </a:pPr>
            <a:r>
              <a:rPr sz="1800" b="1" u="sng">
                <a:solidFill>
                  <a:srgbClr val="2D5F9A"/>
                </a:solidFill>
                <a:latin typeface="Calibri"/>
                <a:ea typeface="Calibri"/>
                <a:cs typeface="Calibri"/>
                <a:hlinkClick xmlns:r="http://schemas.openxmlformats.org/officeDocument/2006/relationships" r:id="R33db8d9a16b14618"/>
              </a:rPr>
              <a:t>Journals and symptom tracking</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f90a8d0536a498c">
            <a:extLst>
              <a:ext uri="{96DAC541-7B7A-43D3-8B79-37D633B846F1}">
                <asvg:svgBlip xmlns:asvg="http://schemas.microsoft.com/office/drawing/2016/SVG/main" r:embed="Rcb7838309d5b4ec8"/>
              </a:ext>
            </a:extLst>
          </a:blip>
          <a:stretch xmlns:a="http://schemas.openxmlformats.org/drawingml/2006/main"/>
        </p:blipFill>
        <p:spPr>
          <a:xfrm xmlns:a="http://schemas.openxmlformats.org/drawingml/2006/main">
            <a:off x="5010150" y="6477000"/>
            <a:ext cx="304800" cy="304800"/>
          </a:xfrm>
          <a:prstGeom xmlns:a="http://schemas.openxmlformats.org/drawingml/2006/main" prst="rect">
            <a:avLst/>
          </a:prstGeom>
        </p:spPr>
      </p:pic>
      <p:sp>
        <p:nvSpPr>
          <p:cNvPr id="11" name="Daily care receipt-indian-rupee">
            <a:extLst xmlns:a="http://schemas.openxmlformats.org/drawingml/2006/main">
              <a:ext uri="{FF2B5EF4-FFF2-40B4-BE49-F238E27FC236}">
                <a16:creationId xmlns:a16="http://schemas.microsoft.com/office/drawing/2014/main" id="{A1E13906-2AC0-4911-9B5D-DC8FAA7BF441}"/>
              </a:ext>
            </a:extLst>
          </p:cNvPr>
          <p:cNvSpPr>
            <a:spLocks xmlns:a="http://schemas.openxmlformats.org/drawingml/2006/main" noGrp="1"/>
          </p:cNvSpPr>
          <p:nvPr/>
        </p:nvSpPr>
        <p:spPr>
          <a:xfrm xmlns:a="http://schemas.openxmlformats.org/drawingml/2006/main">
            <a:off x="5438775" y="6486525"/>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2D5F9A"/>
                </a:solidFill>
                <a:latin typeface="Calibri"/>
                <a:ea typeface="Calibri"/>
                <a:cs typeface="Calibri"/>
              </a:defRPr>
            </a:pPr>
            <a:r>
              <a:rPr sz="1725" b="1" u="sng">
                <a:solidFill>
                  <a:srgbClr val="2D5F9A"/>
                </a:solidFill>
                <a:latin typeface="Calibri"/>
                <a:ea typeface="Calibri"/>
                <a:cs typeface="Calibri"/>
                <a:hlinkClick xmlns:r="http://schemas.openxmlformats.org/officeDocument/2006/relationships" r:id="Rf4880cd3a86e4fa4"/>
              </a:rPr>
              <a:t>Financial tracking</a:t>
            </a:r>
          </a:p>
        </p:txBody>
      </p:sp>
      <p:sp>
        <p:nvSpPr>
          <p:cNvPr id="12" name="Three sign-ins">
            <a:extLst xmlns:a="http://schemas.openxmlformats.org/drawingml/2006/main">
              <a:ext uri="{FF2B5EF4-FFF2-40B4-BE49-F238E27FC236}">
                <a16:creationId xmlns:a16="http://schemas.microsoft.com/office/drawing/2014/main" id="{301804ED-A50A-4F24-B63A-51D04B975DD4}"/>
              </a:ext>
            </a:extLst>
          </p:cNvPr>
          <p:cNvSpPr>
            <a:spLocks xmlns:a="http://schemas.openxmlformats.org/drawingml/2006/main" noGrp="1"/>
          </p:cNvSpPr>
          <p:nvPr/>
        </p:nvSpPr>
        <p:spPr>
          <a:xfrm xmlns:a="http://schemas.openxmlformats.org/drawingml/2006/main">
            <a:off x="8210550" y="50577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Three sign-ins</a:t>
            </a:r>
          </a:p>
        </p:txBody>
      </p:sp>
      <p:pic>
        <p:nvPicPr>
          <p:cNvPr id="35" name="Actual patient, family and doctor sign-in choices"/>
          <p:cNvPicPr>
            <a:picLocks xmlns:a="http://schemas.openxmlformats.org/drawingml/2006/main" noChangeAspect="1"/>
          </p:cNvPicPr>
          <p:nvPr/>
        </p:nvPicPr>
        <p:blipFill>
          <a:blip xmlns:r="http://schemas.openxmlformats.org/officeDocument/2006/relationships" xmlns:a="http://schemas.openxmlformats.org/drawingml/2006/main" r:embed="R1d8be228ee2a42c0"/>
          <a:srcRect xmlns:a="http://schemas.openxmlformats.org/drawingml/2006/main" l="6332" t="32653" r="6987" b="44694"/>
          <a:stretch xmlns:a="http://schemas.openxmlformats.org/drawingml/2006/main">
            <a:fillRect l="0" t="0" r="0" b="0"/>
          </a:stretch>
        </p:blipFill>
        <p:spPr>
          <a:xfrm xmlns:a="http://schemas.openxmlformats.org/drawingml/2006/main">
            <a:off x="8210550" y="5514975"/>
            <a:ext cx="3448050" cy="962025"/>
          </a:xfrm>
          <a:prstGeom xmlns:a="http://schemas.openxmlformats.org/drawingml/2006/main" prst="rect">
            <a:avLst/>
          </a:prstGeom>
        </p:spPr>
      </p:pic>
      <p:sp>
        <p:nvSpPr>
          <p:cNvPr id="14" name="Patient home website">
            <a:extLst xmlns:a="http://schemas.openxmlformats.org/drawingml/2006/main">
              <a:ext uri="{FF2B5EF4-FFF2-40B4-BE49-F238E27FC236}">
                <a16:creationId xmlns:a16="http://schemas.microsoft.com/office/drawing/2014/main" id="{6C8BA3AF-9177-4990-B26C-771E2D34802B}"/>
              </a:ext>
            </a:extLst>
          </p:cNvPr>
          <p:cNvSpPr>
            <a:spLocks xmlns:a="http://schemas.openxmlformats.org/drawingml/2006/main" noGrp="1"/>
          </p:cNvSpPr>
          <p:nvPr/>
        </p:nvSpPr>
        <p:spPr>
          <a:xfrm xmlns:a="http://schemas.openxmlformats.org/drawingml/2006/main">
            <a:off x="8210550" y="66008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982"/>
          </a:bodyPr>
          <a:lstStyle xmlns:a="http://schemas.openxmlformats.org/drawingml/2006/main"/>
          <a:p xmlns:a="http://schemas.openxmlformats.org/drawingml/2006/main">
            <a:pPr>
              <a:buNone/>
              <a:defRPr sz="1425" b="1">
                <a:solidFill>
                  <a:srgbClr val="2D5F9A"/>
                </a:solidFill>
                <a:latin typeface="Calibri"/>
                <a:ea typeface="Calibri"/>
                <a:cs typeface="Calibri"/>
              </a:defRPr>
            </a:pPr>
            <a:r>
              <a:rPr sz="1425" b="1" u="sng">
                <a:solidFill>
                  <a:srgbClr val="2D5F9A"/>
                </a:solidFill>
                <a:latin typeface="Calibri"/>
                <a:ea typeface="Calibri"/>
                <a:cs typeface="Calibri"/>
                <a:hlinkClick xmlns:r="http://schemas.openxmlformats.org/officeDocument/2006/relationships" r:id="Rf2d11867fa694910"/>
              </a:rPr>
              <a:t>OPEN - saanthvana.wedevit.in</a:t>
            </a:r>
          </a:p>
        </p:txBody>
      </p:sp>
    </p:spTree>
    <p:extLst>
      <p:ext uri="{BB962C8B-B14F-4D97-AF65-F5344CB8AC3E}">
        <p14:creationId xmlns:p14="http://schemas.microsoft.com/office/powerpoint/2010/main" val="221085739"/>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FBE6313F-BF8E-488F-BBC3-3D17FF350EA5}"/>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AI helps doctors and families use patient records</a:t>
            </a:r>
          </a:p>
        </p:txBody>
      </p:sp>
      <p:sp>
        <p:nvSpPr>
          <p:cNvPr id="2" name="Records assistant purpose">
            <a:extLst xmlns:a="http://schemas.openxmlformats.org/drawingml/2006/main">
              <a:ext uri="{FF2B5EF4-FFF2-40B4-BE49-F238E27FC236}">
                <a16:creationId xmlns:a16="http://schemas.microsoft.com/office/drawing/2014/main" id="{50597C82-5743-4211-9CC6-293C86458DF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0">
                <a:solidFill>
                  <a:srgbClr val="53655C"/>
                </a:solidFill>
                <a:latin typeface="Calibri"/>
                <a:ea typeface="Calibri"/>
                <a:cs typeface="Calibri"/>
              </a:defRPr>
            </a:pPr>
            <a:r>
              <a:rPr sz="1800" b="0">
                <a:solidFill>
                  <a:srgbClr val="53655C"/>
                </a:solidFill>
                <a:latin typeface="Calibri"/>
                <a:ea typeface="Calibri"/>
                <a:cs typeface="Calibri"/>
              </a:rPr>
              <a:t>With the patient’s permission, find answers and see the original passage.</a:t>
            </a:r>
          </a:p>
        </p:txBody>
      </p:sp>
      <p:pic>
        <p:nvPicPr>
          <p:cNvPr id="28" name="Generated concept illustration of finding an instruction in the original report"/>
          <p:cNvPicPr>
            <a:picLocks xmlns:a="http://schemas.openxmlformats.org/drawingml/2006/main" noChangeAspect="1"/>
          </p:cNvPicPr>
          <p:nvPr/>
        </p:nvPicPr>
        <p:blipFill>
          <a:blip xmlns:r="http://schemas.openxmlformats.org/officeDocument/2006/relationships" xmlns:a="http://schemas.openxmlformats.org/drawingml/2006/main" r:embed="R28263da5f1e74ab8"/>
          <a:srcRect xmlns:a="http://schemas.openxmlformats.org/drawingml/2006/main" l="0" t="240" r="0" b="240"/>
          <a:stretch xmlns:a="http://schemas.openxmlformats.org/drawingml/2006/main">
            <a:fillRect l="0" t="0" r="0" b="0"/>
          </a:stretch>
        </p:blipFill>
        <p:spPr>
          <a:xfrm xmlns:a="http://schemas.openxmlformats.org/drawingml/2006/main">
            <a:off x="533400" y="1695450"/>
            <a:ext cx="7686675" cy="43053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7a0ab13476c4c6a">
            <a:extLst>
              <a:ext uri="{96DAC541-7B7A-43D3-8B79-37D633B846F1}">
                <asvg:svgBlip xmlns:asvg="http://schemas.microsoft.com/office/drawing/2016/SVG/main" r:embed="R12116d5be3c24533"/>
              </a:ext>
            </a:extLst>
          </a:blip>
          <a:stretch xmlns:a="http://schemas.openxmlformats.org/drawingml/2006/main"/>
        </p:blipFill>
        <p:spPr>
          <a:xfrm xmlns:a="http://schemas.openxmlformats.org/drawingml/2006/main">
            <a:off x="8610600" y="1790700"/>
            <a:ext cx="666750" cy="666750"/>
          </a:xfrm>
          <a:prstGeom xmlns:a="http://schemas.openxmlformats.org/drawingml/2006/main" prst="rect">
            <a:avLst/>
          </a:prstGeom>
        </p:spPr>
      </p:pic>
      <p:sp>
        <p:nvSpPr>
          <p:cNvPr id="5" name="Records step 1">
            <a:extLst xmlns:a="http://schemas.openxmlformats.org/drawingml/2006/main">
              <a:ext uri="{FF2B5EF4-FFF2-40B4-BE49-F238E27FC236}">
                <a16:creationId xmlns:a16="http://schemas.microsoft.com/office/drawing/2014/main" id="{AF168274-B7AC-444F-9C64-E68FC0B1F9B1}"/>
              </a:ext>
            </a:extLst>
          </p:cNvPr>
          <p:cNvSpPr>
            <a:spLocks xmlns:a="http://schemas.openxmlformats.org/drawingml/2006/main" noGrp="1"/>
          </p:cNvSpPr>
          <p:nvPr/>
        </p:nvSpPr>
        <p:spPr>
          <a:xfrm xmlns:a="http://schemas.openxmlformats.org/drawingml/2006/main">
            <a:off x="9477375" y="180022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1. Add a report.</a:t>
            </a:r>
          </a:p>
        </p:txBody>
      </p:sp>
      <p:sp>
        <p:nvSpPr>
          <p:cNvPr id="6" name="Records step 1 detail">
            <a:extLst xmlns:a="http://schemas.openxmlformats.org/drawingml/2006/main">
              <a:ext uri="{FF2B5EF4-FFF2-40B4-BE49-F238E27FC236}">
                <a16:creationId xmlns:a16="http://schemas.microsoft.com/office/drawing/2014/main" id="{9983123B-EF9F-4332-913B-837D5233EA09}"/>
              </a:ext>
            </a:extLst>
          </p:cNvPr>
          <p:cNvSpPr>
            <a:spLocks xmlns:a="http://schemas.openxmlformats.org/drawingml/2006/main" noGrp="1"/>
          </p:cNvSpPr>
          <p:nvPr/>
        </p:nvSpPr>
        <p:spPr>
          <a:xfrm xmlns:a="http://schemas.openxmlformats.org/drawingml/2006/main">
            <a:off x="9477375" y="2581275"/>
            <a:ext cx="21812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53655C"/>
                </a:solidFill>
                <a:latin typeface="Calibri"/>
                <a:ea typeface="Calibri"/>
                <a:cs typeface="Calibri"/>
              </a:defRPr>
            </a:pPr>
            <a:r>
              <a:rPr sz="1575" b="0">
                <a:solidFill>
                  <a:srgbClr val="53655C"/>
                </a:solidFill>
                <a:latin typeface="Calibri"/>
                <a:ea typeface="Calibri"/>
                <a:cs typeface="Calibri"/>
              </a:rPr>
              <a:t>Or a printed prescription.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1ea8974cf234d82">
            <a:extLst>
              <a:ext uri="{96DAC541-7B7A-43D3-8B79-37D633B846F1}">
                <asvg:svgBlip xmlns:asvg="http://schemas.microsoft.com/office/drawing/2016/SVG/main" r:embed="Rb9534b2ea31f43e7"/>
              </a:ext>
            </a:extLst>
          </a:blip>
          <a:stretch xmlns:a="http://schemas.openxmlformats.org/drawingml/2006/main"/>
        </p:blipFill>
        <p:spPr>
          <a:xfrm xmlns:a="http://schemas.openxmlformats.org/drawingml/2006/main">
            <a:off x="8810625" y="2781300"/>
            <a:ext cx="247650" cy="2476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ca542b92f52489d">
            <a:extLst>
              <a:ext uri="{96DAC541-7B7A-43D3-8B79-37D633B846F1}">
                <asvg:svgBlip xmlns:asvg="http://schemas.microsoft.com/office/drawing/2016/SVG/main" r:embed="Rf236de00fcce4de4"/>
              </a:ext>
            </a:extLst>
          </a:blip>
          <a:stretch xmlns:a="http://schemas.openxmlformats.org/drawingml/2006/main"/>
        </p:blipFill>
        <p:spPr>
          <a:xfrm xmlns:a="http://schemas.openxmlformats.org/drawingml/2006/main">
            <a:off x="8610600" y="3267075"/>
            <a:ext cx="666750" cy="666750"/>
          </a:xfrm>
          <a:prstGeom xmlns:a="http://schemas.openxmlformats.org/drawingml/2006/main" prst="rect">
            <a:avLst/>
          </a:prstGeom>
        </p:spPr>
      </p:pic>
      <p:sp>
        <p:nvSpPr>
          <p:cNvPr id="9" name="Records step 2">
            <a:extLst xmlns:a="http://schemas.openxmlformats.org/drawingml/2006/main">
              <a:ext uri="{FF2B5EF4-FFF2-40B4-BE49-F238E27FC236}">
                <a16:creationId xmlns:a16="http://schemas.microsoft.com/office/drawing/2014/main" id="{3422D21C-E79C-45AE-823D-AFFF3DD218D8}"/>
              </a:ext>
            </a:extLst>
          </p:cNvPr>
          <p:cNvSpPr>
            <a:spLocks xmlns:a="http://schemas.openxmlformats.org/drawingml/2006/main" noGrp="1"/>
          </p:cNvSpPr>
          <p:nvPr/>
        </p:nvSpPr>
        <p:spPr>
          <a:xfrm xmlns:a="http://schemas.openxmlformats.org/drawingml/2006/main">
            <a:off x="9477375" y="3276600"/>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2. Ask in your own words.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69bfac708ba4b74">
            <a:extLst>
              <a:ext uri="{96DAC541-7B7A-43D3-8B79-37D633B846F1}">
                <asvg:svgBlip xmlns:asvg="http://schemas.microsoft.com/office/drawing/2016/SVG/main" r:embed="Rf4b2f39e62d04797"/>
              </a:ext>
            </a:extLst>
          </a:blip>
          <a:stretch xmlns:a="http://schemas.openxmlformats.org/drawingml/2006/main"/>
        </p:blipFill>
        <p:spPr>
          <a:xfrm xmlns:a="http://schemas.openxmlformats.org/drawingml/2006/main">
            <a:off x="8810625" y="4257675"/>
            <a:ext cx="247650" cy="2476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448e180ac1f4b0d">
            <a:extLst>
              <a:ext uri="{96DAC541-7B7A-43D3-8B79-37D633B846F1}">
                <asvg:svgBlip xmlns:asvg="http://schemas.microsoft.com/office/drawing/2016/SVG/main" r:embed="R3ae965c44f724d0c"/>
              </a:ext>
            </a:extLst>
          </a:blip>
          <a:stretch xmlns:a="http://schemas.openxmlformats.org/drawingml/2006/main"/>
        </p:blipFill>
        <p:spPr>
          <a:xfrm xmlns:a="http://schemas.openxmlformats.org/drawingml/2006/main">
            <a:off x="8610600" y="4743450"/>
            <a:ext cx="666750" cy="666750"/>
          </a:xfrm>
          <a:prstGeom xmlns:a="http://schemas.openxmlformats.org/drawingml/2006/main" prst="rect">
            <a:avLst/>
          </a:prstGeom>
        </p:spPr>
      </p:pic>
      <p:sp>
        <p:nvSpPr>
          <p:cNvPr id="12" name="Records step 3">
            <a:extLst xmlns:a="http://schemas.openxmlformats.org/drawingml/2006/main">
              <a:ext uri="{FF2B5EF4-FFF2-40B4-BE49-F238E27FC236}">
                <a16:creationId xmlns:a16="http://schemas.microsoft.com/office/drawing/2014/main" id="{203C1F6E-5810-4296-A106-06E0E9D9B4CD}"/>
              </a:ext>
            </a:extLst>
          </p:cNvPr>
          <p:cNvSpPr>
            <a:spLocks xmlns:a="http://schemas.openxmlformats.org/drawingml/2006/main" noGrp="1"/>
          </p:cNvSpPr>
          <p:nvPr/>
        </p:nvSpPr>
        <p:spPr>
          <a:xfrm xmlns:a="http://schemas.openxmlformats.org/drawingml/2006/main">
            <a:off x="9477375" y="475297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3. Check the original text.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8263da5f1e74ab8">
            <a:extLst>
              <a:ext uri="{96DAC541-7B7A-43D3-8B79-37D633B846F1}">
                <asvg:svgBlip xmlns:asvg="http://schemas.microsoft.com/office/drawing/2016/SVG/main" r:embed="R94c15d90a7844c79"/>
              </a:ext>
            </a:extLst>
          </a:blip>
          <a:stretch xmlns:a="http://schemas.openxmlformats.org/drawingml/2006/main"/>
        </p:blipFill>
        <p:spPr>
          <a:xfrm xmlns:a="http://schemas.openxmlformats.org/drawingml/2006/main">
            <a:off x="533400" y="6276975"/>
            <a:ext cx="381000" cy="381000"/>
          </a:xfrm>
          <a:prstGeom xmlns:a="http://schemas.openxmlformats.org/drawingml/2006/main" prst="rect">
            <a:avLst/>
          </a:prstGeom>
        </p:spPr>
      </p:pic>
      <p:sp>
        <p:nvSpPr>
          <p:cNvPr id="14" name="Treatment dates">
            <a:extLst xmlns:a="http://schemas.openxmlformats.org/drawingml/2006/main">
              <a:ext uri="{FF2B5EF4-FFF2-40B4-BE49-F238E27FC236}">
                <a16:creationId xmlns:a16="http://schemas.microsoft.com/office/drawing/2014/main" id="{7ABE6DE8-F4DD-4101-BBCE-14F091A63DC4}"/>
              </a:ext>
            </a:extLst>
          </p:cNvPr>
          <p:cNvSpPr>
            <a:spLocks xmlns:a="http://schemas.openxmlformats.org/drawingml/2006/main" noGrp="1"/>
          </p:cNvSpPr>
          <p:nvPr/>
        </p:nvSpPr>
        <p:spPr>
          <a:xfrm xmlns:a="http://schemas.openxmlformats.org/drawingml/2006/main">
            <a:off x="1047750" y="6267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Keep treatment dates in order.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adaba22ec464e42">
            <a:extLst>
              <a:ext uri="{96DAC541-7B7A-43D3-8B79-37D633B846F1}">
                <asvg:svgBlip xmlns:asvg="http://schemas.microsoft.com/office/drawing/2016/SVG/main" r:embed="R1764baf1e5c54f02"/>
              </a:ext>
            </a:extLst>
          </a:blip>
          <a:stretch xmlns:a="http://schemas.openxmlformats.org/drawingml/2006/main"/>
        </p:blipFill>
        <p:spPr>
          <a:xfrm xmlns:a="http://schemas.openxmlformats.org/drawingml/2006/main">
            <a:off x="6210300" y="6276975"/>
            <a:ext cx="381000" cy="381000"/>
          </a:xfrm>
          <a:prstGeom xmlns:a="http://schemas.openxmlformats.org/drawingml/2006/main" prst="rect">
            <a:avLst/>
          </a:prstGeom>
        </p:spPr>
      </p:pic>
      <p:sp>
        <p:nvSpPr>
          <p:cNvPr id="16" name="Medicine reminders">
            <a:extLst xmlns:a="http://schemas.openxmlformats.org/drawingml/2006/main">
              <a:ext uri="{FF2B5EF4-FFF2-40B4-BE49-F238E27FC236}">
                <a16:creationId xmlns:a16="http://schemas.microsoft.com/office/drawing/2014/main" id="{CCFA899C-52F3-49EF-937B-EDF4DD9D8B45}"/>
              </a:ext>
            </a:extLst>
          </p:cNvPr>
          <p:cNvSpPr>
            <a:spLocks xmlns:a="http://schemas.openxmlformats.org/drawingml/2006/main" noGrp="1"/>
          </p:cNvSpPr>
          <p:nvPr/>
        </p:nvSpPr>
        <p:spPr>
          <a:xfrm xmlns:a="http://schemas.openxmlformats.org/drawingml/2006/main">
            <a:off x="6743700" y="62674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Check medicine reminders before saving.</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F4DDCB"/>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6320D0-E8FA-4265-90A4-5A6CAFC675BC}"/>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925" b="1">
                <a:solidFill>
                  <a:srgbClr val="173F33"/>
                </a:solidFill>
                <a:latin typeface="Georgia"/>
                <a:ea typeface="Georgia"/>
                <a:cs typeface="Georgia"/>
              </a:defRPr>
            </a:pPr>
            <a:r>
              <a:rPr sz="2925" b="1">
                <a:solidFill>
                  <a:srgbClr val="173F33"/>
                </a:solidFill>
                <a:latin typeface="Georgia"/>
                <a:ea typeface="Georgia"/>
                <a:cs typeface="Georgia"/>
              </a:rPr>
              <a:t>Physician leads. AI assists</a:t>
            </a:r>
          </a:p>
        </p:txBody>
      </p:sp>
      <p:sp>
        <p:nvSpPr>
          <p:cNvPr id="2" name="Conversation purpose">
            <a:extLst xmlns:a="http://schemas.openxmlformats.org/drawingml/2006/main">
              <a:ext uri="{FF2B5EF4-FFF2-40B4-BE49-F238E27FC236}">
                <a16:creationId xmlns:a16="http://schemas.microsoft.com/office/drawing/2014/main" id="{71976BE0-5448-491F-8CB0-70AC862966E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0">
                <a:solidFill>
                  <a:srgbClr val="53655C"/>
                </a:solidFill>
                <a:latin typeface="Calibri"/>
                <a:ea typeface="Calibri"/>
                <a:cs typeface="Calibri"/>
              </a:defRPr>
            </a:pPr>
            <a:r>
              <a:rPr sz="1875" b="0">
                <a:solidFill>
                  <a:srgbClr val="53655C"/>
                </a:solidFill>
                <a:latin typeface="Calibri"/>
                <a:ea typeface="Calibri"/>
                <a:cs typeface="Calibri"/>
              </a:rPr>
              <a:t>The physician initiates the goals-of-care discussion. AI provides a structured guide.</a:t>
            </a:r>
          </a:p>
        </p:txBody>
      </p:sp>
      <p:pic>
        <p:nvPicPr>
          <p:cNvPr id="28" name="Generated consultation illustration with a phone recording the conversation"/>
          <p:cNvPicPr>
            <a:picLocks xmlns:a="http://schemas.openxmlformats.org/drawingml/2006/main" noChangeAspect="1"/>
          </p:cNvPicPr>
          <p:nvPr/>
        </p:nvPicPr>
        <p:blipFill>
          <a:blip xmlns:r="http://schemas.openxmlformats.org/officeDocument/2006/relationships" xmlns:a="http://schemas.openxmlformats.org/drawingml/2006/main" r:embed="R9f96e274c66a4124"/>
          <a:srcRect xmlns:a="http://schemas.openxmlformats.org/drawingml/2006/main" l="5251" t="0" r="5251" b="0"/>
          <a:stretch xmlns:a="http://schemas.openxmlformats.org/drawingml/2006/main">
            <a:fillRect l="0" t="0" r="0" b="0"/>
          </a:stretch>
        </p:blipFill>
        <p:spPr>
          <a:xfrm xmlns:a="http://schemas.openxmlformats.org/drawingml/2006/main">
            <a:off x="533400" y="1733550"/>
            <a:ext cx="3733800" cy="4171950"/>
          </a:xfrm>
          <a:prstGeom xmlns:a="http://schemas.openxmlformats.org/drawingml/2006/main" prst="rect">
            <a:avLst/>
          </a:prstGeom>
        </p:spPr>
      </p:pic>
      <p:pic>
        <p:nvPicPr>
          <p:cNvPr id="29" name="Saanthvana recording consent and voice controls"/>
          <p:cNvPicPr>
            <a:picLocks xmlns:a="http://schemas.openxmlformats.org/drawingml/2006/main" noChangeAspect="1"/>
          </p:cNvPicPr>
          <p:nvPr/>
        </p:nvPicPr>
        <p:blipFill>
          <a:blip xmlns:r="http://schemas.openxmlformats.org/officeDocument/2006/relationships" xmlns:a="http://schemas.openxmlformats.org/drawingml/2006/main" r:embed="Ra6e70ba24e734d4f"/>
          <a:srcRect xmlns:a="http://schemas.openxmlformats.org/drawingml/2006/main" l="1354" t="34298" r="65403" b="0"/>
          <a:stretch xmlns:a="http://schemas.openxmlformats.org/drawingml/2006/main">
            <a:fillRect l="0" t="0" r="0" b="0"/>
          </a:stretch>
        </p:blipFill>
        <p:spPr>
          <a:xfrm xmlns:a="http://schemas.openxmlformats.org/drawingml/2006/main">
            <a:off x="4552950" y="1733550"/>
            <a:ext cx="2914650" cy="2695575"/>
          </a:xfrm>
          <a:prstGeom xmlns:a="http://schemas.openxmlformats.org/drawingml/2006/main" prst="rect">
            <a:avLst/>
          </a:prstGeom>
        </p:spPr>
      </p:pic>
      <p:sp>
        <p:nvSpPr>
          <p:cNvPr id="5" name="Source traceability">
            <a:extLst xmlns:a="http://schemas.openxmlformats.org/drawingml/2006/main">
              <a:ext uri="{FF2B5EF4-FFF2-40B4-BE49-F238E27FC236}">
                <a16:creationId xmlns:a16="http://schemas.microsoft.com/office/drawing/2014/main" id="{1985393D-7C3D-4786-B2E0-CD7A6CD87D33}"/>
              </a:ext>
            </a:extLst>
          </p:cNvPr>
          <p:cNvSpPr>
            <a:spLocks xmlns:a="http://schemas.openxmlformats.org/drawingml/2006/main" noGrp="1"/>
          </p:cNvSpPr>
          <p:nvPr/>
        </p:nvSpPr>
        <p:spPr>
          <a:xfrm xmlns:a="http://schemas.openxmlformats.org/drawingml/2006/main">
            <a:off x="4552950" y="4686300"/>
            <a:ext cx="29146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5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Every version of the goals-of-care discussion stays in the Care Note history.</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9a6f2d94400453d">
            <a:extLst>
              <a:ext uri="{96DAC541-7B7A-43D3-8B79-37D633B846F1}">
                <asvg:svgBlip xmlns:asvg="http://schemas.microsoft.com/office/drawing/2016/SVG/main" r:embed="R33d94916fc594ca4"/>
              </a:ext>
            </a:extLst>
          </a:blip>
          <a:stretch xmlns:a="http://schemas.openxmlformats.org/drawingml/2006/main"/>
        </p:blipFill>
        <p:spPr>
          <a:xfrm xmlns:a="http://schemas.openxmlformats.org/drawingml/2006/main">
            <a:off x="7810500" y="1724025"/>
            <a:ext cx="361950" cy="361950"/>
          </a:xfrm>
          <a:prstGeom xmlns:a="http://schemas.openxmlformats.org/drawingml/2006/main" prst="rect">
            <a:avLst/>
          </a:prstGeom>
        </p:spPr>
      </p:pic>
      <p:sp>
        <p:nvSpPr>
          <p:cNvPr id="7" name="AI step 1">
            <a:extLst xmlns:a="http://schemas.openxmlformats.org/drawingml/2006/main">
              <a:ext uri="{FF2B5EF4-FFF2-40B4-BE49-F238E27FC236}">
                <a16:creationId xmlns:a16="http://schemas.microsoft.com/office/drawing/2014/main" id="{DC574EE3-5BE7-4D8C-90D3-CCA836955FC5}"/>
              </a:ext>
            </a:extLst>
          </p:cNvPr>
          <p:cNvSpPr>
            <a:spLocks xmlns:a="http://schemas.openxmlformats.org/drawingml/2006/main" noGrp="1"/>
          </p:cNvSpPr>
          <p:nvPr/>
        </p:nvSpPr>
        <p:spPr>
          <a:xfrm xmlns:a="http://schemas.openxmlformats.org/drawingml/2006/main">
            <a:off x="8305800" y="16764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1. Record with consent.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1a75a02a5854542">
            <a:extLst>
              <a:ext uri="{96DAC541-7B7A-43D3-8B79-37D633B846F1}">
                <asvg:svgBlip xmlns:asvg="http://schemas.microsoft.com/office/drawing/2016/SVG/main" r:embed="Rbfe691097a194dc5"/>
              </a:ext>
            </a:extLst>
          </a:blip>
          <a:stretch xmlns:a="http://schemas.openxmlformats.org/drawingml/2006/main"/>
        </p:blipFill>
        <p:spPr>
          <a:xfrm xmlns:a="http://schemas.openxmlformats.org/drawingml/2006/main">
            <a:off x="7810500" y="2466975"/>
            <a:ext cx="361950" cy="361950"/>
          </a:xfrm>
          <a:prstGeom xmlns:a="http://schemas.openxmlformats.org/drawingml/2006/main" prst="rect">
            <a:avLst/>
          </a:prstGeom>
        </p:spPr>
      </p:pic>
      <p:sp>
        <p:nvSpPr>
          <p:cNvPr id="9" name="AI step 2">
            <a:extLst xmlns:a="http://schemas.openxmlformats.org/drawingml/2006/main">
              <a:ext uri="{FF2B5EF4-FFF2-40B4-BE49-F238E27FC236}">
                <a16:creationId xmlns:a16="http://schemas.microsoft.com/office/drawing/2014/main" id="{CC3847D7-DFFF-4BE6-87F4-A81E42D8654F}"/>
              </a:ext>
            </a:extLst>
          </p:cNvPr>
          <p:cNvSpPr>
            <a:spLocks xmlns:a="http://schemas.openxmlformats.org/drawingml/2006/main" noGrp="1"/>
          </p:cNvSpPr>
          <p:nvPr/>
        </p:nvSpPr>
        <p:spPr>
          <a:xfrm xmlns:a="http://schemas.openxmlformats.org/drawingml/2006/main">
            <a:off x="8305800" y="2419350"/>
            <a:ext cx="335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2. AI guides the physician through a structured goals-of-care discussion.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068625786b54861">
            <a:extLst>
              <a:ext uri="{96DAC541-7B7A-43D3-8B79-37D633B846F1}">
                <asvg:svgBlip xmlns:asvg="http://schemas.microsoft.com/office/drawing/2016/SVG/main" r:embed="Rdc1b889508424252"/>
              </a:ext>
            </a:extLst>
          </a:blip>
          <a:stretch xmlns:a="http://schemas.openxmlformats.org/drawingml/2006/main"/>
        </p:blipFill>
        <p:spPr>
          <a:xfrm xmlns:a="http://schemas.openxmlformats.org/drawingml/2006/main">
            <a:off x="7810500" y="3495675"/>
            <a:ext cx="361950" cy="361950"/>
          </a:xfrm>
          <a:prstGeom xmlns:a="http://schemas.openxmlformats.org/drawingml/2006/main" prst="rect">
            <a:avLst/>
          </a:prstGeom>
        </p:spPr>
      </p:pic>
      <p:sp>
        <p:nvSpPr>
          <p:cNvPr id="11" name="AI step 3">
            <a:extLst xmlns:a="http://schemas.openxmlformats.org/drawingml/2006/main">
              <a:ext uri="{FF2B5EF4-FFF2-40B4-BE49-F238E27FC236}">
                <a16:creationId xmlns:a16="http://schemas.microsoft.com/office/drawing/2014/main" id="{2B3FDCB5-102A-4060-86E4-E84EBCAF0231}"/>
              </a:ext>
            </a:extLst>
          </p:cNvPr>
          <p:cNvSpPr>
            <a:spLocks xmlns:a="http://schemas.openxmlformats.org/drawingml/2006/main" noGrp="1"/>
          </p:cNvSpPr>
          <p:nvPr/>
        </p:nvSpPr>
        <p:spPr>
          <a:xfrm xmlns:a="http://schemas.openxmlformats.org/drawingml/2006/main">
            <a:off x="8305800" y="34480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3. AI drafts the Care Note.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f96e274c66a4124">
            <a:extLst>
              <a:ext uri="{96DAC541-7B7A-43D3-8B79-37D633B846F1}">
                <asvg:svgBlip xmlns:asvg="http://schemas.microsoft.com/office/drawing/2016/SVG/main" r:embed="R3c44ea93690b4561"/>
              </a:ext>
            </a:extLst>
          </a:blip>
          <a:stretch xmlns:a="http://schemas.openxmlformats.org/drawingml/2006/main"/>
        </p:blipFill>
        <p:spPr>
          <a:xfrm xmlns:a="http://schemas.openxmlformats.org/drawingml/2006/main">
            <a:off x="7810500" y="4238625"/>
            <a:ext cx="361950" cy="361950"/>
          </a:xfrm>
          <a:prstGeom xmlns:a="http://schemas.openxmlformats.org/drawingml/2006/main" prst="rect">
            <a:avLst/>
          </a:prstGeom>
        </p:spPr>
      </p:pic>
      <p:sp>
        <p:nvSpPr>
          <p:cNvPr id="13" name="AI step 4">
            <a:extLst xmlns:a="http://schemas.openxmlformats.org/drawingml/2006/main">
              <a:ext uri="{FF2B5EF4-FFF2-40B4-BE49-F238E27FC236}">
                <a16:creationId xmlns:a16="http://schemas.microsoft.com/office/drawing/2014/main" id="{B3ADCC34-0CC8-4C8B-BFCB-085124FC60F0}"/>
              </a:ext>
            </a:extLst>
          </p:cNvPr>
          <p:cNvSpPr>
            <a:spLocks xmlns:a="http://schemas.openxmlformats.org/drawingml/2006/main" noGrp="1"/>
          </p:cNvSpPr>
          <p:nvPr/>
        </p:nvSpPr>
        <p:spPr>
          <a:xfrm xmlns:a="http://schemas.openxmlformats.org/drawingml/2006/main">
            <a:off x="8305800" y="41910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4. The physician reviews, edits and signs.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e70ba24e734d4f">
            <a:extLst>
              <a:ext uri="{96DAC541-7B7A-43D3-8B79-37D633B846F1}">
                <asvg:svgBlip xmlns:asvg="http://schemas.microsoft.com/office/drawing/2016/SVG/main" r:embed="Rac1f22c188e74834"/>
              </a:ext>
            </a:extLst>
          </a:blip>
          <a:stretch xmlns:a="http://schemas.openxmlformats.org/drawingml/2006/main"/>
        </p:blipFill>
        <p:spPr>
          <a:xfrm xmlns:a="http://schemas.openxmlformats.org/drawingml/2006/main">
            <a:off x="7810500" y="5095875"/>
            <a:ext cx="361950" cy="361950"/>
          </a:xfrm>
          <a:prstGeom xmlns:a="http://schemas.openxmlformats.org/drawingml/2006/main" prst="rect">
            <a:avLst/>
          </a:prstGeom>
        </p:spPr>
      </p:pic>
      <p:sp>
        <p:nvSpPr>
          <p:cNvPr id="15" name="AI step 5">
            <a:extLst xmlns:a="http://schemas.openxmlformats.org/drawingml/2006/main">
              <a:ext uri="{FF2B5EF4-FFF2-40B4-BE49-F238E27FC236}">
                <a16:creationId xmlns:a16="http://schemas.microsoft.com/office/drawing/2014/main" id="{E9C7771F-9176-47F2-B1B4-2672CA0816AE}"/>
              </a:ext>
            </a:extLst>
          </p:cNvPr>
          <p:cNvSpPr>
            <a:spLocks xmlns:a="http://schemas.openxmlformats.org/drawingml/2006/main" noGrp="1"/>
          </p:cNvSpPr>
          <p:nvPr/>
        </p:nvSpPr>
        <p:spPr>
          <a:xfrm xmlns:a="http://schemas.openxmlformats.org/drawingml/2006/main">
            <a:off x="8305800" y="50482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5. The patient reviews and signs.</a:t>
            </a:r>
          </a:p>
        </p:txBody>
      </p:sp>
      <p:sp>
        <p:nvSpPr>
          <p:cNvPr id="16" name="Encrypted emergency handoff">
            <a:extLst xmlns:a="http://schemas.openxmlformats.org/drawingml/2006/main">
              <a:ext uri="{FF2B5EF4-FFF2-40B4-BE49-F238E27FC236}">
                <a16:creationId xmlns:a16="http://schemas.microsoft.com/office/drawing/2014/main" id="{9741D901-F2BF-4B6E-902D-BA00A15663C6}"/>
              </a:ext>
            </a:extLst>
          </p:cNvPr>
          <p:cNvSpPr>
            <a:spLocks xmlns:a="http://schemas.openxmlformats.org/drawingml/2006/main" noGrp="1"/>
          </p:cNvSpPr>
          <p:nvPr/>
        </p:nvSpPr>
        <p:spPr>
          <a:xfrm xmlns:a="http://schemas.openxmlformats.org/drawingml/2006/main">
            <a:off x="533400" y="60483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Download the signed Care Note and keep it ready for an emergency.</a:t>
            </a:r>
          </a:p>
        </p:txBody>
      </p:sp>
      <p:sp>
        <p:nvSpPr>
          <p:cNvPr id="17" name="Proposed voice provider">
            <a:extLst xmlns:a="http://schemas.openxmlformats.org/drawingml/2006/main">
              <a:ext uri="{FF2B5EF4-FFF2-40B4-BE49-F238E27FC236}">
                <a16:creationId xmlns:a16="http://schemas.microsoft.com/office/drawing/2014/main" id="{DD4627F3-38B3-4D3B-AC32-5327DE32E655}"/>
              </a:ext>
            </a:extLst>
          </p:cNvPr>
          <p:cNvSpPr>
            <a:spLocks xmlns:a="http://schemas.openxmlformats.org/drawingml/2006/main" noGrp="1"/>
          </p:cNvSpPr>
          <p:nvPr/>
        </p:nvSpPr>
        <p:spPr>
          <a:xfrm xmlns:a="http://schemas.openxmlformats.org/drawingml/2006/main">
            <a:off x="533400" y="65627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0">
                <a:solidFill>
                  <a:srgbClr val="2D5F9A"/>
                </a:solidFill>
                <a:latin typeface="Calibri"/>
                <a:ea typeface="Calibri"/>
                <a:cs typeface="Calibri"/>
              </a:defRPr>
            </a:pPr>
            <a:r>
              <a:rPr sz="1313" b="0" u="sng">
                <a:solidFill>
                  <a:srgbClr val="2D5F9A"/>
                </a:solidFill>
                <a:latin typeface="Calibri"/>
                <a:ea typeface="Calibri"/>
                <a:cs typeface="Calibri"/>
                <a:hlinkClick xmlns:r="http://schemas.openxmlformats.org/officeDocument/2006/relationships" r:id="R3862a1e8ebc2480c"/>
              </a:rPr>
              <a:t>Sarvam AI can support Indian-language speech, translation and read-aloud.</a:t>
            </a:r>
          </a:p>
        </p:txBody>
      </p:sp>
    </p:spTree>
    <p:extLst>
      <p:ext uri="{BB962C8B-B14F-4D97-AF65-F5344CB8AC3E}">
        <p14:creationId xmlns:p14="http://schemas.microsoft.com/office/powerpoint/2010/main" val="177965781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31" name="References title">
            <a:extLst xmlns:a="http://schemas.openxmlformats.org/drawingml/2006/main">
              <a:ext uri="{FF2B5EF4-FFF2-40B4-BE49-F238E27FC236}">
                <a16:creationId xmlns:a16="http://schemas.microsoft.com/office/drawing/2014/main" id="{9CFDA488-193A-443B-94FE-2420B0889B9F}"/>
              </a:ext>
            </a:extLst>
          </p:cNvPr>
          <p:cNvSpPr>
            <a:spLocks xmlns:a="http://schemas.openxmlformats.org/drawingml/2006/main" noGrp="1"/>
          </p:cNvSpPr>
          <p:nvPr/>
        </p:nvSpPr>
        <p:spPr>
          <a:xfrm xmlns:a="http://schemas.openxmlformats.org/drawingml/2006/main">
            <a:off x="533400" y="285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450" b="1">
                <a:solidFill>
                  <a:srgbClr val="FFD154"/>
                </a:solidFill>
                <a:latin typeface="Georgia"/>
                <a:ea typeface="Georgia"/>
                <a:cs typeface="Georgia"/>
              </a:defRPr>
            </a:pPr>
            <a:r>
              <a:rPr sz="3450" b="1">
                <a:solidFill>
                  <a:srgbClr val="FFD154"/>
                </a:solidFill>
                <a:latin typeface="Georgia"/>
                <a:ea typeface="Georgia"/>
                <a:cs typeface="Georgia"/>
              </a:rPr>
              <a:t>References</a:t>
            </a:r>
          </a:p>
        </p:txBody>
      </p:sp>
      <p:sp>
        <p:nvSpPr>
          <p:cNvPr id="2" name="References one to four">
            <a:extLst xmlns:a="http://schemas.openxmlformats.org/drawingml/2006/main">
              <a:ext uri="{FF2B5EF4-FFF2-40B4-BE49-F238E27FC236}">
                <a16:creationId xmlns:a16="http://schemas.microsoft.com/office/drawing/2014/main" id="{498E57F2-ED9B-4C27-8217-48A9AFE1BBBE}"/>
              </a:ext>
            </a:extLst>
          </p:cNvPr>
          <p:cNvSpPr>
            <a:spLocks xmlns:a="http://schemas.openxmlformats.org/drawingml/2006/main" noGrp="1"/>
          </p:cNvSpPr>
          <p:nvPr/>
        </p:nvSpPr>
        <p:spPr>
          <a:xfrm xmlns:a="http://schemas.openxmlformats.org/drawingml/2006/main">
            <a:off x="381000" y="981075"/>
            <a:ext cx="5638800" cy="5810250"/>
          </a:xfrm>
          <a:prstGeom xmlns:a="http://schemas.openxmlformats.org/drawingml/2006/main" prst="rect">
            <a:avLst/>
          </a:prstGeom>
          <a:solidFill xmlns:a="http://schemas.openxmlformats.org/drawingml/2006/main">
            <a:srgbClr val="E8F4F0"/>
          </a:solidFill>
          <a:ln xmlns:a="http://schemas.openxmlformats.org/drawingml/2006/main" w="0">
            <a:noFill/>
          </a:ln>
        </p:spPr>
      </p:sp>
      <p:sp>
        <p:nvSpPr>
          <p:cNvPr id="3" name="References five to nine">
            <a:extLst xmlns:a="http://schemas.openxmlformats.org/drawingml/2006/main">
              <a:ext uri="{FF2B5EF4-FFF2-40B4-BE49-F238E27FC236}">
                <a16:creationId xmlns:a16="http://schemas.microsoft.com/office/drawing/2014/main" id="{D2B99F2D-5667-4882-A447-2BA294BC71A0}"/>
              </a:ext>
            </a:extLst>
          </p:cNvPr>
          <p:cNvSpPr>
            <a:spLocks xmlns:a="http://schemas.openxmlformats.org/drawingml/2006/main" noGrp="1"/>
          </p:cNvSpPr>
          <p:nvPr/>
        </p:nvSpPr>
        <p:spPr>
          <a:xfrm xmlns:a="http://schemas.openxmlformats.org/drawingml/2006/main">
            <a:off x="6096000" y="981075"/>
            <a:ext cx="5638800" cy="5810250"/>
          </a:xfrm>
          <a:prstGeom xmlns:a="http://schemas.openxmlformats.org/drawingml/2006/main" prst="rect">
            <a:avLst/>
          </a:prstGeom>
          <a:solidFill xmlns:a="http://schemas.openxmlformats.org/drawingml/2006/main">
            <a:srgbClr val="EEE7FA"/>
          </a:solidFill>
          <a:ln xmlns:a="http://schemas.openxmlformats.org/drawingml/2006/main" w="0">
            <a:noFill/>
          </a:ln>
        </p:spPr>
      </p:sp>
      <p:sp>
        <p:nvSpPr>
          <p:cNvPr id="4" name="Reference 1 author">
            <a:extLst xmlns:a="http://schemas.openxmlformats.org/drawingml/2006/main">
              <a:ext uri="{FF2B5EF4-FFF2-40B4-BE49-F238E27FC236}">
                <a16:creationId xmlns:a16="http://schemas.microsoft.com/office/drawing/2014/main" id="{20F5141E-D27F-4FA1-837D-D4964CA8DDE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1. IARC. Global Cancer Observatory, 2024.</a:t>
            </a:r>
          </a:p>
        </p:txBody>
      </p:sp>
      <p:sp>
        <p:nvSpPr>
          <p:cNvPr id="5" name="Reference 1 title">
            <a:extLst xmlns:a="http://schemas.openxmlformats.org/drawingml/2006/main">
              <a:ext uri="{FF2B5EF4-FFF2-40B4-BE49-F238E27FC236}">
                <a16:creationId xmlns:a16="http://schemas.microsoft.com/office/drawing/2014/main" id="{54BCF0AC-E15E-4672-A0D2-0870E2DE8875}"/>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4d2e3d9fad244f7"/>
              </a:rPr>
              <a:t>India: GLOBOCAN 2024 Fact Sheet</a:t>
            </a:r>
          </a:p>
        </p:txBody>
      </p:sp>
      <p:sp>
        <p:nvSpPr>
          <p:cNvPr id="6" name="Reference 1 link">
            <a:extLst xmlns:a="http://schemas.openxmlformats.org/drawingml/2006/main">
              <a:ext uri="{FF2B5EF4-FFF2-40B4-BE49-F238E27FC236}">
                <a16:creationId xmlns:a16="http://schemas.microsoft.com/office/drawing/2014/main" id="{16F6C79A-52F5-4557-8A44-23A604DB58DF}"/>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8e3a0d16031f4a83"/>
              </a:rPr>
              <a:t>https://gco.iarc.who.int/media/globocan/factsheets/populations/356-india-fact-sheet.pdf</a:t>
            </a:r>
          </a:p>
        </p:txBody>
      </p:sp>
      <p:sp>
        <p:nvSpPr>
          <p:cNvPr id="7" name="Reference 2 author">
            <a:extLst xmlns:a="http://schemas.openxmlformats.org/drawingml/2006/main">
              <a:ext uri="{FF2B5EF4-FFF2-40B4-BE49-F238E27FC236}">
                <a16:creationId xmlns:a16="http://schemas.microsoft.com/office/drawing/2014/main" id="{C00884C0-D3DE-4F28-9B07-4411696E9ED7}"/>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2. Patil S, et al. BMJ Support Palliat Care, 2024.</a:t>
            </a:r>
          </a:p>
        </p:txBody>
      </p:sp>
      <p:sp>
        <p:nvSpPr>
          <p:cNvPr id="8" name="Reference 2 title">
            <a:extLst xmlns:a="http://schemas.openxmlformats.org/drawingml/2006/main">
              <a:ext uri="{FF2B5EF4-FFF2-40B4-BE49-F238E27FC236}">
                <a16:creationId xmlns:a16="http://schemas.microsoft.com/office/drawing/2014/main" id="{6AEFF4F3-9CCE-4D30-AB50-2336AFAFB2CB}"/>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e8d112ae2e1d4244"/>
              </a:rPr>
              <a:t>Unmet need for cancer palliative care in India</a:t>
            </a:r>
          </a:p>
        </p:txBody>
      </p:sp>
      <p:sp>
        <p:nvSpPr>
          <p:cNvPr id="9" name="Reference 2 link">
            <a:extLst xmlns:a="http://schemas.openxmlformats.org/drawingml/2006/main">
              <a:ext uri="{FF2B5EF4-FFF2-40B4-BE49-F238E27FC236}">
                <a16:creationId xmlns:a16="http://schemas.microsoft.com/office/drawing/2014/main" id="{DFBD5CC4-A38F-467B-9625-1F586AD12707}"/>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3f0c473611954036"/>
              </a:rPr>
              <a:t>https://doi.org/10.1136/spcare-2024-004978</a:t>
            </a:r>
          </a:p>
        </p:txBody>
      </p:sp>
      <p:sp>
        <p:nvSpPr>
          <p:cNvPr id="10" name="Reference 3 author">
            <a:extLst xmlns:a="http://schemas.openxmlformats.org/drawingml/2006/main">
              <a:ext uri="{FF2B5EF4-FFF2-40B4-BE49-F238E27FC236}">
                <a16:creationId xmlns:a16="http://schemas.microsoft.com/office/drawing/2014/main" id="{0B07B9E4-0DFE-4D28-AB9D-C1E2E2ECAE0B}"/>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3. Aslam N, Hayat A. J Pain Symptom Manage, 2024.</a:t>
            </a:r>
          </a:p>
        </p:txBody>
      </p:sp>
      <p:sp>
        <p:nvSpPr>
          <p:cNvPr id="11" name="Reference 3 title">
            <a:extLst xmlns:a="http://schemas.openxmlformats.org/drawingml/2006/main">
              <a:ext uri="{FF2B5EF4-FFF2-40B4-BE49-F238E27FC236}">
                <a16:creationId xmlns:a16="http://schemas.microsoft.com/office/drawing/2014/main" id="{21A12B1A-203D-45E8-93E5-7BA8D2035C0F}"/>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eaa2afcd47843d4"/>
              </a:rPr>
              <a:t>Early Goal of Care Discussions in Healthcare: A Survey Case Report on Benefits and Perceptions</a:t>
            </a:r>
          </a:p>
        </p:txBody>
      </p:sp>
      <p:sp>
        <p:nvSpPr>
          <p:cNvPr id="12" name="Reference 3 link">
            <a:extLst xmlns:a="http://schemas.openxmlformats.org/drawingml/2006/main">
              <a:ext uri="{FF2B5EF4-FFF2-40B4-BE49-F238E27FC236}">
                <a16:creationId xmlns:a16="http://schemas.microsoft.com/office/drawing/2014/main" id="{60AD80DB-51B5-4C08-85E9-CE5555A59C6A}"/>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bc987a6d4c14332"/>
              </a:rPr>
              <a:t>https://doi.org/10.1016/j.jpainsymman.2024.02.030</a:t>
            </a:r>
          </a:p>
        </p:txBody>
      </p:sp>
      <p:sp>
        <p:nvSpPr>
          <p:cNvPr id="13" name="Reference 4 author">
            <a:extLst xmlns:a="http://schemas.openxmlformats.org/drawingml/2006/main">
              <a:ext uri="{FF2B5EF4-FFF2-40B4-BE49-F238E27FC236}">
                <a16:creationId xmlns:a16="http://schemas.microsoft.com/office/drawing/2014/main" id="{41AE9C68-54CC-402B-96A2-B7E074A9A4C8}"/>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4. Thangasamy DRJ, et al. Palliat Med Rep, 2025.</a:t>
            </a:r>
          </a:p>
        </p:txBody>
      </p:sp>
      <p:sp>
        <p:nvSpPr>
          <p:cNvPr id="14" name="Reference 4 title">
            <a:extLst xmlns:a="http://schemas.openxmlformats.org/drawingml/2006/main">
              <a:ext uri="{FF2B5EF4-FFF2-40B4-BE49-F238E27FC236}">
                <a16:creationId xmlns:a16="http://schemas.microsoft.com/office/drawing/2014/main" id="{596A0791-4046-4673-AC9C-3FBFCD2CFA36}"/>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db531332d2d4f28"/>
              </a:rPr>
              <a:t>Initiating and Documenting Goals of Care Discussion in Patients with Advanced Pancreatic and Colorectal Cancers: A Quality Improvement Project in a Low Resource Setting</a:t>
            </a:r>
          </a:p>
        </p:txBody>
      </p:sp>
      <p:sp>
        <p:nvSpPr>
          <p:cNvPr id="15" name="Reference 4 link">
            <a:extLst xmlns:a="http://schemas.openxmlformats.org/drawingml/2006/main">
              <a:ext uri="{FF2B5EF4-FFF2-40B4-BE49-F238E27FC236}">
                <a16:creationId xmlns:a16="http://schemas.microsoft.com/office/drawing/2014/main" id="{B8EEC163-3F2E-4EBC-B634-38795A413E39}"/>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ce71ff2abe649e8"/>
              </a:rPr>
              <a:t>https://doi.org/10.1177/26892820251392545</a:t>
            </a:r>
          </a:p>
        </p:txBody>
      </p:sp>
      <p:sp>
        <p:nvSpPr>
          <p:cNvPr id="16" name="Reference 5 author">
            <a:extLst xmlns:a="http://schemas.openxmlformats.org/drawingml/2006/main">
              <a:ext uri="{FF2B5EF4-FFF2-40B4-BE49-F238E27FC236}">
                <a16:creationId xmlns:a16="http://schemas.microsoft.com/office/drawing/2014/main" id="{88167A31-ECC7-4F32-BE98-CA9E5DC3904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5. Sharma P. IndiaSpend / Scroll.in, 2019.</a:t>
            </a:r>
          </a:p>
        </p:txBody>
      </p:sp>
      <p:sp>
        <p:nvSpPr>
          <p:cNvPr id="17" name="Reference 5 title">
            <a:extLst xmlns:a="http://schemas.openxmlformats.org/drawingml/2006/main">
              <a:ext uri="{FF2B5EF4-FFF2-40B4-BE49-F238E27FC236}">
                <a16:creationId xmlns:a16="http://schemas.microsoft.com/office/drawing/2014/main" id="{24B898E6-7E9C-426A-A6A4-D8C73DC0C2C7}"/>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d6ab34736c143ed"/>
              </a:rPr>
              <a:t>73% urban Indians do not know about their right to make a living will, finds a survey</a:t>
            </a:r>
          </a:p>
        </p:txBody>
      </p:sp>
      <p:sp>
        <p:nvSpPr>
          <p:cNvPr id="18" name="Reference 5 link">
            <a:extLst xmlns:a="http://schemas.openxmlformats.org/drawingml/2006/main">
              <a:ext uri="{FF2B5EF4-FFF2-40B4-BE49-F238E27FC236}">
                <a16:creationId xmlns:a16="http://schemas.microsoft.com/office/drawing/2014/main" id="{1B2DDBF3-AFAE-4CF0-BE77-A52FE7CA9D67}"/>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9bb52c682f264b1f"/>
              </a:rPr>
              <a:t>https://scroll.in/article/925875/73-urban-indians-do-not-know-about-their-right-to-make-a-living-will-finds-a-survey</a:t>
            </a:r>
          </a:p>
        </p:txBody>
      </p:sp>
      <p:sp>
        <p:nvSpPr>
          <p:cNvPr id="19" name="Reference 6 author">
            <a:extLst xmlns:a="http://schemas.openxmlformats.org/drawingml/2006/main">
              <a:ext uri="{FF2B5EF4-FFF2-40B4-BE49-F238E27FC236}">
                <a16:creationId xmlns:a16="http://schemas.microsoft.com/office/drawing/2014/main" id="{73B9DB47-B182-4FC4-BC9D-8AC0D6DDEB1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6. Jacob JA, et al. Natl Med J India, 2026.</a:t>
            </a:r>
          </a:p>
        </p:txBody>
      </p:sp>
      <p:sp>
        <p:nvSpPr>
          <p:cNvPr id="20" name="Reference 6 title">
            <a:extLst xmlns:a="http://schemas.openxmlformats.org/drawingml/2006/main">
              <a:ext uri="{FF2B5EF4-FFF2-40B4-BE49-F238E27FC236}">
                <a16:creationId xmlns:a16="http://schemas.microsoft.com/office/drawing/2014/main" id="{DA526F74-6C14-474B-9D37-61177D3AF44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05b4e40292194aee"/>
              </a:rPr>
              <a:t>Knowledge and attitude towards advance directives for patients with terminal illnesses among doctors working in a tertiary care hospital</a:t>
            </a:r>
          </a:p>
        </p:txBody>
      </p:sp>
      <p:sp>
        <p:nvSpPr>
          <p:cNvPr id="21" name="Reference 6 link">
            <a:extLst xmlns:a="http://schemas.openxmlformats.org/drawingml/2006/main">
              <a:ext uri="{FF2B5EF4-FFF2-40B4-BE49-F238E27FC236}">
                <a16:creationId xmlns:a16="http://schemas.microsoft.com/office/drawing/2014/main" id="{55DDC84F-E110-4E2B-9B19-0C4A497DB49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c461d4757c0d44c7"/>
              </a:rPr>
              <a:t>https://doi.org/10.25259/NMJI_817_2023</a:t>
            </a:r>
          </a:p>
        </p:txBody>
      </p:sp>
      <p:sp>
        <p:nvSpPr>
          <p:cNvPr id="22" name="Reference 7 author">
            <a:extLst xmlns:a="http://schemas.openxmlformats.org/drawingml/2006/main">
              <a:ext uri="{FF2B5EF4-FFF2-40B4-BE49-F238E27FC236}">
                <a16:creationId xmlns:a16="http://schemas.microsoft.com/office/drawing/2014/main" id="{55A8C869-301B-456B-AE83-B0CC3741AFE3}"/>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7. Singh P, et al. medRxiv, 2025. Preprint.</a:t>
            </a:r>
          </a:p>
        </p:txBody>
      </p:sp>
      <p:sp>
        <p:nvSpPr>
          <p:cNvPr id="23" name="Reference 7 title">
            <a:extLst xmlns:a="http://schemas.openxmlformats.org/drawingml/2006/main">
              <a:ext uri="{FF2B5EF4-FFF2-40B4-BE49-F238E27FC236}">
                <a16:creationId xmlns:a16="http://schemas.microsoft.com/office/drawing/2014/main" id="{A41E9C7E-6610-482E-8C7E-B0B06BF2EDD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828da62ca754619"/>
              </a:rPr>
              <a:t>Barriers and Facilitators to Advance Care Planning Implementation for Patients with Neurodegenerative Diseases among Indian Physicians: A Mixed-Methods Analysis</a:t>
            </a:r>
          </a:p>
        </p:txBody>
      </p:sp>
      <p:sp>
        <p:nvSpPr>
          <p:cNvPr id="24" name="Reference 7 link">
            <a:extLst xmlns:a="http://schemas.openxmlformats.org/drawingml/2006/main">
              <a:ext uri="{FF2B5EF4-FFF2-40B4-BE49-F238E27FC236}">
                <a16:creationId xmlns:a16="http://schemas.microsoft.com/office/drawing/2014/main" id="{05C4D0A5-26A4-452F-9713-4754DCF53ECE}"/>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ea94daa9145450c"/>
              </a:rPr>
              <a:t>https://doi.org/10.1101/2025.10.17.25338242</a:t>
            </a:r>
          </a:p>
        </p:txBody>
      </p:sp>
      <p:sp>
        <p:nvSpPr>
          <p:cNvPr id="25" name="Reference 8 author">
            <a:extLst xmlns:a="http://schemas.openxmlformats.org/drawingml/2006/main">
              <a:ext uri="{FF2B5EF4-FFF2-40B4-BE49-F238E27FC236}">
                <a16:creationId xmlns:a16="http://schemas.microsoft.com/office/drawing/2014/main" id="{83865FF3-5C16-4DE2-AE21-BB14F9A3F7E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8. LeBaron V, et al. The Oncologist, 2014.</a:t>
            </a:r>
          </a:p>
        </p:txBody>
      </p:sp>
      <p:sp>
        <p:nvSpPr>
          <p:cNvPr id="26" name="Reference 8 title">
            <a:extLst xmlns:a="http://schemas.openxmlformats.org/drawingml/2006/main">
              <a:ext uri="{FF2B5EF4-FFF2-40B4-BE49-F238E27FC236}">
                <a16:creationId xmlns:a16="http://schemas.microsoft.com/office/drawing/2014/main" id="{F602591D-844E-4D4D-826E-3B0FDBB55C9F}"/>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46043e586c74101"/>
              </a:rPr>
              <a:t>An Ethnographic Study of Barriers to Cancer Pain Management and Opioid Availability in India</a:t>
            </a:r>
          </a:p>
        </p:txBody>
      </p:sp>
      <p:sp>
        <p:nvSpPr>
          <p:cNvPr id="27" name="Reference 8 link">
            <a:extLst xmlns:a="http://schemas.openxmlformats.org/drawingml/2006/main">
              <a:ext uri="{FF2B5EF4-FFF2-40B4-BE49-F238E27FC236}">
                <a16:creationId xmlns:a16="http://schemas.microsoft.com/office/drawing/2014/main" id="{B9D96002-DE7D-4DA4-961D-6A4EE75F09C2}"/>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67156725c7544956"/>
              </a:rPr>
              <a:t>https://doi.org/10.1634/theoncologist.2013-0435</a:t>
            </a:r>
          </a:p>
        </p:txBody>
      </p:sp>
      <p:sp>
        <p:nvSpPr>
          <p:cNvPr id="28" name="Reference 9 author">
            <a:extLst xmlns:a="http://schemas.openxmlformats.org/drawingml/2006/main">
              <a:ext uri="{FF2B5EF4-FFF2-40B4-BE49-F238E27FC236}">
                <a16:creationId xmlns:a16="http://schemas.microsoft.com/office/drawing/2014/main" id="{AA91B481-B7A6-4D2B-ACDA-E87F4311806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9. Forsythe LP, et al. J Clin Oncol, 2013. U.S. cohort.</a:t>
            </a:r>
          </a:p>
        </p:txBody>
      </p:sp>
      <p:sp>
        <p:nvSpPr>
          <p:cNvPr id="29" name="Reference 9 title">
            <a:extLst xmlns:a="http://schemas.openxmlformats.org/drawingml/2006/main">
              <a:ext uri="{FF2B5EF4-FFF2-40B4-BE49-F238E27FC236}">
                <a16:creationId xmlns:a16="http://schemas.microsoft.com/office/drawing/2014/main" id="{5E56CDB8-727B-4322-B44D-71B7FB03F3E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605e0239a85435c"/>
              </a:rPr>
              <a:t>Receipt of Psychosocial Care Among Cancer Survivors in the United States</a:t>
            </a:r>
          </a:p>
        </p:txBody>
      </p:sp>
      <p:sp>
        <p:nvSpPr>
          <p:cNvPr id="30" name="Reference 9 link">
            <a:extLst xmlns:a="http://schemas.openxmlformats.org/drawingml/2006/main">
              <a:ext uri="{FF2B5EF4-FFF2-40B4-BE49-F238E27FC236}">
                <a16:creationId xmlns:a16="http://schemas.microsoft.com/office/drawing/2014/main" id="{20C46588-8E1E-469C-A676-3EE67CEB516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28f1105c9fd4623"/>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Georgia"/>
        <a:ea typeface="Georgia"/>
        <a:cs typeface="Georgia"/>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2026-09-25T19:47:00.3280000Z</dcterms:created>
  <dcterms:modified xsi:type="dcterms:W3CDTF">2026-09-25T19:47:00.3280000Z</dcterms:modified>
</coreProperties>
</file>