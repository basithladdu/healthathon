
<file path=[Content_Types].xml><?xml version="1.0" encoding="utf-8"?>
<Types xmlns="http://schemas.openxmlformats.org/package/2006/content-types">
  <Default Extension="xml" ContentType="application/vnd.openxmlformats-package.core-properties+xml"/>
  <Default Extension="jpeg" ContentType="image/jpeg"/>
  <Default Extension="svg" ContentType="image/svg+xml"/>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slides/charts/chart1.xml" ContentType="application/vnd.openxmlformats-officedocument.drawingml.chart+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Default Extension="xlsx" ContentType="application/vnd.openxmlformats-officedocument.spreadsheetml.sheet"/>
</Types>
</file>

<file path=_rels/.rels>&#65279;<?xml version="1.0" encoding="utf-8"?><Relationships xmlns="http://schemas.openxmlformats.org/package/2006/relationships"><Relationship Type="http://schemas.openxmlformats.org/package/2006/relationships/metadata/core-properties" Target="/docProps/core.xml" Id="Rb3c25481ee9a4863" /><Relationship Type="http://schemas.openxmlformats.org/officeDocument/2006/relationships/extended-properties" Target="/docProps/app.xml" Id="R42c7a0f45afb403f" /><Relationship Type="http://schemas.openxmlformats.org/officeDocument/2006/relationships/officeDocument" Target="/ppt/presentation.xml" Id="R9d395cb8bbb54a09" /></Relationships>
</file>

<file path=ppt/presentation.xml><?xml version="1.0" encoding="utf-8"?>
<p:presentation xmlns:p="http://schemas.openxmlformats.org/presentationml/2006/main">
  <p:sldMasterIdLst>
    <p:sldMasterId xmlns:r="http://schemas.openxmlformats.org/officeDocument/2006/relationships" id="2147483648" r:id="R61794fb142d74c72"/>
  </p:sldMasterIdLst>
  <p:notesMasterIdLst>
    <p:notesMasterId xmlns:r="http://schemas.openxmlformats.org/officeDocument/2006/relationships" r:id="Raa117688124e48e9"/>
  </p:notesMasterIdLst>
  <p:sldIdLst>
    <p:sldId xmlns:r="http://schemas.openxmlformats.org/officeDocument/2006/relationships" id="256" r:id="Ra46834c1706b4d30"/>
    <p:sldId xmlns:r="http://schemas.openxmlformats.org/officeDocument/2006/relationships" id="257" r:id="R8d2ed777519d43ba"/>
    <p:sldId xmlns:r="http://schemas.openxmlformats.org/officeDocument/2006/relationships" id="258" r:id="R01f99042ebbe4fd4"/>
    <p:sldId xmlns:r="http://schemas.openxmlformats.org/officeDocument/2006/relationships" id="259" r:id="Raaf2519fb4e5452d"/>
    <p:sldId xmlns:r="http://schemas.openxmlformats.org/officeDocument/2006/relationships" id="260" r:id="R0aef1a5515684206"/>
    <p:sldId xmlns:r="http://schemas.openxmlformats.org/officeDocument/2006/relationships" id="261" r:id="Rc5e19938b50b48d6"/>
    <p:sldId xmlns:r="http://schemas.openxmlformats.org/officeDocument/2006/relationships" id="262" r:id="Rb1f1128b7b6d4632"/>
    <p:sldId xmlns:r="http://schemas.openxmlformats.org/officeDocument/2006/relationships" id="263" r:id="R4500772a70114f1a"/>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faa1b25f4c1d493b" /><Relationship Type="http://schemas.openxmlformats.org/officeDocument/2006/relationships/slideMaster" Target="/ppt/slideMasters/slideMaster1.xml" Id="R61794fb142d74c72" /><Relationship Type="http://schemas.openxmlformats.org/officeDocument/2006/relationships/notesMaster" Target="/ppt/notesMasters/notesMaster1.xml" Id="Raa117688124e48e9" /><Relationship Type="http://schemas.openxmlformats.org/officeDocument/2006/relationships/presProps" Target="/ppt/presProps.xml" Id="R1619c5fccc414b64" /><Relationship Type="http://schemas.openxmlformats.org/officeDocument/2006/relationships/tableStyles" Target="/ppt/tableStyles.xml" Id="R9e06e7833076462b" /><Relationship Type="http://schemas.openxmlformats.org/officeDocument/2006/relationships/slide" Target="/ppt/slides/slide1.xml" Id="Ra46834c1706b4d30" /><Relationship Type="http://schemas.openxmlformats.org/officeDocument/2006/relationships/slide" Target="/ppt/slides/slide2.xml" Id="R8d2ed777519d43ba" /><Relationship Type="http://schemas.openxmlformats.org/officeDocument/2006/relationships/slide" Target="/ppt/slides/slide3.xml" Id="R01f99042ebbe4fd4" /><Relationship Type="http://schemas.openxmlformats.org/officeDocument/2006/relationships/slide" Target="/ppt/slides/slide4.xml" Id="Raaf2519fb4e5452d" /><Relationship Type="http://schemas.openxmlformats.org/officeDocument/2006/relationships/slide" Target="/ppt/slides/slide5.xml" Id="R0aef1a5515684206" /><Relationship Type="http://schemas.openxmlformats.org/officeDocument/2006/relationships/slide" Target="/ppt/slides/slide6.xml" Id="Rc5e19938b50b48d6" /><Relationship Type="http://schemas.openxmlformats.org/officeDocument/2006/relationships/slide" Target="/ppt/slides/slide7.xml" Id="Rb1f1128b7b6d4632" /><Relationship Type="http://schemas.openxmlformats.org/officeDocument/2006/relationships/slide" Target="/ppt/slides/slide8.xml" Id="R4500772a70114f1a"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161f46b95e67426f"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11b77975cb274b30" /><Relationship Type="http://schemas.openxmlformats.org/officeDocument/2006/relationships/notesMaster" Target="/ppt/notesMasters/notesMaster1.xml" Id="R74ab4a2668f5480f" /></Relationships>
</file>

<file path=ppt/notesSlides/_rels/notesSlide2.xml.rels>&#65279;<?xml version="1.0" encoding="utf-8"?><Relationships xmlns="http://schemas.openxmlformats.org/package/2006/relationships"><Relationship Type="http://schemas.openxmlformats.org/officeDocument/2006/relationships/slide" Target="/ppt/slides/slide2.xml" Id="R7457d307f04942f7" /><Relationship Type="http://schemas.openxmlformats.org/officeDocument/2006/relationships/notesMaster" Target="/ppt/notesMasters/notesMaster1.xml" Id="R9cdf6243c9724540" /></Relationships>
</file>

<file path=ppt/notesSlides/_rels/notesSlide3.xml.rels>&#65279;<?xml version="1.0" encoding="utf-8"?><Relationships xmlns="http://schemas.openxmlformats.org/package/2006/relationships"><Relationship Type="http://schemas.openxmlformats.org/officeDocument/2006/relationships/slide" Target="/ppt/slides/slide3.xml" Id="R2aa3761eddb24589" /><Relationship Type="http://schemas.openxmlformats.org/officeDocument/2006/relationships/notesMaster" Target="/ppt/notesMasters/notesMaster1.xml" Id="Rc2f973b22d5740e9" /></Relationships>
</file>

<file path=ppt/notesSlides/_rels/notesSlide4.xml.rels>&#65279;<?xml version="1.0" encoding="utf-8"?><Relationships xmlns="http://schemas.openxmlformats.org/package/2006/relationships"><Relationship Type="http://schemas.openxmlformats.org/officeDocument/2006/relationships/slide" Target="/ppt/slides/slide4.xml" Id="Rc90b21794e014887" /><Relationship Type="http://schemas.openxmlformats.org/officeDocument/2006/relationships/notesMaster" Target="/ppt/notesMasters/notesMaster1.xml" Id="R1f66521f9032499d" /></Relationships>
</file>

<file path=ppt/notesSlides/_rels/notesSlide5.xml.rels>&#65279;<?xml version="1.0" encoding="utf-8"?><Relationships xmlns="http://schemas.openxmlformats.org/package/2006/relationships"><Relationship Type="http://schemas.openxmlformats.org/officeDocument/2006/relationships/slide" Target="/ppt/slides/slide5.xml" Id="Rb379f922aa4241e4" /><Relationship Type="http://schemas.openxmlformats.org/officeDocument/2006/relationships/notesMaster" Target="/ppt/notesMasters/notesMaster1.xml" Id="R365833d09aad4a16" /></Relationships>
</file>

<file path=ppt/notesSlides/_rels/notesSlide6.xml.rels>&#65279;<?xml version="1.0" encoding="utf-8"?><Relationships xmlns="http://schemas.openxmlformats.org/package/2006/relationships"><Relationship Type="http://schemas.openxmlformats.org/officeDocument/2006/relationships/slide" Target="/ppt/slides/slide6.xml" Id="R0a22adf5b5f24cc7" /><Relationship Type="http://schemas.openxmlformats.org/officeDocument/2006/relationships/notesMaster" Target="/ppt/notesMasters/notesMaster1.xml" Id="Rd61c5565b2c34a4d" /></Relationships>
</file>

<file path=ppt/notesSlides/_rels/notesSlide7.xml.rels>&#65279;<?xml version="1.0" encoding="utf-8"?><Relationships xmlns="http://schemas.openxmlformats.org/package/2006/relationships"><Relationship Type="http://schemas.openxmlformats.org/officeDocument/2006/relationships/slide" Target="/ppt/slides/slide7.xml" Id="R3e3831975bda4c26" /><Relationship Type="http://schemas.openxmlformats.org/officeDocument/2006/relationships/notesMaster" Target="/ppt/notesMasters/notesMaster1.xml" Id="R7cccf5e1882c464f" /></Relationships>
</file>

<file path=ppt/notesSlides/_rels/notesSlide8.xml.rels>&#65279;<?xml version="1.0" encoding="utf-8"?><Relationships xmlns="http://schemas.openxmlformats.org/package/2006/relationships"><Relationship Type="http://schemas.openxmlformats.org/officeDocument/2006/relationships/slide" Target="/ppt/slides/slide8.xml" Id="R4fc9b9ad6c91459d" /><Relationship Type="http://schemas.openxmlformats.org/officeDocument/2006/relationships/notesMaster" Target="/ppt/notesMasters/notesMaster1.xml" Id="Re1a29d544dcb4f47"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Saathi (साथी) means companion. The five named people are the current team; Shirin Ayub was added in the user's latest roster. Basith and Awaiz portraits are original team assets from the DevIT ITI deck, with provenance in submission/assets/2026-09-24-team/README.md. Sujay and Shirin portraits are the unaltered user-supplied photos received on 25 September 2026, presented using native picture crops. Only Sharada's portrait remains blank, as requested. Roles use the supplied roster. The app logo is extracted from the actual app. GitHub and WhatsApp marks use Simple Icons paths; the WhatsApp mark is coloured green. The QR and OPEN THE WEBSITE link open https://saathi.wedevit.in/. GitHub opens the public project repository; WhatsApp is a contact for questions, not an access request. Entry: Cancer / Patient and Caregiver / Family &amp; Caregiver Support. The cover frames Saathi as a palliative care companion centred on patient values and access to cancer care. Values belong to the patient; family involvement follows patient consent. The app supports documentation and coordination, not treatment advice. Transport booking, payments and connected AI are not operational claims.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Illustrative story supplied by the team, not a reported patient case. A 62-year-old woman with advanced breast cancer receives best supportive care. Her husband attends the first discussion. In the later crisis the husband and daughter disagree about attempts to restart her heart and her son is in another city. The story does not recommend or reject emergency treatment. The patient introduction now precedes the clinic step, so the narrative starts with her diagnosis and care context. CPR is cardiopulmonary resuscitation. Family involvement must reflect the patient’s values and wishes, not replace them with conflicting family preferences. Clinical treatment decisions remain with the patient and treating team. A Care Note records wishes and discussion; it is not an automatic treatment order or a legal advance directive. The contextual photo is a real medical camp in Mannar, Alappuzha district, Kerala, 23 August 2011. It does not depict this story, a cancer-specific visit or a Saathi user. Photo credit: Ministry of Information &amp; Broadcasting / Press Information Bureau, Government of India, photo ID 36197, CNR 39173. Source: https://commons.wikimedia.org/wiki/File:A_medical_camp_conducted_as_part_of_the_public_information_campaign_organized_by_PIB_Thiruvananthapuram,_at_Mannar,_in_Alappuzha_district,_Kerala_on_August_23,_2011.jpg ; original source https://archive.pib.gov.in/photo.aspx?photoid=36197 . Licensed under Government Open Data License – India, https://data.gov.in/sites/default/files/Gazette_Notification_OGDL.pdf . Displayed without image alterations apart from resizing. No government endorsement is implied. Icons: Lucide, https://lucide.dev/license, ISC/MIT, SVG paths unchanged and colours adapted. Full license and credits: submission/assets/2026-09-24-family/. Story sources: docs/meetings/2026-09-23-chat-follow-up.md and both meetings this week.</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Five findings with distinct scopes, verified in docs/pitch/2026-09-24-verified-evidence.md: IARC GLOBOCAN estimates 1,562,581 new cancer cases in India in 2024, rounded to 15.6 lakh. Patil et al. report 98.39% unmet palliative-care need among metastatic cancer cases across ten cancer types, using the NCRP 2020 report; this is not all cancer patients and must not be multiplied by the incidence estimate. The 88% figure is from IndiaSpend reporting of the 2019 HCAH Living Will Survey of over 2,400 urban respondents in seven cities; the original survey was inaccessible and this is not a cancer-only or national sample. Jacob et al. report 45 of 391 doctors (11.5%) with prior advance-directive training at CMC Vellore, not a national estimate. Thangasamy et al. report 0% to 92% documented discussions, with 24 of 26 eligible advanced pancreatic or colorectal cancer patients in one Chennai quality-improvement project. A structured process, form and team work produced this result; this was not a Saathi or AI intervention. The native chart and source workbook are preserved byte-for-byte from the existing supplied pitch chart. Each short source credit is a native hyperlink and the full nine-source list remains on slide 8. Icons: Lucide, ISC/MIT, https://lucide.dev/license, source SVGs and full license in submission/assets/2026-09-24-family/. Definition source: National Cancer Institute, Communication in Cancer Care (PDQ), https://www.cancer.gov/about-cancer/coping/adjusting-to-cancer/communication-hp-pdq and Cancer Care Ontario, Goals of Care Toolkit for Oncology Settings, https://www.cancercareontario.ca/en/guidelines-advice/treatment-modality/person-centred-care/goals-of-care-toolkit-oncology . Goals-of-care discussion is not synonymous with an advance directive. The proposed 60-90 day study is retained on this page. Its three headline measures are patient-initiated and doctor-initiated discussions, written and signed Care Notes per cancer facility, and emergency retrieval time. Separate requests from completed discussions, and written notes from signed notes. Define emergency retrieval timing from the request for the latest note to the correct version being opened, using a pre-specified exercise during the initial pilot; real clinical emergency evaluation requires site approval. It compares an agreed baseline with the same definitions after deployment. Count eligible/informed/consented people, requests, doctor-started and held discussions, saved notes and signatures separately. Report documented discussions divided by eligible patients with n/N, and deduplicate repeat activity. Also time finding the latest record, clinician review and visit preparation, and track assigned, accepted and completed family jobs and failed handoffs. This is a study proposal, not a result or a confirmed clinic partner. Protocol: docs/pitch/2026-09-24-impact-plan.md.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This separate page restores the wider Family &amp; Caregiver Support proposition. It follows the clinician-led AI discussion slide and precedes the family-records assistant. Four separate features cover palliative care, prescribed opioids, cancer-specific support groups, and travel/home help, in that order. The map is a real live-site capture on 24 September 2026, with Hyderabad chosen as an example starting point, All selected, and Basavatarakam Indo-American Cancer Hospital selected. MapLibre renders OpenStreetMap tiles and numbered supportive-care and hospital markers. The actual screen includes a road-route estimate, call and directions links. No person's actual location was requested and no call was placed. Chrome's automation bridge timed out, so this capture used the Codex in-app browser. Original file: submission/assets/2026-09-24-family-workflows/find-support-map.png. Map attribution remains visible. The official Pallium India Telangana directory was checked on 24 September 2026 at https://palliumindia.org/clinics/telangana and lists services, contacts and morphine availability for some entries. It is not live stock, dispensing authorization, guaranteed oral formulation or booked care. The app's /medicine-access page lets a family find whom to contact, ask about prescribed oral morphine and prescription documents, then record the reply. A family must confirm availability before travelling. It does not recommend a drug or dose. /help-at-home supports transport, home nursing and medicine/equipment delivery as family arrangements with helper, phone, date and manual To arrange/Arranged/Done states. An ambulance is a transport job for a person to arrange; there is no connected ambulance booking or dispatch. /family-tasks supports a named recipient and acceptance/completion within the current browser records; separate-user delivery and shared storage remain to connect. /costs supports expenses, paid/pending amounts, an assistance-document checklist and a question for the hospital social worker. Bill attachments, verified assistance contacts and real application submission/tracking remain to connect; no payment collection, eligibility determination or funding is promised. The financial block was removed from this map page in response to Sujay’s comments; financial tracking is retained on slide 7. The generic task-ownership footer was removed. The third feature now links to /support-groups, where the actual app supports filters for cancer type and audience and links to named support organisations and online groups. It does not promise admission or clinical moderation. The preserved real map screenshot uses the app’s existing Best supportive care label; the authored clinical description now says palliative care, as requested. The links open the distinct existing app routes. Future service integrations should reuse the same appointment, prescription, documents and family rather than create another disconnected workflow. Research: Fereydooni S et al. (2022), Empowering families to take on a palliative caregiver role for patients with cancer in India: Persistent challenges and promising strategies, PLOS ONE 17(9), e0274770, https://doi.org/10.1371/journal.pone.0274770; LeBaron V et al. (2014), An Ethnographic Study of Barriers to Cancer Pain Management and Opioid Availability in India, https://doi.org/10.1634/theoncologist.2013-0435. These describe needs, not results from Saathi. Detailed journeys and boundaries: docs/pitch/2026-09-24-family-support-research.md. The proposed impact study previously on this page is retained visibly on slide 3 and in docs/pitch/2026-09-24-impact-plan.md. Icons: Lucide, original SVGs and notices in submission/assets/2026-09-24-family/ and submission/assets/2026-09-24-visual-revision/.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home image is the actual Chrome capture retained from the previous deck, output/playwright/2026-09-24-saathi-patient-home.png. The sign-in choices are a native crop of the existing actual sign-in image. The new calendar image is an unaltered capture of the live site in the Codex browser on 24 September 2026, with 25 September selected. The saved fictional appointment already says to bring previous reports and the current prescription. No events or prescriptions were added for this capture. Original screenshots remain in submission/assets/2026-09-24-family-workflows/. The labels now make prescribed medicine schedules/reminders, visits, tests, dated treatment history, personal journals, symptom tracking and financial tracking visible as distinct features. Cancer-specific support groups have their own point on slide 5. Named family jobs remain within the existing app. Financial tracking includes paid/pending bills and preparation for assistance; it is not payment processing or a funding application. Medicine schedule entries, Taken/Undo, upload/review routes and dated appointments exist. Delivered phone notifications, refill fulfilment, verified sign-in and cross-device shared updates still need connecting. The current 14-digit sign-in accepts a format-only identifier and does not verify ABHA. The roles shown are Patient, Family and Doctor. Do not infer treatment completion from a report or appointment date. All personal records shown are fictional. Human review is required before extracting prescription instructions, using translations or adding a medicine reminder. Source and feature mapping: docs/pitch/2026-09-24-family-support-research.md, prototype/app/care-medicines.tsx, prototype/app/care-calendar.tsx and prototype/app/family-care-workspace.tsx. Icons: Lucide, original SVGs and licenses retained in the family and visual-revision asset folders.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records scene was generated with the built-in image generation tool at the user's request. It is a concept illustration with fictional people and an illustrative tablet interface, not a screenshot of the current app. The question asks what to bring to a visit. The answer repeats a supplied instruction to bring previous reports and the medicine list, with a matching highlight on the paper source. It conveys retrieval of an existing instruction, not interpretation of medical data. The original image and exact prompt are saved in submission/assets/2026-09-24-generated-scenes/. The three visual steps show adding a report, asking a question and checking the original text. The medicine and calendar icons represent the previously discussed reminders and dated treatment history. This slide focuses on families using patient records with the patient’s permission, as requested in the reviewer comments. The clinician-led documentation workflow appears separately on slide 4. The conceptual photograph includes a clinician pointing to the original instruction as context, not as a claim that this family-facing assistant makes clinical decisions. This slide describes three AI jobs adopted in the meetings: answer questions from the patient's own files with the exact source passage; prepare a dated treatment history from recorded chemotherapy and radiotherapy dates; read medicine details from printed or typed prescriptions for a person to check before adding reminders. Current workflow explicitly asks a person to check extracted text before saving it and to confirm a treatment happened and supply its date before adding it to the care timeline. A report or appointment date must not be inferred as a completed treatment date. Handwritten prescription recognition was not adopted. The earlier real Chrome capture remains saved at output/playwright/2026-09-24-saathi-documents-source.png. It showed literal retrieval from a fictional stored record, Add treatment date and View original. The generated concept illustration on this slide does not demonstrate connected semantic AI or image OCR. Provider integration code exists but live model calls are not enabled or verified. AI must not interpret test results or create clinical advice. Sources: 21 September transcript lines 1025–1043, 1099–1123 and 1135–1151; 23 September transcript lines 269–277; output/playwright/2026-09-24-saathi-documents-source.png. Icons: original Lucide SVGs from https://github.com/lucide-icons/lucide/tree/main/icons, with stroke colours changed for this deck. ISC/MIT notices are saved in submission/assets/2026-09-24-visual-revision/Lucide-LICENSE.txt.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consultation scene was generated with the built-in image generation tool at the user's request. It illustrates an Indian doctor and a patient talking while a phone records their conversation. The people and setting are fictional. This is a concept illustration, not a real patient photograph or evidence of a clinical deployment. The adjacent blue Voice note panel is a crop of the actual user-supplied Saathi screen, not a generated app screenshot. The original generated image and exact prompt are saved in submission/assets/2026-09-24-generated-scenes/. This is the central proposed AI workflow, not a claim that a model is already connected. A physician initiates and leads the goals-of-care discussion. AI presents the clinician-approved structured discussion guide, helps identify unanswered fields and prepares documentation. It does not choose clinical goals, infer a treatment preference or recommend care. Every version, including revisions rather than only signed notes, belongs in the proposed discussion history. Current persistence of every draft revision has not been verified. The patient receives the physician-reviewed and patient-signed Care Note for emergency retrieval. Encrypted patient-held export, recovery and permission-controlled sharing are proposed security requirements, not capabilities established by the current downloadable PDF. The slide marks that handoff Planned. Routine encryption of web traffic is not evidence of encrypted portable documents. With recording consent, a transcript or existing note becomes a source-linked draft. The doctor can edit, reject or correct it in a distinct review step, and signs first. The patient then reviews and signs that exact version; changed wording requires a newly reviewed version. Unanswered questions remain unanswered. No diagnosis, treatment recommendation, risk scoring or interpretation of medical results. Clinical choices from the supplied Healthathon form and Saanthvana v 1.0 document belong to the clinician, not the AI. Today the browser app supports recording, source-based rule preparation, editing and typed-name signing. Reliable transcription, model integration, verified accounts and sharing between phones remain to connect. A typed name is not a verified digital signature; a Care Note is not a legal advance directive. Sarvam AI is a proposed provider for Indian-language speech-to-text, translation and read-aloud, supported by official documentation: https://docs.sarvam.ai/api/getting-started/building-for-india and https://docs.sarvam.ai/api-reference/speech-to-text/transcribe. No provider version or working connection is claimed. The recording screen is the actual app screenshot supplied by the user on 24 September, preserved unchanged at submission/assets/2026-09-24-family/saathi-record-conversation.png. It shows the Voice note panel, recording consent, Start recording, English language selection, Upload audio and the Prepare draft, Review &amp; edit and Sign Care Note steps. This image shows the interface before recording; it does not establish that microphone capture or live transcription has been verified. The displayed Meera profile is fictional. Sources: 21 September transcript lines 251–303 and 1097–1155; 23 September meeting and chat; Sujay's 24 September feedback; supplied clinical forms. Icons: original Lucide SVGs from https://github.com/lucide-icons/lucide/tree/main/icons, with stroke colours changed for this deck. ISC/MIT notices are saved in submission/assets/2026-09-24-visual-revision/Lucide-LICENSE.txt.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Complete reference set from slide 8 of Saanthvana_Background_Rationale_1.pptx. The source collection includes research, a fact sheet and secondary reporting. Not every background source supports a numerical claim in this pitch. Reference 7 is a preprint; its primary index confirms the title and DOI, while full-text access returned 403. The author attribution follows the supplied deck. Reference 9 concerns a U.S. cohort. For exact scope of the figures used, see docs/pitch/2026-09-24-verified-evidence.md.</a:t>
            </a:r>
          </a:p>
          <a:p xmlns:a="http://schemas.openxmlformats.org/drawingml/2006/main">
            <a:r>
              <a:t/>
            </a:r>
          </a:p>
          <a:p xmlns:a="http://schemas.openxmlformats.org/drawingml/2006/main">
            <a:r>
              <a:t>1. IARC. Global Cancer Observatory, 2024. India: GLOBOCAN 2024 Fact Sheet</a:t>
            </a:r>
          </a:p>
          <a:p xmlns:a="http://schemas.openxmlformats.org/drawingml/2006/main">
            <a:r>
              <a:t>https://gco.iarc.who.int/media/globocan/factsheets/populations/356-india-fact-sheet.pdf</a:t>
            </a:r>
          </a:p>
          <a:p xmlns:a="http://schemas.openxmlformats.org/drawingml/2006/main">
            <a:r>
              <a:t/>
            </a:r>
          </a:p>
          <a:p xmlns:a="http://schemas.openxmlformats.org/drawingml/2006/main">
            <a:r>
              <a:t>2. Patil S, et al. BMJ Support Palliat Care, 2024. Unmet need for cancer palliative care in India</a:t>
            </a:r>
          </a:p>
          <a:p xmlns:a="http://schemas.openxmlformats.org/drawingml/2006/main">
            <a:r>
              <a:t>https://doi.org/10.1136/spcare-2024-004978</a:t>
            </a:r>
          </a:p>
          <a:p xmlns:a="http://schemas.openxmlformats.org/drawingml/2006/main">
            <a:r>
              <a:t/>
            </a:r>
          </a:p>
          <a:p xmlns:a="http://schemas.openxmlformats.org/drawingml/2006/main">
            <a:r>
              <a:t>3. Aslam N, Hayat A. J Pain Symptom Manage, 2024. Early Goal of Care Discussions in Healthcare: A Survey Case Report on Benefits and Perceptions</a:t>
            </a:r>
          </a:p>
          <a:p xmlns:a="http://schemas.openxmlformats.org/drawingml/2006/main">
            <a:r>
              <a:t>https://doi.org/10.1016/j.jpainsymman.2024.02.030</a:t>
            </a:r>
          </a:p>
          <a:p xmlns:a="http://schemas.openxmlformats.org/drawingml/2006/main">
            <a:r>
              <a:t/>
            </a:r>
          </a:p>
          <a:p xmlns:a="http://schemas.openxmlformats.org/drawingml/2006/main">
            <a:r>
              <a:t>4. Thangasamy DRJ, et al. Palliat Med Rep, 2025. Initiating and Documenting Goals of Care Discussion in Patients with Advanced Pancreatic and Colorectal Cancers: A Quality Improvement Project in a Low Resource Setting</a:t>
            </a:r>
          </a:p>
          <a:p xmlns:a="http://schemas.openxmlformats.org/drawingml/2006/main">
            <a:r>
              <a:t>https://doi.org/10.1177/26892820251392545</a:t>
            </a:r>
          </a:p>
          <a:p xmlns:a="http://schemas.openxmlformats.org/drawingml/2006/main">
            <a:r>
              <a:t/>
            </a:r>
          </a:p>
          <a:p xmlns:a="http://schemas.openxmlformats.org/drawingml/2006/main">
            <a:r>
              <a:t>5. Sharma P. IndiaSpend / Scroll.in, 2019. 73% urban Indians do not know about their right to make a living will, finds a survey</a:t>
            </a:r>
          </a:p>
          <a:p xmlns:a="http://schemas.openxmlformats.org/drawingml/2006/main">
            <a:r>
              <a:t>https://scroll.in/article/925875/73-urban-indians-do-not-know-about-their-right-to-make-a-living-will-finds-a-survey</a:t>
            </a:r>
          </a:p>
          <a:p xmlns:a="http://schemas.openxmlformats.org/drawingml/2006/main">
            <a:r>
              <a:t/>
            </a:r>
          </a:p>
          <a:p xmlns:a="http://schemas.openxmlformats.org/drawingml/2006/main">
            <a:r>
              <a:t>6. Jacob JA, et al. Natl Med J India, 2026. Knowledge and attitude towards advance directives for patients with terminal illnesses among doctors working in a tertiary care hospital</a:t>
            </a:r>
          </a:p>
          <a:p xmlns:a="http://schemas.openxmlformats.org/drawingml/2006/main">
            <a:r>
              <a:t>https://doi.org/10.25259/NMJI_817_2023</a:t>
            </a:r>
          </a:p>
          <a:p xmlns:a="http://schemas.openxmlformats.org/drawingml/2006/main">
            <a:r>
              <a:t/>
            </a:r>
          </a:p>
          <a:p xmlns:a="http://schemas.openxmlformats.org/drawingml/2006/main">
            <a:r>
              <a:t>7. Singh P, et al. medRxiv, 2025. Preprint. Barriers and Facilitators to Advance Care Planning Implementation for Patients with Neurodegenerative Diseases among Indian Physicians: A Mixed-Methods Analysis</a:t>
            </a:r>
          </a:p>
          <a:p xmlns:a="http://schemas.openxmlformats.org/drawingml/2006/main">
            <a:r>
              <a:t>https://doi.org/10.1101/2025.10.17.25338242</a:t>
            </a:r>
          </a:p>
          <a:p xmlns:a="http://schemas.openxmlformats.org/drawingml/2006/main">
            <a:r>
              <a:t/>
            </a:r>
          </a:p>
          <a:p xmlns:a="http://schemas.openxmlformats.org/drawingml/2006/main">
            <a:r>
              <a:t>8. LeBaron V, et al. The Oncologist, 2014. An Ethnographic Study of Barriers to Cancer Pain Management and Opioid Availability in India</a:t>
            </a:r>
          </a:p>
          <a:p xmlns:a="http://schemas.openxmlformats.org/drawingml/2006/main">
            <a:r>
              <a:t>https://doi.org/10.1634/theoncologist.2013-0435</a:t>
            </a:r>
          </a:p>
          <a:p xmlns:a="http://schemas.openxmlformats.org/drawingml/2006/main">
            <a:r>
              <a:t/>
            </a:r>
          </a:p>
          <a:p xmlns:a="http://schemas.openxmlformats.org/drawingml/2006/main">
            <a:r>
              <a:t>9. Forsythe LP, et al. J Clin Oncol, 2013. U.S. cohort. Receipt of Psychosocial Care Among Cancer Survivors in the United States</a:t>
            </a:r>
          </a:p>
          <a:p xmlns:a="http://schemas.openxmlformats.org/drawingml/2006/main">
            <a:r>
              <a:t>https://doi.org/10.1200/JCO.2012.46.2101</a:t>
            </a:r>
          </a:p>
          <a:p xmlns:a="http://schemas.openxmlformats.org/drawingml/2006/main">
            <a:r>
              <a:t/>
            </a:r>
          </a:p>
          <a:p xmlns:a="http://schemas.openxmlformats.org/drawingml/2006/main">
            <a:r>
              <a:t>Additional proposed-workflow sources: Sarvam AI official docs https://docs.sarvam.ai/api/getting-started/building-for-india ; Pallium India directory https://palliumindia.org/clinics/telangana ; caregiver support research https://journals.plos.org/plosone/article?id=10.1371/journal.pone.0274770 . These additional sources do not replace the original nine background references.</a:t>
            </a:r>
          </a:p>
          <a:p xmlns:a="http://schemas.openxmlformats.org/drawingml/2006/main">
            <a:r>
              <a:t/>
            </a:r>
          </a:p>
          <a:p xmlns:a="http://schemas.openxmlformats.org/drawingml/2006/main">
            <a:r>
              <a:t>Icon source: https://github.com/lucide-icons/lucide/tree/main/icons . Paths unchanged; colours adapted. The following complete Lucide/Feather notices apply to icons on slides 2, 3 and 6.</a:t>
            </a:r>
          </a:p>
          <a:p xmlns:a="http://schemas.openxmlformats.org/drawingml/2006/main">
            <a:r>
              <a:t/>
            </a:r>
          </a:p>
          <a:p xmlns:a="http://schemas.openxmlformats.org/drawingml/2006/main">
            <a:r>
              <a:t>ISC License</a:t>
            </a:r>
          </a:p>
          <a:p xmlns:a="http://schemas.openxmlformats.org/drawingml/2006/main">
            <a:r>
              <a:t/>
            </a:r>
          </a:p>
          <a:p xmlns:a="http://schemas.openxmlformats.org/drawingml/2006/main">
            <a:r>
              <a:t>Copyright (c) 2026 Lucide Icons and Contributors</a:t>
            </a:r>
          </a:p>
          <a:p xmlns:a="http://schemas.openxmlformats.org/drawingml/2006/main">
            <a:r>
              <a:t/>
            </a:r>
          </a:p>
          <a:p xmlns:a="http://schemas.openxmlformats.org/drawingml/2006/main">
            <a:r>
              <a:t>Permission to use, copy, modify, and/or distribute this software for any</a:t>
            </a:r>
          </a:p>
          <a:p xmlns:a="http://schemas.openxmlformats.org/drawingml/2006/main">
            <a:r>
              <a:t>purpose with or without fee is hereby granted, provided that the above</a:t>
            </a:r>
          </a:p>
          <a:p xmlns:a="http://schemas.openxmlformats.org/drawingml/2006/main">
            <a:r>
              <a:t>copyright notice and this permission notice appear in all copies.</a:t>
            </a:r>
          </a:p>
          <a:p xmlns:a="http://schemas.openxmlformats.org/drawingml/2006/main">
            <a:r>
              <a:t/>
            </a:r>
          </a:p>
          <a:p xmlns:a="http://schemas.openxmlformats.org/drawingml/2006/main">
            <a:r>
              <a:t>THE SOFTWARE IS PROVIDED "AS IS" AND THE AUTHOR DISCLAIMS ALL WARRANTIES</a:t>
            </a:r>
          </a:p>
          <a:p xmlns:a="http://schemas.openxmlformats.org/drawingml/2006/main">
            <a:r>
              <a:t>WITH REGARD TO THIS SOFTWARE INCLUDING ALL IMPLIED WARRANTIES OF</a:t>
            </a:r>
          </a:p>
          <a:p xmlns:a="http://schemas.openxmlformats.org/drawingml/2006/main">
            <a:r>
              <a:t>MERCHANTABILITY AND FITNESS. IN NO EVENT SHALL THE AUTHOR BE LIABLE FOR</a:t>
            </a:r>
          </a:p>
          <a:p xmlns:a="http://schemas.openxmlformats.org/drawingml/2006/main">
            <a:r>
              <a:t>ANY SPECIAL, DIRECT, INDIRECT, OR CONSEQUENTIAL DAMAGES OR ANY DAMAGES</a:t>
            </a:r>
          </a:p>
          <a:p xmlns:a="http://schemas.openxmlformats.org/drawingml/2006/main">
            <a:r>
              <a:t>WHATSOEVER RESULTING FROM LOSS OF USE, DATA OR PROFITS, WHETHER IN AN</a:t>
            </a:r>
          </a:p>
          <a:p xmlns:a="http://schemas.openxmlformats.org/drawingml/2006/main">
            <a:r>
              <a:t>ACTION OF CONTRACT, NEGLIGENCE OR OTHER TORTIOUS ACTION, ARISING OUT OF</a:t>
            </a:r>
          </a:p>
          <a:p xmlns:a="http://schemas.openxmlformats.org/drawingml/2006/main">
            <a:r>
              <a:t>OR IN CONNECTION WITH THE USE OR PERFORMANCE OF THIS SOFTWARE.</a:t>
            </a:r>
          </a:p>
          <a:p xmlns:a="http://schemas.openxmlformats.org/drawingml/2006/main">
            <a:r>
              <a:t/>
            </a:r>
          </a:p>
          <a:p xmlns:a="http://schemas.openxmlformats.org/drawingml/2006/main">
            <a:r>
              <a:t>---</a:t>
            </a:r>
          </a:p>
          <a:p xmlns:a="http://schemas.openxmlformats.org/drawingml/2006/main">
            <a:r>
              <a:t/>
            </a:r>
          </a:p>
          <a:p xmlns:a="http://schemas.openxmlformats.org/drawingml/2006/main">
            <a:r>
              <a:t>The following Lucide icons are derived from the Feather project:</a:t>
            </a:r>
          </a:p>
          <a:p xmlns:a="http://schemas.openxmlformats.org/drawingml/2006/main">
            <a:r>
              <a:t/>
            </a:r>
          </a:p>
          <a:p xmlns:a="http://schemas.openxmlformats.org/drawingml/2006/main">
            <a:r>
              <a:t>airplay, alert-circle, alert-octagon, alert-triangle, aperture, arrow-down-circle, arrow-down-left, arrow-down-right, arrow-down, arrow-left-circle, arrow-left, arrow-right-circle, arrow-right, arrow-up-circle, arrow-up-left, arrow-up-right, arrow-up, at-sign, calendar, cast, check, chevron-down, chevron-left, chevron-right, chevron-up, chevrons-down, chevrons-left, chevrons-right, chevrons-up, circle, clipboard, clock, code, columns, command, compass, corner-down-left, corner-down-right, corner-left-down, corner-left-up, corner-right-down, corner-right-up, corner-up-left, corner-up-right, crosshair, database, divide-circle, divide-square, dollar-sign, download, external-link, feather, frown, hash, headphones, help-circle, info, italic, key, layout, life-buoy, link-2, link, loader, lock, log-in, log-out, maximize, meh, minimize, minimize-2, minus-circle, minus-square, minus, monitor, moon, more-horizontal, more-vertical, move, music, navigation-2, navigation, octagon, pause-circle, percent, plus-circle, plus-square, plus, power, radio, rss, search, server, share, shopping-bag, sidebar, smartphone, smile, square, table-2, tablet, target, terminal, trash-2, trash, triangle, tv, type, upload, x-circle, x-octagon, x-square, x, zoom-in, zoom-out</a:t>
            </a:r>
          </a:p>
          <a:p xmlns:a="http://schemas.openxmlformats.org/drawingml/2006/main">
            <a:r>
              <a:t/>
            </a:r>
          </a:p>
          <a:p xmlns:a="http://schemas.openxmlformats.org/drawingml/2006/main">
            <a:r>
              <a:t>The MIT License (MIT) (for the icons listed above)</a:t>
            </a:r>
          </a:p>
          <a:p xmlns:a="http://schemas.openxmlformats.org/drawingml/2006/main">
            <a:r>
              <a:t/>
            </a:r>
          </a:p>
          <a:p xmlns:a="http://schemas.openxmlformats.org/drawingml/2006/main">
            <a:r>
              <a:t>Copyright (c) 2013-present Cole Bemis</a:t>
            </a:r>
          </a:p>
          <a:p xmlns:a="http://schemas.openxmlformats.org/drawingml/2006/main">
            <a:r>
              <a:t/>
            </a:r>
          </a:p>
          <a:p xmlns:a="http://schemas.openxmlformats.org/drawingml/2006/main">
            <a:r>
              <a:t>Permission is hereby granted, free of charge, to any person obtaining a copy</a:t>
            </a:r>
          </a:p>
          <a:p xmlns:a="http://schemas.openxmlformats.org/drawingml/2006/main">
            <a:r>
              <a:t>of this software and associated documentation files (the "Software"), to deal</a:t>
            </a:r>
          </a:p>
          <a:p xmlns:a="http://schemas.openxmlformats.org/drawingml/2006/main">
            <a:r>
              <a:t>in the Software without restriction, including without limitation the rights</a:t>
            </a:r>
          </a:p>
          <a:p xmlns:a="http://schemas.openxmlformats.org/drawingml/2006/main">
            <a:r>
              <a:t>to use, copy, modify, merge, publish, distribute, sublicense, and/or sell</a:t>
            </a:r>
          </a:p>
          <a:p xmlns:a="http://schemas.openxmlformats.org/drawingml/2006/main">
            <a:r>
              <a:t>copies of the Software, and to permit persons to whom the Software is</a:t>
            </a:r>
          </a:p>
          <a:p xmlns:a="http://schemas.openxmlformats.org/drawingml/2006/main">
            <a:r>
              <a:t>furnished to do so, subject to the following conditions:</a:t>
            </a:r>
          </a:p>
          <a:p xmlns:a="http://schemas.openxmlformats.org/drawingml/2006/main">
            <a:r>
              <a:t/>
            </a:r>
          </a:p>
          <a:p xmlns:a="http://schemas.openxmlformats.org/drawingml/2006/main">
            <a:r>
              <a:t>The above copyright notice and this permission notice shall be included in all</a:t>
            </a:r>
          </a:p>
          <a:p xmlns:a="http://schemas.openxmlformats.org/drawingml/2006/main">
            <a:r>
              <a:t>copies or substantial portions of the Software.</a:t>
            </a:r>
          </a:p>
          <a:p xmlns:a="http://schemas.openxmlformats.org/drawingml/2006/main">
            <a:r>
              <a:t/>
            </a:r>
          </a:p>
          <a:p xmlns:a="http://schemas.openxmlformats.org/drawingml/2006/main">
            <a:r>
              <a:t>THE SOFTWARE IS PROVIDED "AS IS", WITHOUT WARRANTY OF ANY KIND, EXPRESS OR</a:t>
            </a:r>
          </a:p>
          <a:p xmlns:a="http://schemas.openxmlformats.org/drawingml/2006/main">
            <a:r>
              <a:t>IMPLIED, INCLUDING BUT NOT LIMITED TO THE WARRANTIES OF MERCHANTABILITY,</a:t>
            </a:r>
          </a:p>
          <a:p xmlns:a="http://schemas.openxmlformats.org/drawingml/2006/main">
            <a:r>
              <a:t>FITNESS FOR A PARTICULAR PURPOSE AND NONINFRINGEMENT. IN NO EVENT SHALL THE</a:t>
            </a:r>
          </a:p>
          <a:p xmlns:a="http://schemas.openxmlformats.org/drawingml/2006/main">
            <a:r>
              <a:t>AUTHORS OR COPYRIGHT HOLDERS BE LIABLE FOR ANY CLAIM, DAMAGES OR OTHER</a:t>
            </a:r>
          </a:p>
          <a:p xmlns:a="http://schemas.openxmlformats.org/drawingml/2006/main">
            <a:r>
              <a:t>LIABILITY, WHETHER IN AN ACTION OF CONTRACT, TORT OR OTHERWISE, ARISING FROM,</a:t>
            </a:r>
          </a:p>
          <a:p xmlns:a="http://schemas.openxmlformats.org/drawingml/2006/main">
            <a:r>
              <a:t>OUT OF OR IN CONNECTION WITH THE SOFTWARE OR THE USE OR OTHER DEALINGS IN THE</a:t>
            </a:r>
          </a:p>
          <a:p xmlns:a="http://schemas.openxmlformats.org/drawingml/2006/main">
            <a:r>
              <a:t>SOFTWARE.</a:t>
            </a:r>
          </a:p>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80b4a2da784b45a9"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03da349bc6c84cb0" /><Relationship Type="http://schemas.openxmlformats.org/officeDocument/2006/relationships/slideLayout" Target="/ppt/slideLayouts/slideLayout1.xml" Id="Rbc6a19644da44277"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bc6a19644da44277"/>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xml version="1.0" encoding="utf-8"?><Relationships xmlns="http://schemas.openxmlformats.org/package/2006/relationships"><Relationship Type="http://schemas.openxmlformats.org/officeDocument/2006/relationships/slideLayout" Target="/ppt/slideLayouts/slideLayout1.xml" Id="Rba0bcc0c1aa44704" /><Relationship Type="http://schemas.openxmlformats.org/officeDocument/2006/relationships/image" Target="/ppt/media/image.jpeg" Id="R2931edeab0c142cd" /><Relationship Type="http://schemas.openxmlformats.org/officeDocument/2006/relationships/image" Target="/ppt/media/image.svg" Id="Ree68f69138714d57" /><Relationship Type="http://schemas.openxmlformats.org/officeDocument/2006/relationships/image" Target="/ppt/media/image.png" Id="Rc3d8b2fc7eda426f" /><Relationship Type="http://schemas.openxmlformats.org/officeDocument/2006/relationships/hyperlink" Target="https://continuity-loop-healthathon.vercel.app/" TargetMode="External" Id="Rf0469635db7f4009" /><Relationship Type="http://schemas.openxmlformats.org/officeDocument/2006/relationships/image" Target="/ppt/media/image2.jpeg" Id="Rfe32ed00b1fc48e5" /><Relationship Type="http://schemas.openxmlformats.org/officeDocument/2006/relationships/image" Target="/ppt/media/image2.svg" Id="Rf9056e15e6014b83" /><Relationship Type="http://schemas.openxmlformats.org/officeDocument/2006/relationships/hyperlink" Target="https://github.com/basithladdu/healthathon" TargetMode="External" Id="R0cced07f889f480e" /><Relationship Type="http://schemas.openxmlformats.org/officeDocument/2006/relationships/image" Target="/ppt/media/image2.png" Id="R5aa8ad021c554650" /><Relationship Type="http://schemas.openxmlformats.org/officeDocument/2006/relationships/image" Target="/ppt/media/image3.svg" Id="R050e002521df4539" /><Relationship Type="http://schemas.openxmlformats.org/officeDocument/2006/relationships/hyperlink" Target="https://wa.me/919553321211" TargetMode="External" Id="Rde92088dc5954952" /><Relationship Type="http://schemas.openxmlformats.org/officeDocument/2006/relationships/hyperlink" Target="https://wa.me/919553321211" TargetMode="External" Id="R037f618aa7aa425b" /><Relationship Type="http://schemas.openxmlformats.org/officeDocument/2006/relationships/image" Target="/ppt/media/image3.png" Id="R81ebbfc1606f4cc8" /><Relationship Type="http://schemas.openxmlformats.org/officeDocument/2006/relationships/image" Target="/ppt/media/image4.png" Id="R6d0130dd57e84c18" /><Relationship Type="http://schemas.openxmlformats.org/officeDocument/2006/relationships/notesSlide" Target="/ppt/notesSlides/notesSlide1.xml" Id="R8e33c9c1f2464e3b"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e6f8834a921f4506" /><Relationship Type="http://schemas.openxmlformats.org/officeDocument/2006/relationships/image" Target="/ppt/media/image2.png" Id="Re59d33377d1c4f92" /><Relationship Type="http://schemas.openxmlformats.org/officeDocument/2006/relationships/image" Target="/ppt/media/image3.jpeg" Id="Rf05ea1b0e0d746e1" /><Relationship Type="http://schemas.openxmlformats.org/officeDocument/2006/relationships/image" Target="/ppt/media/image4.svg" Id="R4b77d3e6a2a04a0f" /><Relationship Type="http://schemas.openxmlformats.org/officeDocument/2006/relationships/image" Target="/ppt/media/image4.jpeg" Id="Rcaab875757f345aa" /><Relationship Type="http://schemas.openxmlformats.org/officeDocument/2006/relationships/image" Target="/ppt/media/image5.svg" Id="Rbfabd92508454345" /><Relationship Type="http://schemas.openxmlformats.org/officeDocument/2006/relationships/image" Target="/ppt/media/image5.jpeg" Id="R3f97006e9d9b4a90" /><Relationship Type="http://schemas.openxmlformats.org/officeDocument/2006/relationships/image" Target="/ppt/media/image6.svg" Id="Rd2b1aeb9d92d41ef" /><Relationship Type="http://schemas.openxmlformats.org/officeDocument/2006/relationships/notesSlide" Target="/ppt/notesSlides/notesSlide2.xml" Id="Rc93c20b7e9104b97"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6d0a71ee68614e69" /><Relationship Type="http://schemas.openxmlformats.org/officeDocument/2006/relationships/chart" Target="/ppt/slides/charts/chart1.xml" Id="R87a23830109e401b" /><Relationship Type="http://schemas.openxmlformats.org/officeDocument/2006/relationships/image" Target="/ppt/media/image6.jpeg" Id="R6d5bd39c1b144498" /><Relationship Type="http://schemas.openxmlformats.org/officeDocument/2006/relationships/image" Target="/ppt/media/image7.svg" Id="R46eede1909564f2d" /><Relationship Type="http://schemas.openxmlformats.org/officeDocument/2006/relationships/hyperlink" Target="https://gco.iarc.who.int/media/globocan/factsheets/populations/356-india-fact-sheet.pdf" TargetMode="External" Id="Rc93b0850a4c2462f" /><Relationship Type="http://schemas.openxmlformats.org/officeDocument/2006/relationships/image" Target="/ppt/media/image5.png" Id="R0e65af521a1647be" /><Relationship Type="http://schemas.openxmlformats.org/officeDocument/2006/relationships/image" Target="/ppt/media/image8.svg" Id="R2e25db465b954f01" /><Relationship Type="http://schemas.openxmlformats.org/officeDocument/2006/relationships/hyperlink" Target="https://doi.org/10.1136/spcare-2024-004978" TargetMode="External" Id="R1e98697908dc4720" /><Relationship Type="http://schemas.openxmlformats.org/officeDocument/2006/relationships/image" Target="/ppt/media/image6.png" Id="Rb8d4dce24cb040c5" /><Relationship Type="http://schemas.openxmlformats.org/officeDocument/2006/relationships/image" Target="/ppt/media/image9.svg" Id="R8b97f26adf7a412b" /><Relationship Type="http://schemas.openxmlformats.org/officeDocument/2006/relationships/hyperlink" Target="https://scroll.in/article/925875/73-urban-indians-do-not-know-about-their-right-to-make-a-living-will-finds-a-survey" TargetMode="External" Id="Ra1e23a8445164f9b" /><Relationship Type="http://schemas.openxmlformats.org/officeDocument/2006/relationships/image" Target="/ppt/media/image7.png" Id="R8f53aba0fde344bc" /><Relationship Type="http://schemas.openxmlformats.org/officeDocument/2006/relationships/image" Target="/ppt/media/image10.svg" Id="Rfd3efeecf7c64334" /><Relationship Type="http://schemas.openxmlformats.org/officeDocument/2006/relationships/hyperlink" Target="https://doi.org/10.25259/NMJI_817_2023" TargetMode="External" Id="R68183a8960624980" /><Relationship Type="http://schemas.openxmlformats.org/officeDocument/2006/relationships/hyperlink" Target="https://doi.org/10.1177/26892820251392545" TargetMode="External" Id="Race3b35a76c9430e" /><Relationship Type="http://schemas.openxmlformats.org/officeDocument/2006/relationships/notesSlide" Target="/ppt/notesSlides/notesSlide3.xml" Id="R44c345295ea7441b" /></Relationships>
</file>

<file path=ppt/slides/_rels/slide4.xml.rels><?xml version="1.0" encoding="utf-8"?><Relationships xmlns="http://schemas.openxmlformats.org/package/2006/relationships"><Relationship Type="http://schemas.openxmlformats.org/officeDocument/2006/relationships/slideLayout" Target="/ppt/slideLayouts/slideLayout1.xml" Id="R38c8c61637aa4a5c" /><Relationship Type="http://schemas.openxmlformats.org/officeDocument/2006/relationships/image" Target="/ppt/media/image3.jpeg" Id="R5be71f3e859d4fb9" /><Relationship Type="http://schemas.openxmlformats.org/officeDocument/2006/relationships/hyperlink" Target="https://continuity-loop-healthathon.vercel.app/find-support" TargetMode="External" Id="Rceeb189fe0794dfa" /><Relationship Type="http://schemas.openxmlformats.org/officeDocument/2006/relationships/hyperlink" Target="https://palliumindia.org/clinics/telangana" TargetMode="External" Id="R695b570d3d4e486e" /><Relationship Type="http://schemas.openxmlformats.org/officeDocument/2006/relationships/hyperlink" Target="https://www.openstreetmap.org/copyright" TargetMode="External" Id="R58c0b7332cbe4535" /><Relationship Type="http://schemas.openxmlformats.org/officeDocument/2006/relationships/image" Target="/ppt/media/image8.png" Id="R7db23814a7b4476d" /><Relationship Type="http://schemas.openxmlformats.org/officeDocument/2006/relationships/image" Target="/ppt/media/image11.svg" Id="R1557d28b18af4485" /><Relationship Type="http://schemas.openxmlformats.org/officeDocument/2006/relationships/hyperlink" Target="https://continuity-loop-healthathon.vercel.app/find-support" TargetMode="External" Id="R119b1031e58f4f75" /><Relationship Type="http://schemas.openxmlformats.org/officeDocument/2006/relationships/image" Target="/ppt/media/image9.png" Id="R1cd40101eccf4d1b" /><Relationship Type="http://schemas.openxmlformats.org/officeDocument/2006/relationships/image" Target="/ppt/media/image12.svg" Id="R5412ded50f6749c2" /><Relationship Type="http://schemas.openxmlformats.org/officeDocument/2006/relationships/hyperlink" Target="https://continuity-loop-healthathon.vercel.app/medicine-access" TargetMode="External" Id="R52a8364fdbe3469b" /><Relationship Type="http://schemas.openxmlformats.org/officeDocument/2006/relationships/image" Target="/ppt/media/image10.png" Id="R91fc7340089c4566" /><Relationship Type="http://schemas.openxmlformats.org/officeDocument/2006/relationships/image" Target="/ppt/media/image13.svg" Id="R51a5f7a0512c49ae" /><Relationship Type="http://schemas.openxmlformats.org/officeDocument/2006/relationships/hyperlink" Target="https://continuity-loop-healthathon.vercel.app/support-groups" TargetMode="External" Id="Re71fc0146e954099" /><Relationship Type="http://schemas.openxmlformats.org/officeDocument/2006/relationships/image" Target="/ppt/media/image11.png" Id="R399e7c3c5a3842c2" /><Relationship Type="http://schemas.openxmlformats.org/officeDocument/2006/relationships/image" Target="/ppt/media/image14.svg" Id="R0ed8aad035ba48a0" /><Relationship Type="http://schemas.openxmlformats.org/officeDocument/2006/relationships/hyperlink" Target="https://continuity-loop-healthathon.vercel.app/help-at-home" TargetMode="External" Id="R06895302b0174722" /><Relationship Type="http://schemas.openxmlformats.org/officeDocument/2006/relationships/notesSlide" Target="/ppt/notesSlides/notesSlide4.xml" Id="R133506f009af48eb" /></Relationships>
</file>

<file path=ppt/slides/_rels/slide5.xml.rels><?xml version="1.0" encoding="utf-8"?><Relationships xmlns="http://schemas.openxmlformats.org/package/2006/relationships"><Relationship Type="http://schemas.openxmlformats.org/officeDocument/2006/relationships/slideLayout" Target="/ppt/slideLayouts/slideLayout1.xml" Id="R017ba2109e5c472f" /><Relationship Type="http://schemas.openxmlformats.org/officeDocument/2006/relationships/image" Target="/ppt/media/image4.jpeg" Id="R14ddd3d6df11472f" /><Relationship Type="http://schemas.openxmlformats.org/officeDocument/2006/relationships/image" Target="/ppt/media/image5.jpeg" Id="R9feca2d6a88a449e" /><Relationship Type="http://schemas.openxmlformats.org/officeDocument/2006/relationships/image" Target="/ppt/media/image12.png" Id="R3f7080152741431d" /><Relationship Type="http://schemas.openxmlformats.org/officeDocument/2006/relationships/image" Target="/ppt/media/image15.svg" Id="R91c87b8712b34e9a" /><Relationship Type="http://schemas.openxmlformats.org/officeDocument/2006/relationships/hyperlink" Target="https://continuity-loop-healthathon.vercel.app/medicines" TargetMode="External" Id="R1f4b5dd0e3244ba2" /><Relationship Type="http://schemas.openxmlformats.org/officeDocument/2006/relationships/image" Target="/ppt/media/image13.png" Id="R2efb859df9ec4e86" /><Relationship Type="http://schemas.openxmlformats.org/officeDocument/2006/relationships/image" Target="/ppt/media/image16.svg" Id="Rdc1bf5c4e63e49f1" /><Relationship Type="http://schemas.openxmlformats.org/officeDocument/2006/relationships/hyperlink" Target="https://continuity-loop-healthathon.vercel.app/calendar" TargetMode="External" Id="Rcdefa35d12434039" /><Relationship Type="http://schemas.openxmlformats.org/officeDocument/2006/relationships/image" Target="/ppt/media/image14.png" Id="R44891931bbd74f5d" /><Relationship Type="http://schemas.openxmlformats.org/officeDocument/2006/relationships/image" Target="/ppt/media/image17.svg" Id="R3d293e6a852e405a" /><Relationship Type="http://schemas.openxmlformats.org/officeDocument/2006/relationships/hyperlink" Target="https://continuity-loop-healthathon.vercel.app/my-space" TargetMode="External" Id="Rfbfb7495fe1b4f64" /><Relationship Type="http://schemas.openxmlformats.org/officeDocument/2006/relationships/image" Target="/ppt/media/image15.png" Id="R0318261aeaa74eb6" /><Relationship Type="http://schemas.openxmlformats.org/officeDocument/2006/relationships/image" Target="/ppt/media/image18.svg" Id="R28c2429672d3424b" /><Relationship Type="http://schemas.openxmlformats.org/officeDocument/2006/relationships/hyperlink" Target="https://continuity-loop-healthathon.vercel.app/costs" TargetMode="External" Id="Rb1bc4339aac94de7" /><Relationship Type="http://schemas.openxmlformats.org/officeDocument/2006/relationships/image" Target="/ppt/media/image6.jpeg" Id="R762a8f07ec1648f1" /><Relationship Type="http://schemas.openxmlformats.org/officeDocument/2006/relationships/hyperlink" Target="https://continuity-loop-healthathon.vercel.app/" TargetMode="External" Id="R56fc810bcd7f4813" /><Relationship Type="http://schemas.openxmlformats.org/officeDocument/2006/relationships/notesSlide" Target="/ppt/notesSlides/notesSlide5.xml" Id="R17df3aa9db624af6"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08391f79c90c4c43" /><Relationship Type="http://schemas.openxmlformats.org/officeDocument/2006/relationships/image" Target="/ppt/media/image16.png" Id="R5123800f0ffd40a8" /><Relationship Type="http://schemas.openxmlformats.org/officeDocument/2006/relationships/image" Target="/ppt/media/image17.png" Id="R8be677fbdd7c4b56" /><Relationship Type="http://schemas.openxmlformats.org/officeDocument/2006/relationships/image" Target="/ppt/media/image19.svg" Id="Rc295c626901d4def" /><Relationship Type="http://schemas.openxmlformats.org/officeDocument/2006/relationships/image" Target="/ppt/media/image18.png" Id="R921e0f06c24041cf" /><Relationship Type="http://schemas.openxmlformats.org/officeDocument/2006/relationships/image" Target="/ppt/media/image20.svg" Id="R07287f7693be4b0c" /><Relationship Type="http://schemas.openxmlformats.org/officeDocument/2006/relationships/image" Target="/ppt/media/image19.png" Id="R91d4d694ccaf490e" /><Relationship Type="http://schemas.openxmlformats.org/officeDocument/2006/relationships/image" Target="/ppt/media/image21.svg" Id="R3a33c43b2f5f4a18" /><Relationship Type="http://schemas.openxmlformats.org/officeDocument/2006/relationships/image" Target="/ppt/media/image20.png" Id="R16eeaefe28bf4b97" /><Relationship Type="http://schemas.openxmlformats.org/officeDocument/2006/relationships/image" Target="/ppt/media/image22.svg" Id="R61f45251dc914315" /><Relationship Type="http://schemas.openxmlformats.org/officeDocument/2006/relationships/image" Target="/ppt/media/image21.png" Id="R581c7028c26046b7" /><Relationship Type="http://schemas.openxmlformats.org/officeDocument/2006/relationships/image" Target="/ppt/media/image23.svg" Id="R33962b8d1f5b448b" /><Relationship Type="http://schemas.openxmlformats.org/officeDocument/2006/relationships/image" Target="/ppt/media/image24.svg" Id="R7e1101a277e44375" /><Relationship Type="http://schemas.openxmlformats.org/officeDocument/2006/relationships/image" Target="/ppt/media/image22.png" Id="R6004da510d3f43f7" /><Relationship Type="http://schemas.openxmlformats.org/officeDocument/2006/relationships/image" Target="/ppt/media/image25.svg" Id="R3126283e4f814af4" /><Relationship Type="http://schemas.openxmlformats.org/officeDocument/2006/relationships/notesSlide" Target="/ppt/notesSlides/notesSlide6.xml" Id="R237bc806dbc143b5" /></Relationships>
</file>

<file path=ppt/slides/_rels/slide7.xml.rels>&#65279;<?xml version="1.0" encoding="utf-8"?><Relationships xmlns="http://schemas.openxmlformats.org/package/2006/relationships"><Relationship Type="http://schemas.openxmlformats.org/officeDocument/2006/relationships/slideLayout" Target="/ppt/slideLayouts/slideLayout1.xml" Id="R959eab3e1d414dbc" /><Relationship Type="http://schemas.openxmlformats.org/officeDocument/2006/relationships/image" Target="/ppt/media/image23.png" Id="R78b7690eff5c42fb" /><Relationship Type="http://schemas.openxmlformats.org/officeDocument/2006/relationships/image" Target="/ppt/media/image24.png" Id="R4c6000c13b6549d0" /><Relationship Type="http://schemas.openxmlformats.org/officeDocument/2006/relationships/image" Target="/ppt/media/image25.png" Id="R6db888776a504545" /><Relationship Type="http://schemas.openxmlformats.org/officeDocument/2006/relationships/image" Target="/ppt/media/image26.svg" Id="R804487f546e145e0" /><Relationship Type="http://schemas.openxmlformats.org/officeDocument/2006/relationships/image" Target="/ppt/media/image26.png" Id="R0db04a934d64444c" /><Relationship Type="http://schemas.openxmlformats.org/officeDocument/2006/relationships/image" Target="/ppt/media/image27.svg" Id="Raabb8469108c4ad0" /><Relationship Type="http://schemas.openxmlformats.org/officeDocument/2006/relationships/image" Target="/ppt/media/image27.png" Id="Re47dae9423e94bb1" /><Relationship Type="http://schemas.openxmlformats.org/officeDocument/2006/relationships/image" Target="/ppt/media/image28.svg" Id="R2219006f50294d5f" /><Relationship Type="http://schemas.openxmlformats.org/officeDocument/2006/relationships/image" Target="/ppt/media/image29.svg" Id="Rde620be2ce144819" /><Relationship Type="http://schemas.openxmlformats.org/officeDocument/2006/relationships/image" Target="/ppt/media/image30.svg" Id="R96e1fa46e6a44385" /><Relationship Type="http://schemas.openxmlformats.org/officeDocument/2006/relationships/hyperlink" Target="https://docs.sarvam.ai/api/getting-started/building-for-india" TargetMode="External" Id="Rbc5b39b719484e1a" /><Relationship Type="http://schemas.openxmlformats.org/officeDocument/2006/relationships/notesSlide" Target="/ppt/notesSlides/notesSlide7.xml" Id="R9c4f6de0783b4546" /></Relationships>
</file>

<file path=ppt/slides/_rels/slide8.xml.rels>&#65279;<?xml version="1.0" encoding="utf-8"?><Relationships xmlns="http://schemas.openxmlformats.org/package/2006/relationships"><Relationship Type="http://schemas.openxmlformats.org/officeDocument/2006/relationships/slideLayout" Target="/ppt/slideLayouts/slideLayout1.xml" Id="R4192dc36e4ae45b1" /><Relationship Type="http://schemas.openxmlformats.org/officeDocument/2006/relationships/hyperlink" Target="https://gco.iarc.who.int/media/globocan/factsheets/populations/356-india-fact-sheet.pdf" TargetMode="External" Id="R2c55e3ac061c436a" /><Relationship Type="http://schemas.openxmlformats.org/officeDocument/2006/relationships/hyperlink" Target="https://gco.iarc.who.int/media/globocan/factsheets/populations/356-india-fact-sheet.pdf" TargetMode="External" Id="R5109bd562bb24553" /><Relationship Type="http://schemas.openxmlformats.org/officeDocument/2006/relationships/hyperlink" Target="https://doi.org/10.1136/spcare-2024-004978" TargetMode="External" Id="R240b4a432c5e4998" /><Relationship Type="http://schemas.openxmlformats.org/officeDocument/2006/relationships/hyperlink" Target="https://doi.org/10.1136/spcare-2024-004978" TargetMode="External" Id="R0e95f9bf48964ed0" /><Relationship Type="http://schemas.openxmlformats.org/officeDocument/2006/relationships/hyperlink" Target="https://doi.org/10.1016/j.jpainsymman.2024.02.030" TargetMode="External" Id="Ra90d4a76b666491c" /><Relationship Type="http://schemas.openxmlformats.org/officeDocument/2006/relationships/hyperlink" Target="https://doi.org/10.1016/j.jpainsymman.2024.02.030" TargetMode="External" Id="R5672176ca5de4864" /><Relationship Type="http://schemas.openxmlformats.org/officeDocument/2006/relationships/hyperlink" Target="https://doi.org/10.1177/26892820251392545" TargetMode="External" Id="R35c97e3e4c994522" /><Relationship Type="http://schemas.openxmlformats.org/officeDocument/2006/relationships/hyperlink" Target="https://doi.org/10.1177/26892820251392545" TargetMode="External" Id="R06ae8b9456f44bb6" /><Relationship Type="http://schemas.openxmlformats.org/officeDocument/2006/relationships/hyperlink" Target="https://scroll.in/article/925875/73-urban-indians-do-not-know-about-their-right-to-make-a-living-will-finds-a-survey" TargetMode="External" Id="Rb1b3406d7bf74a56" /><Relationship Type="http://schemas.openxmlformats.org/officeDocument/2006/relationships/hyperlink" Target="https://scroll.in/article/925875/73-urban-indians-do-not-know-about-their-right-to-make-a-living-will-finds-a-survey" TargetMode="External" Id="R557fe420655344a0" /><Relationship Type="http://schemas.openxmlformats.org/officeDocument/2006/relationships/hyperlink" Target="https://doi.org/10.25259/NMJI_817_2023" TargetMode="External" Id="R12363ca40c2a4d39" /><Relationship Type="http://schemas.openxmlformats.org/officeDocument/2006/relationships/hyperlink" Target="https://doi.org/10.25259/NMJI_817_2023" TargetMode="External" Id="R21cbe2d965ab4b1b" /><Relationship Type="http://schemas.openxmlformats.org/officeDocument/2006/relationships/hyperlink" Target="https://doi.org/10.1101/2025.10.17.25338242" TargetMode="External" Id="R9cebbae7d94743af" /><Relationship Type="http://schemas.openxmlformats.org/officeDocument/2006/relationships/hyperlink" Target="https://doi.org/10.1101/2025.10.17.25338242" TargetMode="External" Id="R27b7fc4bd48c4e2b" /><Relationship Type="http://schemas.openxmlformats.org/officeDocument/2006/relationships/hyperlink" Target="https://doi.org/10.1634/theoncologist.2013-0435" TargetMode="External" Id="Rf6fef90db47d4eee" /><Relationship Type="http://schemas.openxmlformats.org/officeDocument/2006/relationships/hyperlink" Target="https://doi.org/10.1634/theoncologist.2013-0435" TargetMode="External" Id="R634164d8bc414aa1" /><Relationship Type="http://schemas.openxmlformats.org/officeDocument/2006/relationships/hyperlink" Target="https://doi.org/10.1200/JCO.2012.46.2101" TargetMode="External" Id="Rbb5713bc66c649b2" /><Relationship Type="http://schemas.openxmlformats.org/officeDocument/2006/relationships/hyperlink" Target="https://doi.org/10.1200/JCO.2012.46.2101" TargetMode="External" Id="Rc66d8cb213c9463a" /><Relationship Type="http://schemas.openxmlformats.org/officeDocument/2006/relationships/notesSlide" Target="/ppt/notesSlides/notesSlide8.xml" Id="R410e5be772a84e8f" /></Relationships>
</file>

<file path=ppt/slides/charts/_rels/chart1.xml.rels><Relationships xmlns="http://schemas.openxmlformats.org/package/2006/relationships"><Relationship Id="rIdChartSnapshot1" Type="http://schemas.openxmlformats.org/officeDocument/2006/relationships/package" Target="../../embeddings/chart-data-snapshot-001.xlsx"/></Relationships>
</file>

<file path=ppt/slides/charts/chart1.xml><?xml version="1.0" encoding="utf-8"?>
<c:chartSpace xmlns:c="http://schemas.openxmlformats.org/drawingml/2006/chart" xmlns:r="http://schemas.openxmlformats.org/officeDocument/2006/relationships">
  <c:lang val="en-US"/>
  <c:chart>
    <c:plotArea>
      <c:barChart>
        <c:barDir val="col"/>
        <c:grouping val="clustered"/>
        <c:varyColors val="0"/>
        <c:ser>
          <c:idx val="0"/>
          <c:order val="0"/>
          <c:tx>
            <c:v>Documented conversations</c:v>
          </c:tx>
          <c:spPr>
            <a:solidFill xmlns:a="http://schemas.openxmlformats.org/drawingml/2006/main">
              <a:srgbClr val="173F33"/>
            </a:solidFill>
          </c:spPr>
          <c:dPt>
            <c:idx val="0"/>
            <c:invertIfNegative val="0"/>
            <c:spPr>
              <a:solidFill xmlns:a="http://schemas.openxmlformats.org/drawingml/2006/main">
                <a:srgbClr val="B75E43"/>
              </a:solidFill>
            </c:spPr>
          </c:dPt>
          <c:dPt>
            <c:idx val="1"/>
            <c:invertIfNegative val="0"/>
            <c:spPr>
              <a:solidFill xmlns:a="http://schemas.openxmlformats.org/drawingml/2006/main">
                <a:srgbClr val="173F33"/>
              </a:solidFill>
            </c:spPr>
          </c:dPt>
          <c:cat>
            <c:strRef>
              <c:f>'Chart Data'!$A$2:$A$3</c:f>
              <c:strCache>
                <c:ptCount val="2"/>
                <c:pt idx="0">
                  <c:v>Before</c:v>
                </c:pt>
                <c:pt idx="1">
                  <c:v>After</c:v>
                </c:pt>
              </c:strCache>
            </c:strRef>
          </c:cat>
          <c:val>
            <c:numRef>
              <c:f>'Chart Data'!$B$2:$B$3</c:f>
              <c:numCache>
                <c:formatCode>0"%"</c:formatCode>
                <c:ptCount val="2"/>
                <c:pt idx="0">
                  <c:v>0</c:v>
                </c:pt>
                <c:pt idx="1">
                  <c:v>92</c:v>
                </c:pt>
              </c:numCache>
            </c:numRef>
          </c:val>
        </c:ser>
        <c:dLbls>
          <c:txPr>
            <a:bodyPr xmlns:a="http://schemas.openxmlformats.org/drawingml/2006/main" anchorCtr="1"/>
            <a:lstStyle xmlns:a="http://schemas.openxmlformats.org/drawingml/2006/main"/>
            <a:p xmlns:a="http://schemas.openxmlformats.org/drawingml/2006/main">
              <a:pPr>
                <a:defRPr sz="1575" b="1">
                  <a:solidFill>
                    <a:srgbClr val="173F33"/>
                  </a:solidFill>
                  <a:latin typeface="Arial"/>
                  <a:ea typeface="Arial"/>
                  <a:cs typeface="Arial"/>
                </a:defRPr>
              </a:pPr>
            </a:p>
          </c:txPr>
          <c:dLblPos val="outEnd"/>
          <c:showLegendKey val="0"/>
          <c:showVal val="1"/>
          <c:showCatName val="0"/>
          <c:showSerName val="0"/>
          <c:showPercent val="0"/>
          <c:showBubbleSize val="0"/>
          <c:showLeaderLines val="0"/>
        </c:dLbls>
        <c:gapWidth val="100"/>
        <c:axId val="48650112"/>
        <c:axId val="48672768"/>
      </c:barChart>
      <c:catAx>
        <c:axId val="48650112"/>
        <c:scaling>
          <c:orientation val="minMax"/>
        </c:scaling>
        <c:delete val="0"/>
        <c:axPos val="b"/>
        <c:numFmt formatCode="General"/>
        <c:majorTickMark val="none"/>
        <c:minorTickMark val="none"/>
        <c:tickLblPos val="nextTo"/>
        <c:spPr>
          <a:ln xmlns:a="http://schemas.openxmlformats.org/drawingml/2006/main" w="9525">
            <a:solidFill>
              <a:srgbClr val="D9D4C7"/>
            </a:solidFill>
          </a:ln>
        </c:spPr>
        <c:txPr>
          <a:bodyPr xmlns:a="http://schemas.openxmlformats.org/drawingml/2006/main" anchorCtr="1"/>
          <a:lstStyle xmlns:a="http://schemas.openxmlformats.org/drawingml/2006/main"/>
          <a:p xmlns:a="http://schemas.openxmlformats.org/drawingml/2006/main">
            <a:pPr>
              <a:defRPr sz="1275">
                <a:solidFill>
                  <a:srgbClr val="173F33"/>
                </a:solidFill>
                <a:latin typeface="Arial"/>
                <a:ea typeface="Arial"/>
                <a:cs typeface="Arial"/>
              </a:defRPr>
            </a:pPr>
          </a:p>
        </c:txPr>
        <c:crossAx val="48672768"/>
      </c:catAx>
      <c:valAx>
        <c:axId val="48672768"/>
        <c:scaling>
          <c:orientation val="minMax"/>
          <c:max val="100"/>
          <c:min val="0"/>
        </c:scaling>
        <c:delete val="0"/>
        <c:axPos val="l"/>
        <c:majorGridlines>
          <c:spPr>
            <a:ln xmlns:a="http://schemas.openxmlformats.org/drawingml/2006/main" w="9525">
              <a:solidFill>
                <a:srgbClr val="DDD9CF"/>
              </a:solidFill>
              <a:prstDash val="solid"/>
            </a:ln>
          </c:spPr>
        </c:majorGridlines>
        <c:numFmt formatCode="0&quot;%&quot;"/>
        <c:majorTickMark val="none"/>
        <c:minorTickMark val="none"/>
        <c:spPr>
          <a:ln xmlns:a="http://schemas.openxmlformats.org/drawingml/2006/main" w="0">
            <a:noFill/>
          </a:ln>
        </c:spPr>
        <c:txPr>
          <a:bodyPr xmlns:a="http://schemas.openxmlformats.org/drawingml/2006/main" anchorCtr="1"/>
          <a:lstStyle xmlns:a="http://schemas.openxmlformats.org/drawingml/2006/main"/>
          <a:p xmlns:a="http://schemas.openxmlformats.org/drawingml/2006/main">
            <a:pPr>
              <a:defRPr sz="1050">
                <a:solidFill>
                  <a:srgbClr val="53655C"/>
                </a:solidFill>
                <a:latin typeface="Arial"/>
                <a:ea typeface="Arial"/>
                <a:cs typeface="Arial"/>
              </a:defRPr>
            </a:pPr>
          </a:p>
        </c:txPr>
        <c:crossAx val="48650112"/>
        <c:crossBetween val="between"/>
        <c:majorUnit val="25"/>
      </c:valAx>
      <c:spPr>
        <a:noFill xmlns:a="http://schemas.openxmlformats.org/drawingml/2006/main"/>
        <a:ln xmlns:a="http://schemas.openxmlformats.org/drawingml/2006/main" w="0">
          <a:noFill/>
        </a:ln>
      </c:spPr>
    </c:plotArea>
    <c:plotVisOnly val="1"/>
  </c:chart>
  <c:spPr>
    <a:noFill xmlns:a="http://schemas.openxmlformats.org/drawingml/2006/main"/>
    <a:ln xmlns:a="http://schemas.openxmlformats.org/drawingml/2006/main" w="0">
      <a:noFill/>
    </a:ln>
  </c:spPr>
  <c:externalData r:id="rIdChartSnapshot1">
    <c:autoUpdate val="0"/>
  </c:externalData>
</c:chartSpace>
</file>

<file path=ppt/slides/slide1.xml><?xml version="1.0" encoding="utf-8"?>
<p:sld xmlns:p="http://schemas.openxmlformats.org/presentationml/2006/main">
  <p:cSld>
    <p:bg>
      <p:bgPr>
        <a:solidFill xmlns:a="http://schemas.openxmlformats.org/drawingml/2006/main">
          <a:srgbClr val="FFF6E5"/>
        </a:solidFill>
      </p:bgPr>
    </p:bg>
    <p:spTree>
      <p:nvGrpSpPr>
        <p:cNvPr id="1" name=""/>
        <p:cNvGrpSpPr/>
        <p:nvPr/>
      </p:nvGrpSpPr>
      <p:grpSpPr>
        <a:xfrm xmlns:a="http://schemas.openxmlformats.org/drawingml/2006/main"/>
      </p:grpSpPr>
      <p:pic>
        <p:nvPicPr>
          <p:cNvPr id="38" name=""/>
          <p:cNvPicPr>
            <a:picLocks xmlns:a="http://schemas.openxmlformats.org/drawingml/2006/main" noChangeAspect="1"/>
          </p:cNvPicPr>
          <p:nvPr/>
        </p:nvPicPr>
        <p:blipFill>
          <a:blip xmlns:r="http://schemas.openxmlformats.org/officeDocument/2006/relationships" xmlns:a="http://schemas.openxmlformats.org/drawingml/2006/main" r:embed="R2931edeab0c142cd">
            <a:extLst>
              <a:ext uri="{96DAC541-7B7A-43D3-8B79-37D633B846F1}">
                <asvg:svgBlip xmlns:asvg="http://schemas.microsoft.com/office/drawing/2016/SVG/main" r:embed="Ree68f69138714d57"/>
              </a:ext>
            </a:extLst>
          </a:blip>
          <a:stretch xmlns:a="http://schemas.openxmlformats.org/drawingml/2006/main"/>
        </p:blipFill>
        <p:spPr>
          <a:xfrm xmlns:a="http://schemas.openxmlformats.org/drawingml/2006/main">
            <a:off x="533400" y="485775"/>
            <a:ext cx="828675" cy="828675"/>
          </a:xfrm>
          <a:prstGeom xmlns:a="http://schemas.openxmlformats.org/drawingml/2006/main" prst="rect">
            <a:avLst/>
          </a:prstGeom>
        </p:spPr>
      </p:pic>
      <p:sp>
        <p:nvSpPr>
          <p:cNvPr id="2" name="Brand">
            <a:extLst xmlns:a="http://schemas.openxmlformats.org/drawingml/2006/main">
              <a:ext uri="{FF2B5EF4-FFF2-40B4-BE49-F238E27FC236}">
                <a16:creationId xmlns:a16="http://schemas.microsoft.com/office/drawing/2014/main" id="{AED03697-8DF3-401C-99C9-03460BDE18E7}"/>
              </a:ext>
            </a:extLst>
          </p:cNvPr>
          <p:cNvSpPr>
            <a:spLocks xmlns:a="http://schemas.openxmlformats.org/drawingml/2006/main" noGrp="1"/>
          </p:cNvSpPr>
          <p:nvPr/>
        </p:nvSpPr>
        <p:spPr>
          <a:xfrm xmlns:a="http://schemas.openxmlformats.org/drawingml/2006/main">
            <a:off x="1581150" y="381000"/>
            <a:ext cx="3019425" cy="895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rmAutofit fontScale="94144"/>
          </a:bodyPr>
          <a:lstStyle xmlns:a="http://schemas.openxmlformats.org/drawingml/2006/main"/>
          <a:p xmlns:a="http://schemas.openxmlformats.org/drawingml/2006/main">
            <a:pPr>
              <a:buNone/>
              <a:defRPr sz="5775" b="1">
                <a:solidFill>
                  <a:srgbClr val="173F33"/>
                </a:solidFill>
                <a:latin typeface="Arial"/>
                <a:ea typeface="Arial"/>
                <a:cs typeface="Arial"/>
              </a:defRPr>
            </a:pPr>
            <a:r>
              <a:rPr sz="4500" b="1">
                <a:solidFill>
                  <a:srgbClr val="173F33"/>
                </a:solidFill>
                <a:latin typeface="Arial"/>
                <a:ea typeface="Arial"/>
                <a:cs typeface="Arial"/>
              </a:rPr>
              <a:t>Saanthvana</a:t>
            </a:r>
          </a:p>
        </p:txBody>
      </p:sp>
      <p:sp>
        <p:nvSpPr>
          <p:cNvPr id="3" name="Hindi name">
            <a:extLst xmlns:a="http://schemas.openxmlformats.org/drawingml/2006/main">
              <a:ext uri="{FF2B5EF4-FFF2-40B4-BE49-F238E27FC236}">
                <a16:creationId xmlns:a16="http://schemas.microsoft.com/office/drawing/2014/main" id="{8CC91E0C-B6BC-44E8-937B-151CD731BB7B}"/>
              </a:ext>
            </a:extLst>
          </p:cNvPr>
          <p:cNvSpPr>
            <a:spLocks xmlns:a="http://schemas.openxmlformats.org/drawingml/2006/main" noGrp="1"/>
          </p:cNvSpPr>
          <p:nvPr/>
        </p:nvSpPr>
        <p:spPr>
          <a:xfrm xmlns:a="http://schemas.openxmlformats.org/drawingml/2006/main">
            <a:off x="5143500" y="504825"/>
            <a:ext cx="1905000" cy="781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rmAutofit fontScale="100000"/>
          </a:bodyPr>
          <a:lstStyle xmlns:a="http://schemas.openxmlformats.org/drawingml/2006/main"/>
          <a:p xmlns:a="http://schemas.openxmlformats.org/drawingml/2006/main">
            <a:pPr>
              <a:buNone/>
              <a:defRPr sz="4425" b="1">
                <a:solidFill>
                  <a:srgbClr val="173F33"/>
                </a:solidFill>
                <a:latin typeface="Nirmala UI"/>
                <a:ea typeface="Nirmala UI"/>
                <a:cs typeface="Nirmala UI"/>
              </a:defRPr>
            </a:pPr>
            <a:r>
              <a:rPr sz="4425" b="1">
                <a:solidFill>
                  <a:srgbClr val="173F33"/>
                </a:solidFill>
                <a:latin typeface="Nirmala UI"/>
                <a:ea typeface="Nirmala UI"/>
                <a:cs typeface="Nirmala UI"/>
              </a:rPr>
              <a:t>सांत्वना</a:t>
            </a:r>
          </a:p>
        </p:txBody>
      </p:sp>
      <p:sp>
        <p:nvSpPr>
          <p:cNvPr id="4" name="Name meaning">
            <a:extLst xmlns:a="http://schemas.openxmlformats.org/drawingml/2006/main">
              <a:ext uri="{FF2B5EF4-FFF2-40B4-BE49-F238E27FC236}">
                <a16:creationId xmlns:a16="http://schemas.microsoft.com/office/drawing/2014/main" id="{4F5EC78B-2D4E-4D0B-B8B9-9DB90FDDE2F2}"/>
              </a:ext>
            </a:extLst>
          </p:cNvPr>
          <p:cNvSpPr>
            <a:spLocks xmlns:a="http://schemas.openxmlformats.org/drawingml/2006/main" noGrp="1"/>
          </p:cNvSpPr>
          <p:nvPr/>
        </p:nvSpPr>
        <p:spPr>
          <a:xfrm xmlns:a="http://schemas.openxmlformats.org/drawingml/2006/main">
            <a:off x="7362825" y="695325"/>
            <a:ext cx="4295775"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rmAutofit fontScale="100000"/>
          </a:bodyPr>
          <a:lstStyle xmlns:a="http://schemas.openxmlformats.org/drawingml/2006/main"/>
          <a:p xmlns:a="http://schemas.openxmlformats.org/drawingml/2006/main">
            <a:pPr>
              <a:buNone/>
              <a:defRPr sz="2400" b="0">
                <a:solidFill>
                  <a:srgbClr val="B75E43"/>
                </a:solidFill>
                <a:latin typeface="Arial"/>
                <a:ea typeface="Arial"/>
                <a:cs typeface="Arial"/>
              </a:defRPr>
            </a:pPr>
            <a:r>
              <a:rPr sz="2400" b="0">
                <a:solidFill>
                  <a:srgbClr val="B75E43"/>
                </a:solidFill>
                <a:latin typeface="Arial"/>
                <a:ea typeface="Arial"/>
                <a:cs typeface="Arial"/>
              </a:rPr>
              <a:t>Comfort &amp; reassurance</a:t>
            </a:r>
          </a:p>
        </p:txBody>
      </p:sp>
      <p:sp>
        <p:nvSpPr>
          <p:cNvPr id="5" name="Purpose">
            <a:extLst xmlns:a="http://schemas.openxmlformats.org/drawingml/2006/main">
              <a:ext uri="{FF2B5EF4-FFF2-40B4-BE49-F238E27FC236}">
                <a16:creationId xmlns:a16="http://schemas.microsoft.com/office/drawing/2014/main" id="{45EAC722-6A49-4604-9FD7-B4233F219A2B}"/>
              </a:ext>
            </a:extLst>
          </p:cNvPr>
          <p:cNvSpPr>
            <a:spLocks xmlns:a="http://schemas.openxmlformats.org/drawingml/2006/main" noGrp="1"/>
          </p:cNvSpPr>
          <p:nvPr/>
        </p:nvSpPr>
        <p:spPr>
          <a:xfrm xmlns:a="http://schemas.openxmlformats.org/drawingml/2006/main">
            <a:off x="533400" y="1552575"/>
            <a:ext cx="11125200"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rmAutofit fontScale="100000"/>
          </a:bodyPr>
          <a:lstStyle xmlns:a="http://schemas.openxmlformats.org/drawingml/2006/main"/>
          <a:p xmlns:a="http://schemas.openxmlformats.org/drawingml/2006/main">
            <a:pPr>
              <a:buNone/>
              <a:defRPr sz="2250" b="1">
                <a:solidFill>
                  <a:srgbClr val="173F33"/>
                </a:solidFill>
                <a:latin typeface="Arial"/>
                <a:ea typeface="Arial"/>
                <a:cs typeface="Arial"/>
              </a:defRPr>
            </a:pPr>
            <a:r>
              <a:rPr sz="2250" b="1">
                <a:solidFill>
                  <a:srgbClr val="173F33"/>
                </a:solidFill>
                <a:latin typeface="Arial"/>
                <a:ea typeface="Arial"/>
                <a:cs typeface="Arial"/>
              </a:rPr>
              <a:t>One place for cancer-care records, medicines, visits and local support. Doctors and families can find what matters, when it matters.</a:t>
            </a:r>
          </a:p>
        </p:txBody>
      </p:sp>
      <p:pic>
        <p:nvPicPr>
          <p:cNvPr id="43" name=""/>
          <p:cNvPicPr>
            <a:picLocks xmlns:a="http://schemas.openxmlformats.org/drawingml/2006/main" noChangeAspect="1"/>
          </p:cNvPicPr>
          <p:nvPr/>
        </p:nvPicPr>
        <p:blipFill>
          <a:blip xmlns:r="http://schemas.openxmlformats.org/officeDocument/2006/relationships" xmlns:a="http://schemas.openxmlformats.org/drawingml/2006/main" r:embed="Rc3d8b2fc7eda426f"/>
          <a:srcRect xmlns:a="http://schemas.openxmlformats.org/drawingml/2006/main" l="0" t="0" r="0" b="0"/>
          <a:stretch xmlns:a="http://schemas.openxmlformats.org/drawingml/2006/main">
            <a:fillRect l="0" t="0" r="0" b="0"/>
          </a:stretch>
        </p:blipFill>
        <p:spPr>
          <a:xfrm xmlns:a="http://schemas.openxmlformats.org/drawingml/2006/main">
            <a:off x="533400" y="2619375"/>
            <a:ext cx="1219200" cy="1219200"/>
          </a:xfrm>
          <a:prstGeom xmlns:a="http://schemas.openxmlformats.org/drawingml/2006/main" prst="rect">
            <a:avLst/>
          </a:prstGeom>
        </p:spPr>
      </p:pic>
      <p:sp>
        <p:nvSpPr>
          <p:cNvPr id="7" name="Website link">
            <a:extLst xmlns:a="http://schemas.openxmlformats.org/drawingml/2006/main">
              <a:ext uri="{FF2B5EF4-FFF2-40B4-BE49-F238E27FC236}">
                <a16:creationId xmlns:a16="http://schemas.microsoft.com/office/drawing/2014/main" id="{F30C12A6-1431-4C25-8F09-D72336669791}"/>
              </a:ext>
            </a:extLst>
          </p:cNvPr>
          <p:cNvSpPr>
            <a:spLocks xmlns:a="http://schemas.openxmlformats.org/drawingml/2006/main" noGrp="1"/>
          </p:cNvSpPr>
          <p:nvPr/>
        </p:nvSpPr>
        <p:spPr>
          <a:xfrm xmlns:a="http://schemas.openxmlformats.org/drawingml/2006/main">
            <a:off x="2124075" y="2828925"/>
            <a:ext cx="9534525" cy="942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rmAutofit fontScale="100000"/>
          </a:bodyPr>
          <a:lstStyle xmlns:a="http://schemas.openxmlformats.org/drawingml/2006/main"/>
          <a:p xmlns:a="http://schemas.openxmlformats.org/drawingml/2006/main">
            <a:pPr>
              <a:buNone/>
              <a:defRPr sz="3600" b="1">
                <a:solidFill>
                  <a:srgbClr val="145AC6"/>
                </a:solidFill>
                <a:latin typeface="Arial"/>
                <a:ea typeface="Arial"/>
                <a:cs typeface="Arial"/>
              </a:defRPr>
            </a:pPr>
            <a:r>
              <a:rPr sz="3150" b="1" u="sng">
                <a:solidFill>
                  <a:srgbClr val="145AC6"/>
                </a:solidFill>
                <a:latin typeface="Arial"/>
                <a:ea typeface="Arial"/>
                <a:cs typeface="Arial"/>
                <a:hlinkClick xmlns:r="http://schemas.openxmlformats.org/officeDocument/2006/relationships" r:id="Rf0469635db7f4009"/>
              </a:rPr>
              <a:t>continuity-loop-healthathon.vercel.app</a:t>
            </a:r>
          </a:p>
        </p:txBody>
      </p:sp>
      <p:pic>
        <p:nvPicPr>
          <p:cNvPr id="45" name=""/>
          <p:cNvPicPr>
            <a:picLocks xmlns:a="http://schemas.openxmlformats.org/drawingml/2006/main" noChangeAspect="1"/>
          </p:cNvPicPr>
          <p:nvPr/>
        </p:nvPicPr>
        <p:blipFill>
          <a:blip xmlns:r="http://schemas.openxmlformats.org/officeDocument/2006/relationships" xmlns:a="http://schemas.openxmlformats.org/drawingml/2006/main" r:embed="Rfe32ed00b1fc48e5">
            <a:extLst>
              <a:ext uri="{96DAC541-7B7A-43D3-8B79-37D633B846F1}">
                <asvg:svgBlip xmlns:asvg="http://schemas.microsoft.com/office/drawing/2016/SVG/main" r:embed="Rf9056e15e6014b83"/>
              </a:ext>
            </a:extLst>
          </a:blip>
          <a:stretch xmlns:a="http://schemas.openxmlformats.org/drawingml/2006/main"/>
        </p:blipFill>
        <p:spPr>
          <a:xfrm xmlns:a="http://schemas.openxmlformats.org/drawingml/2006/main">
            <a:off x="533400" y="4257675"/>
            <a:ext cx="285750" cy="285750"/>
          </a:xfrm>
          <a:prstGeom xmlns:a="http://schemas.openxmlformats.org/drawingml/2006/main" prst="rect">
            <a:avLst/>
          </a:prstGeom>
        </p:spPr>
      </p:pic>
      <p:sp>
        <p:nvSpPr>
          <p:cNvPr id="9" name="Repository link">
            <a:extLst xmlns:a="http://schemas.openxmlformats.org/drawingml/2006/main">
              <a:ext uri="{FF2B5EF4-FFF2-40B4-BE49-F238E27FC236}">
                <a16:creationId xmlns:a16="http://schemas.microsoft.com/office/drawing/2014/main" id="{4506C395-16CD-4B44-B4D9-568613FF9975}"/>
              </a:ext>
            </a:extLst>
          </p:cNvPr>
          <p:cNvSpPr>
            <a:spLocks xmlns:a="http://schemas.openxmlformats.org/drawingml/2006/main" noGrp="1"/>
          </p:cNvSpPr>
          <p:nvPr/>
        </p:nvSpPr>
        <p:spPr>
          <a:xfrm xmlns:a="http://schemas.openxmlformats.org/drawingml/2006/main">
            <a:off x="962025" y="4257675"/>
            <a:ext cx="5048250" cy="352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rmAutofit fontScale="100000"/>
          </a:bodyPr>
          <a:lstStyle xmlns:a="http://schemas.openxmlformats.org/drawingml/2006/main"/>
          <a:p xmlns:a="http://schemas.openxmlformats.org/drawingml/2006/main">
            <a:pPr>
              <a:buNone/>
              <a:defRPr sz="1575" b="1">
                <a:solidFill>
                  <a:srgbClr val="145AC6"/>
                </a:solidFill>
                <a:latin typeface="Arial"/>
                <a:ea typeface="Arial"/>
                <a:cs typeface="Arial"/>
              </a:defRPr>
            </a:pPr>
            <a:r>
              <a:rPr sz="1575" b="1" u="sng">
                <a:solidFill>
                  <a:srgbClr val="145AC6"/>
                </a:solidFill>
                <a:latin typeface="Arial"/>
                <a:ea typeface="Arial"/>
                <a:cs typeface="Arial"/>
                <a:hlinkClick xmlns:r="http://schemas.openxmlformats.org/officeDocument/2006/relationships" r:id="R0cced07f889f480e"/>
              </a:rPr>
              <a:t>github.com/basithladdu/healthathon</a:t>
            </a:r>
          </a:p>
        </p:txBody>
      </p:sp>
      <p:pic>
        <p:nvPicPr>
          <p:cNvPr id="47" name=""/>
          <p:cNvPicPr>
            <a:picLocks xmlns:a="http://schemas.openxmlformats.org/drawingml/2006/main" noChangeAspect="1"/>
          </p:cNvPicPr>
          <p:nvPr/>
        </p:nvPicPr>
        <p:blipFill>
          <a:blip xmlns:r="http://schemas.openxmlformats.org/officeDocument/2006/relationships" xmlns:a="http://schemas.openxmlformats.org/drawingml/2006/main" r:embed="R5aa8ad021c554650">
            <a:extLst>
              <a:ext uri="{96DAC541-7B7A-43D3-8B79-37D633B846F1}">
                <asvg:svgBlip xmlns:asvg="http://schemas.microsoft.com/office/drawing/2016/SVG/main" r:embed="R050e002521df4539"/>
              </a:ext>
            </a:extLst>
          </a:blip>
          <a:stretch xmlns:a="http://schemas.openxmlformats.org/drawingml/2006/main"/>
        </p:blipFill>
        <p:spPr>
          <a:xfrm xmlns:a="http://schemas.openxmlformats.org/drawingml/2006/main">
            <a:off x="6810375" y="4257675"/>
            <a:ext cx="285750" cy="285750"/>
          </a:xfrm>
          <a:prstGeom xmlns:a="http://schemas.openxmlformats.org/drawingml/2006/main" prst="rect">
            <a:avLst/>
          </a:prstGeom>
        </p:spPr>
      </p:pic>
      <p:sp>
        <p:nvSpPr>
          <p:cNvPr id="11" name="Questions contact">
            <a:extLst xmlns:a="http://schemas.openxmlformats.org/drawingml/2006/main">
              <a:ext uri="{FF2B5EF4-FFF2-40B4-BE49-F238E27FC236}">
                <a16:creationId xmlns:a16="http://schemas.microsoft.com/office/drawing/2014/main" id="{E11BD72C-B7BB-49EB-A706-452F0AD8FA8C}"/>
              </a:ext>
            </a:extLst>
          </p:cNvPr>
          <p:cNvSpPr>
            <a:spLocks xmlns:a="http://schemas.openxmlformats.org/drawingml/2006/main" noGrp="1"/>
          </p:cNvSpPr>
          <p:nvPr/>
        </p:nvSpPr>
        <p:spPr>
          <a:xfrm xmlns:a="http://schemas.openxmlformats.org/drawingml/2006/main">
            <a:off x="7239000" y="4133850"/>
            <a:ext cx="44196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rmAutofit fontScale="100000"/>
          </a:bodyPr>
          <a:lstStyle xmlns:a="http://schemas.openxmlformats.org/drawingml/2006/main"/>
          <a:p xmlns:a="http://schemas.openxmlformats.org/drawingml/2006/main">
            <a:pPr>
              <a:buNone/>
              <a:defRPr sz="1725" b="1">
                <a:solidFill>
                  <a:srgbClr val="128C4A"/>
                </a:solidFill>
                <a:latin typeface="Arial"/>
                <a:ea typeface="Arial"/>
                <a:cs typeface="Arial"/>
              </a:defRPr>
            </a:pPr>
            <a:r>
              <a:rPr sz="1725" b="1" u="sng">
                <a:solidFill>
                  <a:srgbClr val="128C4A"/>
                </a:solidFill>
                <a:latin typeface="Arial"/>
                <a:ea typeface="Arial"/>
                <a:cs typeface="Arial"/>
                <a:hlinkClick xmlns:r="http://schemas.openxmlformats.org/officeDocument/2006/relationships" r:id="Rde92088dc5954952"/>
              </a:rPr>
              <a:t>Questions? Contact us</a:t>
            </a:r>
          </a:p>
        </p:txBody>
      </p:sp>
      <p:sp>
        <p:nvSpPr>
          <p:cNvPr id="12" name="WhatsApp link">
            <a:extLst xmlns:a="http://schemas.openxmlformats.org/drawingml/2006/main">
              <a:ext uri="{FF2B5EF4-FFF2-40B4-BE49-F238E27FC236}">
                <a16:creationId xmlns:a16="http://schemas.microsoft.com/office/drawing/2014/main" id="{6E97E47B-4A76-4F44-8B28-93EC7E84161D}"/>
              </a:ext>
            </a:extLst>
          </p:cNvPr>
          <p:cNvSpPr>
            <a:spLocks xmlns:a="http://schemas.openxmlformats.org/drawingml/2006/main" noGrp="1"/>
          </p:cNvSpPr>
          <p:nvPr/>
        </p:nvSpPr>
        <p:spPr>
          <a:xfrm xmlns:a="http://schemas.openxmlformats.org/drawingml/2006/main">
            <a:off x="7239000" y="4505325"/>
            <a:ext cx="44196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rmAutofit fontScale="100000"/>
          </a:bodyPr>
          <a:lstStyle xmlns:a="http://schemas.openxmlformats.org/drawingml/2006/main"/>
          <a:p xmlns:a="http://schemas.openxmlformats.org/drawingml/2006/main">
            <a:pPr>
              <a:buNone/>
              <a:defRPr sz="1500" b="0">
                <a:solidFill>
                  <a:srgbClr val="128C4A"/>
                </a:solidFill>
                <a:latin typeface="Arial"/>
                <a:ea typeface="Arial"/>
                <a:cs typeface="Arial"/>
              </a:defRPr>
            </a:pPr>
            <a:r>
              <a:rPr sz="1500" b="0" u="sng">
                <a:solidFill>
                  <a:srgbClr val="128C4A"/>
                </a:solidFill>
                <a:latin typeface="Arial"/>
                <a:ea typeface="Arial"/>
                <a:cs typeface="Arial"/>
                <a:hlinkClick xmlns:r="http://schemas.openxmlformats.org/officeDocument/2006/relationships" r:id="R037f618aa7aa425b"/>
              </a:rPr>
              <a:t>wa.me/919553321211</a:t>
            </a:r>
          </a:p>
        </p:txBody>
      </p:sp>
      <p:sp>
        <p:nvSpPr>
          <p:cNvPr id="13" name="">
            <a:extLst xmlns:a="http://schemas.openxmlformats.org/drawingml/2006/main">
              <a:ext uri="{FF2B5EF4-FFF2-40B4-BE49-F238E27FC236}">
                <a16:creationId xmlns:a16="http://schemas.microsoft.com/office/drawing/2014/main" id="{228B913E-34BF-40FB-A416-07C4E84822F7}"/>
              </a:ext>
            </a:extLst>
          </p:cNvPr>
          <p:cNvSpPr>
            <a:spLocks xmlns:a="http://schemas.openxmlformats.org/drawingml/2006/main" noGrp="1"/>
          </p:cNvSpPr>
          <p:nvPr/>
        </p:nvSpPr>
        <p:spPr>
          <a:xfrm xmlns:a="http://schemas.openxmlformats.org/drawingml/2006/main">
            <a:off x="533400" y="4857750"/>
            <a:ext cx="11125200" cy="0"/>
          </a:xfrm>
          <a:prstGeom xmlns:a="http://schemas.openxmlformats.org/drawingml/2006/main" prst="line">
            <a:avLst/>
          </a:prstGeom>
          <a:ln xmlns:a="http://schemas.openxmlformats.org/drawingml/2006/main" w="9525">
            <a:solidFill>
              <a:srgbClr val="D9D4C7"/>
            </a:solidFill>
          </a:ln>
        </p:spPr>
      </p:sp>
      <p:sp>
        <p:nvSpPr>
          <p:cNvPr id="14" name="Team heading">
            <a:extLst xmlns:a="http://schemas.openxmlformats.org/drawingml/2006/main">
              <a:ext uri="{FF2B5EF4-FFF2-40B4-BE49-F238E27FC236}">
                <a16:creationId xmlns:a16="http://schemas.microsoft.com/office/drawing/2014/main" id="{430584D3-4EB0-4EFF-BD1D-E964E829562F}"/>
              </a:ext>
            </a:extLst>
          </p:cNvPr>
          <p:cNvSpPr>
            <a:spLocks xmlns:a="http://schemas.openxmlformats.org/drawingml/2006/main" noGrp="1"/>
          </p:cNvSpPr>
          <p:nvPr/>
        </p:nvSpPr>
        <p:spPr>
          <a:xfrm xmlns:a="http://schemas.openxmlformats.org/drawingml/2006/main">
            <a:off x="533400" y="5057775"/>
            <a:ext cx="11125200"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rmAutofit fontScale="100000"/>
          </a:bodyPr>
          <a:lstStyle xmlns:a="http://schemas.openxmlformats.org/drawingml/2006/main"/>
          <a:p xmlns:a="http://schemas.openxmlformats.org/drawingml/2006/main">
            <a:pPr>
              <a:buNone/>
              <a:defRPr sz="1500" b="0">
                <a:solidFill>
                  <a:srgbClr val="53655C"/>
                </a:solidFill>
                <a:latin typeface="Arial"/>
                <a:ea typeface="Arial"/>
                <a:cs typeface="Arial"/>
              </a:defRPr>
            </a:pPr>
            <a:r>
              <a:rPr sz="1500" b="0">
                <a:solidFill>
                  <a:srgbClr val="53655C"/>
                </a:solidFill>
                <a:latin typeface="Arial"/>
                <a:ea typeface="Arial"/>
                <a:cs typeface="Arial"/>
              </a:rPr>
              <a:t>By Zeros and Ones</a:t>
            </a:r>
          </a:p>
        </p:txBody>
      </p:sp>
      <p:pic>
        <p:nvPicPr>
          <p:cNvPr id="52" name=""/>
          <p:cNvPicPr>
            <a:picLocks xmlns:a="http://schemas.openxmlformats.org/drawingml/2006/main" noChangeAspect="1"/>
          </p:cNvPicPr>
          <p:nvPr/>
        </p:nvPicPr>
        <p:blipFill>
          <a:blip xmlns:r="http://schemas.openxmlformats.org/officeDocument/2006/relationships" xmlns:a="http://schemas.openxmlformats.org/drawingml/2006/main" r:embed="R2931edeab0c142cd"/>
          <a:srcRect xmlns:a="http://schemas.openxmlformats.org/drawingml/2006/main" l="0" t="5331" r="0" b="5331"/>
          <a:stretch xmlns:a="http://schemas.openxmlformats.org/drawingml/2006/main">
            <a:fillRect l="0" t="0" r="0" b="0"/>
          </a:stretch>
        </p:blipFill>
        <p:spPr>
          <a:xfrm xmlns:a="http://schemas.openxmlformats.org/drawingml/2006/main">
            <a:off x="533400" y="5495925"/>
            <a:ext cx="647700" cy="771525"/>
          </a:xfrm>
          <a:prstGeom xmlns:a="http://schemas.openxmlformats.org/drawingml/2006/main" prst="rect">
            <a:avLst/>
          </a:prstGeom>
        </p:spPr>
      </p:pic>
      <p:sp>
        <p:nvSpPr>
          <p:cNvPr id="16" name="Team member 1">
            <a:extLst xmlns:a="http://schemas.openxmlformats.org/drawingml/2006/main">
              <a:ext uri="{FF2B5EF4-FFF2-40B4-BE49-F238E27FC236}">
                <a16:creationId xmlns:a16="http://schemas.microsoft.com/office/drawing/2014/main" id="{0E56383F-EA88-4F31-920C-1DD2F731F0C9}"/>
              </a:ext>
            </a:extLst>
          </p:cNvPr>
          <p:cNvSpPr>
            <a:spLocks xmlns:a="http://schemas.openxmlformats.org/drawingml/2006/main" noGrp="1"/>
          </p:cNvSpPr>
          <p:nvPr/>
        </p:nvSpPr>
        <p:spPr>
          <a:xfrm xmlns:a="http://schemas.openxmlformats.org/drawingml/2006/main">
            <a:off x="1285875" y="5514975"/>
            <a:ext cx="14478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rmAutofit fontScale="100000"/>
          </a:bodyPr>
          <a:lstStyle xmlns:a="http://schemas.openxmlformats.org/drawingml/2006/main"/>
          <a:p xmlns:a="http://schemas.openxmlformats.org/drawingml/2006/main">
            <a:pPr>
              <a:buNone/>
              <a:defRPr sz="1313" b="1">
                <a:solidFill>
                  <a:srgbClr val="173F33"/>
                </a:solidFill>
                <a:latin typeface="Arial"/>
                <a:ea typeface="Arial"/>
                <a:cs typeface="Arial"/>
              </a:defRPr>
            </a:pPr>
            <a:r>
              <a:rPr sz="1313" b="1">
                <a:solidFill>
                  <a:srgbClr val="173F33"/>
                </a:solidFill>
                <a:latin typeface="Arial"/>
                <a:ea typeface="Arial"/>
                <a:cs typeface="Arial"/>
              </a:rPr>
              <a:t>Shaik Abdul</a:t>
            </a:r>
          </a:p>
          <a:p xmlns:a="http://schemas.openxmlformats.org/drawingml/2006/main">
            <a:pPr>
              <a:buNone/>
              <a:defRPr sz="1313" b="1">
                <a:solidFill>
                  <a:srgbClr val="173F33"/>
                </a:solidFill>
                <a:latin typeface="Arial"/>
                <a:ea typeface="Arial"/>
                <a:cs typeface="Arial"/>
              </a:defRPr>
            </a:pPr>
            <a:r>
              <a:rPr sz="1313" b="1">
                <a:solidFill>
                  <a:srgbClr val="173F33"/>
                </a:solidFill>
                <a:latin typeface="Arial"/>
                <a:ea typeface="Arial"/>
                <a:cs typeface="Arial"/>
              </a:rPr>
              <a:t>Basith</a:t>
            </a:r>
          </a:p>
        </p:txBody>
      </p:sp>
      <p:sp>
        <p:nvSpPr>
          <p:cNvPr id="17" name="Team role 1">
            <a:extLst xmlns:a="http://schemas.openxmlformats.org/drawingml/2006/main">
              <a:ext uri="{FF2B5EF4-FFF2-40B4-BE49-F238E27FC236}">
                <a16:creationId xmlns:a16="http://schemas.microsoft.com/office/drawing/2014/main" id="{49A09F84-6216-4F84-9FB8-B951E9BABA2A}"/>
              </a:ext>
            </a:extLst>
          </p:cNvPr>
          <p:cNvSpPr>
            <a:spLocks xmlns:a="http://schemas.openxmlformats.org/drawingml/2006/main" noGrp="1"/>
          </p:cNvSpPr>
          <p:nvPr/>
        </p:nvSpPr>
        <p:spPr>
          <a:xfrm xmlns:a="http://schemas.openxmlformats.org/drawingml/2006/main">
            <a:off x="1285875" y="6153150"/>
            <a:ext cx="14478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rmAutofit fontScale="100000"/>
          </a:bodyPr>
          <a:lstStyle xmlns:a="http://schemas.openxmlformats.org/drawingml/2006/main"/>
          <a:p xmlns:a="http://schemas.openxmlformats.org/drawingml/2006/main">
            <a:pPr>
              <a:buNone/>
              <a:defRPr sz="1125" b="0">
                <a:solidFill>
                  <a:srgbClr val="53655C"/>
                </a:solidFill>
                <a:latin typeface="Arial"/>
                <a:ea typeface="Arial"/>
                <a:cs typeface="Arial"/>
              </a:defRPr>
            </a:pPr>
            <a:r>
              <a:rPr sz="1125" b="0">
                <a:solidFill>
                  <a:srgbClr val="53655C"/>
                </a:solidFill>
                <a:latin typeface="Arial"/>
                <a:ea typeface="Arial"/>
                <a:cs typeface="Arial"/>
              </a:rPr>
              <a:t>Technical lead</a:t>
            </a:r>
          </a:p>
        </p:txBody>
      </p:sp>
      <p:pic>
        <p:nvPicPr>
          <p:cNvPr id="55" name=""/>
          <p:cNvPicPr>
            <a:picLocks xmlns:a="http://schemas.openxmlformats.org/drawingml/2006/main" noChangeAspect="1"/>
          </p:cNvPicPr>
          <p:nvPr/>
        </p:nvPicPr>
        <p:blipFill>
          <a:blip xmlns:r="http://schemas.openxmlformats.org/officeDocument/2006/relationships" xmlns:a="http://schemas.openxmlformats.org/drawingml/2006/main" r:embed="Rfe32ed00b1fc48e5"/>
          <a:srcRect xmlns:a="http://schemas.openxmlformats.org/drawingml/2006/main" l="0" t="19104" r="0" b="19104"/>
          <a:stretch xmlns:a="http://schemas.openxmlformats.org/drawingml/2006/main">
            <a:fillRect l="0" t="0" r="0" b="0"/>
          </a:stretch>
        </p:blipFill>
        <p:spPr>
          <a:xfrm xmlns:a="http://schemas.openxmlformats.org/drawingml/2006/main">
            <a:off x="2781300" y="5495925"/>
            <a:ext cx="647700" cy="771525"/>
          </a:xfrm>
          <a:prstGeom xmlns:a="http://schemas.openxmlformats.org/drawingml/2006/main" prst="rect">
            <a:avLst/>
          </a:prstGeom>
        </p:spPr>
      </p:pic>
      <p:sp>
        <p:nvSpPr>
          <p:cNvPr id="19" name="Team member 2">
            <a:extLst xmlns:a="http://schemas.openxmlformats.org/drawingml/2006/main">
              <a:ext uri="{FF2B5EF4-FFF2-40B4-BE49-F238E27FC236}">
                <a16:creationId xmlns:a16="http://schemas.microsoft.com/office/drawing/2014/main" id="{6A5BCE61-A66B-473C-B80B-751546940D37}"/>
              </a:ext>
            </a:extLst>
          </p:cNvPr>
          <p:cNvSpPr>
            <a:spLocks xmlns:a="http://schemas.openxmlformats.org/drawingml/2006/main" noGrp="1"/>
          </p:cNvSpPr>
          <p:nvPr/>
        </p:nvSpPr>
        <p:spPr>
          <a:xfrm xmlns:a="http://schemas.openxmlformats.org/drawingml/2006/main">
            <a:off x="3533775" y="5514975"/>
            <a:ext cx="14478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rmAutofit fontScale="100000"/>
          </a:bodyPr>
          <a:lstStyle xmlns:a="http://schemas.openxmlformats.org/drawingml/2006/main"/>
          <a:p xmlns:a="http://schemas.openxmlformats.org/drawingml/2006/main">
            <a:pPr>
              <a:buNone/>
              <a:defRPr sz="1313" b="1">
                <a:solidFill>
                  <a:srgbClr val="173F33"/>
                </a:solidFill>
                <a:latin typeface="Arial"/>
                <a:ea typeface="Arial"/>
                <a:cs typeface="Arial"/>
              </a:defRPr>
            </a:pPr>
            <a:r>
              <a:rPr sz="1313" b="1">
                <a:solidFill>
                  <a:srgbClr val="173F33"/>
                </a:solidFill>
                <a:latin typeface="Arial"/>
                <a:ea typeface="Arial"/>
                <a:cs typeface="Arial"/>
              </a:rPr>
              <a:t>Shaik Muhammad</a:t>
            </a:r>
          </a:p>
          <a:p xmlns:a="http://schemas.openxmlformats.org/drawingml/2006/main">
            <a:pPr>
              <a:buNone/>
              <a:defRPr sz="1313" b="1">
                <a:solidFill>
                  <a:srgbClr val="173F33"/>
                </a:solidFill>
                <a:latin typeface="Arial"/>
                <a:ea typeface="Arial"/>
                <a:cs typeface="Arial"/>
              </a:defRPr>
            </a:pPr>
            <a:r>
              <a:rPr sz="1313" b="1">
                <a:solidFill>
                  <a:srgbClr val="173F33"/>
                </a:solidFill>
                <a:latin typeface="Arial"/>
                <a:ea typeface="Arial"/>
                <a:cs typeface="Arial"/>
              </a:rPr>
              <a:t>Awaiz</a:t>
            </a:r>
          </a:p>
        </p:txBody>
      </p:sp>
      <p:sp>
        <p:nvSpPr>
          <p:cNvPr id="20" name="Team role 2">
            <a:extLst xmlns:a="http://schemas.openxmlformats.org/drawingml/2006/main">
              <a:ext uri="{FF2B5EF4-FFF2-40B4-BE49-F238E27FC236}">
                <a16:creationId xmlns:a16="http://schemas.microsoft.com/office/drawing/2014/main" id="{C7103BBF-E9A8-4A2E-8925-A22CBB18E2C6}"/>
              </a:ext>
            </a:extLst>
          </p:cNvPr>
          <p:cNvSpPr>
            <a:spLocks xmlns:a="http://schemas.openxmlformats.org/drawingml/2006/main" noGrp="1"/>
          </p:cNvSpPr>
          <p:nvPr/>
        </p:nvSpPr>
        <p:spPr>
          <a:xfrm xmlns:a="http://schemas.openxmlformats.org/drawingml/2006/main">
            <a:off x="3533775" y="6153150"/>
            <a:ext cx="14478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rmAutofit fontScale="100000"/>
          </a:bodyPr>
          <a:lstStyle xmlns:a="http://schemas.openxmlformats.org/drawingml/2006/main"/>
          <a:p xmlns:a="http://schemas.openxmlformats.org/drawingml/2006/main">
            <a:pPr>
              <a:buNone/>
              <a:defRPr sz="1125" b="0">
                <a:solidFill>
                  <a:srgbClr val="53655C"/>
                </a:solidFill>
                <a:latin typeface="Arial"/>
                <a:ea typeface="Arial"/>
                <a:cs typeface="Arial"/>
              </a:defRPr>
            </a:pPr>
            <a:r>
              <a:rPr sz="1125" b="0">
                <a:solidFill>
                  <a:srgbClr val="53655C"/>
                </a:solidFill>
                <a:latin typeface="Arial"/>
                <a:ea typeface="Arial"/>
                <a:cs typeface="Arial"/>
              </a:rPr>
              <a:t>Technical member</a:t>
            </a:r>
          </a:p>
        </p:txBody>
      </p:sp>
      <p:sp>
        <p:nvSpPr>
          <p:cNvPr id="21" name="Photo space for Dr Sharada&#10;Vinod Kutty">
            <a:extLst xmlns:a="http://schemas.openxmlformats.org/drawingml/2006/main">
              <a:ext uri="{FF2B5EF4-FFF2-40B4-BE49-F238E27FC236}">
                <a16:creationId xmlns:a16="http://schemas.microsoft.com/office/drawing/2014/main" id="{A953BBD6-B7E3-4CA6-83F3-5B947A87C0F5}"/>
              </a:ext>
            </a:extLst>
          </p:cNvPr>
          <p:cNvSpPr>
            <a:spLocks xmlns:a="http://schemas.openxmlformats.org/drawingml/2006/main" noGrp="1"/>
          </p:cNvSpPr>
          <p:nvPr/>
        </p:nvSpPr>
        <p:spPr>
          <a:xfrm xmlns:a="http://schemas.openxmlformats.org/drawingml/2006/main">
            <a:off x="5029200" y="5495925"/>
            <a:ext cx="647700" cy="771525"/>
          </a:xfrm>
          <a:prstGeom xmlns:a="http://schemas.openxmlformats.org/drawingml/2006/main" prst="rect">
            <a:avLst/>
          </a:prstGeom>
          <a:solidFill xmlns:a="http://schemas.openxmlformats.org/drawingml/2006/main">
            <a:srgbClr val="F0ECE2"/>
          </a:solidFill>
          <a:ln xmlns:a="http://schemas.openxmlformats.org/drawingml/2006/main" w="9525">
            <a:solidFill>
              <a:srgbClr val="D9D4C7"/>
            </a:solidFill>
          </a:ln>
        </p:spPr>
      </p:sp>
      <p:sp>
        <p:nvSpPr>
          <p:cNvPr id="22" name="Team member 3">
            <a:extLst xmlns:a="http://schemas.openxmlformats.org/drawingml/2006/main">
              <a:ext uri="{FF2B5EF4-FFF2-40B4-BE49-F238E27FC236}">
                <a16:creationId xmlns:a16="http://schemas.microsoft.com/office/drawing/2014/main" id="{78B03224-4566-452F-8501-D3DF4A005F49}"/>
              </a:ext>
            </a:extLst>
          </p:cNvPr>
          <p:cNvSpPr>
            <a:spLocks xmlns:a="http://schemas.openxmlformats.org/drawingml/2006/main" noGrp="1"/>
          </p:cNvSpPr>
          <p:nvPr/>
        </p:nvSpPr>
        <p:spPr>
          <a:xfrm xmlns:a="http://schemas.openxmlformats.org/drawingml/2006/main">
            <a:off x="5781675" y="5514975"/>
            <a:ext cx="14478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rmAutofit fontScale="100000"/>
          </a:bodyPr>
          <a:lstStyle xmlns:a="http://schemas.openxmlformats.org/drawingml/2006/main"/>
          <a:p xmlns:a="http://schemas.openxmlformats.org/drawingml/2006/main">
            <a:pPr>
              <a:buNone/>
              <a:defRPr sz="1313" b="1">
                <a:solidFill>
                  <a:srgbClr val="173F33"/>
                </a:solidFill>
                <a:latin typeface="Arial"/>
                <a:ea typeface="Arial"/>
                <a:cs typeface="Arial"/>
              </a:defRPr>
            </a:pPr>
            <a:r>
              <a:rPr sz="1313" b="1">
                <a:solidFill>
                  <a:srgbClr val="173F33"/>
                </a:solidFill>
                <a:latin typeface="Arial"/>
                <a:ea typeface="Arial"/>
                <a:cs typeface="Arial"/>
              </a:rPr>
              <a:t>Dr Sharada</a:t>
            </a:r>
          </a:p>
          <a:p xmlns:a="http://schemas.openxmlformats.org/drawingml/2006/main">
            <a:pPr>
              <a:buNone/>
              <a:defRPr sz="1313" b="1">
                <a:solidFill>
                  <a:srgbClr val="173F33"/>
                </a:solidFill>
                <a:latin typeface="Arial"/>
                <a:ea typeface="Arial"/>
                <a:cs typeface="Arial"/>
              </a:defRPr>
            </a:pPr>
            <a:r>
              <a:rPr sz="1313" b="1">
                <a:solidFill>
                  <a:srgbClr val="173F33"/>
                </a:solidFill>
                <a:latin typeface="Arial"/>
                <a:ea typeface="Arial"/>
                <a:cs typeface="Arial"/>
              </a:rPr>
              <a:t>Vinod Kutty</a:t>
            </a:r>
          </a:p>
        </p:txBody>
      </p:sp>
      <p:sp>
        <p:nvSpPr>
          <p:cNvPr id="23" name="Team role 3">
            <a:extLst xmlns:a="http://schemas.openxmlformats.org/drawingml/2006/main">
              <a:ext uri="{FF2B5EF4-FFF2-40B4-BE49-F238E27FC236}">
                <a16:creationId xmlns:a16="http://schemas.microsoft.com/office/drawing/2014/main" id="{7E172EEF-6C21-43B8-BCE4-8FA91A807141}"/>
              </a:ext>
            </a:extLst>
          </p:cNvPr>
          <p:cNvSpPr>
            <a:spLocks xmlns:a="http://schemas.openxmlformats.org/drawingml/2006/main" noGrp="1"/>
          </p:cNvSpPr>
          <p:nvPr/>
        </p:nvSpPr>
        <p:spPr>
          <a:xfrm xmlns:a="http://schemas.openxmlformats.org/drawingml/2006/main">
            <a:off x="5781675" y="6153150"/>
            <a:ext cx="14478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rmAutofit fontScale="100000"/>
          </a:bodyPr>
          <a:lstStyle xmlns:a="http://schemas.openxmlformats.org/drawingml/2006/main"/>
          <a:p xmlns:a="http://schemas.openxmlformats.org/drawingml/2006/main">
            <a:pPr>
              <a:buNone/>
              <a:defRPr sz="1125" b="0">
                <a:solidFill>
                  <a:srgbClr val="53655C"/>
                </a:solidFill>
                <a:latin typeface="Arial"/>
                <a:ea typeface="Arial"/>
                <a:cs typeface="Arial"/>
              </a:defRPr>
            </a:pPr>
            <a:r>
              <a:rPr sz="1125" b="0">
                <a:solidFill>
                  <a:srgbClr val="53655C"/>
                </a:solidFill>
                <a:latin typeface="Arial"/>
                <a:ea typeface="Arial"/>
                <a:cs typeface="Arial"/>
              </a:rPr>
              <a:t>Doctor partner</a:t>
            </a:r>
          </a:p>
        </p:txBody>
      </p:sp>
      <p:pic>
        <p:nvPicPr>
          <p:cNvPr id="61" name="Portrait of Dr Sujay Halkur Shankar"/>
          <p:cNvPicPr>
            <a:picLocks xmlns:a="http://schemas.openxmlformats.org/drawingml/2006/main" noChangeAspect="1"/>
          </p:cNvPicPr>
          <p:nvPr/>
        </p:nvPicPr>
        <p:blipFill>
          <a:blip xmlns:r="http://schemas.openxmlformats.org/officeDocument/2006/relationships" xmlns:a="http://schemas.openxmlformats.org/drawingml/2006/main" r:embed="R81ebbfc1606f4cc8"/>
          <a:srcRect xmlns:a="http://schemas.openxmlformats.org/drawingml/2006/main" l="12868" t="13793" r="12868" b="19793"/>
          <a:stretch xmlns:a="http://schemas.openxmlformats.org/drawingml/2006/main">
            <a:fillRect l="0" t="0" r="0" b="0"/>
          </a:stretch>
        </p:blipFill>
        <p:spPr>
          <a:xfrm xmlns:a="http://schemas.openxmlformats.org/drawingml/2006/main">
            <a:off x="7277100" y="5495925"/>
            <a:ext cx="647700" cy="771525"/>
          </a:xfrm>
          <a:prstGeom xmlns:a="http://schemas.openxmlformats.org/drawingml/2006/main" prst="rect">
            <a:avLst/>
          </a:prstGeom>
        </p:spPr>
      </p:pic>
      <p:sp>
        <p:nvSpPr>
          <p:cNvPr id="25" name="Team member 4">
            <a:extLst xmlns:a="http://schemas.openxmlformats.org/drawingml/2006/main">
              <a:ext uri="{FF2B5EF4-FFF2-40B4-BE49-F238E27FC236}">
                <a16:creationId xmlns:a16="http://schemas.microsoft.com/office/drawing/2014/main" id="{904A1194-27D0-493A-828D-2917527FA6F7}"/>
              </a:ext>
            </a:extLst>
          </p:cNvPr>
          <p:cNvSpPr>
            <a:spLocks xmlns:a="http://schemas.openxmlformats.org/drawingml/2006/main" noGrp="1"/>
          </p:cNvSpPr>
          <p:nvPr/>
        </p:nvSpPr>
        <p:spPr>
          <a:xfrm xmlns:a="http://schemas.openxmlformats.org/drawingml/2006/main">
            <a:off x="8029575" y="5514975"/>
            <a:ext cx="14478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rmAutofit fontScale="100000"/>
          </a:bodyPr>
          <a:lstStyle xmlns:a="http://schemas.openxmlformats.org/drawingml/2006/main"/>
          <a:p xmlns:a="http://schemas.openxmlformats.org/drawingml/2006/main">
            <a:pPr>
              <a:buNone/>
              <a:defRPr sz="1313" b="1">
                <a:solidFill>
                  <a:srgbClr val="173F33"/>
                </a:solidFill>
                <a:latin typeface="Arial"/>
                <a:ea typeface="Arial"/>
                <a:cs typeface="Arial"/>
              </a:defRPr>
            </a:pPr>
            <a:r>
              <a:rPr sz="1313" b="1">
                <a:solidFill>
                  <a:srgbClr val="173F33"/>
                </a:solidFill>
                <a:latin typeface="Arial"/>
                <a:ea typeface="Arial"/>
                <a:cs typeface="Arial"/>
              </a:rPr>
              <a:t>Dr Sujay</a:t>
            </a:r>
          </a:p>
          <a:p xmlns:a="http://schemas.openxmlformats.org/drawingml/2006/main">
            <a:pPr>
              <a:buNone/>
              <a:defRPr sz="1313" b="1">
                <a:solidFill>
                  <a:srgbClr val="173F33"/>
                </a:solidFill>
                <a:latin typeface="Arial"/>
                <a:ea typeface="Arial"/>
                <a:cs typeface="Arial"/>
              </a:defRPr>
            </a:pPr>
            <a:r>
              <a:rPr sz="1313" b="1">
                <a:solidFill>
                  <a:srgbClr val="173F33"/>
                </a:solidFill>
                <a:latin typeface="Arial"/>
                <a:ea typeface="Arial"/>
                <a:cs typeface="Arial"/>
              </a:rPr>
              <a:t>Halkur Shankar</a:t>
            </a:r>
          </a:p>
        </p:txBody>
      </p:sp>
      <p:sp>
        <p:nvSpPr>
          <p:cNvPr id="26" name="Team role 4">
            <a:extLst xmlns:a="http://schemas.openxmlformats.org/drawingml/2006/main">
              <a:ext uri="{FF2B5EF4-FFF2-40B4-BE49-F238E27FC236}">
                <a16:creationId xmlns:a16="http://schemas.microsoft.com/office/drawing/2014/main" id="{5D05C0FB-7723-4899-AE8B-ED6EC79BB077}"/>
              </a:ext>
            </a:extLst>
          </p:cNvPr>
          <p:cNvSpPr>
            <a:spLocks xmlns:a="http://schemas.openxmlformats.org/drawingml/2006/main" noGrp="1"/>
          </p:cNvSpPr>
          <p:nvPr/>
        </p:nvSpPr>
        <p:spPr>
          <a:xfrm xmlns:a="http://schemas.openxmlformats.org/drawingml/2006/main">
            <a:off x="8029575" y="6153150"/>
            <a:ext cx="14478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rmAutofit fontScale="100000"/>
          </a:bodyPr>
          <a:lstStyle xmlns:a="http://schemas.openxmlformats.org/drawingml/2006/main"/>
          <a:p xmlns:a="http://schemas.openxmlformats.org/drawingml/2006/main">
            <a:pPr>
              <a:buNone/>
              <a:defRPr sz="1125" b="0">
                <a:solidFill>
                  <a:srgbClr val="53655C"/>
                </a:solidFill>
                <a:latin typeface="Arial"/>
                <a:ea typeface="Arial"/>
                <a:cs typeface="Arial"/>
              </a:defRPr>
            </a:pPr>
            <a:r>
              <a:rPr sz="1125" b="0">
                <a:solidFill>
                  <a:srgbClr val="53655C"/>
                </a:solidFill>
                <a:latin typeface="Arial"/>
                <a:ea typeface="Arial"/>
                <a:cs typeface="Arial"/>
              </a:rPr>
              <a:t>Clinician</a:t>
            </a:r>
          </a:p>
        </p:txBody>
      </p:sp>
      <p:pic>
        <p:nvPicPr>
          <p:cNvPr id="64" name="Portrait of Shirin Ayub"/>
          <p:cNvPicPr>
            <a:picLocks xmlns:a="http://schemas.openxmlformats.org/drawingml/2006/main" noChangeAspect="1"/>
          </p:cNvPicPr>
          <p:nvPr/>
        </p:nvPicPr>
        <p:blipFill>
          <a:blip xmlns:r="http://schemas.openxmlformats.org/officeDocument/2006/relationships" xmlns:a="http://schemas.openxmlformats.org/drawingml/2006/main" r:embed="R6d0130dd57e84c18"/>
          <a:srcRect xmlns:a="http://schemas.openxmlformats.org/drawingml/2006/main" l="22778" t="32188" r="22778" b="31312"/>
          <a:stretch xmlns:a="http://schemas.openxmlformats.org/drawingml/2006/main">
            <a:fillRect l="0" t="0" r="0" b="0"/>
          </a:stretch>
        </p:blipFill>
        <p:spPr>
          <a:xfrm xmlns:a="http://schemas.openxmlformats.org/drawingml/2006/main">
            <a:off x="9525000" y="5495925"/>
            <a:ext cx="647700" cy="771525"/>
          </a:xfrm>
          <a:prstGeom xmlns:a="http://schemas.openxmlformats.org/drawingml/2006/main" prst="rect">
            <a:avLst/>
          </a:prstGeom>
        </p:spPr>
      </p:pic>
      <p:sp>
        <p:nvSpPr>
          <p:cNvPr id="28" name="Team member 5">
            <a:extLst xmlns:a="http://schemas.openxmlformats.org/drawingml/2006/main">
              <a:ext uri="{FF2B5EF4-FFF2-40B4-BE49-F238E27FC236}">
                <a16:creationId xmlns:a16="http://schemas.microsoft.com/office/drawing/2014/main" id="{8AAE5AC2-40FB-44B2-99D6-A8C0D8882653}"/>
              </a:ext>
            </a:extLst>
          </p:cNvPr>
          <p:cNvSpPr>
            <a:spLocks xmlns:a="http://schemas.openxmlformats.org/drawingml/2006/main" noGrp="1"/>
          </p:cNvSpPr>
          <p:nvPr/>
        </p:nvSpPr>
        <p:spPr>
          <a:xfrm xmlns:a="http://schemas.openxmlformats.org/drawingml/2006/main">
            <a:off x="10277475" y="5514975"/>
            <a:ext cx="14478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rmAutofit fontScale="100000"/>
          </a:bodyPr>
          <a:lstStyle xmlns:a="http://schemas.openxmlformats.org/drawingml/2006/main"/>
          <a:p xmlns:a="http://schemas.openxmlformats.org/drawingml/2006/main">
            <a:pPr>
              <a:buNone/>
              <a:defRPr sz="1313" b="1">
                <a:solidFill>
                  <a:srgbClr val="173F33"/>
                </a:solidFill>
                <a:latin typeface="Arial"/>
                <a:ea typeface="Arial"/>
                <a:cs typeface="Arial"/>
              </a:defRPr>
            </a:pPr>
            <a:r>
              <a:rPr sz="1313" b="1">
                <a:solidFill>
                  <a:srgbClr val="173F33"/>
                </a:solidFill>
                <a:latin typeface="Arial"/>
                <a:ea typeface="Arial"/>
                <a:cs typeface="Arial"/>
              </a:rPr>
              <a:t>Shirin Ayub</a:t>
            </a:r>
          </a:p>
        </p:txBody>
      </p:sp>
      <p:sp>
        <p:nvSpPr>
          <p:cNvPr id="29" name="Team role 5">
            <a:extLst xmlns:a="http://schemas.openxmlformats.org/drawingml/2006/main">
              <a:ext uri="{FF2B5EF4-FFF2-40B4-BE49-F238E27FC236}">
                <a16:creationId xmlns:a16="http://schemas.microsoft.com/office/drawing/2014/main" id="{C1197E28-0052-4E00-B161-8E7357A270C4}"/>
              </a:ext>
            </a:extLst>
          </p:cNvPr>
          <p:cNvSpPr>
            <a:spLocks xmlns:a="http://schemas.openxmlformats.org/drawingml/2006/main" noGrp="1"/>
          </p:cNvSpPr>
          <p:nvPr/>
        </p:nvSpPr>
        <p:spPr>
          <a:xfrm xmlns:a="http://schemas.openxmlformats.org/drawingml/2006/main">
            <a:off x="10277475" y="6153150"/>
            <a:ext cx="14478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rmAutofit fontScale="100000"/>
          </a:bodyPr>
          <a:lstStyle xmlns:a="http://schemas.openxmlformats.org/drawingml/2006/main"/>
          <a:p xmlns:a="http://schemas.openxmlformats.org/drawingml/2006/main">
            <a:pPr>
              <a:buNone/>
              <a:defRPr sz="1125" b="0">
                <a:solidFill>
                  <a:srgbClr val="53655C"/>
                </a:solidFill>
                <a:latin typeface="Arial"/>
                <a:ea typeface="Arial"/>
                <a:cs typeface="Arial"/>
              </a:defRPr>
            </a:pPr>
            <a:r>
              <a:rPr sz="1125" b="0">
                <a:solidFill>
                  <a:srgbClr val="53655C"/>
                </a:solidFill>
                <a:latin typeface="Arial"/>
                <a:ea typeface="Arial"/>
                <a:cs typeface="Arial"/>
              </a:rPr>
              <a:t>Medical student</a:t>
            </a:r>
          </a:p>
        </p:txBody>
      </p:sp>
    </p:spTree>
    <p:extLst>
      <p:ext uri="{BB962C8B-B14F-4D97-AF65-F5344CB8AC3E}">
        <p14:creationId xmlns:p14="http://schemas.microsoft.com/office/powerpoint/2010/main" val="1441420215"/>
      </p:ext>
    </p:extLst>
  </p:cSld>
</p:sld>
</file>

<file path=ppt/slides/slide2.xml><?xml version="1.0" encoding="utf-8"?>
<p:sld xmlns:p="http://schemas.openxmlformats.org/presentationml/2006/main">
  <p:cSld>
    <p:bg>
      <p:bgPr>
        <a:solidFill xmlns:a="http://schemas.openxmlformats.org/drawingml/2006/main">
          <a:srgbClr val="073F49"/>
        </a:solidFill>
      </p:bgPr>
    </p:bg>
    <p:spTree>
      <p:nvGrpSpPr>
        <p:cNvPr id="1" name=""/>
        <p:cNvGrpSpPr/>
        <p:nvPr/>
      </p:nvGrpSpPr>
      <p:grpSpPr>
        <a:xfrm xmlns:a="http://schemas.openxmlformats.org/drawingml/2006/main"/>
      </p:grpSpPr>
      <p:sp>
        <p:nvSpPr>
          <p:cNvPr id="16" name="Slide title">
            <a:extLst xmlns:a="http://schemas.openxmlformats.org/drawingml/2006/main">
              <a:ext uri="{FF2B5EF4-FFF2-40B4-BE49-F238E27FC236}">
                <a16:creationId xmlns:a16="http://schemas.microsoft.com/office/drawing/2014/main" id="{4D2290DF-E9AD-4BE2-ABE4-CEE99251BA43}"/>
              </a:ext>
            </a:extLst>
          </p:cNvPr>
          <p:cNvSpPr>
            <a:spLocks xmlns:a="http://schemas.openxmlformats.org/drawingml/2006/main" noGrp="1"/>
          </p:cNvSpPr>
          <p:nvPr/>
        </p:nvSpPr>
        <p:spPr>
          <a:xfrm xmlns:a="http://schemas.openxmlformats.org/drawingml/2006/main">
            <a:off x="533400" y="361950"/>
            <a:ext cx="1112520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rmAutofit fontScale="100000"/>
          </a:bodyPr>
          <a:lstStyle xmlns:a="http://schemas.openxmlformats.org/drawingml/2006/main"/>
          <a:p xmlns:a="http://schemas.openxmlformats.org/drawingml/2006/main">
            <a:pPr>
              <a:buNone/>
              <a:defRPr sz="3075" b="1">
                <a:solidFill>
                  <a:srgbClr val="FFFFFF"/>
                </a:solidFill>
                <a:latin typeface="Arial"/>
                <a:ea typeface="Arial"/>
                <a:cs typeface="Arial"/>
              </a:defRPr>
            </a:pPr>
            <a:r>
              <a:rPr sz="3075" b="1">
                <a:solidFill>
                  <a:srgbClr val="FFFFFF"/>
                </a:solidFill>
                <a:latin typeface="Arial"/>
                <a:ea typeface="Arial"/>
                <a:cs typeface="Arial"/>
              </a:rPr>
              <a:t>A family is asked to decide without knowing her wishes</a:t>
            </a:r>
          </a:p>
        </p:txBody>
      </p:sp>
      <p:sp>
        <p:nvSpPr>
          <p:cNvPr id="2" name="Illustrative patient">
            <a:extLst xmlns:a="http://schemas.openxmlformats.org/drawingml/2006/main">
              <a:ext uri="{FF2B5EF4-FFF2-40B4-BE49-F238E27FC236}">
                <a16:creationId xmlns:a16="http://schemas.microsoft.com/office/drawing/2014/main" id="{E46F361C-3ED0-467E-9ACA-4E243C0DC4A4}"/>
              </a:ext>
            </a:extLst>
          </p:cNvPr>
          <p:cNvSpPr>
            <a:spLocks xmlns:a="http://schemas.openxmlformats.org/drawingml/2006/main" noGrp="1"/>
          </p:cNvSpPr>
          <p:nvPr/>
        </p:nvSpPr>
        <p:spPr>
          <a:xfrm xmlns:a="http://schemas.openxmlformats.org/drawingml/2006/main">
            <a:off x="533400" y="1133475"/>
            <a:ext cx="11125200" cy="733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rmAutofit fontScale="100000"/>
          </a:bodyPr>
          <a:lstStyle xmlns:a="http://schemas.openxmlformats.org/drawingml/2006/main"/>
          <a:p xmlns:a="http://schemas.openxmlformats.org/drawingml/2006/main">
            <a:pPr>
              <a:buNone/>
              <a:defRPr sz="2175" b="1">
                <a:solidFill>
                  <a:srgbClr val="FFFFFF"/>
                </a:solidFill>
                <a:latin typeface="Arial"/>
                <a:ea typeface="Arial"/>
                <a:cs typeface="Arial"/>
              </a:defRPr>
            </a:pPr>
            <a:r>
              <a:rPr sz="2175" b="1">
                <a:solidFill>
                  <a:srgbClr val="FFFFFF"/>
                </a:solidFill>
                <a:latin typeface="Arial"/>
                <a:ea typeface="Arial"/>
                <a:cs typeface="Arial"/>
              </a:rPr>
              <a:t>A 62-year-old woman with advanced breast cancer receives best supportive care.</a:t>
            </a:r>
          </a:p>
        </p:txBody>
      </p:sp>
      <p:pic>
        <p:nvPicPr>
          <p:cNvPr id="23" name=""/>
          <p:cNvPicPr>
            <a:picLocks xmlns:a="http://schemas.openxmlformats.org/drawingml/2006/main" noChangeAspect="1"/>
          </p:cNvPicPr>
          <p:nvPr/>
        </p:nvPicPr>
        <p:blipFill>
          <a:blip xmlns:r="http://schemas.openxmlformats.org/officeDocument/2006/relationships" xmlns:a="http://schemas.openxmlformats.org/drawingml/2006/main" r:embed="Re59d33377d1c4f92"/>
          <a:srcRect xmlns:a="http://schemas.openxmlformats.org/drawingml/2006/main" l="8449" t="0" r="8449" b="0"/>
          <a:stretch xmlns:a="http://schemas.openxmlformats.org/drawingml/2006/main">
            <a:fillRect l="0" t="0" r="0" b="0"/>
          </a:stretch>
        </p:blipFill>
        <p:spPr>
          <a:xfrm xmlns:a="http://schemas.openxmlformats.org/drawingml/2006/main">
            <a:off x="533400" y="2076822"/>
            <a:ext cx="5219700" cy="3466355"/>
          </a:xfrm>
          <a:prstGeom xmlns:a="http://schemas.openxmlformats.org/drawingml/2006/main" prst="rect">
            <a:avLst/>
          </a:prstGeom>
        </p:spPr>
      </p:pic>
      <p:sp>
        <p:nvSpPr>
          <p:cNvPr id="4" name="Care photo context">
            <a:extLst xmlns:a="http://schemas.openxmlformats.org/drawingml/2006/main">
              <a:ext uri="{FF2B5EF4-FFF2-40B4-BE49-F238E27FC236}">
                <a16:creationId xmlns:a16="http://schemas.microsoft.com/office/drawing/2014/main" id="{5606414A-611B-4F76-BD0E-F83728AFE8B8}"/>
              </a:ext>
            </a:extLst>
          </p:cNvPr>
          <p:cNvSpPr>
            <a:spLocks xmlns:a="http://schemas.openxmlformats.org/drawingml/2006/main" noGrp="1"/>
          </p:cNvSpPr>
          <p:nvPr/>
        </p:nvSpPr>
        <p:spPr>
          <a:xfrm xmlns:a="http://schemas.openxmlformats.org/drawingml/2006/main">
            <a:off x="533400" y="5648325"/>
            <a:ext cx="5219700" cy="352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rmAutofit fontScale="100000"/>
          </a:bodyPr>
          <a:lstStyle xmlns:a="http://schemas.openxmlformats.org/drawingml/2006/main"/>
          <a:p xmlns:a="http://schemas.openxmlformats.org/drawingml/2006/main">
            <a:pPr>
              <a:buNone/>
              <a:defRPr sz="1163" b="0">
                <a:solidFill>
                  <a:srgbClr val="DAEDEF"/>
                </a:solidFill>
                <a:latin typeface="Arial"/>
                <a:ea typeface="Arial"/>
                <a:cs typeface="Arial"/>
              </a:defRPr>
            </a:pPr>
            <a:r>
              <a:rPr sz="1163" b="0">
                <a:solidFill>
                  <a:srgbClr val="DAEDEF"/>
                </a:solidFill>
                <a:latin typeface="Arial"/>
                <a:ea typeface="Arial"/>
                <a:cs typeface="Arial"/>
              </a:rPr>
              <a:t>Illustrative consultation photo.</a:t>
            </a:r>
          </a:p>
        </p:txBody>
      </p:sp>
      <p:pic>
        <p:nvPicPr>
          <p:cNvPr id="25" name=""/>
          <p:cNvPicPr>
            <a:picLocks xmlns:a="http://schemas.openxmlformats.org/drawingml/2006/main" noChangeAspect="1"/>
          </p:cNvPicPr>
          <p:nvPr/>
        </p:nvPicPr>
        <p:blipFill>
          <a:blip xmlns:r="http://schemas.openxmlformats.org/officeDocument/2006/relationships" xmlns:a="http://schemas.openxmlformats.org/drawingml/2006/main" r:embed="Rf05ea1b0e0d746e1">
            <a:extLst>
              <a:ext uri="{96DAC541-7B7A-43D3-8B79-37D633B846F1}">
                <asvg:svgBlip xmlns:asvg="http://schemas.microsoft.com/office/drawing/2016/SVG/main" r:embed="R4b77d3e6a2a04a0f"/>
              </a:ext>
            </a:extLst>
          </a:blip>
          <a:stretch xmlns:a="http://schemas.openxmlformats.org/drawingml/2006/main"/>
        </p:blipFill>
        <p:spPr>
          <a:xfrm xmlns:a="http://schemas.openxmlformats.org/drawingml/2006/main">
            <a:off x="6191250" y="1990725"/>
            <a:ext cx="381000" cy="381000"/>
          </a:xfrm>
          <a:prstGeom xmlns:a="http://schemas.openxmlformats.org/drawingml/2006/main" prst="rect">
            <a:avLst/>
          </a:prstGeom>
        </p:spPr>
      </p:pic>
      <p:sp>
        <p:nvSpPr>
          <p:cNvPr id="6" name="Story step 1">
            <a:extLst xmlns:a="http://schemas.openxmlformats.org/drawingml/2006/main">
              <a:ext uri="{FF2B5EF4-FFF2-40B4-BE49-F238E27FC236}">
                <a16:creationId xmlns:a16="http://schemas.microsoft.com/office/drawing/2014/main" id="{E1BFA0F2-6D23-43E5-A8E7-E7D34B565ABC}"/>
              </a:ext>
            </a:extLst>
          </p:cNvPr>
          <p:cNvSpPr>
            <a:spLocks xmlns:a="http://schemas.openxmlformats.org/drawingml/2006/main" noGrp="1"/>
          </p:cNvSpPr>
          <p:nvPr/>
        </p:nvSpPr>
        <p:spPr>
          <a:xfrm xmlns:a="http://schemas.openxmlformats.org/drawingml/2006/main">
            <a:off x="6753225" y="1990725"/>
            <a:ext cx="4905375" cy="400050"/>
          </a:xfrm>
          <a:prstGeom xmlns:a="http://schemas.openxmlformats.org/drawingml/2006/main" prst="roundRect">
            <a:avLst>
              <a:gd name="adj" fmla="val 28571"/>
            </a:avLst>
          </a:prstGeom>
          <a:solidFill xmlns:a="http://schemas.openxmlformats.org/drawingml/2006/main">
            <a:srgbClr val="36E6C7"/>
          </a:solidFill>
          <a:ln xmlns:a="http://schemas.openxmlformats.org/drawingml/2006/main" w="0">
            <a:noFill/>
          </a:ln>
        </p:spPr>
        <p:txBody>
          <a:bodyPr xmlns:a="http://schemas.openxmlformats.org/drawingml/2006/main" wrap="square" lIns="0" tIns="0" rIns="0" bIns="0">
            <a:normAutofit fontScale="100000"/>
          </a:bodyPr>
          <a:lstStyle xmlns:a="http://schemas.openxmlformats.org/drawingml/2006/main"/>
          <a:p xmlns:a="http://schemas.openxmlformats.org/drawingml/2006/main">
            <a:pPr>
              <a:buNone/>
              <a:defRPr sz="2100" b="1">
                <a:solidFill>
                  <a:srgbClr val="FFD154"/>
                </a:solidFill>
                <a:latin typeface="Arial"/>
                <a:ea typeface="Arial"/>
                <a:cs typeface="Arial"/>
              </a:defRPr>
            </a:pPr>
            <a:r>
              <a:rPr sz="2100" b="1">
                <a:solidFill>
                  <a:srgbClr val="073F49"/>
                </a:solidFill>
                <a:latin typeface="Arial"/>
                <a:ea typeface="Arial"/>
                <a:cs typeface="Arial"/>
              </a:rPr>
              <a:t>At the clinic</a:t>
            </a:r>
          </a:p>
        </p:txBody>
      </p:sp>
      <p:sp>
        <p:nvSpPr>
          <p:cNvPr id="7" name="Story step 1 detail">
            <a:extLst xmlns:a="http://schemas.openxmlformats.org/drawingml/2006/main">
              <a:ext uri="{FF2B5EF4-FFF2-40B4-BE49-F238E27FC236}">
                <a16:creationId xmlns:a16="http://schemas.microsoft.com/office/drawing/2014/main" id="{E18B961B-9ED7-4410-9AD0-7A14D2927D2A}"/>
              </a:ext>
            </a:extLst>
          </p:cNvPr>
          <p:cNvSpPr>
            <a:spLocks xmlns:a="http://schemas.openxmlformats.org/drawingml/2006/main" noGrp="1"/>
          </p:cNvSpPr>
          <p:nvPr/>
        </p:nvSpPr>
        <p:spPr>
          <a:xfrm xmlns:a="http://schemas.openxmlformats.org/drawingml/2006/main">
            <a:off x="6753225" y="2486025"/>
            <a:ext cx="4905375"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rmAutofit fontScale="100000"/>
          </a:bodyPr>
          <a:lstStyle xmlns:a="http://schemas.openxmlformats.org/drawingml/2006/main"/>
          <a:p xmlns:a="http://schemas.openxmlformats.org/drawingml/2006/main">
            <a:pPr>
              <a:buNone/>
              <a:defRPr sz="1725" b="0">
                <a:solidFill>
                  <a:srgbClr val="FFFFFF"/>
                </a:solidFill>
                <a:latin typeface="Arial"/>
                <a:ea typeface="Arial"/>
                <a:cs typeface="Arial"/>
              </a:defRPr>
            </a:pPr>
            <a:r>
              <a:rPr sz="1725" b="0">
                <a:solidFill>
                  <a:srgbClr val="FFFFFF"/>
                </a:solidFill>
                <a:latin typeface="Arial"/>
                <a:ea typeface="Arial"/>
                <a:cs typeface="Arial"/>
              </a:rPr>
              <a:t>Her doctor discusses her wishes. Only her husband attends.</a:t>
            </a:r>
          </a:p>
        </p:txBody>
      </p:sp>
      <p:pic>
        <p:nvPicPr>
          <p:cNvPr id="28" name=""/>
          <p:cNvPicPr>
            <a:picLocks xmlns:a="http://schemas.openxmlformats.org/drawingml/2006/main" noChangeAspect="1"/>
          </p:cNvPicPr>
          <p:nvPr/>
        </p:nvPicPr>
        <p:blipFill>
          <a:blip xmlns:r="http://schemas.openxmlformats.org/officeDocument/2006/relationships" xmlns:a="http://schemas.openxmlformats.org/drawingml/2006/main" r:embed="Rcaab875757f345aa">
            <a:extLst>
              <a:ext uri="{96DAC541-7B7A-43D3-8B79-37D633B846F1}">
                <asvg:svgBlip xmlns:asvg="http://schemas.microsoft.com/office/drawing/2016/SVG/main" r:embed="Rbfabd92508454345"/>
              </a:ext>
            </a:extLst>
          </a:blip>
          <a:stretch xmlns:a="http://schemas.openxmlformats.org/drawingml/2006/main"/>
        </p:blipFill>
        <p:spPr>
          <a:xfrm xmlns:a="http://schemas.openxmlformats.org/drawingml/2006/main">
            <a:off x="6191250" y="3371850"/>
            <a:ext cx="381000" cy="381000"/>
          </a:xfrm>
          <a:prstGeom xmlns:a="http://schemas.openxmlformats.org/drawingml/2006/main" prst="rect">
            <a:avLst/>
          </a:prstGeom>
        </p:spPr>
      </p:pic>
      <p:sp>
        <p:nvSpPr>
          <p:cNvPr id="9" name="Story step 2">
            <a:extLst xmlns:a="http://schemas.openxmlformats.org/drawingml/2006/main">
              <a:ext uri="{FF2B5EF4-FFF2-40B4-BE49-F238E27FC236}">
                <a16:creationId xmlns:a16="http://schemas.microsoft.com/office/drawing/2014/main" id="{EEFC35A6-3BF3-423E-B3B2-91B0239D9197}"/>
              </a:ext>
            </a:extLst>
          </p:cNvPr>
          <p:cNvSpPr>
            <a:spLocks xmlns:a="http://schemas.openxmlformats.org/drawingml/2006/main" noGrp="1"/>
          </p:cNvSpPr>
          <p:nvPr/>
        </p:nvSpPr>
        <p:spPr>
          <a:xfrm xmlns:a="http://schemas.openxmlformats.org/drawingml/2006/main">
            <a:off x="6753225" y="3371850"/>
            <a:ext cx="4905375" cy="400050"/>
          </a:xfrm>
          <a:prstGeom xmlns:a="http://schemas.openxmlformats.org/drawingml/2006/main" prst="roundRect">
            <a:avLst>
              <a:gd name="adj" fmla="val 28571"/>
            </a:avLst>
          </a:prstGeom>
          <a:solidFill xmlns:a="http://schemas.openxmlformats.org/drawingml/2006/main">
            <a:srgbClr val="FFC24D"/>
          </a:solidFill>
          <a:ln xmlns:a="http://schemas.openxmlformats.org/drawingml/2006/main" w="0">
            <a:noFill/>
          </a:ln>
        </p:spPr>
        <p:txBody>
          <a:bodyPr xmlns:a="http://schemas.openxmlformats.org/drawingml/2006/main" wrap="square" lIns="0" tIns="0" rIns="0" bIns="0">
            <a:normAutofit fontScale="100000"/>
          </a:bodyPr>
          <a:lstStyle xmlns:a="http://schemas.openxmlformats.org/drawingml/2006/main"/>
          <a:p xmlns:a="http://schemas.openxmlformats.org/drawingml/2006/main">
            <a:pPr>
              <a:buNone/>
              <a:defRPr sz="2100" b="1">
                <a:solidFill>
                  <a:srgbClr val="E0D7FF"/>
                </a:solidFill>
                <a:latin typeface="Arial"/>
                <a:ea typeface="Arial"/>
                <a:cs typeface="Arial"/>
              </a:defRPr>
            </a:pPr>
            <a:r>
              <a:rPr sz="2100" b="1">
                <a:solidFill>
                  <a:srgbClr val="073F49"/>
                </a:solidFill>
                <a:latin typeface="Arial"/>
                <a:ea typeface="Arial"/>
                <a:cs typeface="Arial"/>
              </a:rPr>
              <a:t>Two months later</a:t>
            </a:r>
          </a:p>
        </p:txBody>
      </p:sp>
      <p:sp>
        <p:nvSpPr>
          <p:cNvPr id="10" name="Story step 2 detail">
            <a:extLst xmlns:a="http://schemas.openxmlformats.org/drawingml/2006/main">
              <a:ext uri="{FF2B5EF4-FFF2-40B4-BE49-F238E27FC236}">
                <a16:creationId xmlns:a16="http://schemas.microsoft.com/office/drawing/2014/main" id="{F7597F94-D63D-4F8A-8802-A869C9DABF57}"/>
              </a:ext>
            </a:extLst>
          </p:cNvPr>
          <p:cNvSpPr>
            <a:spLocks xmlns:a="http://schemas.openxmlformats.org/drawingml/2006/main" noGrp="1"/>
          </p:cNvSpPr>
          <p:nvPr/>
        </p:nvSpPr>
        <p:spPr>
          <a:xfrm xmlns:a="http://schemas.openxmlformats.org/drawingml/2006/main">
            <a:off x="6753225" y="3867150"/>
            <a:ext cx="4905375"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rmAutofit fontScale="100000"/>
          </a:bodyPr>
          <a:lstStyle xmlns:a="http://schemas.openxmlformats.org/drawingml/2006/main"/>
          <a:p xmlns:a="http://schemas.openxmlformats.org/drawingml/2006/main">
            <a:pPr>
              <a:buNone/>
              <a:defRPr sz="1725" b="0">
                <a:solidFill>
                  <a:srgbClr val="FFFFFF"/>
                </a:solidFill>
                <a:latin typeface="Arial"/>
                <a:ea typeface="Arial"/>
                <a:cs typeface="Arial"/>
              </a:defRPr>
            </a:pPr>
            <a:r>
              <a:rPr sz="1725" b="0">
                <a:solidFill>
                  <a:srgbClr val="FFFFFF"/>
                </a:solidFill>
                <a:latin typeface="Arial"/>
                <a:ea typeface="Arial"/>
                <a:cs typeface="Arial"/>
              </a:rPr>
              <a:t>She becomes unconscious and is brought to the Emergency Department. The doctor asks if she wanted CPR if her heart stopped.</a:t>
            </a:r>
          </a:p>
        </p:txBody>
      </p:sp>
      <p:pic>
        <p:nvPicPr>
          <p:cNvPr id="31" name=""/>
          <p:cNvPicPr>
            <a:picLocks xmlns:a="http://schemas.openxmlformats.org/drawingml/2006/main" noChangeAspect="1"/>
          </p:cNvPicPr>
          <p:nvPr/>
        </p:nvPicPr>
        <p:blipFill>
          <a:blip xmlns:r="http://schemas.openxmlformats.org/officeDocument/2006/relationships" xmlns:a="http://schemas.openxmlformats.org/drawingml/2006/main" r:embed="R3f97006e9d9b4a90">
            <a:extLst>
              <a:ext uri="{96DAC541-7B7A-43D3-8B79-37D633B846F1}">
                <asvg:svgBlip xmlns:asvg="http://schemas.microsoft.com/office/drawing/2016/SVG/main" r:embed="Rd2b1aeb9d92d41ef"/>
              </a:ext>
            </a:extLst>
          </a:blip>
          <a:stretch xmlns:a="http://schemas.openxmlformats.org/drawingml/2006/main"/>
        </p:blipFill>
        <p:spPr>
          <a:xfrm xmlns:a="http://schemas.openxmlformats.org/drawingml/2006/main">
            <a:off x="6191250" y="4752975"/>
            <a:ext cx="381000" cy="381000"/>
          </a:xfrm>
          <a:prstGeom xmlns:a="http://schemas.openxmlformats.org/drawingml/2006/main" prst="rect">
            <a:avLst/>
          </a:prstGeom>
        </p:spPr>
      </p:pic>
      <p:sp>
        <p:nvSpPr>
          <p:cNvPr id="12" name="Story step 3">
            <a:extLst xmlns:a="http://schemas.openxmlformats.org/drawingml/2006/main">
              <a:ext uri="{FF2B5EF4-FFF2-40B4-BE49-F238E27FC236}">
                <a16:creationId xmlns:a16="http://schemas.microsoft.com/office/drawing/2014/main" id="{ACE2060F-4CA4-4713-BCAB-481470B01F4F}"/>
              </a:ext>
            </a:extLst>
          </p:cNvPr>
          <p:cNvSpPr>
            <a:spLocks xmlns:a="http://schemas.openxmlformats.org/drawingml/2006/main" noGrp="1"/>
          </p:cNvSpPr>
          <p:nvPr/>
        </p:nvSpPr>
        <p:spPr>
          <a:xfrm xmlns:a="http://schemas.openxmlformats.org/drawingml/2006/main">
            <a:off x="6753225" y="4752975"/>
            <a:ext cx="4905375" cy="400050"/>
          </a:xfrm>
          <a:prstGeom xmlns:a="http://schemas.openxmlformats.org/drawingml/2006/main" prst="roundRect">
            <a:avLst>
              <a:gd name="adj" fmla="val 28571"/>
            </a:avLst>
          </a:prstGeom>
          <a:solidFill xmlns:a="http://schemas.openxmlformats.org/drawingml/2006/main">
            <a:srgbClr val="FF5F86"/>
          </a:solidFill>
          <a:ln xmlns:a="http://schemas.openxmlformats.org/drawingml/2006/main" w="0">
            <a:noFill/>
          </a:ln>
        </p:spPr>
        <p:txBody>
          <a:bodyPr xmlns:a="http://schemas.openxmlformats.org/drawingml/2006/main" wrap="square" lIns="0" tIns="0" rIns="0" bIns="0">
            <a:normAutofit fontScale="100000"/>
          </a:bodyPr>
          <a:lstStyle xmlns:a="http://schemas.openxmlformats.org/drawingml/2006/main"/>
          <a:p xmlns:a="http://schemas.openxmlformats.org/drawingml/2006/main">
            <a:pPr>
              <a:buNone/>
              <a:defRPr sz="2100" b="1">
                <a:solidFill>
                  <a:srgbClr val="FDBA74"/>
                </a:solidFill>
                <a:latin typeface="Arial"/>
                <a:ea typeface="Arial"/>
                <a:cs typeface="Arial"/>
              </a:defRPr>
            </a:pPr>
            <a:r>
              <a:rPr sz="2100" b="1">
                <a:solidFill>
                  <a:srgbClr val="073F49"/>
                </a:solidFill>
                <a:latin typeface="Arial"/>
                <a:ea typeface="Arial"/>
                <a:cs typeface="Arial"/>
              </a:rPr>
              <a:t>The family disagrees</a:t>
            </a:r>
          </a:p>
        </p:txBody>
      </p:sp>
      <p:sp>
        <p:nvSpPr>
          <p:cNvPr id="13" name="Story step 3 detail">
            <a:extLst xmlns:a="http://schemas.openxmlformats.org/drawingml/2006/main">
              <a:ext uri="{FF2B5EF4-FFF2-40B4-BE49-F238E27FC236}">
                <a16:creationId xmlns:a16="http://schemas.microsoft.com/office/drawing/2014/main" id="{FD757984-482D-4B30-9EDA-D5D07420EE82}"/>
              </a:ext>
            </a:extLst>
          </p:cNvPr>
          <p:cNvSpPr>
            <a:spLocks xmlns:a="http://schemas.openxmlformats.org/drawingml/2006/main" noGrp="1"/>
          </p:cNvSpPr>
          <p:nvPr/>
        </p:nvSpPr>
        <p:spPr>
          <a:xfrm xmlns:a="http://schemas.openxmlformats.org/drawingml/2006/main">
            <a:off x="6753225" y="5248275"/>
            <a:ext cx="4905375"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rmAutofit fontScale="100000"/>
          </a:bodyPr>
          <a:lstStyle xmlns:a="http://schemas.openxmlformats.org/drawingml/2006/main"/>
          <a:p xmlns:a="http://schemas.openxmlformats.org/drawingml/2006/main">
            <a:pPr>
              <a:buNone/>
              <a:defRPr sz="1725" b="0">
                <a:solidFill>
                  <a:srgbClr val="FFFFFF"/>
                </a:solidFill>
                <a:latin typeface="Arial"/>
                <a:ea typeface="Arial"/>
                <a:cs typeface="Arial"/>
              </a:defRPr>
            </a:pPr>
            <a:r>
              <a:rPr sz="1575" b="0">
                <a:solidFill>
                  <a:srgbClr val="FFFFFF"/>
                </a:solidFill>
                <a:latin typeface="Arial"/>
                <a:ea typeface="Arial"/>
                <a:cs typeface="Arial"/>
              </a:rPr>
              <a:t>Her husband says yes; her daughter says no. Her son pays for treatment but is away. They cannot agree, and her earlier note is missing.</a:t>
            </a:r>
          </a:p>
        </p:txBody>
      </p:sp>
      <p:sp>
        <p:nvSpPr>
          <p:cNvPr id="14" name="Shared record takeaway">
            <a:extLst xmlns:a="http://schemas.openxmlformats.org/drawingml/2006/main">
              <a:ext uri="{FF2B5EF4-FFF2-40B4-BE49-F238E27FC236}">
                <a16:creationId xmlns:a16="http://schemas.microsoft.com/office/drawing/2014/main" id="{1A856099-6E43-41EE-918E-4C9D2B9E3B1B}"/>
              </a:ext>
            </a:extLst>
          </p:cNvPr>
          <p:cNvSpPr>
            <a:spLocks xmlns:a="http://schemas.openxmlformats.org/drawingml/2006/main" noGrp="1"/>
          </p:cNvSpPr>
          <p:nvPr/>
        </p:nvSpPr>
        <p:spPr>
          <a:xfrm xmlns:a="http://schemas.openxmlformats.org/drawingml/2006/main">
            <a:off x="381000" y="6296025"/>
            <a:ext cx="11430000" cy="561975"/>
          </a:xfrm>
          <a:prstGeom xmlns:a="http://schemas.openxmlformats.org/drawingml/2006/main" prst="rect">
            <a:avLst/>
          </a:prstGeom>
          <a:solidFill xmlns:a="http://schemas.openxmlformats.org/drawingml/2006/main">
            <a:srgbClr val="073F49"/>
          </a:solidFill>
          <a:ln xmlns:a="http://schemas.openxmlformats.org/drawingml/2006/main" w="0">
            <a:noFill/>
          </a:ln>
        </p:spPr>
      </p:sp>
      <p:sp>
        <p:nvSpPr>
          <p:cNvPr id="15" name="Closing thought">
            <a:extLst xmlns:a="http://schemas.openxmlformats.org/drawingml/2006/main">
              <a:ext uri="{FF2B5EF4-FFF2-40B4-BE49-F238E27FC236}">
                <a16:creationId xmlns:a16="http://schemas.microsoft.com/office/drawing/2014/main" id="{05A448ED-61A1-462B-91B4-94D437BF6485}"/>
              </a:ext>
            </a:extLst>
          </p:cNvPr>
          <p:cNvSpPr>
            <a:spLocks xmlns:a="http://schemas.openxmlformats.org/drawingml/2006/main" noGrp="1"/>
          </p:cNvSpPr>
          <p:nvPr/>
        </p:nvSpPr>
        <p:spPr>
          <a:xfrm xmlns:a="http://schemas.openxmlformats.org/drawingml/2006/main">
            <a:off x="533400" y="6410325"/>
            <a:ext cx="11125200" cy="371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rmAutofit fontScale="100000"/>
          </a:bodyPr>
          <a:lstStyle xmlns:a="http://schemas.openxmlformats.org/drawingml/2006/main"/>
          <a:p xmlns:a="http://schemas.openxmlformats.org/drawingml/2006/main">
            <a:pPr>
              <a:buNone/>
              <a:defRPr sz="2025" b="1">
                <a:solidFill>
                  <a:srgbClr val="FFFFFF"/>
                </a:solidFill>
                <a:latin typeface="Arial"/>
                <a:ea typeface="Arial"/>
                <a:cs typeface="Arial"/>
              </a:defRPr>
            </a:pPr>
            <a:r>
              <a:rPr sz="2025" b="1">
                <a:solidFill>
                  <a:srgbClr val="FFFFFF"/>
                </a:solidFill>
                <a:latin typeface="Arial"/>
                <a:ea typeface="Arial"/>
                <a:cs typeface="Arial"/>
              </a:rPr>
              <a:t>When the patient cannot speak, the family needs to know what she wanted.</a:t>
            </a:r>
          </a:p>
        </p:txBody>
      </p:sp>
    </p:spTree>
    <p:extLst>
      <p:ext uri="{BB962C8B-B14F-4D97-AF65-F5344CB8AC3E}">
        <p14:creationId xmlns:p14="http://schemas.microsoft.com/office/powerpoint/2010/main" val="486496822"/>
      </p:ext>
    </p:extLst>
  </p:cSld>
</p:sld>
</file>

<file path=ppt/slides/slide3.xml><?xml version="1.0" encoding="utf-8"?>
<p:sld xmlns:p="http://schemas.openxmlformats.org/presentationml/2006/main">
  <p:cSld>
    <p:bg>
      <p:bgPr>
        <a:solidFill xmlns:a="http://schemas.openxmlformats.org/drawingml/2006/main">
          <a:srgbClr val="CAD8ED"/>
        </a:solidFill>
      </p:bgPr>
    </p:bg>
    <p:spTree>
      <p:nvGrpSpPr>
        <p:cNvPr id="1" name=""/>
        <p:cNvGrpSpPr/>
        <p:nvPr/>
      </p:nvGrpSpPr>
      <p:grpSpPr>
        <a:xfrm xmlns:a="http://schemas.openxmlformats.org/drawingml/2006/main"/>
      </p:grpSpPr>
      <p:graphicFrame>
        <p:nvGraphicFramePr>
          <p:cNvPr id="49" name="Chart"/>
          <p:cNvGraphicFramePr/>
          <p:nvPr/>
        </p:nvGraphicFramePr>
        <p:xfrm>
          <a:off xmlns:a="http://schemas.openxmlformats.org/drawingml/2006/main" x="7372350" y="2657475"/>
          <a:ext xmlns:a="http://schemas.openxmlformats.org/drawingml/2006/main" cx="4057650" cy="1619250"/>
        </p:xfrm>
        <a:graphic xmlns:a="http://schemas.openxmlformats.org/drawingml/2006/main">
          <a:graphicData uri="http://schemas.openxmlformats.org/drawingml/2006/chart">
            <c:chart xmlns:r="http://schemas.openxmlformats.org/officeDocument/2006/relationships" xmlns:c="http://schemas.openxmlformats.org/drawingml/2006/chart" r:id="R87a23830109e401b"/>
          </a:graphicData>
        </a:graphic>
      </p:graphicFrame>
      <p:sp>
        <p:nvSpPr>
          <p:cNvPr id="15" name="Slide title">
            <a:extLst xmlns:a="http://schemas.openxmlformats.org/drawingml/2006/main">
              <a:ext uri="{FF2B5EF4-FFF2-40B4-BE49-F238E27FC236}">
                <a16:creationId xmlns:a16="http://schemas.microsoft.com/office/drawing/2014/main" id="{60CD0C70-7B6B-417B-8251-A230503B2094}"/>
              </a:ext>
            </a:extLst>
          </p:cNvPr>
          <p:cNvSpPr>
            <a:spLocks xmlns:a="http://schemas.openxmlformats.org/drawingml/2006/main" noGrp="1"/>
          </p:cNvSpPr>
          <p:nvPr/>
        </p:nvSpPr>
        <p:spPr>
          <a:xfrm xmlns:a="http://schemas.openxmlformats.org/drawingml/2006/main">
            <a:off x="533400" y="304800"/>
            <a:ext cx="111252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rmAutofit fontScale="100000"/>
          </a:bodyPr>
          <a:lstStyle xmlns:a="http://schemas.openxmlformats.org/drawingml/2006/main"/>
          <a:p xmlns:a="http://schemas.openxmlformats.org/drawingml/2006/main">
            <a:pPr>
              <a:buNone/>
              <a:defRPr sz="3075" b="1">
                <a:solidFill>
                  <a:srgbClr val="173F33"/>
                </a:solidFill>
                <a:latin typeface="Arial"/>
                <a:ea typeface="Arial"/>
                <a:cs typeface="Arial"/>
              </a:defRPr>
            </a:pPr>
            <a:r>
              <a:rPr sz="3075" b="1">
                <a:solidFill>
                  <a:srgbClr val="173F33"/>
                </a:solidFill>
                <a:latin typeface="Arial"/>
                <a:ea typeface="Arial"/>
                <a:cs typeface="Arial"/>
              </a:rPr>
              <a:t>Cancer care needs support between visits</a:t>
            </a:r>
          </a:p>
        </p:txBody>
      </p:sp>
      <p:pic>
        <p:nvPicPr>
          <p:cNvPr id="51" name=""/>
          <p:cNvPicPr>
            <a:picLocks xmlns:a="http://schemas.openxmlformats.org/drawingml/2006/main" noChangeAspect="1"/>
          </p:cNvPicPr>
          <p:nvPr/>
        </p:nvPicPr>
        <p:blipFill>
          <a:blip xmlns:r="http://schemas.openxmlformats.org/officeDocument/2006/relationships" xmlns:a="http://schemas.openxmlformats.org/drawingml/2006/main" r:embed="R6d5bd39c1b144498">
            <a:extLst>
              <a:ext uri="{96DAC541-7B7A-43D3-8B79-37D633B846F1}">
                <asvg:svgBlip xmlns:asvg="http://schemas.microsoft.com/office/drawing/2016/SVG/main" r:embed="R46eede1909564f2d"/>
              </a:ext>
            </a:extLst>
          </a:blip>
          <a:stretch xmlns:a="http://schemas.openxmlformats.org/drawingml/2006/main"/>
        </p:blipFill>
        <p:spPr>
          <a:xfrm xmlns:a="http://schemas.openxmlformats.org/drawingml/2006/main">
            <a:off x="533400" y="1257300"/>
            <a:ext cx="361950" cy="361950"/>
          </a:xfrm>
          <a:prstGeom xmlns:a="http://schemas.openxmlformats.org/drawingml/2006/main" prst="rect">
            <a:avLst/>
          </a:prstGeom>
        </p:spPr>
      </p:pic>
      <p:sp>
        <p:nvSpPr>
          <p:cNvPr id="17" name="Evidence 15.6 lakh">
            <a:extLst xmlns:a="http://schemas.openxmlformats.org/drawingml/2006/main">
              <a:ext uri="{FF2B5EF4-FFF2-40B4-BE49-F238E27FC236}">
                <a16:creationId xmlns:a16="http://schemas.microsoft.com/office/drawing/2014/main" id="{24987B7E-8832-4110-A7BD-4B4BED9FDAE5}"/>
              </a:ext>
            </a:extLst>
          </p:cNvPr>
          <p:cNvSpPr>
            <a:spLocks xmlns:a="http://schemas.openxmlformats.org/drawingml/2006/main" noGrp="1"/>
          </p:cNvSpPr>
          <p:nvPr/>
        </p:nvSpPr>
        <p:spPr>
          <a:xfrm xmlns:a="http://schemas.openxmlformats.org/drawingml/2006/main">
            <a:off x="1000125" y="1181100"/>
            <a:ext cx="2466975" cy="561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rmAutofit fontScale="100000"/>
          </a:bodyPr>
          <a:lstStyle xmlns:a="http://schemas.openxmlformats.org/drawingml/2006/main"/>
          <a:p xmlns:a="http://schemas.openxmlformats.org/drawingml/2006/main">
            <a:pPr>
              <a:buNone/>
              <a:defRPr sz="3300" b="1">
                <a:solidFill>
                  <a:srgbClr val="B75E43"/>
                </a:solidFill>
                <a:latin typeface="Arial"/>
                <a:ea typeface="Arial"/>
                <a:cs typeface="Arial"/>
              </a:defRPr>
            </a:pPr>
            <a:r>
              <a:rPr sz="3300" b="1">
                <a:solidFill>
                  <a:srgbClr val="B75E43"/>
                </a:solidFill>
                <a:latin typeface="Arial"/>
                <a:ea typeface="Arial"/>
                <a:cs typeface="Arial"/>
              </a:rPr>
              <a:t>15.6 lakh</a:t>
            </a:r>
          </a:p>
        </p:txBody>
      </p:sp>
      <p:sp>
        <p:nvSpPr>
          <p:cNvPr id="18" name="Evidence 15.6 lakh scope">
            <a:extLst xmlns:a="http://schemas.openxmlformats.org/drawingml/2006/main">
              <a:ext uri="{FF2B5EF4-FFF2-40B4-BE49-F238E27FC236}">
                <a16:creationId xmlns:a16="http://schemas.microsoft.com/office/drawing/2014/main" id="{42CAF70C-B982-46DC-926B-37F3A8E5639C}"/>
              </a:ext>
            </a:extLst>
          </p:cNvPr>
          <p:cNvSpPr>
            <a:spLocks xmlns:a="http://schemas.openxmlformats.org/drawingml/2006/main" noGrp="1"/>
          </p:cNvSpPr>
          <p:nvPr/>
        </p:nvSpPr>
        <p:spPr>
          <a:xfrm xmlns:a="http://schemas.openxmlformats.org/drawingml/2006/main">
            <a:off x="533400" y="1800225"/>
            <a:ext cx="2933700" cy="1114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rmAutofit fontScale="100000"/>
          </a:bodyPr>
          <a:lstStyle xmlns:a="http://schemas.openxmlformats.org/drawingml/2006/main"/>
          <a:p xmlns:a="http://schemas.openxmlformats.org/drawingml/2006/main">
            <a:pPr>
              <a:buNone/>
              <a:defRPr sz="1575" b="0">
                <a:solidFill>
                  <a:srgbClr val="173F33"/>
                </a:solidFill>
                <a:latin typeface="Arial"/>
                <a:ea typeface="Arial"/>
                <a:cs typeface="Arial"/>
              </a:defRPr>
            </a:pPr>
            <a:r>
              <a:rPr sz="1575" b="0">
                <a:solidFill>
                  <a:srgbClr val="173F33"/>
                </a:solidFill>
                <a:latin typeface="Arial"/>
                <a:ea typeface="Arial"/>
                <a:cs typeface="Arial"/>
              </a:rPr>
              <a:t>Estimated new cancer cases in India in 2024.</a:t>
            </a:r>
          </a:p>
        </p:txBody>
      </p:sp>
      <p:sp>
        <p:nvSpPr>
          <p:cNvPr id="19" name="Evidence 15.6 lakh source">
            <a:extLst xmlns:a="http://schemas.openxmlformats.org/drawingml/2006/main">
              <a:ext uri="{FF2B5EF4-FFF2-40B4-BE49-F238E27FC236}">
                <a16:creationId xmlns:a16="http://schemas.microsoft.com/office/drawing/2014/main" id="{73B33E90-3035-48FC-9042-712D7D53E04A}"/>
              </a:ext>
            </a:extLst>
          </p:cNvPr>
          <p:cNvSpPr>
            <a:spLocks xmlns:a="http://schemas.openxmlformats.org/drawingml/2006/main" noGrp="1"/>
          </p:cNvSpPr>
          <p:nvPr/>
        </p:nvSpPr>
        <p:spPr>
          <a:xfrm xmlns:a="http://schemas.openxmlformats.org/drawingml/2006/main">
            <a:off x="533400" y="2933700"/>
            <a:ext cx="29337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rmAutofit fontScale="100000"/>
          </a:bodyPr>
          <a:lstStyle xmlns:a="http://schemas.openxmlformats.org/drawingml/2006/main"/>
          <a:p xmlns:a="http://schemas.openxmlformats.org/drawingml/2006/main">
            <a:pPr>
              <a:buNone/>
              <a:defRPr sz="1163" b="0">
                <a:solidFill>
                  <a:srgbClr val="145AC6"/>
                </a:solidFill>
                <a:latin typeface="Arial"/>
                <a:ea typeface="Arial"/>
                <a:cs typeface="Arial"/>
              </a:defRPr>
            </a:pPr>
            <a:r>
              <a:rPr sz="1163" b="0" u="sng">
                <a:solidFill>
                  <a:srgbClr val="145AC6"/>
                </a:solidFill>
                <a:latin typeface="Arial"/>
                <a:ea typeface="Arial"/>
                <a:cs typeface="Arial"/>
                <a:hlinkClick xmlns:r="http://schemas.openxmlformats.org/officeDocument/2006/relationships" r:id="Rc93b0850a4c2462f"/>
              </a:rPr>
              <a:t>IARC, GLOBOCAN 2024</a:t>
            </a:r>
          </a:p>
        </p:txBody>
      </p:sp>
      <p:pic>
        <p:nvPicPr>
          <p:cNvPr id="55" name=""/>
          <p:cNvPicPr>
            <a:picLocks xmlns:a="http://schemas.openxmlformats.org/drawingml/2006/main" noChangeAspect="1"/>
          </p:cNvPicPr>
          <p:nvPr/>
        </p:nvPicPr>
        <p:blipFill>
          <a:blip xmlns:r="http://schemas.openxmlformats.org/officeDocument/2006/relationships" xmlns:a="http://schemas.openxmlformats.org/drawingml/2006/main" r:embed="R0e65af521a1647be">
            <a:extLst>
              <a:ext uri="{96DAC541-7B7A-43D3-8B79-37D633B846F1}">
                <asvg:svgBlip xmlns:asvg="http://schemas.microsoft.com/office/drawing/2016/SVG/main" r:embed="R2e25db465b954f01"/>
              </a:ext>
            </a:extLst>
          </a:blip>
          <a:stretch xmlns:a="http://schemas.openxmlformats.org/drawingml/2006/main"/>
        </p:blipFill>
        <p:spPr>
          <a:xfrm xmlns:a="http://schemas.openxmlformats.org/drawingml/2006/main">
            <a:off x="3857625" y="1257300"/>
            <a:ext cx="361950" cy="361950"/>
          </a:xfrm>
          <a:prstGeom xmlns:a="http://schemas.openxmlformats.org/drawingml/2006/main" prst="rect">
            <a:avLst/>
          </a:prstGeom>
        </p:spPr>
      </p:pic>
      <p:sp>
        <p:nvSpPr>
          <p:cNvPr id="21" name="Evidence 98.39%">
            <a:extLst xmlns:a="http://schemas.openxmlformats.org/drawingml/2006/main">
              <a:ext uri="{FF2B5EF4-FFF2-40B4-BE49-F238E27FC236}">
                <a16:creationId xmlns:a16="http://schemas.microsoft.com/office/drawing/2014/main" id="{92F62799-9EB2-41D4-A980-3E44BF96D7FD}"/>
              </a:ext>
            </a:extLst>
          </p:cNvPr>
          <p:cNvSpPr>
            <a:spLocks xmlns:a="http://schemas.openxmlformats.org/drawingml/2006/main" noGrp="1"/>
          </p:cNvSpPr>
          <p:nvPr/>
        </p:nvSpPr>
        <p:spPr>
          <a:xfrm xmlns:a="http://schemas.openxmlformats.org/drawingml/2006/main">
            <a:off x="4324350" y="1181100"/>
            <a:ext cx="2466975" cy="561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rmAutofit fontScale="100000"/>
          </a:bodyPr>
          <a:lstStyle xmlns:a="http://schemas.openxmlformats.org/drawingml/2006/main"/>
          <a:p xmlns:a="http://schemas.openxmlformats.org/drawingml/2006/main">
            <a:pPr>
              <a:buNone/>
              <a:defRPr sz="3300" b="1">
                <a:solidFill>
                  <a:srgbClr val="157B68"/>
                </a:solidFill>
                <a:latin typeface="Arial"/>
                <a:ea typeface="Arial"/>
                <a:cs typeface="Arial"/>
              </a:defRPr>
            </a:pPr>
            <a:r>
              <a:rPr sz="3300" b="1">
                <a:solidFill>
                  <a:srgbClr val="157B68"/>
                </a:solidFill>
                <a:latin typeface="Arial"/>
                <a:ea typeface="Arial"/>
                <a:cs typeface="Arial"/>
              </a:rPr>
              <a:t>98.39%</a:t>
            </a:r>
          </a:p>
        </p:txBody>
      </p:sp>
      <p:sp>
        <p:nvSpPr>
          <p:cNvPr id="22" name="Evidence 98.39% scope">
            <a:extLst xmlns:a="http://schemas.openxmlformats.org/drawingml/2006/main">
              <a:ext uri="{FF2B5EF4-FFF2-40B4-BE49-F238E27FC236}">
                <a16:creationId xmlns:a16="http://schemas.microsoft.com/office/drawing/2014/main" id="{6DD807BB-6DAE-4C17-B07E-2F8A6A2DC9F3}"/>
              </a:ext>
            </a:extLst>
          </p:cNvPr>
          <p:cNvSpPr>
            <a:spLocks xmlns:a="http://schemas.openxmlformats.org/drawingml/2006/main" noGrp="1"/>
          </p:cNvSpPr>
          <p:nvPr/>
        </p:nvSpPr>
        <p:spPr>
          <a:xfrm xmlns:a="http://schemas.openxmlformats.org/drawingml/2006/main">
            <a:off x="3857625" y="1800225"/>
            <a:ext cx="2933700" cy="1114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rmAutofit fontScale="100000"/>
          </a:bodyPr>
          <a:lstStyle xmlns:a="http://schemas.openxmlformats.org/drawingml/2006/main"/>
          <a:p xmlns:a="http://schemas.openxmlformats.org/drawingml/2006/main">
            <a:pPr>
              <a:buNone/>
              <a:defRPr sz="1575" b="0">
                <a:solidFill>
                  <a:srgbClr val="173F33"/>
                </a:solidFill>
                <a:latin typeface="Arial"/>
                <a:ea typeface="Arial"/>
                <a:cs typeface="Arial"/>
              </a:defRPr>
            </a:pPr>
            <a:r>
              <a:rPr sz="1575" b="0">
                <a:solidFill>
                  <a:srgbClr val="173F33"/>
                </a:solidFill>
                <a:latin typeface="Arial"/>
                <a:ea typeface="Arial"/>
                <a:cs typeface="Arial"/>
              </a:rPr>
              <a:t>Estimated unmet palliative-care need in metastatic disease across 10 cancer types.</a:t>
            </a:r>
          </a:p>
        </p:txBody>
      </p:sp>
      <p:sp>
        <p:nvSpPr>
          <p:cNvPr id="23" name="Evidence 98.39% source">
            <a:extLst xmlns:a="http://schemas.openxmlformats.org/drawingml/2006/main">
              <a:ext uri="{FF2B5EF4-FFF2-40B4-BE49-F238E27FC236}">
                <a16:creationId xmlns:a16="http://schemas.microsoft.com/office/drawing/2014/main" id="{570CF731-D8E6-4F6C-A97B-5198F0BEA49E}"/>
              </a:ext>
            </a:extLst>
          </p:cNvPr>
          <p:cNvSpPr>
            <a:spLocks xmlns:a="http://schemas.openxmlformats.org/drawingml/2006/main" noGrp="1"/>
          </p:cNvSpPr>
          <p:nvPr/>
        </p:nvSpPr>
        <p:spPr>
          <a:xfrm xmlns:a="http://schemas.openxmlformats.org/drawingml/2006/main">
            <a:off x="3857625" y="2933700"/>
            <a:ext cx="29337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rmAutofit fontScale="100000"/>
          </a:bodyPr>
          <a:lstStyle xmlns:a="http://schemas.openxmlformats.org/drawingml/2006/main"/>
          <a:p xmlns:a="http://schemas.openxmlformats.org/drawingml/2006/main">
            <a:pPr>
              <a:buNone/>
              <a:defRPr sz="1163" b="0">
                <a:solidFill>
                  <a:srgbClr val="145AC6"/>
                </a:solidFill>
                <a:latin typeface="Arial"/>
                <a:ea typeface="Arial"/>
                <a:cs typeface="Arial"/>
              </a:defRPr>
            </a:pPr>
            <a:r>
              <a:rPr sz="1163" b="0" u="sng">
                <a:solidFill>
                  <a:srgbClr val="145AC6"/>
                </a:solidFill>
                <a:latin typeface="Arial"/>
                <a:ea typeface="Arial"/>
                <a:cs typeface="Arial"/>
                <a:hlinkClick xmlns:r="http://schemas.openxmlformats.org/officeDocument/2006/relationships" r:id="R1e98697908dc4720"/>
              </a:rPr>
              <a:t>Patil et al., 2024</a:t>
            </a:r>
          </a:p>
        </p:txBody>
      </p:sp>
      <p:pic>
        <p:nvPicPr>
          <p:cNvPr id="59" name=""/>
          <p:cNvPicPr>
            <a:picLocks xmlns:a="http://schemas.openxmlformats.org/drawingml/2006/main" noChangeAspect="1"/>
          </p:cNvPicPr>
          <p:nvPr/>
        </p:nvPicPr>
        <p:blipFill>
          <a:blip xmlns:r="http://schemas.openxmlformats.org/officeDocument/2006/relationships" xmlns:a="http://schemas.openxmlformats.org/drawingml/2006/main" r:embed="Rb8d4dce24cb040c5">
            <a:extLst>
              <a:ext uri="{96DAC541-7B7A-43D3-8B79-37D633B846F1}">
                <asvg:svgBlip xmlns:asvg="http://schemas.microsoft.com/office/drawing/2016/SVG/main" r:embed="R8b97f26adf7a412b"/>
              </a:ext>
            </a:extLst>
          </a:blip>
          <a:stretch xmlns:a="http://schemas.openxmlformats.org/drawingml/2006/main"/>
        </p:blipFill>
        <p:spPr>
          <a:xfrm xmlns:a="http://schemas.openxmlformats.org/drawingml/2006/main">
            <a:off x="533400" y="3390900"/>
            <a:ext cx="361950" cy="361950"/>
          </a:xfrm>
          <a:prstGeom xmlns:a="http://schemas.openxmlformats.org/drawingml/2006/main" prst="rect">
            <a:avLst/>
          </a:prstGeom>
        </p:spPr>
      </p:pic>
      <p:sp>
        <p:nvSpPr>
          <p:cNvPr id="25" name="Evidence 88%">
            <a:extLst xmlns:a="http://schemas.openxmlformats.org/drawingml/2006/main">
              <a:ext uri="{FF2B5EF4-FFF2-40B4-BE49-F238E27FC236}">
                <a16:creationId xmlns:a16="http://schemas.microsoft.com/office/drawing/2014/main" id="{18F0D7CE-ABE1-4F61-A6C5-C4089D8AF653}"/>
              </a:ext>
            </a:extLst>
          </p:cNvPr>
          <p:cNvSpPr>
            <a:spLocks xmlns:a="http://schemas.openxmlformats.org/drawingml/2006/main" noGrp="1"/>
          </p:cNvSpPr>
          <p:nvPr/>
        </p:nvSpPr>
        <p:spPr>
          <a:xfrm xmlns:a="http://schemas.openxmlformats.org/drawingml/2006/main">
            <a:off x="1000125" y="3314700"/>
            <a:ext cx="2466975" cy="561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rmAutofit fontScale="100000"/>
          </a:bodyPr>
          <a:lstStyle xmlns:a="http://schemas.openxmlformats.org/drawingml/2006/main"/>
          <a:p xmlns:a="http://schemas.openxmlformats.org/drawingml/2006/main">
            <a:pPr>
              <a:buNone/>
              <a:defRPr sz="3300" b="1">
                <a:solidFill>
                  <a:srgbClr val="7353AC"/>
                </a:solidFill>
                <a:latin typeface="Arial"/>
                <a:ea typeface="Arial"/>
                <a:cs typeface="Arial"/>
              </a:defRPr>
            </a:pPr>
            <a:r>
              <a:rPr sz="3300" b="1">
                <a:solidFill>
                  <a:srgbClr val="7353AC"/>
                </a:solidFill>
                <a:latin typeface="Arial"/>
                <a:ea typeface="Arial"/>
                <a:cs typeface="Arial"/>
              </a:rPr>
              <a:t>88%</a:t>
            </a:r>
          </a:p>
        </p:txBody>
      </p:sp>
      <p:sp>
        <p:nvSpPr>
          <p:cNvPr id="26" name="Evidence 88% scope">
            <a:extLst xmlns:a="http://schemas.openxmlformats.org/drawingml/2006/main">
              <a:ext uri="{FF2B5EF4-FFF2-40B4-BE49-F238E27FC236}">
                <a16:creationId xmlns:a16="http://schemas.microsoft.com/office/drawing/2014/main" id="{D5B76F32-4339-4891-A2C0-BC1B89A8B1CF}"/>
              </a:ext>
            </a:extLst>
          </p:cNvPr>
          <p:cNvSpPr>
            <a:spLocks xmlns:a="http://schemas.openxmlformats.org/drawingml/2006/main" noGrp="1"/>
          </p:cNvSpPr>
          <p:nvPr/>
        </p:nvSpPr>
        <p:spPr>
          <a:xfrm xmlns:a="http://schemas.openxmlformats.org/drawingml/2006/main">
            <a:off x="533400" y="3933825"/>
            <a:ext cx="2933700" cy="1114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rmAutofit fontScale="98331"/>
          </a:bodyPr>
          <a:lstStyle xmlns:a="http://schemas.openxmlformats.org/drawingml/2006/main"/>
          <a:p xmlns:a="http://schemas.openxmlformats.org/drawingml/2006/main">
            <a:pPr>
              <a:buNone/>
              <a:defRPr sz="1575" b="0">
                <a:solidFill>
                  <a:srgbClr val="173F33"/>
                </a:solidFill>
                <a:latin typeface="Arial"/>
                <a:ea typeface="Arial"/>
                <a:cs typeface="Arial"/>
              </a:defRPr>
            </a:pPr>
            <a:r>
              <a:rPr sz="1575" b="0">
                <a:solidFill>
                  <a:srgbClr val="173F33"/>
                </a:solidFill>
                <a:latin typeface="Arial"/>
                <a:ea typeface="Arial"/>
                <a:cs typeface="Arial"/>
              </a:rPr>
              <a:t>Surveyed patients wanted to choose their end-of-life treatment. 2,400+ urban respondents with a recent hospital stay (2019).</a:t>
            </a:r>
          </a:p>
        </p:txBody>
      </p:sp>
      <p:sp>
        <p:nvSpPr>
          <p:cNvPr id="27" name="Evidence 88% source">
            <a:extLst xmlns:a="http://schemas.openxmlformats.org/drawingml/2006/main">
              <a:ext uri="{FF2B5EF4-FFF2-40B4-BE49-F238E27FC236}">
                <a16:creationId xmlns:a16="http://schemas.microsoft.com/office/drawing/2014/main" id="{972BBEEE-7A8A-4800-A953-DB42BFD92532}"/>
              </a:ext>
            </a:extLst>
          </p:cNvPr>
          <p:cNvSpPr>
            <a:spLocks xmlns:a="http://schemas.openxmlformats.org/drawingml/2006/main" noGrp="1"/>
          </p:cNvSpPr>
          <p:nvPr/>
        </p:nvSpPr>
        <p:spPr>
          <a:xfrm xmlns:a="http://schemas.openxmlformats.org/drawingml/2006/main">
            <a:off x="533400" y="5067300"/>
            <a:ext cx="29337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rmAutofit fontScale="100000"/>
          </a:bodyPr>
          <a:lstStyle xmlns:a="http://schemas.openxmlformats.org/drawingml/2006/main"/>
          <a:p xmlns:a="http://schemas.openxmlformats.org/drawingml/2006/main">
            <a:pPr>
              <a:buNone/>
              <a:defRPr sz="1163" b="0">
                <a:solidFill>
                  <a:srgbClr val="145AC6"/>
                </a:solidFill>
                <a:latin typeface="Arial"/>
                <a:ea typeface="Arial"/>
                <a:cs typeface="Arial"/>
              </a:defRPr>
            </a:pPr>
            <a:r>
              <a:rPr sz="1163" b="0" u="sng">
                <a:solidFill>
                  <a:srgbClr val="145AC6"/>
                </a:solidFill>
                <a:latin typeface="Arial"/>
                <a:ea typeface="Arial"/>
                <a:cs typeface="Arial"/>
                <a:hlinkClick xmlns:r="http://schemas.openxmlformats.org/officeDocument/2006/relationships" r:id="Ra1e23a8445164f9b"/>
              </a:rPr>
              <a:t>IndiaSpend; seven-city survey</a:t>
            </a:r>
          </a:p>
        </p:txBody>
      </p:sp>
      <p:pic>
        <p:nvPicPr>
          <p:cNvPr id="63" name=""/>
          <p:cNvPicPr>
            <a:picLocks xmlns:a="http://schemas.openxmlformats.org/drawingml/2006/main" noChangeAspect="1"/>
          </p:cNvPicPr>
          <p:nvPr/>
        </p:nvPicPr>
        <p:blipFill>
          <a:blip xmlns:r="http://schemas.openxmlformats.org/officeDocument/2006/relationships" xmlns:a="http://schemas.openxmlformats.org/drawingml/2006/main" r:embed="R8f53aba0fde344bc">
            <a:extLst>
              <a:ext uri="{96DAC541-7B7A-43D3-8B79-37D633B846F1}">
                <asvg:svgBlip xmlns:asvg="http://schemas.microsoft.com/office/drawing/2016/SVG/main" r:embed="Rfd3efeecf7c64334"/>
              </a:ext>
            </a:extLst>
          </a:blip>
          <a:stretch xmlns:a="http://schemas.openxmlformats.org/drawingml/2006/main"/>
        </p:blipFill>
        <p:spPr>
          <a:xfrm xmlns:a="http://schemas.openxmlformats.org/drawingml/2006/main">
            <a:off x="3857625" y="3390900"/>
            <a:ext cx="361950" cy="361950"/>
          </a:xfrm>
          <a:prstGeom xmlns:a="http://schemas.openxmlformats.org/drawingml/2006/main" prst="rect">
            <a:avLst/>
          </a:prstGeom>
        </p:spPr>
      </p:pic>
      <p:sp>
        <p:nvSpPr>
          <p:cNvPr id="29" name="Evidence 11.5%">
            <a:extLst xmlns:a="http://schemas.openxmlformats.org/drawingml/2006/main">
              <a:ext uri="{FF2B5EF4-FFF2-40B4-BE49-F238E27FC236}">
                <a16:creationId xmlns:a16="http://schemas.microsoft.com/office/drawing/2014/main" id="{D9315E79-7051-4CFE-A5BE-3F8B2608BCD5}"/>
              </a:ext>
            </a:extLst>
          </p:cNvPr>
          <p:cNvSpPr>
            <a:spLocks xmlns:a="http://schemas.openxmlformats.org/drawingml/2006/main" noGrp="1"/>
          </p:cNvSpPr>
          <p:nvPr/>
        </p:nvSpPr>
        <p:spPr>
          <a:xfrm xmlns:a="http://schemas.openxmlformats.org/drawingml/2006/main">
            <a:off x="4324350" y="3314700"/>
            <a:ext cx="2466975" cy="561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rmAutofit fontScale="100000"/>
          </a:bodyPr>
          <a:lstStyle xmlns:a="http://schemas.openxmlformats.org/drawingml/2006/main"/>
          <a:p xmlns:a="http://schemas.openxmlformats.org/drawingml/2006/main">
            <a:pPr>
              <a:buNone/>
              <a:defRPr sz="3300" b="1">
                <a:solidFill>
                  <a:srgbClr val="4357C7"/>
                </a:solidFill>
                <a:latin typeface="Arial"/>
                <a:ea typeface="Arial"/>
                <a:cs typeface="Arial"/>
              </a:defRPr>
            </a:pPr>
            <a:r>
              <a:rPr sz="3300" b="1">
                <a:solidFill>
                  <a:srgbClr val="4357C7"/>
                </a:solidFill>
                <a:latin typeface="Arial"/>
                <a:ea typeface="Arial"/>
                <a:cs typeface="Arial"/>
              </a:rPr>
              <a:t>11.5%</a:t>
            </a:r>
          </a:p>
        </p:txBody>
      </p:sp>
      <p:sp>
        <p:nvSpPr>
          <p:cNvPr id="30" name="Evidence 11.5% scope">
            <a:extLst xmlns:a="http://schemas.openxmlformats.org/drawingml/2006/main">
              <a:ext uri="{FF2B5EF4-FFF2-40B4-BE49-F238E27FC236}">
                <a16:creationId xmlns:a16="http://schemas.microsoft.com/office/drawing/2014/main" id="{D1C690C8-FA1D-4E00-ADF8-EF2CA51E6FFE}"/>
              </a:ext>
            </a:extLst>
          </p:cNvPr>
          <p:cNvSpPr>
            <a:spLocks xmlns:a="http://schemas.openxmlformats.org/drawingml/2006/main" noGrp="1"/>
          </p:cNvSpPr>
          <p:nvPr/>
        </p:nvSpPr>
        <p:spPr>
          <a:xfrm xmlns:a="http://schemas.openxmlformats.org/drawingml/2006/main">
            <a:off x="3857625" y="3933825"/>
            <a:ext cx="2933700" cy="1114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rmAutofit fontScale="100000"/>
          </a:bodyPr>
          <a:lstStyle xmlns:a="http://schemas.openxmlformats.org/drawingml/2006/main"/>
          <a:p xmlns:a="http://schemas.openxmlformats.org/drawingml/2006/main">
            <a:pPr>
              <a:buNone/>
              <a:defRPr sz="1575" b="0">
                <a:solidFill>
                  <a:srgbClr val="173F33"/>
                </a:solidFill>
                <a:latin typeface="Arial"/>
                <a:ea typeface="Arial"/>
                <a:cs typeface="Arial"/>
              </a:defRPr>
            </a:pPr>
            <a:r>
              <a:rPr sz="1575" b="0">
                <a:solidFill>
                  <a:srgbClr val="173F33"/>
                </a:solidFill>
                <a:latin typeface="Arial"/>
                <a:ea typeface="Arial"/>
                <a:cs typeface="Arial"/>
              </a:rPr>
              <a:t>45/391 doctors had training in advance directives and their practical aspects. One hospital.</a:t>
            </a:r>
          </a:p>
        </p:txBody>
      </p:sp>
      <p:sp>
        <p:nvSpPr>
          <p:cNvPr id="31" name="Evidence 11.5% source">
            <a:extLst xmlns:a="http://schemas.openxmlformats.org/drawingml/2006/main">
              <a:ext uri="{FF2B5EF4-FFF2-40B4-BE49-F238E27FC236}">
                <a16:creationId xmlns:a16="http://schemas.microsoft.com/office/drawing/2014/main" id="{80C1B682-B9A4-46C4-A603-CE8937D1418D}"/>
              </a:ext>
            </a:extLst>
          </p:cNvPr>
          <p:cNvSpPr>
            <a:spLocks xmlns:a="http://schemas.openxmlformats.org/drawingml/2006/main" noGrp="1"/>
          </p:cNvSpPr>
          <p:nvPr/>
        </p:nvSpPr>
        <p:spPr>
          <a:xfrm xmlns:a="http://schemas.openxmlformats.org/drawingml/2006/main">
            <a:off x="3857625" y="5067300"/>
            <a:ext cx="29337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rmAutofit fontScale="100000"/>
          </a:bodyPr>
          <a:lstStyle xmlns:a="http://schemas.openxmlformats.org/drawingml/2006/main"/>
          <a:p xmlns:a="http://schemas.openxmlformats.org/drawingml/2006/main">
            <a:pPr>
              <a:buNone/>
              <a:defRPr sz="1163" b="0">
                <a:solidFill>
                  <a:srgbClr val="145AC6"/>
                </a:solidFill>
                <a:latin typeface="Arial"/>
                <a:ea typeface="Arial"/>
                <a:cs typeface="Arial"/>
              </a:defRPr>
            </a:pPr>
            <a:r>
              <a:rPr sz="1163" b="0" u="sng">
                <a:solidFill>
                  <a:srgbClr val="145AC6"/>
                </a:solidFill>
                <a:latin typeface="Arial"/>
                <a:ea typeface="Arial"/>
                <a:cs typeface="Arial"/>
                <a:hlinkClick xmlns:r="http://schemas.openxmlformats.org/officeDocument/2006/relationships" r:id="R68183a8960624980"/>
              </a:rPr>
              <a:t>Jacob et al., CMC Vellore, 2026</a:t>
            </a:r>
          </a:p>
        </p:txBody>
      </p:sp>
      <p:sp>
        <p:nvSpPr>
          <p:cNvPr id="32" name="Goals of care definition">
            <a:extLst xmlns:a="http://schemas.openxmlformats.org/drawingml/2006/main">
              <a:ext uri="{FF2B5EF4-FFF2-40B4-BE49-F238E27FC236}">
                <a16:creationId xmlns:a16="http://schemas.microsoft.com/office/drawing/2014/main" id="{EA34D0C4-CE6A-490A-8EEE-D508FD33EE98}"/>
              </a:ext>
            </a:extLst>
          </p:cNvPr>
          <p:cNvSpPr>
            <a:spLocks xmlns:a="http://schemas.openxmlformats.org/drawingml/2006/main" noGrp="1"/>
          </p:cNvSpPr>
          <p:nvPr/>
        </p:nvSpPr>
        <p:spPr>
          <a:xfrm xmlns:a="http://schemas.openxmlformats.org/drawingml/2006/main">
            <a:off x="7143750" y="1104900"/>
            <a:ext cx="4514850" cy="1438275"/>
          </a:xfrm>
          <a:prstGeom xmlns:a="http://schemas.openxmlformats.org/drawingml/2006/main" prst="rect">
            <a:avLst/>
          </a:prstGeom>
          <a:solidFill xmlns:a="http://schemas.openxmlformats.org/drawingml/2006/main">
            <a:srgbClr val="F3F6FA"/>
          </a:solidFill>
          <a:ln xmlns:a="http://schemas.openxmlformats.org/drawingml/2006/main" w="0">
            <a:noFill/>
          </a:ln>
        </p:spPr>
      </p:sp>
      <p:sp>
        <p:nvSpPr>
          <p:cNvPr id="33" name="Definition title">
            <a:extLst xmlns:a="http://schemas.openxmlformats.org/drawingml/2006/main">
              <a:ext uri="{FF2B5EF4-FFF2-40B4-BE49-F238E27FC236}">
                <a16:creationId xmlns:a16="http://schemas.microsoft.com/office/drawing/2014/main" id="{A1E1DCC2-B636-4CE6-8386-1DEC52FE3EE1}"/>
              </a:ext>
            </a:extLst>
          </p:cNvPr>
          <p:cNvSpPr>
            <a:spLocks xmlns:a="http://schemas.openxmlformats.org/drawingml/2006/main" noGrp="1"/>
          </p:cNvSpPr>
          <p:nvPr/>
        </p:nvSpPr>
        <p:spPr>
          <a:xfrm xmlns:a="http://schemas.openxmlformats.org/drawingml/2006/main">
            <a:off x="7334250" y="1228725"/>
            <a:ext cx="4143375"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rmAutofit fontScale="100000"/>
          </a:bodyPr>
          <a:lstStyle xmlns:a="http://schemas.openxmlformats.org/drawingml/2006/main"/>
          <a:p xmlns:a="http://schemas.openxmlformats.org/drawingml/2006/main">
            <a:pPr>
              <a:buNone/>
              <a:defRPr sz="1950" b="1">
                <a:solidFill>
                  <a:srgbClr val="173F33"/>
                </a:solidFill>
                <a:latin typeface="Arial"/>
                <a:ea typeface="Arial"/>
                <a:cs typeface="Arial"/>
              </a:defRPr>
            </a:pPr>
            <a:r>
              <a:rPr sz="1950" b="1">
                <a:solidFill>
                  <a:srgbClr val="173F33"/>
                </a:solidFill>
                <a:latin typeface="Arial"/>
                <a:ea typeface="Arial"/>
                <a:cs typeface="Arial"/>
              </a:rPr>
              <a:t>Goals-of-care discussion</a:t>
            </a:r>
          </a:p>
        </p:txBody>
      </p:sp>
      <p:sp>
        <p:nvSpPr>
          <p:cNvPr id="34" name="Goals of care definition">
            <a:extLst xmlns:a="http://schemas.openxmlformats.org/drawingml/2006/main">
              <a:ext uri="{FF2B5EF4-FFF2-40B4-BE49-F238E27FC236}">
                <a16:creationId xmlns:a16="http://schemas.microsoft.com/office/drawing/2014/main" id="{6B9E964A-1E4D-4226-BAF5-A0C0F1FBBBBD}"/>
              </a:ext>
            </a:extLst>
          </p:cNvPr>
          <p:cNvSpPr>
            <a:spLocks xmlns:a="http://schemas.openxmlformats.org/drawingml/2006/main" noGrp="1"/>
          </p:cNvSpPr>
          <p:nvPr/>
        </p:nvSpPr>
        <p:spPr>
          <a:xfrm xmlns:a="http://schemas.openxmlformats.org/drawingml/2006/main">
            <a:off x="7334250" y="1609725"/>
            <a:ext cx="4143375" cy="866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rmAutofit fontScale="92450"/>
          </a:bodyPr>
          <a:lstStyle xmlns:a="http://schemas.openxmlformats.org/drawingml/2006/main"/>
          <a:p xmlns:a="http://schemas.openxmlformats.org/drawingml/2006/main">
            <a:pPr>
              <a:buNone/>
              <a:defRPr sz="1538" b="0">
                <a:solidFill>
                  <a:srgbClr val="173F33"/>
                </a:solidFill>
                <a:latin typeface="Arial"/>
                <a:ea typeface="Arial"/>
                <a:cs typeface="Arial"/>
              </a:defRPr>
            </a:pPr>
            <a:r>
              <a:rPr sz="1538" b="0">
                <a:solidFill>
                  <a:srgbClr val="173F33"/>
                </a:solidFill>
                <a:latin typeface="Arial"/>
                <a:ea typeface="Arial"/>
                <a:cs typeface="Arial"/>
              </a:rPr>
              <a:t>A clinician-led conversation about a patient’s values, priorities and care preferences, used to agree care goals with the patient and, with consent, their family.</a:t>
            </a:r>
          </a:p>
        </p:txBody>
      </p:sp>
      <p:sp>
        <p:nvSpPr>
          <p:cNvPr id="35" name="QI finding">
            <a:extLst xmlns:a="http://schemas.openxmlformats.org/drawingml/2006/main">
              <a:ext uri="{FF2B5EF4-FFF2-40B4-BE49-F238E27FC236}">
                <a16:creationId xmlns:a16="http://schemas.microsoft.com/office/drawing/2014/main" id="{2F03E078-4D25-4F20-B880-684B58BC7BC6}"/>
              </a:ext>
            </a:extLst>
          </p:cNvPr>
          <p:cNvSpPr>
            <a:spLocks xmlns:a="http://schemas.openxmlformats.org/drawingml/2006/main" noGrp="1"/>
          </p:cNvSpPr>
          <p:nvPr/>
        </p:nvSpPr>
        <p:spPr>
          <a:xfrm xmlns:a="http://schemas.openxmlformats.org/drawingml/2006/main">
            <a:off x="7372350" y="4333875"/>
            <a:ext cx="4057650" cy="790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rmAutofit fontScale="100000"/>
          </a:bodyPr>
          <a:lstStyle xmlns:a="http://schemas.openxmlformats.org/drawingml/2006/main"/>
          <a:p xmlns:a="http://schemas.openxmlformats.org/drawingml/2006/main">
            <a:pPr>
              <a:buNone/>
              <a:defRPr sz="1650" b="0">
                <a:solidFill>
                  <a:srgbClr val="173F33"/>
                </a:solidFill>
                <a:latin typeface="Arial"/>
                <a:ea typeface="Arial"/>
                <a:cs typeface="Arial"/>
              </a:defRPr>
            </a:pPr>
            <a:r>
              <a:rPr sz="1650" b="0">
                <a:solidFill>
                  <a:srgbClr val="173F33"/>
                </a:solidFill>
                <a:latin typeface="Arial"/>
                <a:ea typeface="Arial"/>
                <a:cs typeface="Arial"/>
              </a:rPr>
              <a:t>A standard procedure improved goals-of-care documentation to 92% (24/26 eligible patients).</a:t>
            </a:r>
          </a:p>
        </p:txBody>
      </p:sp>
      <p:sp>
        <p:nvSpPr>
          <p:cNvPr id="36" name="QI scope">
            <a:extLst xmlns:a="http://schemas.openxmlformats.org/drawingml/2006/main">
              <a:ext uri="{FF2B5EF4-FFF2-40B4-BE49-F238E27FC236}">
                <a16:creationId xmlns:a16="http://schemas.microsoft.com/office/drawing/2014/main" id="{E6980F6E-CF5A-438B-A274-F7E7F3520EED}"/>
              </a:ext>
            </a:extLst>
          </p:cNvPr>
          <p:cNvSpPr>
            <a:spLocks xmlns:a="http://schemas.openxmlformats.org/drawingml/2006/main" noGrp="1"/>
          </p:cNvSpPr>
          <p:nvPr/>
        </p:nvSpPr>
        <p:spPr>
          <a:xfrm xmlns:a="http://schemas.openxmlformats.org/drawingml/2006/main">
            <a:off x="7372350" y="5133975"/>
            <a:ext cx="4057650" cy="200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rmAutofit fontScale="100000"/>
          </a:bodyPr>
          <a:lstStyle xmlns:a="http://schemas.openxmlformats.org/drawingml/2006/main"/>
          <a:p xmlns:a="http://schemas.openxmlformats.org/drawingml/2006/main">
            <a:pPr>
              <a:buNone/>
              <a:defRPr sz="1163" b="0">
                <a:solidFill>
                  <a:srgbClr val="53655C"/>
                </a:solidFill>
                <a:latin typeface="Arial"/>
                <a:ea typeface="Arial"/>
                <a:cs typeface="Arial"/>
              </a:defRPr>
            </a:pPr>
            <a:r>
              <a:rPr sz="1163" b="0">
                <a:solidFill>
                  <a:srgbClr val="53655C"/>
                </a:solidFill>
                <a:latin typeface="Arial"/>
                <a:ea typeface="Arial"/>
                <a:cs typeface="Arial"/>
              </a:rPr>
              <a:t>Advanced pancreatic / colorectal cancer, Chennai.</a:t>
            </a:r>
          </a:p>
        </p:txBody>
      </p:sp>
      <p:sp>
        <p:nvSpPr>
          <p:cNvPr id="37" name="QI source">
            <a:extLst xmlns:a="http://schemas.openxmlformats.org/drawingml/2006/main">
              <a:ext uri="{FF2B5EF4-FFF2-40B4-BE49-F238E27FC236}">
                <a16:creationId xmlns:a16="http://schemas.microsoft.com/office/drawing/2014/main" id="{24F37220-99F4-4E87-9782-ED0E96D7E7BC}"/>
              </a:ext>
            </a:extLst>
          </p:cNvPr>
          <p:cNvSpPr>
            <a:spLocks xmlns:a="http://schemas.openxmlformats.org/drawingml/2006/main" noGrp="1"/>
          </p:cNvSpPr>
          <p:nvPr/>
        </p:nvSpPr>
        <p:spPr>
          <a:xfrm xmlns:a="http://schemas.openxmlformats.org/drawingml/2006/main">
            <a:off x="7372350" y="5362575"/>
            <a:ext cx="40576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rmAutofit fontScale="100000"/>
          </a:bodyPr>
          <a:lstStyle xmlns:a="http://schemas.openxmlformats.org/drawingml/2006/main"/>
          <a:p xmlns:a="http://schemas.openxmlformats.org/drawingml/2006/main">
            <a:pPr>
              <a:buNone/>
              <a:defRPr sz="1163" b="0">
                <a:solidFill>
                  <a:srgbClr val="145AC6"/>
                </a:solidFill>
                <a:latin typeface="Arial"/>
                <a:ea typeface="Arial"/>
                <a:cs typeface="Arial"/>
              </a:defRPr>
            </a:pPr>
            <a:r>
              <a:rPr sz="1163" b="0" u="sng">
                <a:solidFill>
                  <a:srgbClr val="145AC6"/>
                </a:solidFill>
                <a:latin typeface="Arial"/>
                <a:ea typeface="Arial"/>
                <a:cs typeface="Arial"/>
                <a:hlinkClick xmlns:r="http://schemas.openxmlformats.org/officeDocument/2006/relationships" r:id="Race3b35a76c9430e"/>
              </a:rPr>
              <a:t>Thangasamy et al., 2025</a:t>
            </a:r>
          </a:p>
        </p:txBody>
      </p:sp>
      <p:sp>
        <p:nvSpPr>
          <p:cNvPr id="38" name="Evidence boundary">
            <a:extLst xmlns:a="http://schemas.openxmlformats.org/drawingml/2006/main">
              <a:ext uri="{FF2B5EF4-FFF2-40B4-BE49-F238E27FC236}">
                <a16:creationId xmlns:a16="http://schemas.microsoft.com/office/drawing/2014/main" id="{086EFB5F-F72D-4B2D-BE06-0FE711079C73}"/>
              </a:ext>
            </a:extLst>
          </p:cNvPr>
          <p:cNvSpPr>
            <a:spLocks xmlns:a="http://schemas.openxmlformats.org/drawingml/2006/main" noGrp="1"/>
          </p:cNvSpPr>
          <p:nvPr/>
        </p:nvSpPr>
        <p:spPr>
          <a:xfrm xmlns:a="http://schemas.openxmlformats.org/drawingml/2006/main">
            <a:off x="533400" y="5476875"/>
            <a:ext cx="111252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rmAutofit fontScale="100000"/>
          </a:bodyPr>
          <a:lstStyle xmlns:a="http://schemas.openxmlformats.org/drawingml/2006/main"/>
          <a:p xmlns:a="http://schemas.openxmlformats.org/drawingml/2006/main">
            <a:pPr>
              <a:buNone/>
              <a:defRPr sz="1200" b="0">
                <a:solidFill>
                  <a:srgbClr val="53655C"/>
                </a:solidFill>
                <a:latin typeface="Arial"/>
                <a:ea typeface="Arial"/>
                <a:cs typeface="Arial"/>
              </a:defRPr>
            </a:pPr>
            <a:r>
              <a:rPr sz="1200" b="0">
                <a:solidFill>
                  <a:srgbClr val="53655C"/>
                </a:solidFill>
                <a:latin typeface="Arial"/>
                <a:ea typeface="Arial"/>
                <a:cs typeface="Arial"/>
              </a:rPr>
              <a:t>Different study groups. These are not results from Saanthvana.</a:t>
            </a:r>
          </a:p>
        </p:txBody>
      </p:sp>
      <p:sp>
        <p:nvSpPr>
          <p:cNvPr id="39" name="Planned impact study">
            <a:extLst xmlns:a="http://schemas.openxmlformats.org/drawingml/2006/main">
              <a:ext uri="{FF2B5EF4-FFF2-40B4-BE49-F238E27FC236}">
                <a16:creationId xmlns:a16="http://schemas.microsoft.com/office/drawing/2014/main" id="{8441278B-1591-4A93-B43E-589C1DCDC020}"/>
              </a:ext>
            </a:extLst>
          </p:cNvPr>
          <p:cNvSpPr>
            <a:spLocks xmlns:a="http://schemas.openxmlformats.org/drawingml/2006/main" noGrp="1"/>
          </p:cNvSpPr>
          <p:nvPr/>
        </p:nvSpPr>
        <p:spPr>
          <a:xfrm xmlns:a="http://schemas.openxmlformats.org/drawingml/2006/main">
            <a:off x="381000" y="5791200"/>
            <a:ext cx="11430000" cy="1066800"/>
          </a:xfrm>
          <a:prstGeom xmlns:a="http://schemas.openxmlformats.org/drawingml/2006/main" prst="rect">
            <a:avLst/>
          </a:prstGeom>
          <a:solidFill xmlns:a="http://schemas.openxmlformats.org/drawingml/2006/main">
            <a:srgbClr val="EFE8F8"/>
          </a:solidFill>
          <a:ln xmlns:a="http://schemas.openxmlformats.org/drawingml/2006/main" w="0">
            <a:noFill/>
          </a:ln>
        </p:spPr>
      </p:sp>
      <p:sp>
        <p:nvSpPr>
          <p:cNvPr id="40" name="Study length and design">
            <a:extLst xmlns:a="http://schemas.openxmlformats.org/drawingml/2006/main">
              <a:ext uri="{FF2B5EF4-FFF2-40B4-BE49-F238E27FC236}">
                <a16:creationId xmlns:a16="http://schemas.microsoft.com/office/drawing/2014/main" id="{7C193DA8-AAEA-410A-A93C-7CF61FB4BF1C}"/>
              </a:ext>
            </a:extLst>
          </p:cNvPr>
          <p:cNvSpPr>
            <a:spLocks xmlns:a="http://schemas.openxmlformats.org/drawingml/2006/main" noGrp="1"/>
          </p:cNvSpPr>
          <p:nvPr/>
        </p:nvSpPr>
        <p:spPr>
          <a:xfrm xmlns:a="http://schemas.openxmlformats.org/drawingml/2006/main">
            <a:off x="533400" y="5867400"/>
            <a:ext cx="111252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rmAutofit fontScale="100000"/>
          </a:bodyPr>
          <a:lstStyle xmlns:a="http://schemas.openxmlformats.org/drawingml/2006/main"/>
          <a:p xmlns:a="http://schemas.openxmlformats.org/drawingml/2006/main">
            <a:pPr>
              <a:buNone/>
              <a:defRPr sz="1800" b="1">
                <a:solidFill>
                  <a:srgbClr val="7353AC"/>
                </a:solidFill>
                <a:latin typeface="Arial"/>
                <a:ea typeface="Arial"/>
                <a:cs typeface="Arial"/>
              </a:defRPr>
            </a:pPr>
            <a:r>
              <a:rPr sz="1800" b="1">
                <a:solidFill>
                  <a:srgbClr val="7353AC"/>
                </a:solidFill>
                <a:latin typeface="Arial"/>
                <a:ea typeface="Arial"/>
                <a:cs typeface="Arial"/>
              </a:rPr>
              <a:t>Proposed 60-90 day study: compare before and after</a:t>
            </a:r>
          </a:p>
        </p:txBody>
      </p:sp>
      <p:sp>
        <p:nvSpPr>
          <p:cNvPr id="41" name="Pilot measure 1">
            <a:extLst xmlns:a="http://schemas.openxmlformats.org/drawingml/2006/main">
              <a:ext uri="{FF2B5EF4-FFF2-40B4-BE49-F238E27FC236}">
                <a16:creationId xmlns:a16="http://schemas.microsoft.com/office/drawing/2014/main" id="{27C00BA3-3D07-4919-AB24-9EE5CFFB8486}"/>
              </a:ext>
            </a:extLst>
          </p:cNvPr>
          <p:cNvSpPr>
            <a:spLocks xmlns:a="http://schemas.openxmlformats.org/drawingml/2006/main" noGrp="1"/>
          </p:cNvSpPr>
          <p:nvPr/>
        </p:nvSpPr>
        <p:spPr>
          <a:xfrm xmlns:a="http://schemas.openxmlformats.org/drawingml/2006/main">
            <a:off x="533400" y="6238875"/>
            <a:ext cx="348615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rmAutofit fontScale="100000"/>
          </a:bodyPr>
          <a:lstStyle xmlns:a="http://schemas.openxmlformats.org/drawingml/2006/main"/>
          <a:p xmlns:a="http://schemas.openxmlformats.org/drawingml/2006/main">
            <a:pPr>
              <a:buNone/>
              <a:defRPr sz="1500" b="0">
                <a:solidFill>
                  <a:srgbClr val="173F33"/>
                </a:solidFill>
                <a:latin typeface="Arial"/>
                <a:ea typeface="Arial"/>
                <a:cs typeface="Arial"/>
              </a:defRPr>
            </a:pPr>
            <a:r>
              <a:rPr sz="1500" b="0">
                <a:solidFill>
                  <a:srgbClr val="173F33"/>
                </a:solidFill>
                <a:latin typeface="Arial"/>
                <a:ea typeface="Arial"/>
                <a:cs typeface="Arial"/>
              </a:rPr>
              <a:t>Number of patient- and doctor-initiated goals-of-care discussions.</a:t>
            </a:r>
          </a:p>
        </p:txBody>
      </p:sp>
      <p:sp>
        <p:nvSpPr>
          <p:cNvPr id="42" name="Pilot measure 2">
            <a:extLst xmlns:a="http://schemas.openxmlformats.org/drawingml/2006/main">
              <a:ext uri="{FF2B5EF4-FFF2-40B4-BE49-F238E27FC236}">
                <a16:creationId xmlns:a16="http://schemas.microsoft.com/office/drawing/2014/main" id="{F04F106B-5EEF-471C-A774-4DF7C6A75D5A}"/>
              </a:ext>
            </a:extLst>
          </p:cNvPr>
          <p:cNvSpPr>
            <a:spLocks xmlns:a="http://schemas.openxmlformats.org/drawingml/2006/main" noGrp="1"/>
          </p:cNvSpPr>
          <p:nvPr/>
        </p:nvSpPr>
        <p:spPr>
          <a:xfrm xmlns:a="http://schemas.openxmlformats.org/drawingml/2006/main">
            <a:off x="4352925" y="6238875"/>
            <a:ext cx="33147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rmAutofit fontScale="100000"/>
          </a:bodyPr>
          <a:lstStyle xmlns:a="http://schemas.openxmlformats.org/drawingml/2006/main"/>
          <a:p xmlns:a="http://schemas.openxmlformats.org/drawingml/2006/main">
            <a:pPr>
              <a:buNone/>
              <a:defRPr sz="1500" b="0">
                <a:solidFill>
                  <a:srgbClr val="173F33"/>
                </a:solidFill>
                <a:latin typeface="Arial"/>
                <a:ea typeface="Arial"/>
                <a:cs typeface="Arial"/>
              </a:defRPr>
            </a:pPr>
            <a:r>
              <a:rPr sz="1500" b="0">
                <a:solidFill>
                  <a:srgbClr val="173F33"/>
                </a:solidFill>
                <a:latin typeface="Arial"/>
                <a:ea typeface="Arial"/>
                <a:cs typeface="Arial"/>
              </a:rPr>
              <a:t>Number of written and signed Care Notes per cancer facility.</a:t>
            </a:r>
          </a:p>
        </p:txBody>
      </p:sp>
      <p:sp>
        <p:nvSpPr>
          <p:cNvPr id="43" name="Pilot measure 3">
            <a:extLst xmlns:a="http://schemas.openxmlformats.org/drawingml/2006/main">
              <a:ext uri="{FF2B5EF4-FFF2-40B4-BE49-F238E27FC236}">
                <a16:creationId xmlns:a16="http://schemas.microsoft.com/office/drawing/2014/main" id="{24EAA74D-6EFC-4A63-A9B6-0B74176D7E05}"/>
              </a:ext>
            </a:extLst>
          </p:cNvPr>
          <p:cNvSpPr>
            <a:spLocks xmlns:a="http://schemas.openxmlformats.org/drawingml/2006/main" noGrp="1"/>
          </p:cNvSpPr>
          <p:nvPr/>
        </p:nvSpPr>
        <p:spPr>
          <a:xfrm xmlns:a="http://schemas.openxmlformats.org/drawingml/2006/main">
            <a:off x="8172450" y="6238875"/>
            <a:ext cx="348615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rmAutofit fontScale="100000"/>
          </a:bodyPr>
          <a:lstStyle xmlns:a="http://schemas.openxmlformats.org/drawingml/2006/main"/>
          <a:p xmlns:a="http://schemas.openxmlformats.org/drawingml/2006/main">
            <a:pPr>
              <a:buNone/>
              <a:defRPr sz="1500" b="0">
                <a:solidFill>
                  <a:srgbClr val="173F33"/>
                </a:solidFill>
                <a:latin typeface="Arial"/>
                <a:ea typeface="Arial"/>
                <a:cs typeface="Arial"/>
              </a:defRPr>
            </a:pPr>
            <a:r>
              <a:rPr sz="1500" b="0">
                <a:solidFill>
                  <a:srgbClr val="173F33"/>
                </a:solidFill>
                <a:latin typeface="Arial"/>
                <a:ea typeface="Arial"/>
                <a:cs typeface="Arial"/>
              </a:rPr>
              <a:t>Time to retrieve goals-of-care discussions during an emergency.</a:t>
            </a:r>
          </a:p>
        </p:txBody>
      </p:sp>
    </p:spTree>
    <p:extLst>
      <p:ext uri="{BB962C8B-B14F-4D97-AF65-F5344CB8AC3E}">
        <p14:creationId xmlns:p14="http://schemas.microsoft.com/office/powerpoint/2010/main" val="1299123762"/>
      </p:ext>
    </p:extLst>
  </p:cSld>
</p:sld>
</file>

<file path=ppt/slides/slide4.xml><?xml version="1.0" encoding="utf-8"?>
<p:sld xmlns:p="http://schemas.openxmlformats.org/presentationml/2006/main">
  <p:cSld>
    <p:bg>
      <p:bgPr>
        <a:solidFill xmlns:a="http://schemas.openxmlformats.org/drawingml/2006/main">
          <a:srgbClr val="F3EAF8"/>
        </a:solidFill>
      </p:bgPr>
    </p:bg>
    <p:spTree>
      <p:nvGrpSpPr>
        <p:cNvPr id="1" name=""/>
        <p:cNvGrpSpPr/>
        <p:nvPr/>
      </p:nvGrpSpPr>
      <p:grpSpPr>
        <a:xfrm xmlns:a="http://schemas.openxmlformats.org/drawingml/2006/main"/>
      </p:grpSpPr>
      <p:sp>
        <p:nvSpPr>
          <p:cNvPr id="18" name="Slide title">
            <a:extLst xmlns:a="http://schemas.openxmlformats.org/drawingml/2006/main">
              <a:ext uri="{FF2B5EF4-FFF2-40B4-BE49-F238E27FC236}">
                <a16:creationId xmlns:a16="http://schemas.microsoft.com/office/drawing/2014/main" id="{810C13B3-543E-4FB7-A494-19AEE4D5F9D4}"/>
              </a:ext>
            </a:extLst>
          </p:cNvPr>
          <p:cNvSpPr>
            <a:spLocks xmlns:a="http://schemas.openxmlformats.org/drawingml/2006/main" noGrp="1"/>
          </p:cNvSpPr>
          <p:nvPr/>
        </p:nvSpPr>
        <p:spPr>
          <a:xfrm xmlns:a="http://schemas.openxmlformats.org/drawingml/2006/main">
            <a:off x="533400" y="304800"/>
            <a:ext cx="111252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rmAutofit fontScale="100000"/>
          </a:bodyPr>
          <a:lstStyle xmlns:a="http://schemas.openxmlformats.org/drawingml/2006/main"/>
          <a:p xmlns:a="http://schemas.openxmlformats.org/drawingml/2006/main">
            <a:pPr>
              <a:buNone/>
              <a:defRPr sz="3075" b="1">
                <a:solidFill>
                  <a:srgbClr val="173F33"/>
                </a:solidFill>
                <a:latin typeface="Arial"/>
                <a:ea typeface="Arial"/>
                <a:cs typeface="Arial"/>
              </a:defRPr>
            </a:pPr>
            <a:r>
              <a:rPr sz="3075" b="1">
                <a:solidFill>
                  <a:srgbClr val="173F33"/>
                </a:solidFill>
                <a:latin typeface="Arial"/>
                <a:ea typeface="Arial"/>
                <a:cs typeface="Arial"/>
              </a:rPr>
              <a:t>Help with palliative care near you</a:t>
            </a:r>
          </a:p>
        </p:txBody>
      </p:sp>
      <p:pic>
        <p:nvPicPr>
          <p:cNvPr id="25" name="Actual MapLibre care map with hospital markers, call and directions"/>
          <p:cNvPicPr>
            <a:picLocks xmlns:a="http://schemas.openxmlformats.org/drawingml/2006/main" noChangeAspect="1"/>
          </p:cNvPicPr>
          <p:nvPr/>
        </p:nvPicPr>
        <p:blipFill>
          <a:blip xmlns:r="http://schemas.openxmlformats.org/officeDocument/2006/relationships" xmlns:a="http://schemas.openxmlformats.org/drawingml/2006/main" r:embed="R5be71f3e859d4fb9"/>
          <a:srcRect xmlns:a="http://schemas.openxmlformats.org/drawingml/2006/main" l="3670" t="39922" r="23591" b="16570"/>
          <a:stretch xmlns:a="http://schemas.openxmlformats.org/drawingml/2006/main">
            <a:fillRect l="0" t="0" r="0" b="0"/>
          </a:stretch>
        </p:blipFill>
        <p:spPr>
          <a:xfrm xmlns:a="http://schemas.openxmlformats.org/drawingml/2006/main">
            <a:off x="533400" y="1333500"/>
            <a:ext cx="5943600" cy="4810125"/>
          </a:xfrm>
          <a:prstGeom xmlns:a="http://schemas.openxmlformats.org/drawingml/2006/main" prst="rect">
            <a:avLst/>
          </a:prstGeom>
        </p:spPr>
      </p:pic>
      <p:sp>
        <p:nvSpPr>
          <p:cNvPr id="3" name="Live map link">
            <a:extLst xmlns:a="http://schemas.openxmlformats.org/drawingml/2006/main">
              <a:ext uri="{FF2B5EF4-FFF2-40B4-BE49-F238E27FC236}">
                <a16:creationId xmlns:a16="http://schemas.microsoft.com/office/drawing/2014/main" id="{F9286181-CBF1-46D2-BFAD-A16A938D7023}"/>
              </a:ext>
            </a:extLst>
          </p:cNvPr>
          <p:cNvSpPr>
            <a:spLocks xmlns:a="http://schemas.openxmlformats.org/drawingml/2006/main" noGrp="1"/>
          </p:cNvSpPr>
          <p:nvPr/>
        </p:nvSpPr>
        <p:spPr>
          <a:xfrm xmlns:a="http://schemas.openxmlformats.org/drawingml/2006/main">
            <a:off x="533400" y="6438900"/>
            <a:ext cx="2886075"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rmAutofit fontScale="100000"/>
          </a:bodyPr>
          <a:lstStyle xmlns:a="http://schemas.openxmlformats.org/drawingml/2006/main"/>
          <a:p xmlns:a="http://schemas.openxmlformats.org/drawingml/2006/main">
            <a:pPr>
              <a:buNone/>
              <a:defRPr sz="1575" b="1">
                <a:solidFill>
                  <a:srgbClr val="145AC6"/>
                </a:solidFill>
                <a:latin typeface="Arial"/>
                <a:ea typeface="Arial"/>
                <a:cs typeface="Arial"/>
              </a:defRPr>
            </a:pPr>
            <a:r>
              <a:rPr sz="1575" b="1" u="sng">
                <a:solidFill>
                  <a:srgbClr val="145AC6"/>
                </a:solidFill>
                <a:latin typeface="Arial"/>
                <a:ea typeface="Arial"/>
                <a:cs typeface="Arial"/>
                <a:hlinkClick xmlns:r="http://schemas.openxmlformats.org/officeDocument/2006/relationships" r:id="Rceeb189fe0794dfa"/>
              </a:rPr>
              <a:t>Open the care map</a:t>
            </a:r>
          </a:p>
        </p:txBody>
      </p:sp>
      <p:sp>
        <p:nvSpPr>
          <p:cNvPr id="4" name="Care directory source">
            <a:extLst xmlns:a="http://schemas.openxmlformats.org/drawingml/2006/main">
              <a:ext uri="{FF2B5EF4-FFF2-40B4-BE49-F238E27FC236}">
                <a16:creationId xmlns:a16="http://schemas.microsoft.com/office/drawing/2014/main" id="{343C6913-1B8A-458F-AF78-EEF9CCFF0961}"/>
              </a:ext>
            </a:extLst>
          </p:cNvPr>
          <p:cNvSpPr>
            <a:spLocks xmlns:a="http://schemas.openxmlformats.org/drawingml/2006/main" noGrp="1"/>
          </p:cNvSpPr>
          <p:nvPr/>
        </p:nvSpPr>
        <p:spPr>
          <a:xfrm xmlns:a="http://schemas.openxmlformats.org/drawingml/2006/main">
            <a:off x="3609975" y="6438900"/>
            <a:ext cx="2867025"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rmAutofit fontScale="100000"/>
          </a:bodyPr>
          <a:lstStyle xmlns:a="http://schemas.openxmlformats.org/drawingml/2006/main"/>
          <a:p xmlns:a="http://schemas.openxmlformats.org/drawingml/2006/main">
            <a:pPr>
              <a:buNone/>
              <a:defRPr sz="1425" b="0">
                <a:solidFill>
                  <a:srgbClr val="145AC6"/>
                </a:solidFill>
                <a:latin typeface="Arial"/>
                <a:ea typeface="Arial"/>
                <a:cs typeface="Arial"/>
              </a:defRPr>
            </a:pPr>
            <a:r>
              <a:rPr sz="1425" b="0" u="sng">
                <a:solidFill>
                  <a:srgbClr val="145AC6"/>
                </a:solidFill>
                <a:latin typeface="Arial"/>
                <a:ea typeface="Arial"/>
                <a:cs typeface="Arial"/>
                <a:hlinkClick xmlns:r="http://schemas.openxmlformats.org/officeDocument/2006/relationships" r:id="R695b570d3d4e486e"/>
              </a:rPr>
              <a:t>Pallium India directory</a:t>
            </a:r>
          </a:p>
        </p:txBody>
      </p:sp>
      <p:sp>
        <p:nvSpPr>
          <p:cNvPr id="5" name="Map attribution">
            <a:extLst xmlns:a="http://schemas.openxmlformats.org/drawingml/2006/main">
              <a:ext uri="{FF2B5EF4-FFF2-40B4-BE49-F238E27FC236}">
                <a16:creationId xmlns:a16="http://schemas.microsoft.com/office/drawing/2014/main" id="{B2F88B1C-B6FB-48F2-B0D8-B499C765DF33}"/>
              </a:ext>
            </a:extLst>
          </p:cNvPr>
          <p:cNvSpPr>
            <a:spLocks xmlns:a="http://schemas.openxmlformats.org/drawingml/2006/main" noGrp="1"/>
          </p:cNvSpPr>
          <p:nvPr/>
        </p:nvSpPr>
        <p:spPr>
          <a:xfrm xmlns:a="http://schemas.openxmlformats.org/drawingml/2006/main">
            <a:off x="533400" y="6172200"/>
            <a:ext cx="59436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rmAutofit fontScale="100000"/>
          </a:bodyPr>
          <a:lstStyle xmlns:a="http://schemas.openxmlformats.org/drawingml/2006/main"/>
          <a:p xmlns:a="http://schemas.openxmlformats.org/drawingml/2006/main">
            <a:pPr>
              <a:buNone/>
              <a:defRPr sz="975" b="0">
                <a:solidFill>
                  <a:srgbClr val="145AC6"/>
                </a:solidFill>
                <a:latin typeface="Arial"/>
                <a:ea typeface="Arial"/>
                <a:cs typeface="Arial"/>
              </a:defRPr>
            </a:pPr>
            <a:r>
              <a:rPr sz="975" b="0" u="sng">
                <a:solidFill>
                  <a:srgbClr val="145AC6"/>
                </a:solidFill>
                <a:latin typeface="Arial"/>
                <a:ea typeface="Arial"/>
                <a:cs typeface="Arial"/>
                <a:hlinkClick xmlns:r="http://schemas.openxmlformats.org/officeDocument/2006/relationships" r:id="R58c0b7332cbe4535"/>
              </a:rPr>
              <a:t>Map data: © OpenStreetMap contributors</a:t>
            </a:r>
          </a:p>
        </p:txBody>
      </p:sp>
      <p:pic>
        <p:nvPicPr>
          <p:cNvPr id="29" name=""/>
          <p:cNvPicPr>
            <a:picLocks xmlns:a="http://schemas.openxmlformats.org/drawingml/2006/main" noChangeAspect="1"/>
          </p:cNvPicPr>
          <p:nvPr/>
        </p:nvPicPr>
        <p:blipFill>
          <a:blip xmlns:r="http://schemas.openxmlformats.org/officeDocument/2006/relationships" xmlns:a="http://schemas.openxmlformats.org/drawingml/2006/main" r:embed="R7db23814a7b4476d">
            <a:extLst>
              <a:ext uri="{96DAC541-7B7A-43D3-8B79-37D633B846F1}">
                <asvg:svgBlip xmlns:asvg="http://schemas.microsoft.com/office/drawing/2016/SVG/main" r:embed="R1557d28b18af4485"/>
              </a:ext>
            </a:extLst>
          </a:blip>
          <a:stretch xmlns:a="http://schemas.openxmlformats.org/drawingml/2006/main"/>
        </p:blipFill>
        <p:spPr>
          <a:xfrm xmlns:a="http://schemas.openxmlformats.org/drawingml/2006/main">
            <a:off x="6838950" y="1276350"/>
            <a:ext cx="400050" cy="400050"/>
          </a:xfrm>
          <a:prstGeom xmlns:a="http://schemas.openxmlformats.org/drawingml/2006/main" prst="rect">
            <a:avLst/>
          </a:prstGeom>
        </p:spPr>
      </p:pic>
      <p:sp>
        <p:nvSpPr>
          <p:cNvPr id="7" name="Family support 1">
            <a:extLst xmlns:a="http://schemas.openxmlformats.org/drawingml/2006/main">
              <a:ext uri="{FF2B5EF4-FFF2-40B4-BE49-F238E27FC236}">
                <a16:creationId xmlns:a16="http://schemas.microsoft.com/office/drawing/2014/main" id="{631231EB-C716-4D61-A187-AFE9A3E85949}"/>
              </a:ext>
            </a:extLst>
          </p:cNvPr>
          <p:cNvSpPr>
            <a:spLocks xmlns:a="http://schemas.openxmlformats.org/drawingml/2006/main" noGrp="1"/>
          </p:cNvSpPr>
          <p:nvPr/>
        </p:nvSpPr>
        <p:spPr>
          <a:xfrm xmlns:a="http://schemas.openxmlformats.org/drawingml/2006/main">
            <a:off x="7400925" y="1247775"/>
            <a:ext cx="4257675"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rmAutofit fontScale="100000"/>
          </a:bodyPr>
          <a:lstStyle xmlns:a="http://schemas.openxmlformats.org/drawingml/2006/main"/>
          <a:p xmlns:a="http://schemas.openxmlformats.org/drawingml/2006/main">
            <a:pPr>
              <a:buNone/>
              <a:defRPr sz="1875" b="1">
                <a:solidFill>
                  <a:srgbClr val="145AC6"/>
                </a:solidFill>
                <a:latin typeface="Arial"/>
                <a:ea typeface="Arial"/>
                <a:cs typeface="Arial"/>
              </a:defRPr>
            </a:pPr>
            <a:r>
              <a:rPr sz="1875" b="1" u="sng">
                <a:solidFill>
                  <a:srgbClr val="145AC6"/>
                </a:solidFill>
                <a:latin typeface="Arial"/>
                <a:ea typeface="Arial"/>
                <a:cs typeface="Arial"/>
                <a:hlinkClick xmlns:r="http://schemas.openxmlformats.org/officeDocument/2006/relationships" r:id="R119b1031e58f4f75"/>
              </a:rPr>
              <a:t>1. Find palliative care nearby</a:t>
            </a:r>
          </a:p>
        </p:txBody>
      </p:sp>
      <p:sp>
        <p:nvSpPr>
          <p:cNvPr id="8" name="Family support 1 description">
            <a:extLst xmlns:a="http://schemas.openxmlformats.org/drawingml/2006/main">
              <a:ext uri="{FF2B5EF4-FFF2-40B4-BE49-F238E27FC236}">
                <a16:creationId xmlns:a16="http://schemas.microsoft.com/office/drawing/2014/main" id="{CE08D8E6-0466-4C64-A444-12DC69C96F87}"/>
              </a:ext>
            </a:extLst>
          </p:cNvPr>
          <p:cNvSpPr>
            <a:spLocks xmlns:a="http://schemas.openxmlformats.org/drawingml/2006/main" noGrp="1"/>
          </p:cNvSpPr>
          <p:nvPr/>
        </p:nvSpPr>
        <p:spPr>
          <a:xfrm xmlns:a="http://schemas.openxmlformats.org/drawingml/2006/main">
            <a:off x="7400925" y="1695450"/>
            <a:ext cx="4257675"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rmAutofit fontScale="100000"/>
          </a:bodyPr>
          <a:lstStyle xmlns:a="http://schemas.openxmlformats.org/drawingml/2006/main"/>
          <a:p xmlns:a="http://schemas.openxmlformats.org/drawingml/2006/main">
            <a:pPr>
              <a:buNone/>
              <a:defRPr sz="1650" b="0">
                <a:solidFill>
                  <a:srgbClr val="173F33"/>
                </a:solidFill>
                <a:latin typeface="Arial"/>
                <a:ea typeface="Arial"/>
                <a:cs typeface="Arial"/>
              </a:defRPr>
            </a:pPr>
            <a:r>
              <a:rPr sz="1650" b="0">
                <a:solidFill>
                  <a:srgbClr val="173F33"/>
                </a:solidFill>
                <a:latin typeface="Arial"/>
                <a:ea typeface="Arial"/>
                <a:cs typeface="Arial"/>
              </a:rPr>
              <a:t>Find palliative-care centres and hospitals, with phone numbers and directions.</a:t>
            </a:r>
          </a:p>
        </p:txBody>
      </p:sp>
      <p:pic>
        <p:nvPicPr>
          <p:cNvPr id="32" name=""/>
          <p:cNvPicPr>
            <a:picLocks xmlns:a="http://schemas.openxmlformats.org/drawingml/2006/main" noChangeAspect="1"/>
          </p:cNvPicPr>
          <p:nvPr/>
        </p:nvPicPr>
        <p:blipFill>
          <a:blip xmlns:r="http://schemas.openxmlformats.org/officeDocument/2006/relationships" xmlns:a="http://schemas.openxmlformats.org/drawingml/2006/main" r:embed="R1cd40101eccf4d1b">
            <a:extLst>
              <a:ext uri="{96DAC541-7B7A-43D3-8B79-37D633B846F1}">
                <asvg:svgBlip xmlns:asvg="http://schemas.microsoft.com/office/drawing/2016/SVG/main" r:embed="R5412ded50f6749c2"/>
              </a:ext>
            </a:extLst>
          </a:blip>
          <a:stretch xmlns:a="http://schemas.openxmlformats.org/drawingml/2006/main"/>
        </p:blipFill>
        <p:spPr>
          <a:xfrm xmlns:a="http://schemas.openxmlformats.org/drawingml/2006/main">
            <a:off x="6838950" y="2571750"/>
            <a:ext cx="400050" cy="400050"/>
          </a:xfrm>
          <a:prstGeom xmlns:a="http://schemas.openxmlformats.org/drawingml/2006/main" prst="rect">
            <a:avLst/>
          </a:prstGeom>
        </p:spPr>
      </p:pic>
      <p:sp>
        <p:nvSpPr>
          <p:cNvPr id="10" name="Family support 2">
            <a:extLst xmlns:a="http://schemas.openxmlformats.org/drawingml/2006/main">
              <a:ext uri="{FF2B5EF4-FFF2-40B4-BE49-F238E27FC236}">
                <a16:creationId xmlns:a16="http://schemas.microsoft.com/office/drawing/2014/main" id="{26893C00-FFC0-42B6-AFE1-033AA3760046}"/>
              </a:ext>
            </a:extLst>
          </p:cNvPr>
          <p:cNvSpPr>
            <a:spLocks xmlns:a="http://schemas.openxmlformats.org/drawingml/2006/main" noGrp="1"/>
          </p:cNvSpPr>
          <p:nvPr/>
        </p:nvSpPr>
        <p:spPr>
          <a:xfrm xmlns:a="http://schemas.openxmlformats.org/drawingml/2006/main">
            <a:off x="7400925" y="2543175"/>
            <a:ext cx="4257675"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rmAutofit fontScale="100000"/>
          </a:bodyPr>
          <a:lstStyle xmlns:a="http://schemas.openxmlformats.org/drawingml/2006/main"/>
          <a:p xmlns:a="http://schemas.openxmlformats.org/drawingml/2006/main">
            <a:pPr>
              <a:buNone/>
              <a:defRPr sz="1875" b="1">
                <a:solidFill>
                  <a:srgbClr val="145AC6"/>
                </a:solidFill>
                <a:latin typeface="Arial"/>
                <a:ea typeface="Arial"/>
                <a:cs typeface="Arial"/>
              </a:defRPr>
            </a:pPr>
            <a:r>
              <a:rPr sz="1875" b="1" u="sng">
                <a:solidFill>
                  <a:srgbClr val="145AC6"/>
                </a:solidFill>
                <a:latin typeface="Arial"/>
                <a:ea typeface="Arial"/>
                <a:cs typeface="Arial"/>
                <a:hlinkClick xmlns:r="http://schemas.openxmlformats.org/officeDocument/2006/relationships" r:id="R52a8364fdbe3469b"/>
              </a:rPr>
              <a:t>2. Access to prescribed opioids</a:t>
            </a:r>
          </a:p>
        </p:txBody>
      </p:sp>
      <p:sp>
        <p:nvSpPr>
          <p:cNvPr id="11" name="Family support 2 description">
            <a:extLst xmlns:a="http://schemas.openxmlformats.org/drawingml/2006/main">
              <a:ext uri="{FF2B5EF4-FFF2-40B4-BE49-F238E27FC236}">
                <a16:creationId xmlns:a16="http://schemas.microsoft.com/office/drawing/2014/main" id="{A916A27C-EE7A-48F2-BC8C-A419236A49CB}"/>
              </a:ext>
            </a:extLst>
          </p:cNvPr>
          <p:cNvSpPr>
            <a:spLocks xmlns:a="http://schemas.openxmlformats.org/drawingml/2006/main" noGrp="1"/>
          </p:cNvSpPr>
          <p:nvPr/>
        </p:nvSpPr>
        <p:spPr>
          <a:xfrm xmlns:a="http://schemas.openxmlformats.org/drawingml/2006/main">
            <a:off x="7400925" y="2990850"/>
            <a:ext cx="4257675"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rmAutofit fontScale="98485"/>
          </a:bodyPr>
          <a:lstStyle xmlns:a="http://schemas.openxmlformats.org/drawingml/2006/main"/>
          <a:p xmlns:a="http://schemas.openxmlformats.org/drawingml/2006/main">
            <a:pPr>
              <a:buNone/>
              <a:defRPr sz="1650" b="0">
                <a:solidFill>
                  <a:srgbClr val="173F33"/>
                </a:solidFill>
                <a:latin typeface="Arial"/>
                <a:ea typeface="Arial"/>
                <a:cs typeface="Arial"/>
              </a:defRPr>
            </a:pPr>
            <a:r>
              <a:rPr sz="1650" b="0">
                <a:solidFill>
                  <a:srgbClr val="173F33"/>
                </a:solidFill>
                <a:latin typeface="Arial"/>
                <a:ea typeface="Arial"/>
                <a:cs typeface="Arial"/>
              </a:rPr>
              <a:t>Ask about oral morphine, prescription documents and collection hours before travelling.</a:t>
            </a:r>
          </a:p>
        </p:txBody>
      </p:sp>
      <p:pic>
        <p:nvPicPr>
          <p:cNvPr id="35" name=""/>
          <p:cNvPicPr>
            <a:picLocks xmlns:a="http://schemas.openxmlformats.org/drawingml/2006/main" noChangeAspect="1"/>
          </p:cNvPicPr>
          <p:nvPr/>
        </p:nvPicPr>
        <p:blipFill>
          <a:blip xmlns:r="http://schemas.openxmlformats.org/officeDocument/2006/relationships" xmlns:a="http://schemas.openxmlformats.org/drawingml/2006/main" r:embed="R91fc7340089c4566">
            <a:extLst>
              <a:ext uri="{96DAC541-7B7A-43D3-8B79-37D633B846F1}">
                <asvg:svgBlip xmlns:asvg="http://schemas.microsoft.com/office/drawing/2016/SVG/main" r:embed="R51a5f7a0512c49ae"/>
              </a:ext>
            </a:extLst>
          </a:blip>
          <a:stretch xmlns:a="http://schemas.openxmlformats.org/drawingml/2006/main"/>
        </p:blipFill>
        <p:spPr>
          <a:xfrm xmlns:a="http://schemas.openxmlformats.org/drawingml/2006/main">
            <a:off x="6838950" y="3867150"/>
            <a:ext cx="400050" cy="400050"/>
          </a:xfrm>
          <a:prstGeom xmlns:a="http://schemas.openxmlformats.org/drawingml/2006/main" prst="rect">
            <a:avLst/>
          </a:prstGeom>
        </p:spPr>
      </p:pic>
      <p:sp>
        <p:nvSpPr>
          <p:cNvPr id="13" name="Family support 3">
            <a:extLst xmlns:a="http://schemas.openxmlformats.org/drawingml/2006/main">
              <a:ext uri="{FF2B5EF4-FFF2-40B4-BE49-F238E27FC236}">
                <a16:creationId xmlns:a16="http://schemas.microsoft.com/office/drawing/2014/main" id="{C16B9867-2BC7-4D7A-8A2B-5E846AAFB64E}"/>
              </a:ext>
            </a:extLst>
          </p:cNvPr>
          <p:cNvSpPr>
            <a:spLocks xmlns:a="http://schemas.openxmlformats.org/drawingml/2006/main" noGrp="1"/>
          </p:cNvSpPr>
          <p:nvPr/>
        </p:nvSpPr>
        <p:spPr>
          <a:xfrm xmlns:a="http://schemas.openxmlformats.org/drawingml/2006/main">
            <a:off x="7400925" y="3838575"/>
            <a:ext cx="4257675"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rmAutofit fontScale="100000"/>
          </a:bodyPr>
          <a:lstStyle xmlns:a="http://schemas.openxmlformats.org/drawingml/2006/main"/>
          <a:p xmlns:a="http://schemas.openxmlformats.org/drawingml/2006/main">
            <a:pPr>
              <a:buNone/>
              <a:defRPr sz="1875" b="1">
                <a:solidFill>
                  <a:srgbClr val="145AC6"/>
                </a:solidFill>
                <a:latin typeface="Arial"/>
                <a:ea typeface="Arial"/>
                <a:cs typeface="Arial"/>
              </a:defRPr>
            </a:pPr>
            <a:r>
              <a:rPr sz="1875" b="1" u="sng">
                <a:solidFill>
                  <a:srgbClr val="145AC6"/>
                </a:solidFill>
                <a:latin typeface="Arial"/>
                <a:ea typeface="Arial"/>
                <a:cs typeface="Arial"/>
                <a:hlinkClick xmlns:r="http://schemas.openxmlformats.org/officeDocument/2006/relationships" r:id="Re71fc0146e954099"/>
              </a:rPr>
              <a:t>3. Find your cancer-specific support group</a:t>
            </a:r>
          </a:p>
        </p:txBody>
      </p:sp>
      <p:sp>
        <p:nvSpPr>
          <p:cNvPr id="14" name="Family support 3 description">
            <a:extLst xmlns:a="http://schemas.openxmlformats.org/drawingml/2006/main">
              <a:ext uri="{FF2B5EF4-FFF2-40B4-BE49-F238E27FC236}">
                <a16:creationId xmlns:a16="http://schemas.microsoft.com/office/drawing/2014/main" id="{DDACB552-D9E8-448F-9651-724326636C82}"/>
              </a:ext>
            </a:extLst>
          </p:cNvPr>
          <p:cNvSpPr>
            <a:spLocks xmlns:a="http://schemas.openxmlformats.org/drawingml/2006/main" noGrp="1"/>
          </p:cNvSpPr>
          <p:nvPr/>
        </p:nvSpPr>
        <p:spPr>
          <a:xfrm xmlns:a="http://schemas.openxmlformats.org/drawingml/2006/main">
            <a:off x="7400925" y="4486275"/>
            <a:ext cx="4257675"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rmAutofit fontScale="100000"/>
          </a:bodyPr>
          <a:lstStyle xmlns:a="http://schemas.openxmlformats.org/drawingml/2006/main"/>
          <a:p xmlns:a="http://schemas.openxmlformats.org/drawingml/2006/main">
            <a:pPr>
              <a:buNone/>
              <a:defRPr sz="1650" b="0">
                <a:solidFill>
                  <a:srgbClr val="173F33"/>
                </a:solidFill>
                <a:latin typeface="Arial"/>
                <a:ea typeface="Arial"/>
                <a:cs typeface="Arial"/>
              </a:defRPr>
            </a:pPr>
            <a:r>
              <a:rPr sz="1650" b="0">
                <a:solidFill>
                  <a:srgbClr val="173F33"/>
                </a:solidFill>
                <a:latin typeface="Arial"/>
                <a:ea typeface="Arial"/>
                <a:cs typeface="Arial"/>
              </a:rPr>
              <a:t>Find patient and caregiver groups for your cancer type, locally or online.</a:t>
            </a:r>
          </a:p>
        </p:txBody>
      </p:sp>
      <p:pic>
        <p:nvPicPr>
          <p:cNvPr id="38" name=""/>
          <p:cNvPicPr>
            <a:picLocks xmlns:a="http://schemas.openxmlformats.org/drawingml/2006/main" noChangeAspect="1"/>
          </p:cNvPicPr>
          <p:nvPr/>
        </p:nvPicPr>
        <p:blipFill>
          <a:blip xmlns:r="http://schemas.openxmlformats.org/officeDocument/2006/relationships" xmlns:a="http://schemas.openxmlformats.org/drawingml/2006/main" r:embed="R399e7c3c5a3842c2">
            <a:extLst>
              <a:ext uri="{96DAC541-7B7A-43D3-8B79-37D633B846F1}">
                <asvg:svgBlip xmlns:asvg="http://schemas.microsoft.com/office/drawing/2016/SVG/main" r:embed="R0ed8aad035ba48a0"/>
              </a:ext>
            </a:extLst>
          </a:blip>
          <a:stretch xmlns:a="http://schemas.openxmlformats.org/drawingml/2006/main"/>
        </p:blipFill>
        <p:spPr>
          <a:xfrm xmlns:a="http://schemas.openxmlformats.org/drawingml/2006/main">
            <a:off x="6838950" y="5162550"/>
            <a:ext cx="400050" cy="400050"/>
          </a:xfrm>
          <a:prstGeom xmlns:a="http://schemas.openxmlformats.org/drawingml/2006/main" prst="rect">
            <a:avLst/>
          </a:prstGeom>
        </p:spPr>
      </p:pic>
      <p:sp>
        <p:nvSpPr>
          <p:cNvPr id="16" name="Family support 4">
            <a:extLst xmlns:a="http://schemas.openxmlformats.org/drawingml/2006/main">
              <a:ext uri="{FF2B5EF4-FFF2-40B4-BE49-F238E27FC236}">
                <a16:creationId xmlns:a16="http://schemas.microsoft.com/office/drawing/2014/main" id="{7516B8E2-F14E-4585-A912-B7677ECD0D9D}"/>
              </a:ext>
            </a:extLst>
          </p:cNvPr>
          <p:cNvSpPr>
            <a:spLocks xmlns:a="http://schemas.openxmlformats.org/drawingml/2006/main" noGrp="1"/>
          </p:cNvSpPr>
          <p:nvPr/>
        </p:nvSpPr>
        <p:spPr>
          <a:xfrm xmlns:a="http://schemas.openxmlformats.org/drawingml/2006/main">
            <a:off x="7400925" y="5133975"/>
            <a:ext cx="4257675"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rmAutofit fontScale="100000"/>
          </a:bodyPr>
          <a:lstStyle xmlns:a="http://schemas.openxmlformats.org/drawingml/2006/main"/>
          <a:p xmlns:a="http://schemas.openxmlformats.org/drawingml/2006/main">
            <a:pPr>
              <a:buNone/>
              <a:defRPr sz="1875" b="1">
                <a:solidFill>
                  <a:srgbClr val="145AC6"/>
                </a:solidFill>
                <a:latin typeface="Arial"/>
                <a:ea typeface="Arial"/>
                <a:cs typeface="Arial"/>
              </a:defRPr>
            </a:pPr>
            <a:r>
              <a:rPr sz="1875" b="1" u="sng">
                <a:solidFill>
                  <a:srgbClr val="145AC6"/>
                </a:solidFill>
                <a:latin typeface="Arial"/>
                <a:ea typeface="Arial"/>
                <a:cs typeface="Arial"/>
                <a:hlinkClick xmlns:r="http://schemas.openxmlformats.org/officeDocument/2006/relationships" r:id="R06895302b0174722"/>
              </a:rPr>
              <a:t>4. Plan travel and help at home</a:t>
            </a:r>
          </a:p>
        </p:txBody>
      </p:sp>
      <p:sp>
        <p:nvSpPr>
          <p:cNvPr id="17" name="Family support 4 description">
            <a:extLst xmlns:a="http://schemas.openxmlformats.org/drawingml/2006/main">
              <a:ext uri="{FF2B5EF4-FFF2-40B4-BE49-F238E27FC236}">
                <a16:creationId xmlns:a16="http://schemas.microsoft.com/office/drawing/2014/main" id="{393EFD93-B221-47B6-AC12-070B46966CFE}"/>
              </a:ext>
            </a:extLst>
          </p:cNvPr>
          <p:cNvSpPr>
            <a:spLocks xmlns:a="http://schemas.openxmlformats.org/drawingml/2006/main" noGrp="1"/>
          </p:cNvSpPr>
          <p:nvPr/>
        </p:nvSpPr>
        <p:spPr>
          <a:xfrm xmlns:a="http://schemas.openxmlformats.org/drawingml/2006/main">
            <a:off x="7400925" y="5581650"/>
            <a:ext cx="4257675"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rmAutofit fontScale="100000"/>
          </a:bodyPr>
          <a:lstStyle xmlns:a="http://schemas.openxmlformats.org/drawingml/2006/main"/>
          <a:p xmlns:a="http://schemas.openxmlformats.org/drawingml/2006/main">
            <a:pPr>
              <a:buNone/>
              <a:defRPr sz="1650" b="0">
                <a:solidFill>
                  <a:srgbClr val="173F33"/>
                </a:solidFill>
                <a:latin typeface="Arial"/>
                <a:ea typeface="Arial"/>
                <a:cs typeface="Arial"/>
              </a:defRPr>
            </a:pPr>
            <a:r>
              <a:rPr sz="1650" b="0">
                <a:solidFill>
                  <a:srgbClr val="173F33"/>
                </a:solidFill>
                <a:latin typeface="Arial"/>
                <a:ea typeface="Arial"/>
                <a:cs typeface="Arial"/>
              </a:rPr>
              <a:t>Write down who will handle a ride, home-nursing visit or medicine pickup.</a:t>
            </a:r>
          </a:p>
        </p:txBody>
      </p:sp>
    </p:spTree>
    <p:extLst>
      <p:ext uri="{BB962C8B-B14F-4D97-AF65-F5344CB8AC3E}">
        <p14:creationId xmlns:p14="http://schemas.microsoft.com/office/powerpoint/2010/main" val="1410585306"/>
      </p:ext>
    </p:extLst>
  </p:cSld>
</p:sld>
</file>

<file path=ppt/slides/slide5.xml><?xml version="1.0" encoding="utf-8"?>
<p:sld xmlns:p="http://schemas.openxmlformats.org/presentationml/2006/main">
  <p:cSld>
    <p:bg>
      <p:bgPr>
        <a:solidFill xmlns:a="http://schemas.openxmlformats.org/drawingml/2006/main">
          <a:srgbClr val="FCFAF4"/>
        </a:solidFill>
      </p:bgPr>
    </p:bg>
    <p:spTree>
      <p:nvGrpSpPr>
        <p:cNvPr id="1" name=""/>
        <p:cNvGrpSpPr/>
        <p:nvPr/>
      </p:nvGrpSpPr>
      <p:grpSpPr>
        <a:xfrm xmlns:a="http://schemas.openxmlformats.org/drawingml/2006/main"/>
      </p:grpSpPr>
      <p:sp>
        <p:nvSpPr>
          <p:cNvPr id="15" name="Slide title">
            <a:extLst xmlns:a="http://schemas.openxmlformats.org/drawingml/2006/main">
              <a:ext uri="{FF2B5EF4-FFF2-40B4-BE49-F238E27FC236}">
                <a16:creationId xmlns:a16="http://schemas.microsoft.com/office/drawing/2014/main" id="{FDF7233B-E80A-4458-9433-4AECB7181B3D}"/>
              </a:ext>
            </a:extLst>
          </p:cNvPr>
          <p:cNvSpPr>
            <a:spLocks xmlns:a="http://schemas.openxmlformats.org/drawingml/2006/main" noGrp="1"/>
          </p:cNvSpPr>
          <p:nvPr/>
        </p:nvSpPr>
        <p:spPr>
          <a:xfrm xmlns:a="http://schemas.openxmlformats.org/drawingml/2006/main">
            <a:off x="533400" y="304800"/>
            <a:ext cx="11125200" cy="581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rmAutofit fontScale="100000"/>
          </a:bodyPr>
          <a:lstStyle xmlns:a="http://schemas.openxmlformats.org/drawingml/2006/main"/>
          <a:p xmlns:a="http://schemas.openxmlformats.org/drawingml/2006/main">
            <a:pPr>
              <a:buNone/>
              <a:defRPr sz="3000" b="1">
                <a:solidFill>
                  <a:srgbClr val="173F33"/>
                </a:solidFill>
                <a:latin typeface="Arial"/>
                <a:ea typeface="Arial"/>
                <a:cs typeface="Arial"/>
              </a:defRPr>
            </a:pPr>
            <a:r>
              <a:rPr sz="3000" b="1">
                <a:solidFill>
                  <a:srgbClr val="173F33"/>
                </a:solidFill>
                <a:latin typeface="Arial"/>
                <a:ea typeface="Arial"/>
                <a:cs typeface="Arial"/>
              </a:rPr>
              <a:t>Saanthvana keeps your cancer care in one place</a:t>
            </a:r>
          </a:p>
        </p:txBody>
      </p:sp>
      <p:pic>
        <p:nvPicPr>
          <p:cNvPr id="24" name=""/>
          <p:cNvPicPr>
            <a:picLocks xmlns:a="http://schemas.openxmlformats.org/drawingml/2006/main" noChangeAspect="1"/>
          </p:cNvPicPr>
          <p:nvPr/>
        </p:nvPicPr>
        <p:blipFill>
          <a:blip xmlns:r="http://schemas.openxmlformats.org/officeDocument/2006/relationships" xmlns:a="http://schemas.openxmlformats.org/drawingml/2006/main" r:embed="R14ddd3d6df11472f"/>
          <a:stretch xmlns:a="http://schemas.openxmlformats.org/drawingml/2006/main"/>
        </p:blipFill>
        <p:spPr>
          <a:xfrm xmlns:a="http://schemas.openxmlformats.org/drawingml/2006/main">
            <a:off x="228600" y="1030856"/>
            <a:ext cx="7753350" cy="4529589"/>
          </a:xfrm>
          <a:prstGeom xmlns:a="http://schemas.openxmlformats.org/drawingml/2006/main" prst="rect">
            <a:avLst/>
          </a:prstGeom>
        </p:spPr>
      </p:pic>
      <p:pic>
        <p:nvPicPr>
          <p:cNvPr id="25" name="Actual care calendar with the upcoming clinic visit"/>
          <p:cNvPicPr>
            <a:picLocks xmlns:a="http://schemas.openxmlformats.org/drawingml/2006/main" noChangeAspect="1"/>
          </p:cNvPicPr>
          <p:nvPr/>
        </p:nvPicPr>
        <p:blipFill>
          <a:blip xmlns:r="http://schemas.openxmlformats.org/officeDocument/2006/relationships" xmlns:a="http://schemas.openxmlformats.org/drawingml/2006/main" r:embed="R9feca2d6a88a449e"/>
          <a:srcRect xmlns:a="http://schemas.openxmlformats.org/drawingml/2006/main" l="3539" t="13901" r="23460" b="22629"/>
          <a:stretch xmlns:a="http://schemas.openxmlformats.org/drawingml/2006/main">
            <a:fillRect l="0" t="0" r="0" b="0"/>
          </a:stretch>
        </p:blipFill>
        <p:spPr>
          <a:xfrm xmlns:a="http://schemas.openxmlformats.org/drawingml/2006/main">
            <a:off x="8210550" y="1057275"/>
            <a:ext cx="3448050" cy="3648075"/>
          </a:xfrm>
          <a:prstGeom xmlns:a="http://schemas.openxmlformats.org/drawingml/2006/main" prst="rect">
            <a:avLst/>
          </a:prstGeom>
        </p:spPr>
      </p:pic>
      <p:pic>
        <p:nvPicPr>
          <p:cNvPr id="26" name=""/>
          <p:cNvPicPr>
            <a:picLocks xmlns:a="http://schemas.openxmlformats.org/drawingml/2006/main" noChangeAspect="1"/>
          </p:cNvPicPr>
          <p:nvPr/>
        </p:nvPicPr>
        <p:blipFill>
          <a:blip xmlns:r="http://schemas.openxmlformats.org/officeDocument/2006/relationships" xmlns:a="http://schemas.openxmlformats.org/drawingml/2006/main" r:embed="R3f7080152741431d">
            <a:extLst>
              <a:ext uri="{96DAC541-7B7A-43D3-8B79-37D633B846F1}">
                <asvg:svgBlip xmlns:asvg="http://schemas.microsoft.com/office/drawing/2016/SVG/main" r:embed="R91c87b8712b34e9a"/>
              </a:ext>
            </a:extLst>
          </a:blip>
          <a:stretch xmlns:a="http://schemas.openxmlformats.org/drawingml/2006/main"/>
        </p:blipFill>
        <p:spPr>
          <a:xfrm xmlns:a="http://schemas.openxmlformats.org/drawingml/2006/main">
            <a:off x="533400" y="5638800"/>
            <a:ext cx="304800" cy="304800"/>
          </a:xfrm>
          <a:prstGeom xmlns:a="http://schemas.openxmlformats.org/drawingml/2006/main" prst="rect">
            <a:avLst/>
          </a:prstGeom>
        </p:spPr>
      </p:pic>
      <p:sp>
        <p:nvSpPr>
          <p:cNvPr id="5" name="Daily care pill">
            <a:extLst xmlns:a="http://schemas.openxmlformats.org/drawingml/2006/main">
              <a:ext uri="{FF2B5EF4-FFF2-40B4-BE49-F238E27FC236}">
                <a16:creationId xmlns:a16="http://schemas.microsoft.com/office/drawing/2014/main" id="{B398B9EC-2489-4BF9-955C-1036D4041EE2}"/>
              </a:ext>
            </a:extLst>
          </p:cNvPr>
          <p:cNvSpPr>
            <a:spLocks xmlns:a="http://schemas.openxmlformats.org/drawingml/2006/main" noGrp="1"/>
          </p:cNvSpPr>
          <p:nvPr/>
        </p:nvSpPr>
        <p:spPr>
          <a:xfrm xmlns:a="http://schemas.openxmlformats.org/drawingml/2006/main">
            <a:off x="962025" y="5648325"/>
            <a:ext cx="6486525"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rmAutofit fontScale="100000"/>
          </a:bodyPr>
          <a:lstStyle xmlns:a="http://schemas.openxmlformats.org/drawingml/2006/main"/>
          <a:p xmlns:a="http://schemas.openxmlformats.org/drawingml/2006/main">
            <a:pPr>
              <a:buNone/>
              <a:defRPr sz="1950" b="1">
                <a:solidFill>
                  <a:srgbClr val="145AC6"/>
                </a:solidFill>
                <a:latin typeface="Arial"/>
                <a:ea typeface="Arial"/>
                <a:cs typeface="Arial"/>
              </a:defRPr>
            </a:pPr>
            <a:r>
              <a:rPr sz="1950" b="1" u="sng">
                <a:solidFill>
                  <a:srgbClr val="145AC6"/>
                </a:solidFill>
                <a:latin typeface="Arial"/>
                <a:ea typeface="Arial"/>
                <a:cs typeface="Arial"/>
                <a:hlinkClick xmlns:r="http://schemas.openxmlformats.org/officeDocument/2006/relationships" r:id="R1f4b5dd0e3244ba2"/>
              </a:rPr>
              <a:t>Medicines and prescription reminders</a:t>
            </a:r>
          </a:p>
        </p:txBody>
      </p:sp>
      <p:pic>
        <p:nvPicPr>
          <p:cNvPr id="28" name=""/>
          <p:cNvPicPr>
            <a:picLocks xmlns:a="http://schemas.openxmlformats.org/drawingml/2006/main" noChangeAspect="1"/>
          </p:cNvPicPr>
          <p:nvPr/>
        </p:nvPicPr>
        <p:blipFill>
          <a:blip xmlns:r="http://schemas.openxmlformats.org/officeDocument/2006/relationships" xmlns:a="http://schemas.openxmlformats.org/drawingml/2006/main" r:embed="R2efb859df9ec4e86">
            <a:extLst>
              <a:ext uri="{96DAC541-7B7A-43D3-8B79-37D633B846F1}">
                <asvg:svgBlip xmlns:asvg="http://schemas.microsoft.com/office/drawing/2016/SVG/main" r:embed="Rdc1bf5c4e63e49f1"/>
              </a:ext>
            </a:extLst>
          </a:blip>
          <a:stretch xmlns:a="http://schemas.openxmlformats.org/drawingml/2006/main"/>
        </p:blipFill>
        <p:spPr>
          <a:xfrm xmlns:a="http://schemas.openxmlformats.org/drawingml/2006/main">
            <a:off x="533400" y="6057900"/>
            <a:ext cx="304800" cy="304800"/>
          </a:xfrm>
          <a:prstGeom xmlns:a="http://schemas.openxmlformats.org/drawingml/2006/main" prst="rect">
            <a:avLst/>
          </a:prstGeom>
        </p:spPr>
      </p:pic>
      <p:sp>
        <p:nvSpPr>
          <p:cNvPr id="7" name="Daily care calendar-days">
            <a:extLst xmlns:a="http://schemas.openxmlformats.org/drawingml/2006/main">
              <a:ext uri="{FF2B5EF4-FFF2-40B4-BE49-F238E27FC236}">
                <a16:creationId xmlns:a16="http://schemas.microsoft.com/office/drawing/2014/main" id="{E24E494D-D347-472C-A200-824852B7E29D}"/>
              </a:ext>
            </a:extLst>
          </p:cNvPr>
          <p:cNvSpPr>
            <a:spLocks xmlns:a="http://schemas.openxmlformats.org/drawingml/2006/main" noGrp="1"/>
          </p:cNvSpPr>
          <p:nvPr/>
        </p:nvSpPr>
        <p:spPr>
          <a:xfrm xmlns:a="http://schemas.openxmlformats.org/drawingml/2006/main">
            <a:off x="962025" y="6067425"/>
            <a:ext cx="6486525"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rmAutofit fontScale="100000"/>
          </a:bodyPr>
          <a:lstStyle xmlns:a="http://schemas.openxmlformats.org/drawingml/2006/main"/>
          <a:p xmlns:a="http://schemas.openxmlformats.org/drawingml/2006/main">
            <a:pPr>
              <a:buNone/>
              <a:defRPr sz="1950" b="1">
                <a:solidFill>
                  <a:srgbClr val="145AC6"/>
                </a:solidFill>
                <a:latin typeface="Arial"/>
                <a:ea typeface="Arial"/>
                <a:cs typeface="Arial"/>
              </a:defRPr>
            </a:pPr>
            <a:r>
              <a:rPr sz="1950" b="1" u="sng">
                <a:solidFill>
                  <a:srgbClr val="145AC6"/>
                </a:solidFill>
                <a:latin typeface="Arial"/>
                <a:ea typeface="Arial"/>
                <a:cs typeface="Arial"/>
                <a:hlinkClick xmlns:r="http://schemas.openxmlformats.org/officeDocument/2006/relationships" r:id="Rcdefa35d12434039"/>
              </a:rPr>
              <a:t>Visits, tests and treatment dates</a:t>
            </a:r>
          </a:p>
        </p:txBody>
      </p:sp>
      <p:pic>
        <p:nvPicPr>
          <p:cNvPr id="30" name=""/>
          <p:cNvPicPr>
            <a:picLocks xmlns:a="http://schemas.openxmlformats.org/drawingml/2006/main" noChangeAspect="1"/>
          </p:cNvPicPr>
          <p:nvPr/>
        </p:nvPicPr>
        <p:blipFill>
          <a:blip xmlns:r="http://schemas.openxmlformats.org/officeDocument/2006/relationships" xmlns:a="http://schemas.openxmlformats.org/drawingml/2006/main" r:embed="R44891931bbd74f5d">
            <a:extLst>
              <a:ext uri="{96DAC541-7B7A-43D3-8B79-37D633B846F1}">
                <asvg:svgBlip xmlns:asvg="http://schemas.microsoft.com/office/drawing/2016/SVG/main" r:embed="R3d293e6a852e405a"/>
              </a:ext>
            </a:extLst>
          </a:blip>
          <a:stretch xmlns:a="http://schemas.openxmlformats.org/drawingml/2006/main"/>
        </p:blipFill>
        <p:spPr>
          <a:xfrm xmlns:a="http://schemas.openxmlformats.org/drawingml/2006/main">
            <a:off x="533400" y="6477000"/>
            <a:ext cx="304800" cy="304800"/>
          </a:xfrm>
          <a:prstGeom xmlns:a="http://schemas.openxmlformats.org/drawingml/2006/main" prst="rect">
            <a:avLst/>
          </a:prstGeom>
        </p:spPr>
      </p:pic>
      <p:sp>
        <p:nvSpPr>
          <p:cNvPr id="9" name="Daily care heart-handshake">
            <a:extLst xmlns:a="http://schemas.openxmlformats.org/drawingml/2006/main">
              <a:ext uri="{FF2B5EF4-FFF2-40B4-BE49-F238E27FC236}">
                <a16:creationId xmlns:a16="http://schemas.microsoft.com/office/drawing/2014/main" id="{7E6D31CB-8993-4EAE-90F8-F5DEAAF3C5F6}"/>
              </a:ext>
            </a:extLst>
          </p:cNvPr>
          <p:cNvSpPr>
            <a:spLocks xmlns:a="http://schemas.openxmlformats.org/drawingml/2006/main" noGrp="1"/>
          </p:cNvSpPr>
          <p:nvPr/>
        </p:nvSpPr>
        <p:spPr>
          <a:xfrm xmlns:a="http://schemas.openxmlformats.org/drawingml/2006/main">
            <a:off x="962025" y="6486525"/>
            <a:ext cx="4143375"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rmAutofit fontScale="100000"/>
          </a:bodyPr>
          <a:lstStyle xmlns:a="http://schemas.openxmlformats.org/drawingml/2006/main"/>
          <a:p xmlns:a="http://schemas.openxmlformats.org/drawingml/2006/main">
            <a:pPr>
              <a:buNone/>
              <a:defRPr sz="1800" b="1">
                <a:solidFill>
                  <a:srgbClr val="145AC6"/>
                </a:solidFill>
                <a:latin typeface="Arial"/>
                <a:ea typeface="Arial"/>
                <a:cs typeface="Arial"/>
              </a:defRPr>
            </a:pPr>
            <a:r>
              <a:rPr sz="1800" b="1" u="sng">
                <a:solidFill>
                  <a:srgbClr val="145AC6"/>
                </a:solidFill>
                <a:latin typeface="Arial"/>
                <a:ea typeface="Arial"/>
                <a:cs typeface="Arial"/>
                <a:hlinkClick xmlns:r="http://schemas.openxmlformats.org/officeDocument/2006/relationships" r:id="Rfbfb7495fe1b4f64"/>
              </a:rPr>
              <a:t>Journals and symptom tracking</a:t>
            </a:r>
          </a:p>
        </p:txBody>
      </p:sp>
      <p:pic>
        <p:nvPicPr>
          <p:cNvPr id="32" name=""/>
          <p:cNvPicPr>
            <a:picLocks xmlns:a="http://schemas.openxmlformats.org/drawingml/2006/main" noChangeAspect="1"/>
          </p:cNvPicPr>
          <p:nvPr/>
        </p:nvPicPr>
        <p:blipFill>
          <a:blip xmlns:r="http://schemas.openxmlformats.org/officeDocument/2006/relationships" xmlns:a="http://schemas.openxmlformats.org/drawingml/2006/main" r:embed="R0318261aeaa74eb6">
            <a:extLst>
              <a:ext uri="{96DAC541-7B7A-43D3-8B79-37D633B846F1}">
                <asvg:svgBlip xmlns:asvg="http://schemas.microsoft.com/office/drawing/2016/SVG/main" r:embed="R28c2429672d3424b"/>
              </a:ext>
            </a:extLst>
          </a:blip>
          <a:stretch xmlns:a="http://schemas.openxmlformats.org/drawingml/2006/main"/>
        </p:blipFill>
        <p:spPr>
          <a:xfrm xmlns:a="http://schemas.openxmlformats.org/drawingml/2006/main">
            <a:off x="5010150" y="6477000"/>
            <a:ext cx="304800" cy="304800"/>
          </a:xfrm>
          <a:prstGeom xmlns:a="http://schemas.openxmlformats.org/drawingml/2006/main" prst="rect">
            <a:avLst/>
          </a:prstGeom>
        </p:spPr>
      </p:pic>
      <p:sp>
        <p:nvSpPr>
          <p:cNvPr id="11" name="Daily care receipt-indian-rupee">
            <a:extLst xmlns:a="http://schemas.openxmlformats.org/drawingml/2006/main">
              <a:ext uri="{FF2B5EF4-FFF2-40B4-BE49-F238E27FC236}">
                <a16:creationId xmlns:a16="http://schemas.microsoft.com/office/drawing/2014/main" id="{A1E13906-2AC0-4911-9B5D-DC8FAA7BF441}"/>
              </a:ext>
            </a:extLst>
          </p:cNvPr>
          <p:cNvSpPr>
            <a:spLocks xmlns:a="http://schemas.openxmlformats.org/drawingml/2006/main" noGrp="1"/>
          </p:cNvSpPr>
          <p:nvPr/>
        </p:nvSpPr>
        <p:spPr>
          <a:xfrm xmlns:a="http://schemas.openxmlformats.org/drawingml/2006/main">
            <a:off x="5438775" y="6486525"/>
            <a:ext cx="2428875"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rmAutofit fontScale="100000"/>
          </a:bodyPr>
          <a:lstStyle xmlns:a="http://schemas.openxmlformats.org/drawingml/2006/main"/>
          <a:p xmlns:a="http://schemas.openxmlformats.org/drawingml/2006/main">
            <a:pPr>
              <a:buNone/>
              <a:defRPr sz="1725" b="1">
                <a:solidFill>
                  <a:srgbClr val="145AC6"/>
                </a:solidFill>
                <a:latin typeface="Arial"/>
                <a:ea typeface="Arial"/>
                <a:cs typeface="Arial"/>
              </a:defRPr>
            </a:pPr>
            <a:r>
              <a:rPr sz="1725" b="1" u="sng">
                <a:solidFill>
                  <a:srgbClr val="145AC6"/>
                </a:solidFill>
                <a:latin typeface="Arial"/>
                <a:ea typeface="Arial"/>
                <a:cs typeface="Arial"/>
                <a:hlinkClick xmlns:r="http://schemas.openxmlformats.org/officeDocument/2006/relationships" r:id="Rb1bc4339aac94de7"/>
              </a:rPr>
              <a:t>Financial tracking</a:t>
            </a:r>
          </a:p>
        </p:txBody>
      </p:sp>
      <p:sp>
        <p:nvSpPr>
          <p:cNvPr id="12" name="Three sign-ins">
            <a:extLst xmlns:a="http://schemas.openxmlformats.org/drawingml/2006/main">
              <a:ext uri="{FF2B5EF4-FFF2-40B4-BE49-F238E27FC236}">
                <a16:creationId xmlns:a16="http://schemas.microsoft.com/office/drawing/2014/main" id="{301804ED-A50A-4F24-B63A-51D04B975DD4}"/>
              </a:ext>
            </a:extLst>
          </p:cNvPr>
          <p:cNvSpPr>
            <a:spLocks xmlns:a="http://schemas.openxmlformats.org/drawingml/2006/main" noGrp="1"/>
          </p:cNvSpPr>
          <p:nvPr/>
        </p:nvSpPr>
        <p:spPr>
          <a:xfrm xmlns:a="http://schemas.openxmlformats.org/drawingml/2006/main">
            <a:off x="8210550" y="5057775"/>
            <a:ext cx="344805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rmAutofit fontScale="100000"/>
          </a:bodyPr>
          <a:lstStyle xmlns:a="http://schemas.openxmlformats.org/drawingml/2006/main"/>
          <a:p xmlns:a="http://schemas.openxmlformats.org/drawingml/2006/main">
            <a:pPr>
              <a:buNone/>
              <a:defRPr sz="1875" b="1">
                <a:solidFill>
                  <a:srgbClr val="173F33"/>
                </a:solidFill>
                <a:latin typeface="Arial"/>
                <a:ea typeface="Arial"/>
                <a:cs typeface="Arial"/>
              </a:defRPr>
            </a:pPr>
            <a:r>
              <a:rPr sz="1875" b="1">
                <a:solidFill>
                  <a:srgbClr val="173F33"/>
                </a:solidFill>
                <a:latin typeface="Arial"/>
                <a:ea typeface="Arial"/>
                <a:cs typeface="Arial"/>
              </a:rPr>
              <a:t>Three sign-ins</a:t>
            </a:r>
          </a:p>
        </p:txBody>
      </p:sp>
      <p:pic>
        <p:nvPicPr>
          <p:cNvPr id="35" name="Actual patient, family and doctor sign-in choices"/>
          <p:cNvPicPr>
            <a:picLocks xmlns:a="http://schemas.openxmlformats.org/drawingml/2006/main" noChangeAspect="1"/>
          </p:cNvPicPr>
          <p:nvPr/>
        </p:nvPicPr>
        <p:blipFill>
          <a:blip xmlns:r="http://schemas.openxmlformats.org/officeDocument/2006/relationships" xmlns:a="http://schemas.openxmlformats.org/drawingml/2006/main" r:embed="R762a8f07ec1648f1"/>
          <a:srcRect xmlns:a="http://schemas.openxmlformats.org/drawingml/2006/main" l="6332" t="32653" r="6987" b="44694"/>
          <a:stretch xmlns:a="http://schemas.openxmlformats.org/drawingml/2006/main">
            <a:fillRect l="0" t="0" r="0" b="0"/>
          </a:stretch>
        </p:blipFill>
        <p:spPr>
          <a:xfrm xmlns:a="http://schemas.openxmlformats.org/drawingml/2006/main">
            <a:off x="8210550" y="5514975"/>
            <a:ext cx="3448050" cy="962025"/>
          </a:xfrm>
          <a:prstGeom xmlns:a="http://schemas.openxmlformats.org/drawingml/2006/main" prst="rect">
            <a:avLst/>
          </a:prstGeom>
        </p:spPr>
      </p:pic>
      <p:sp>
        <p:nvSpPr>
          <p:cNvPr id="14" name="Patient home website">
            <a:extLst xmlns:a="http://schemas.openxmlformats.org/drawingml/2006/main">
              <a:ext uri="{FF2B5EF4-FFF2-40B4-BE49-F238E27FC236}">
                <a16:creationId xmlns:a16="http://schemas.microsoft.com/office/drawing/2014/main" id="{6C8BA3AF-9177-4990-B26C-771E2D34802B}"/>
              </a:ext>
            </a:extLst>
          </p:cNvPr>
          <p:cNvSpPr>
            <a:spLocks xmlns:a="http://schemas.openxmlformats.org/drawingml/2006/main" noGrp="1"/>
          </p:cNvSpPr>
          <p:nvPr/>
        </p:nvSpPr>
        <p:spPr>
          <a:xfrm xmlns:a="http://schemas.openxmlformats.org/drawingml/2006/main">
            <a:off x="8210550" y="6600825"/>
            <a:ext cx="34480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rmAutofit fontScale="85982"/>
          </a:bodyPr>
          <a:lstStyle xmlns:a="http://schemas.openxmlformats.org/drawingml/2006/main"/>
          <a:p xmlns:a="http://schemas.openxmlformats.org/drawingml/2006/main">
            <a:pPr>
              <a:buNone/>
              <a:defRPr sz="1425" b="1">
                <a:solidFill>
                  <a:srgbClr val="145AC6"/>
                </a:solidFill>
                <a:latin typeface="Arial"/>
                <a:ea typeface="Arial"/>
                <a:cs typeface="Arial"/>
              </a:defRPr>
            </a:pPr>
            <a:r>
              <a:rPr sz="1425" b="1" u="sng">
                <a:solidFill>
                  <a:srgbClr val="145AC6"/>
                </a:solidFill>
                <a:latin typeface="Arial"/>
                <a:ea typeface="Arial"/>
                <a:cs typeface="Arial"/>
                <a:hlinkClick xmlns:r="http://schemas.openxmlformats.org/officeDocument/2006/relationships" r:id="R56fc810bcd7f4813"/>
              </a:rPr>
              <a:t>OPEN - continuity-loop-healthathon.vercel.app</a:t>
            </a:r>
          </a:p>
        </p:txBody>
      </p:sp>
    </p:spTree>
    <p:extLst>
      <p:ext uri="{BB962C8B-B14F-4D97-AF65-F5344CB8AC3E}">
        <p14:creationId xmlns:p14="http://schemas.microsoft.com/office/powerpoint/2010/main" val="221085739"/>
      </p:ext>
    </p:extLst>
  </p:cSld>
</p:sld>
</file>

<file path=ppt/slides/slide6.xml><?xml version="1.0" encoding="utf-8"?>
<p:sld xmlns:p="http://schemas.openxmlformats.org/presentationml/2006/main">
  <p:cSld>
    <p:bg>
      <p:bgPr>
        <a:solidFill xmlns:a="http://schemas.openxmlformats.org/drawingml/2006/main">
          <a:srgbClr val="E8F4F0"/>
        </a:solidFill>
      </p:bgPr>
    </p:bg>
    <p:spTree>
      <p:nvGrpSpPr>
        <p:cNvPr id="1" name=""/>
        <p:cNvGrpSpPr/>
        <p:nvPr/>
      </p:nvGrpSpPr>
      <p:grpSpPr>
        <a:xfrm xmlns:a="http://schemas.openxmlformats.org/drawingml/2006/main"/>
      </p:grpSpPr>
      <p:sp>
        <p:nvSpPr>
          <p:cNvPr id="17" name="Slide title">
            <a:extLst xmlns:a="http://schemas.openxmlformats.org/drawingml/2006/main">
              <a:ext uri="{FF2B5EF4-FFF2-40B4-BE49-F238E27FC236}">
                <a16:creationId xmlns:a16="http://schemas.microsoft.com/office/drawing/2014/main" id="{FBE6313F-BF8E-488F-BBC3-3D17FF350EA5}"/>
              </a:ext>
            </a:extLst>
          </p:cNvPr>
          <p:cNvSpPr>
            <a:spLocks xmlns:a="http://schemas.openxmlformats.org/drawingml/2006/main" noGrp="1"/>
          </p:cNvSpPr>
          <p:nvPr/>
        </p:nvSpPr>
        <p:spPr>
          <a:xfrm xmlns:a="http://schemas.openxmlformats.org/drawingml/2006/main">
            <a:off x="533400" y="361950"/>
            <a:ext cx="11125200" cy="600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rmAutofit fontScale="100000"/>
          </a:bodyPr>
          <a:lstStyle xmlns:a="http://schemas.openxmlformats.org/drawingml/2006/main"/>
          <a:p xmlns:a="http://schemas.openxmlformats.org/drawingml/2006/main">
            <a:pPr>
              <a:buNone/>
              <a:defRPr sz="3000" b="1">
                <a:solidFill>
                  <a:srgbClr val="173F33"/>
                </a:solidFill>
                <a:latin typeface="Arial"/>
                <a:ea typeface="Arial"/>
                <a:cs typeface="Arial"/>
              </a:defRPr>
            </a:pPr>
            <a:r>
              <a:rPr sz="3000" b="1">
                <a:solidFill>
                  <a:srgbClr val="173F33"/>
                </a:solidFill>
                <a:latin typeface="Arial"/>
                <a:ea typeface="Arial"/>
                <a:cs typeface="Arial"/>
              </a:rPr>
              <a:t>AI helps doctors and families use patient records</a:t>
            </a:r>
          </a:p>
        </p:txBody>
      </p:sp>
      <p:sp>
        <p:nvSpPr>
          <p:cNvPr id="2" name="Records assistant purpose">
            <a:extLst xmlns:a="http://schemas.openxmlformats.org/drawingml/2006/main">
              <a:ext uri="{FF2B5EF4-FFF2-40B4-BE49-F238E27FC236}">
                <a16:creationId xmlns:a16="http://schemas.microsoft.com/office/drawing/2014/main" id="{50597C82-5743-4211-9CC6-293C86458DF4}"/>
              </a:ext>
            </a:extLst>
          </p:cNvPr>
          <p:cNvSpPr>
            <a:spLocks xmlns:a="http://schemas.openxmlformats.org/drawingml/2006/main" noGrp="1"/>
          </p:cNvSpPr>
          <p:nvPr/>
        </p:nvSpPr>
        <p:spPr>
          <a:xfrm xmlns:a="http://schemas.openxmlformats.org/drawingml/2006/main">
            <a:off x="533400" y="1028700"/>
            <a:ext cx="111252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rmAutofit fontScale="100000"/>
          </a:bodyPr>
          <a:lstStyle xmlns:a="http://schemas.openxmlformats.org/drawingml/2006/main"/>
          <a:p xmlns:a="http://schemas.openxmlformats.org/drawingml/2006/main">
            <a:pPr>
              <a:buNone/>
              <a:defRPr sz="1800" b="0">
                <a:solidFill>
                  <a:srgbClr val="53655C"/>
                </a:solidFill>
                <a:latin typeface="Arial"/>
                <a:ea typeface="Arial"/>
                <a:cs typeface="Arial"/>
              </a:defRPr>
            </a:pPr>
            <a:r>
              <a:rPr sz="1800" b="0">
                <a:solidFill>
                  <a:srgbClr val="53655C"/>
                </a:solidFill>
                <a:latin typeface="Arial"/>
                <a:ea typeface="Arial"/>
                <a:cs typeface="Arial"/>
              </a:rPr>
              <a:t>With the patient’s permission, find answers and see the original passage.</a:t>
            </a:r>
          </a:p>
        </p:txBody>
      </p:sp>
      <p:pic>
        <p:nvPicPr>
          <p:cNvPr id="28" name="Generated concept illustration of finding an instruction in the original report"/>
          <p:cNvPicPr>
            <a:picLocks xmlns:a="http://schemas.openxmlformats.org/drawingml/2006/main" noChangeAspect="1"/>
          </p:cNvPicPr>
          <p:nvPr/>
        </p:nvPicPr>
        <p:blipFill>
          <a:blip xmlns:r="http://schemas.openxmlformats.org/officeDocument/2006/relationships" xmlns:a="http://schemas.openxmlformats.org/drawingml/2006/main" r:embed="R5123800f0ffd40a8"/>
          <a:srcRect xmlns:a="http://schemas.openxmlformats.org/drawingml/2006/main" l="0" t="240" r="0" b="240"/>
          <a:stretch xmlns:a="http://schemas.openxmlformats.org/drawingml/2006/main">
            <a:fillRect l="0" t="0" r="0" b="0"/>
          </a:stretch>
        </p:blipFill>
        <p:spPr>
          <a:xfrm xmlns:a="http://schemas.openxmlformats.org/drawingml/2006/main">
            <a:off x="533400" y="1695450"/>
            <a:ext cx="7686675" cy="4305300"/>
          </a:xfrm>
          <a:prstGeom xmlns:a="http://schemas.openxmlformats.org/drawingml/2006/main" prst="rect">
            <a:avLst/>
          </a:prstGeom>
        </p:spPr>
      </p:pic>
      <p:pic>
        <p:nvPicPr>
          <p:cNvPr id="29" name=""/>
          <p:cNvPicPr>
            <a:picLocks xmlns:a="http://schemas.openxmlformats.org/drawingml/2006/main" noChangeAspect="1"/>
          </p:cNvPicPr>
          <p:nvPr/>
        </p:nvPicPr>
        <p:blipFill>
          <a:blip xmlns:r="http://schemas.openxmlformats.org/officeDocument/2006/relationships" xmlns:a="http://schemas.openxmlformats.org/drawingml/2006/main" r:embed="R8be677fbdd7c4b56">
            <a:extLst>
              <a:ext uri="{96DAC541-7B7A-43D3-8B79-37D633B846F1}">
                <asvg:svgBlip xmlns:asvg="http://schemas.microsoft.com/office/drawing/2016/SVG/main" r:embed="Rc295c626901d4def"/>
              </a:ext>
            </a:extLst>
          </a:blip>
          <a:stretch xmlns:a="http://schemas.openxmlformats.org/drawingml/2006/main"/>
        </p:blipFill>
        <p:spPr>
          <a:xfrm xmlns:a="http://schemas.openxmlformats.org/drawingml/2006/main">
            <a:off x="8610600" y="1790700"/>
            <a:ext cx="666750" cy="666750"/>
          </a:xfrm>
          <a:prstGeom xmlns:a="http://schemas.openxmlformats.org/drawingml/2006/main" prst="rect">
            <a:avLst/>
          </a:prstGeom>
        </p:spPr>
      </p:pic>
      <p:sp>
        <p:nvSpPr>
          <p:cNvPr id="5" name="Records step 1">
            <a:extLst xmlns:a="http://schemas.openxmlformats.org/drawingml/2006/main">
              <a:ext uri="{FF2B5EF4-FFF2-40B4-BE49-F238E27FC236}">
                <a16:creationId xmlns:a16="http://schemas.microsoft.com/office/drawing/2014/main" id="{AF168274-B7AC-444F-9C64-E68FC0B1F9B1}"/>
              </a:ext>
            </a:extLst>
          </p:cNvPr>
          <p:cNvSpPr>
            <a:spLocks xmlns:a="http://schemas.openxmlformats.org/drawingml/2006/main" noGrp="1"/>
          </p:cNvSpPr>
          <p:nvPr/>
        </p:nvSpPr>
        <p:spPr>
          <a:xfrm xmlns:a="http://schemas.openxmlformats.org/drawingml/2006/main">
            <a:off x="9477375" y="1800225"/>
            <a:ext cx="2181225" cy="781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rmAutofit fontScale="100000"/>
          </a:bodyPr>
          <a:lstStyle xmlns:a="http://schemas.openxmlformats.org/drawingml/2006/main"/>
          <a:p xmlns:a="http://schemas.openxmlformats.org/drawingml/2006/main">
            <a:pPr>
              <a:buNone/>
              <a:defRPr sz="2025" b="1">
                <a:solidFill>
                  <a:srgbClr val="173F33"/>
                </a:solidFill>
                <a:latin typeface="Arial"/>
                <a:ea typeface="Arial"/>
                <a:cs typeface="Arial"/>
              </a:defRPr>
            </a:pPr>
            <a:r>
              <a:rPr sz="2025" b="1">
                <a:solidFill>
                  <a:srgbClr val="173F33"/>
                </a:solidFill>
                <a:latin typeface="Arial"/>
                <a:ea typeface="Arial"/>
                <a:cs typeface="Arial"/>
              </a:rPr>
              <a:t>1. Add a report.</a:t>
            </a:r>
          </a:p>
        </p:txBody>
      </p:sp>
      <p:sp>
        <p:nvSpPr>
          <p:cNvPr id="6" name="Records step 1 detail">
            <a:extLst xmlns:a="http://schemas.openxmlformats.org/drawingml/2006/main">
              <a:ext uri="{FF2B5EF4-FFF2-40B4-BE49-F238E27FC236}">
                <a16:creationId xmlns:a16="http://schemas.microsoft.com/office/drawing/2014/main" id="{9983123B-EF9F-4332-913B-837D5233EA09}"/>
              </a:ext>
            </a:extLst>
          </p:cNvPr>
          <p:cNvSpPr>
            <a:spLocks xmlns:a="http://schemas.openxmlformats.org/drawingml/2006/main" noGrp="1"/>
          </p:cNvSpPr>
          <p:nvPr/>
        </p:nvSpPr>
        <p:spPr>
          <a:xfrm xmlns:a="http://schemas.openxmlformats.org/drawingml/2006/main">
            <a:off x="9477375" y="2581275"/>
            <a:ext cx="2181225" cy="542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rmAutofit fontScale="100000"/>
          </a:bodyPr>
          <a:lstStyle xmlns:a="http://schemas.openxmlformats.org/drawingml/2006/main"/>
          <a:p xmlns:a="http://schemas.openxmlformats.org/drawingml/2006/main">
            <a:pPr>
              <a:buNone/>
              <a:defRPr sz="1575" b="0">
                <a:solidFill>
                  <a:srgbClr val="53655C"/>
                </a:solidFill>
                <a:latin typeface="Arial"/>
                <a:ea typeface="Arial"/>
                <a:cs typeface="Arial"/>
              </a:defRPr>
            </a:pPr>
            <a:r>
              <a:rPr sz="1575" b="0">
                <a:solidFill>
                  <a:srgbClr val="53655C"/>
                </a:solidFill>
                <a:latin typeface="Arial"/>
                <a:ea typeface="Arial"/>
                <a:cs typeface="Arial"/>
              </a:rPr>
              <a:t>Or a printed prescription.</a:t>
            </a:r>
          </a:p>
        </p:txBody>
      </p:sp>
      <p:pic>
        <p:nvPicPr>
          <p:cNvPr id="32" name=""/>
          <p:cNvPicPr>
            <a:picLocks xmlns:a="http://schemas.openxmlformats.org/drawingml/2006/main" noChangeAspect="1"/>
          </p:cNvPicPr>
          <p:nvPr/>
        </p:nvPicPr>
        <p:blipFill>
          <a:blip xmlns:r="http://schemas.openxmlformats.org/officeDocument/2006/relationships" xmlns:a="http://schemas.openxmlformats.org/drawingml/2006/main" r:embed="R921e0f06c24041cf">
            <a:extLst>
              <a:ext uri="{96DAC541-7B7A-43D3-8B79-37D633B846F1}">
                <asvg:svgBlip xmlns:asvg="http://schemas.microsoft.com/office/drawing/2016/SVG/main" r:embed="R07287f7693be4b0c"/>
              </a:ext>
            </a:extLst>
          </a:blip>
          <a:stretch xmlns:a="http://schemas.openxmlformats.org/drawingml/2006/main"/>
        </p:blipFill>
        <p:spPr>
          <a:xfrm xmlns:a="http://schemas.openxmlformats.org/drawingml/2006/main">
            <a:off x="8810625" y="2781300"/>
            <a:ext cx="247650" cy="247650"/>
          </a:xfrm>
          <a:prstGeom xmlns:a="http://schemas.openxmlformats.org/drawingml/2006/main" prst="rect">
            <a:avLst/>
          </a:prstGeom>
        </p:spPr>
      </p:pic>
      <p:pic>
        <p:nvPicPr>
          <p:cNvPr id="33" name=""/>
          <p:cNvPicPr>
            <a:picLocks xmlns:a="http://schemas.openxmlformats.org/drawingml/2006/main" noChangeAspect="1"/>
          </p:cNvPicPr>
          <p:nvPr/>
        </p:nvPicPr>
        <p:blipFill>
          <a:blip xmlns:r="http://schemas.openxmlformats.org/officeDocument/2006/relationships" xmlns:a="http://schemas.openxmlformats.org/drawingml/2006/main" r:embed="R91d4d694ccaf490e">
            <a:extLst>
              <a:ext uri="{96DAC541-7B7A-43D3-8B79-37D633B846F1}">
                <asvg:svgBlip xmlns:asvg="http://schemas.microsoft.com/office/drawing/2016/SVG/main" r:embed="R3a33c43b2f5f4a18"/>
              </a:ext>
            </a:extLst>
          </a:blip>
          <a:stretch xmlns:a="http://schemas.openxmlformats.org/drawingml/2006/main"/>
        </p:blipFill>
        <p:spPr>
          <a:xfrm xmlns:a="http://schemas.openxmlformats.org/drawingml/2006/main">
            <a:off x="8610600" y="3267075"/>
            <a:ext cx="666750" cy="666750"/>
          </a:xfrm>
          <a:prstGeom xmlns:a="http://schemas.openxmlformats.org/drawingml/2006/main" prst="rect">
            <a:avLst/>
          </a:prstGeom>
        </p:spPr>
      </p:pic>
      <p:sp>
        <p:nvSpPr>
          <p:cNvPr id="9" name="Records step 2">
            <a:extLst xmlns:a="http://schemas.openxmlformats.org/drawingml/2006/main">
              <a:ext uri="{FF2B5EF4-FFF2-40B4-BE49-F238E27FC236}">
                <a16:creationId xmlns:a16="http://schemas.microsoft.com/office/drawing/2014/main" id="{3422D21C-E79C-45AE-823D-AFFF3DD218D8}"/>
              </a:ext>
            </a:extLst>
          </p:cNvPr>
          <p:cNvSpPr>
            <a:spLocks xmlns:a="http://schemas.openxmlformats.org/drawingml/2006/main" noGrp="1"/>
          </p:cNvSpPr>
          <p:nvPr/>
        </p:nvSpPr>
        <p:spPr>
          <a:xfrm xmlns:a="http://schemas.openxmlformats.org/drawingml/2006/main">
            <a:off x="9477375" y="3276600"/>
            <a:ext cx="2181225" cy="781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rmAutofit fontScale="100000"/>
          </a:bodyPr>
          <a:lstStyle xmlns:a="http://schemas.openxmlformats.org/drawingml/2006/main"/>
          <a:p xmlns:a="http://schemas.openxmlformats.org/drawingml/2006/main">
            <a:pPr>
              <a:buNone/>
              <a:defRPr sz="2025" b="1">
                <a:solidFill>
                  <a:srgbClr val="173F33"/>
                </a:solidFill>
                <a:latin typeface="Arial"/>
                <a:ea typeface="Arial"/>
                <a:cs typeface="Arial"/>
              </a:defRPr>
            </a:pPr>
            <a:r>
              <a:rPr sz="2025" b="1">
                <a:solidFill>
                  <a:srgbClr val="173F33"/>
                </a:solidFill>
                <a:latin typeface="Arial"/>
                <a:ea typeface="Arial"/>
                <a:cs typeface="Arial"/>
              </a:rPr>
              <a:t>2. Ask in your own words.</a:t>
            </a:r>
          </a:p>
        </p:txBody>
      </p:sp>
      <p:pic>
        <p:nvPicPr>
          <p:cNvPr id="35" name=""/>
          <p:cNvPicPr>
            <a:picLocks xmlns:a="http://schemas.openxmlformats.org/drawingml/2006/main" noChangeAspect="1"/>
          </p:cNvPicPr>
          <p:nvPr/>
        </p:nvPicPr>
        <p:blipFill>
          <a:blip xmlns:r="http://schemas.openxmlformats.org/officeDocument/2006/relationships" xmlns:a="http://schemas.openxmlformats.org/drawingml/2006/main" r:embed="R16eeaefe28bf4b97">
            <a:extLst>
              <a:ext uri="{96DAC541-7B7A-43D3-8B79-37D633B846F1}">
                <asvg:svgBlip xmlns:asvg="http://schemas.microsoft.com/office/drawing/2016/SVG/main" r:embed="R61f45251dc914315"/>
              </a:ext>
            </a:extLst>
          </a:blip>
          <a:stretch xmlns:a="http://schemas.openxmlformats.org/drawingml/2006/main"/>
        </p:blipFill>
        <p:spPr>
          <a:xfrm xmlns:a="http://schemas.openxmlformats.org/drawingml/2006/main">
            <a:off x="8810625" y="4257675"/>
            <a:ext cx="247650" cy="247650"/>
          </a:xfrm>
          <a:prstGeom xmlns:a="http://schemas.openxmlformats.org/drawingml/2006/main" prst="rect">
            <a:avLst/>
          </a:prstGeom>
        </p:spPr>
      </p:pic>
      <p:pic>
        <p:nvPicPr>
          <p:cNvPr id="36" name=""/>
          <p:cNvPicPr>
            <a:picLocks xmlns:a="http://schemas.openxmlformats.org/drawingml/2006/main" noChangeAspect="1"/>
          </p:cNvPicPr>
          <p:nvPr/>
        </p:nvPicPr>
        <p:blipFill>
          <a:blip xmlns:r="http://schemas.openxmlformats.org/officeDocument/2006/relationships" xmlns:a="http://schemas.openxmlformats.org/drawingml/2006/main" r:embed="R581c7028c26046b7">
            <a:extLst>
              <a:ext uri="{96DAC541-7B7A-43D3-8B79-37D633B846F1}">
                <asvg:svgBlip xmlns:asvg="http://schemas.microsoft.com/office/drawing/2016/SVG/main" r:embed="R33962b8d1f5b448b"/>
              </a:ext>
            </a:extLst>
          </a:blip>
          <a:stretch xmlns:a="http://schemas.openxmlformats.org/drawingml/2006/main"/>
        </p:blipFill>
        <p:spPr>
          <a:xfrm xmlns:a="http://schemas.openxmlformats.org/drawingml/2006/main">
            <a:off x="8610600" y="4743450"/>
            <a:ext cx="666750" cy="666750"/>
          </a:xfrm>
          <a:prstGeom xmlns:a="http://schemas.openxmlformats.org/drawingml/2006/main" prst="rect">
            <a:avLst/>
          </a:prstGeom>
        </p:spPr>
      </p:pic>
      <p:sp>
        <p:nvSpPr>
          <p:cNvPr id="12" name="Records step 3">
            <a:extLst xmlns:a="http://schemas.openxmlformats.org/drawingml/2006/main">
              <a:ext uri="{FF2B5EF4-FFF2-40B4-BE49-F238E27FC236}">
                <a16:creationId xmlns:a16="http://schemas.microsoft.com/office/drawing/2014/main" id="{203C1F6E-5810-4296-A106-06E0E9D9B4CD}"/>
              </a:ext>
            </a:extLst>
          </p:cNvPr>
          <p:cNvSpPr>
            <a:spLocks xmlns:a="http://schemas.openxmlformats.org/drawingml/2006/main" noGrp="1"/>
          </p:cNvSpPr>
          <p:nvPr/>
        </p:nvSpPr>
        <p:spPr>
          <a:xfrm xmlns:a="http://schemas.openxmlformats.org/drawingml/2006/main">
            <a:off x="9477375" y="4752975"/>
            <a:ext cx="2181225" cy="781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rmAutofit fontScale="100000"/>
          </a:bodyPr>
          <a:lstStyle xmlns:a="http://schemas.openxmlformats.org/drawingml/2006/main"/>
          <a:p xmlns:a="http://schemas.openxmlformats.org/drawingml/2006/main">
            <a:pPr>
              <a:buNone/>
              <a:defRPr sz="2025" b="1">
                <a:solidFill>
                  <a:srgbClr val="173F33"/>
                </a:solidFill>
                <a:latin typeface="Arial"/>
                <a:ea typeface="Arial"/>
                <a:cs typeface="Arial"/>
              </a:defRPr>
            </a:pPr>
            <a:r>
              <a:rPr sz="2025" b="1">
                <a:solidFill>
                  <a:srgbClr val="173F33"/>
                </a:solidFill>
                <a:latin typeface="Arial"/>
                <a:ea typeface="Arial"/>
                <a:cs typeface="Arial"/>
              </a:rPr>
              <a:t>3. Check the original text.</a:t>
            </a:r>
          </a:p>
        </p:txBody>
      </p:sp>
      <p:pic>
        <p:nvPicPr>
          <p:cNvPr id="38" name=""/>
          <p:cNvPicPr>
            <a:picLocks xmlns:a="http://schemas.openxmlformats.org/drawingml/2006/main" noChangeAspect="1"/>
          </p:cNvPicPr>
          <p:nvPr/>
        </p:nvPicPr>
        <p:blipFill>
          <a:blip xmlns:r="http://schemas.openxmlformats.org/officeDocument/2006/relationships" xmlns:a="http://schemas.openxmlformats.org/drawingml/2006/main" r:embed="R5123800f0ffd40a8">
            <a:extLst>
              <a:ext uri="{96DAC541-7B7A-43D3-8B79-37D633B846F1}">
                <asvg:svgBlip xmlns:asvg="http://schemas.microsoft.com/office/drawing/2016/SVG/main" r:embed="R7e1101a277e44375"/>
              </a:ext>
            </a:extLst>
          </a:blip>
          <a:stretch xmlns:a="http://schemas.openxmlformats.org/drawingml/2006/main"/>
        </p:blipFill>
        <p:spPr>
          <a:xfrm xmlns:a="http://schemas.openxmlformats.org/drawingml/2006/main">
            <a:off x="533400" y="6276975"/>
            <a:ext cx="381000" cy="381000"/>
          </a:xfrm>
          <a:prstGeom xmlns:a="http://schemas.openxmlformats.org/drawingml/2006/main" prst="rect">
            <a:avLst/>
          </a:prstGeom>
        </p:spPr>
      </p:pic>
      <p:sp>
        <p:nvSpPr>
          <p:cNvPr id="14" name="Treatment dates">
            <a:extLst xmlns:a="http://schemas.openxmlformats.org/drawingml/2006/main">
              <a:ext uri="{FF2B5EF4-FFF2-40B4-BE49-F238E27FC236}">
                <a16:creationId xmlns:a16="http://schemas.microsoft.com/office/drawing/2014/main" id="{7ABE6DE8-F4DD-4101-BBCE-14F091A63DC4}"/>
              </a:ext>
            </a:extLst>
          </p:cNvPr>
          <p:cNvSpPr>
            <a:spLocks xmlns:a="http://schemas.openxmlformats.org/drawingml/2006/main" noGrp="1"/>
          </p:cNvSpPr>
          <p:nvPr/>
        </p:nvSpPr>
        <p:spPr>
          <a:xfrm xmlns:a="http://schemas.openxmlformats.org/drawingml/2006/main">
            <a:off x="1047750" y="6267450"/>
            <a:ext cx="45720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rmAutofit fontScale="100000"/>
          </a:bodyPr>
          <a:lstStyle xmlns:a="http://schemas.openxmlformats.org/drawingml/2006/main"/>
          <a:p xmlns:a="http://schemas.openxmlformats.org/drawingml/2006/main">
            <a:pPr>
              <a:buNone/>
              <a:defRPr sz="1725" b="1">
                <a:solidFill>
                  <a:srgbClr val="173F33"/>
                </a:solidFill>
                <a:latin typeface="Arial"/>
                <a:ea typeface="Arial"/>
                <a:cs typeface="Arial"/>
              </a:defRPr>
            </a:pPr>
            <a:r>
              <a:rPr sz="1725" b="1">
                <a:solidFill>
                  <a:srgbClr val="173F33"/>
                </a:solidFill>
                <a:latin typeface="Arial"/>
                <a:ea typeface="Arial"/>
                <a:cs typeface="Arial"/>
              </a:rPr>
              <a:t>Keep treatment dates in order.</a:t>
            </a:r>
          </a:p>
        </p:txBody>
      </p:sp>
      <p:pic>
        <p:nvPicPr>
          <p:cNvPr id="40" name=""/>
          <p:cNvPicPr>
            <a:picLocks xmlns:a="http://schemas.openxmlformats.org/drawingml/2006/main" noChangeAspect="1"/>
          </p:cNvPicPr>
          <p:nvPr/>
        </p:nvPicPr>
        <p:blipFill>
          <a:blip xmlns:r="http://schemas.openxmlformats.org/officeDocument/2006/relationships" xmlns:a="http://schemas.openxmlformats.org/drawingml/2006/main" r:embed="R6004da510d3f43f7">
            <a:extLst>
              <a:ext uri="{96DAC541-7B7A-43D3-8B79-37D633B846F1}">
                <asvg:svgBlip xmlns:asvg="http://schemas.microsoft.com/office/drawing/2016/SVG/main" r:embed="R3126283e4f814af4"/>
              </a:ext>
            </a:extLst>
          </a:blip>
          <a:stretch xmlns:a="http://schemas.openxmlformats.org/drawingml/2006/main"/>
        </p:blipFill>
        <p:spPr>
          <a:xfrm xmlns:a="http://schemas.openxmlformats.org/drawingml/2006/main">
            <a:off x="6210300" y="6276975"/>
            <a:ext cx="381000" cy="381000"/>
          </a:xfrm>
          <a:prstGeom xmlns:a="http://schemas.openxmlformats.org/drawingml/2006/main" prst="rect">
            <a:avLst/>
          </a:prstGeom>
        </p:spPr>
      </p:pic>
      <p:sp>
        <p:nvSpPr>
          <p:cNvPr id="16" name="Medicine reminders">
            <a:extLst xmlns:a="http://schemas.openxmlformats.org/drawingml/2006/main">
              <a:ext uri="{FF2B5EF4-FFF2-40B4-BE49-F238E27FC236}">
                <a16:creationId xmlns:a16="http://schemas.microsoft.com/office/drawing/2014/main" id="{CCFA899C-52F3-49EF-937B-EDF4DD9D8B45}"/>
              </a:ext>
            </a:extLst>
          </p:cNvPr>
          <p:cNvSpPr>
            <a:spLocks xmlns:a="http://schemas.openxmlformats.org/drawingml/2006/main" noGrp="1"/>
          </p:cNvSpPr>
          <p:nvPr/>
        </p:nvSpPr>
        <p:spPr>
          <a:xfrm xmlns:a="http://schemas.openxmlformats.org/drawingml/2006/main">
            <a:off x="6743700" y="6267450"/>
            <a:ext cx="49149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rmAutofit fontScale="100000"/>
          </a:bodyPr>
          <a:lstStyle xmlns:a="http://schemas.openxmlformats.org/drawingml/2006/main"/>
          <a:p xmlns:a="http://schemas.openxmlformats.org/drawingml/2006/main">
            <a:pPr>
              <a:buNone/>
              <a:defRPr sz="1725" b="1">
                <a:solidFill>
                  <a:srgbClr val="173F33"/>
                </a:solidFill>
                <a:latin typeface="Arial"/>
                <a:ea typeface="Arial"/>
                <a:cs typeface="Arial"/>
              </a:defRPr>
            </a:pPr>
            <a:r>
              <a:rPr sz="1725" b="1">
                <a:solidFill>
                  <a:srgbClr val="173F33"/>
                </a:solidFill>
                <a:latin typeface="Arial"/>
                <a:ea typeface="Arial"/>
                <a:cs typeface="Arial"/>
              </a:rPr>
              <a:t>Check medicine reminders before saving.</a:t>
            </a:r>
          </a:p>
        </p:txBody>
      </p:sp>
    </p:spTree>
    <p:extLst>
      <p:ext uri="{BB962C8B-B14F-4D97-AF65-F5344CB8AC3E}">
        <p14:creationId xmlns:p14="http://schemas.microsoft.com/office/powerpoint/2010/main" val="1405124457"/>
      </p:ext>
    </p:extLst>
  </p:cSld>
</p:sld>
</file>

<file path=ppt/slides/slide7.xml><?xml version="1.0" encoding="utf-8"?>
<p:sld xmlns:p="http://schemas.openxmlformats.org/presentationml/2006/main">
  <p:cSld>
    <p:bg>
      <p:bgPr>
        <a:solidFill xmlns:a="http://schemas.openxmlformats.org/drawingml/2006/main">
          <a:srgbClr val="FFC799"/>
        </a:solidFill>
      </p:bgPr>
    </p:bg>
    <p:spTree>
      <p:nvGrpSpPr>
        <p:cNvPr id="1" name=""/>
        <p:cNvGrpSpPr/>
        <p:nvPr/>
      </p:nvGrpSpPr>
      <p:grpSpPr>
        <a:xfrm xmlns:a="http://schemas.openxmlformats.org/drawingml/2006/main"/>
      </p:grpSpPr>
      <p:sp>
        <p:nvSpPr>
          <p:cNvPr id="18" name="Slide title">
            <a:extLst xmlns:a="http://schemas.openxmlformats.org/drawingml/2006/main">
              <a:ext uri="{FF2B5EF4-FFF2-40B4-BE49-F238E27FC236}">
                <a16:creationId xmlns:a16="http://schemas.microsoft.com/office/drawing/2014/main" id="{A86320D0-E8FA-4265-90A4-5A6CAFC675BC}"/>
              </a:ext>
            </a:extLst>
          </p:cNvPr>
          <p:cNvSpPr>
            <a:spLocks xmlns:a="http://schemas.openxmlformats.org/drawingml/2006/main" noGrp="1"/>
          </p:cNvSpPr>
          <p:nvPr/>
        </p:nvSpPr>
        <p:spPr>
          <a:xfrm xmlns:a="http://schemas.openxmlformats.org/drawingml/2006/main">
            <a:off x="533400" y="361950"/>
            <a:ext cx="11125200" cy="600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rmAutofit fontScale="100000"/>
          </a:bodyPr>
          <a:lstStyle xmlns:a="http://schemas.openxmlformats.org/drawingml/2006/main"/>
          <a:p xmlns:a="http://schemas.openxmlformats.org/drawingml/2006/main">
            <a:pPr>
              <a:buNone/>
              <a:defRPr sz="2925" b="1">
                <a:solidFill>
                  <a:srgbClr val="173F33"/>
                </a:solidFill>
                <a:latin typeface="Arial"/>
                <a:ea typeface="Arial"/>
                <a:cs typeface="Arial"/>
              </a:defRPr>
            </a:pPr>
            <a:r>
              <a:rPr sz="2925" b="1">
                <a:solidFill>
                  <a:srgbClr val="173F33"/>
                </a:solidFill>
                <a:latin typeface="Arial"/>
                <a:ea typeface="Arial"/>
                <a:cs typeface="Arial"/>
              </a:rPr>
              <a:t>Physician leads. AI assists</a:t>
            </a:r>
          </a:p>
        </p:txBody>
      </p:sp>
      <p:sp>
        <p:nvSpPr>
          <p:cNvPr id="2" name="Conversation purpose">
            <a:extLst xmlns:a="http://schemas.openxmlformats.org/drawingml/2006/main">
              <a:ext uri="{FF2B5EF4-FFF2-40B4-BE49-F238E27FC236}">
                <a16:creationId xmlns:a16="http://schemas.microsoft.com/office/drawing/2014/main" id="{71976BE0-5448-491F-8CB0-70AC862966ED}"/>
              </a:ext>
            </a:extLst>
          </p:cNvPr>
          <p:cNvSpPr>
            <a:spLocks xmlns:a="http://schemas.openxmlformats.org/drawingml/2006/main" noGrp="1"/>
          </p:cNvSpPr>
          <p:nvPr/>
        </p:nvSpPr>
        <p:spPr>
          <a:xfrm xmlns:a="http://schemas.openxmlformats.org/drawingml/2006/main">
            <a:off x="533400" y="1028700"/>
            <a:ext cx="111252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rmAutofit fontScale="100000"/>
          </a:bodyPr>
          <a:lstStyle xmlns:a="http://schemas.openxmlformats.org/drawingml/2006/main"/>
          <a:p xmlns:a="http://schemas.openxmlformats.org/drawingml/2006/main">
            <a:pPr>
              <a:buNone/>
              <a:defRPr sz="1875" b="0">
                <a:solidFill>
                  <a:srgbClr val="53655C"/>
                </a:solidFill>
                <a:latin typeface="Arial"/>
                <a:ea typeface="Arial"/>
                <a:cs typeface="Arial"/>
              </a:defRPr>
            </a:pPr>
            <a:r>
              <a:rPr sz="1875" b="0">
                <a:solidFill>
                  <a:srgbClr val="53655C"/>
                </a:solidFill>
                <a:latin typeface="Arial"/>
                <a:ea typeface="Arial"/>
                <a:cs typeface="Arial"/>
              </a:rPr>
              <a:t>The physician initiates the goals-of-care discussion. AI provides a structured guide.</a:t>
            </a:r>
          </a:p>
        </p:txBody>
      </p:sp>
      <p:pic>
        <p:nvPicPr>
          <p:cNvPr id="28" name="Generated consultation illustration with a phone recording the conversation"/>
          <p:cNvPicPr>
            <a:picLocks xmlns:a="http://schemas.openxmlformats.org/drawingml/2006/main" noChangeAspect="1"/>
          </p:cNvPicPr>
          <p:nvPr/>
        </p:nvPicPr>
        <p:blipFill>
          <a:blip xmlns:r="http://schemas.openxmlformats.org/officeDocument/2006/relationships" xmlns:a="http://schemas.openxmlformats.org/drawingml/2006/main" r:embed="R78b7690eff5c42fb"/>
          <a:srcRect xmlns:a="http://schemas.openxmlformats.org/drawingml/2006/main" l="5251" t="0" r="5251" b="0"/>
          <a:stretch xmlns:a="http://schemas.openxmlformats.org/drawingml/2006/main">
            <a:fillRect l="0" t="0" r="0" b="0"/>
          </a:stretch>
        </p:blipFill>
        <p:spPr>
          <a:xfrm xmlns:a="http://schemas.openxmlformats.org/drawingml/2006/main">
            <a:off x="533400" y="1733550"/>
            <a:ext cx="3733800" cy="4171950"/>
          </a:xfrm>
          <a:prstGeom xmlns:a="http://schemas.openxmlformats.org/drawingml/2006/main" prst="rect">
            <a:avLst/>
          </a:prstGeom>
        </p:spPr>
      </p:pic>
      <p:pic>
        <p:nvPicPr>
          <p:cNvPr id="29" name="Saathi recording consent and voice controls"/>
          <p:cNvPicPr>
            <a:picLocks xmlns:a="http://schemas.openxmlformats.org/drawingml/2006/main" noChangeAspect="1"/>
          </p:cNvPicPr>
          <p:nvPr/>
        </p:nvPicPr>
        <p:blipFill>
          <a:blip xmlns:r="http://schemas.openxmlformats.org/officeDocument/2006/relationships" xmlns:a="http://schemas.openxmlformats.org/drawingml/2006/main" r:embed="R4c6000c13b6549d0"/>
          <a:srcRect xmlns:a="http://schemas.openxmlformats.org/drawingml/2006/main" l="1354" t="34298" r="65403" b="0"/>
          <a:stretch xmlns:a="http://schemas.openxmlformats.org/drawingml/2006/main">
            <a:fillRect l="0" t="0" r="0" b="0"/>
          </a:stretch>
        </p:blipFill>
        <p:spPr>
          <a:xfrm xmlns:a="http://schemas.openxmlformats.org/drawingml/2006/main">
            <a:off x="4552950" y="1733550"/>
            <a:ext cx="2914650" cy="2695575"/>
          </a:xfrm>
          <a:prstGeom xmlns:a="http://schemas.openxmlformats.org/drawingml/2006/main" prst="rect">
            <a:avLst/>
          </a:prstGeom>
        </p:spPr>
      </p:pic>
      <p:sp>
        <p:nvSpPr>
          <p:cNvPr id="5" name="Source traceability">
            <a:extLst xmlns:a="http://schemas.openxmlformats.org/drawingml/2006/main">
              <a:ext uri="{FF2B5EF4-FFF2-40B4-BE49-F238E27FC236}">
                <a16:creationId xmlns:a16="http://schemas.microsoft.com/office/drawing/2014/main" id="{1985393D-7C3D-4786-B2E0-CD7A6CD87D33}"/>
              </a:ext>
            </a:extLst>
          </p:cNvPr>
          <p:cNvSpPr>
            <a:spLocks xmlns:a="http://schemas.openxmlformats.org/drawingml/2006/main" noGrp="1"/>
          </p:cNvSpPr>
          <p:nvPr/>
        </p:nvSpPr>
        <p:spPr>
          <a:xfrm xmlns:a="http://schemas.openxmlformats.org/drawingml/2006/main">
            <a:off x="4552950" y="4686300"/>
            <a:ext cx="2914650" cy="1057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rmAutofit fontScale="92500"/>
          </a:bodyPr>
          <a:lstStyle xmlns:a="http://schemas.openxmlformats.org/drawingml/2006/main"/>
          <a:p xmlns:a="http://schemas.openxmlformats.org/drawingml/2006/main">
            <a:pPr>
              <a:buNone/>
              <a:defRPr sz="1875" b="1">
                <a:solidFill>
                  <a:srgbClr val="173F33"/>
                </a:solidFill>
                <a:latin typeface="Arial"/>
                <a:ea typeface="Arial"/>
                <a:cs typeface="Arial"/>
              </a:defRPr>
            </a:pPr>
            <a:r>
              <a:rPr sz="1875" b="1">
                <a:solidFill>
                  <a:srgbClr val="173F33"/>
                </a:solidFill>
                <a:latin typeface="Arial"/>
                <a:ea typeface="Arial"/>
                <a:cs typeface="Arial"/>
              </a:rPr>
              <a:t>Every version of the goals-of-care discussion stays in the Care Note history.</a:t>
            </a:r>
          </a:p>
        </p:txBody>
      </p:sp>
      <p:pic>
        <p:nvPicPr>
          <p:cNvPr id="31" name=""/>
          <p:cNvPicPr>
            <a:picLocks xmlns:a="http://schemas.openxmlformats.org/drawingml/2006/main" noChangeAspect="1"/>
          </p:cNvPicPr>
          <p:nvPr/>
        </p:nvPicPr>
        <p:blipFill>
          <a:blip xmlns:r="http://schemas.openxmlformats.org/officeDocument/2006/relationships" xmlns:a="http://schemas.openxmlformats.org/drawingml/2006/main" r:embed="R6db888776a504545">
            <a:extLst>
              <a:ext uri="{96DAC541-7B7A-43D3-8B79-37D633B846F1}">
                <asvg:svgBlip xmlns:asvg="http://schemas.microsoft.com/office/drawing/2016/SVG/main" r:embed="R804487f546e145e0"/>
              </a:ext>
            </a:extLst>
          </a:blip>
          <a:stretch xmlns:a="http://schemas.openxmlformats.org/drawingml/2006/main"/>
        </p:blipFill>
        <p:spPr>
          <a:xfrm xmlns:a="http://schemas.openxmlformats.org/drawingml/2006/main">
            <a:off x="7810500" y="1724025"/>
            <a:ext cx="361950" cy="361950"/>
          </a:xfrm>
          <a:prstGeom xmlns:a="http://schemas.openxmlformats.org/drawingml/2006/main" prst="rect">
            <a:avLst/>
          </a:prstGeom>
        </p:spPr>
      </p:pic>
      <p:sp>
        <p:nvSpPr>
          <p:cNvPr id="7" name="AI step 1">
            <a:extLst xmlns:a="http://schemas.openxmlformats.org/drawingml/2006/main">
              <a:ext uri="{FF2B5EF4-FFF2-40B4-BE49-F238E27FC236}">
                <a16:creationId xmlns:a16="http://schemas.microsoft.com/office/drawing/2014/main" id="{DC574EE3-5BE7-4D8C-90D3-CCA836955FC5}"/>
              </a:ext>
            </a:extLst>
          </p:cNvPr>
          <p:cNvSpPr>
            <a:spLocks xmlns:a="http://schemas.openxmlformats.org/drawingml/2006/main" noGrp="1"/>
          </p:cNvSpPr>
          <p:nvPr/>
        </p:nvSpPr>
        <p:spPr>
          <a:xfrm xmlns:a="http://schemas.openxmlformats.org/drawingml/2006/main">
            <a:off x="8305800" y="1676400"/>
            <a:ext cx="33528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rmAutofit fontScale="100000"/>
          </a:bodyPr>
          <a:lstStyle xmlns:a="http://schemas.openxmlformats.org/drawingml/2006/main"/>
          <a:p xmlns:a="http://schemas.openxmlformats.org/drawingml/2006/main">
            <a:pPr>
              <a:buNone/>
              <a:defRPr sz="1800" b="1">
                <a:solidFill>
                  <a:srgbClr val="173F33"/>
                </a:solidFill>
                <a:latin typeface="Arial"/>
                <a:ea typeface="Arial"/>
                <a:cs typeface="Arial"/>
              </a:defRPr>
            </a:pPr>
            <a:r>
              <a:rPr sz="1800" b="1">
                <a:solidFill>
                  <a:srgbClr val="173F33"/>
                </a:solidFill>
                <a:latin typeface="Arial"/>
                <a:ea typeface="Arial"/>
                <a:cs typeface="Arial"/>
              </a:rPr>
              <a:t>1. Record with consent.</a:t>
            </a:r>
          </a:p>
        </p:txBody>
      </p:sp>
      <p:pic>
        <p:nvPicPr>
          <p:cNvPr id="33" name=""/>
          <p:cNvPicPr>
            <a:picLocks xmlns:a="http://schemas.openxmlformats.org/drawingml/2006/main" noChangeAspect="1"/>
          </p:cNvPicPr>
          <p:nvPr/>
        </p:nvPicPr>
        <p:blipFill>
          <a:blip xmlns:r="http://schemas.openxmlformats.org/officeDocument/2006/relationships" xmlns:a="http://schemas.openxmlformats.org/drawingml/2006/main" r:embed="R0db04a934d64444c">
            <a:extLst>
              <a:ext uri="{96DAC541-7B7A-43D3-8B79-37D633B846F1}">
                <asvg:svgBlip xmlns:asvg="http://schemas.microsoft.com/office/drawing/2016/SVG/main" r:embed="Raabb8469108c4ad0"/>
              </a:ext>
            </a:extLst>
          </a:blip>
          <a:stretch xmlns:a="http://schemas.openxmlformats.org/drawingml/2006/main"/>
        </p:blipFill>
        <p:spPr>
          <a:xfrm xmlns:a="http://schemas.openxmlformats.org/drawingml/2006/main">
            <a:off x="7810500" y="2466975"/>
            <a:ext cx="361950" cy="361950"/>
          </a:xfrm>
          <a:prstGeom xmlns:a="http://schemas.openxmlformats.org/drawingml/2006/main" prst="rect">
            <a:avLst/>
          </a:prstGeom>
        </p:spPr>
      </p:pic>
      <p:sp>
        <p:nvSpPr>
          <p:cNvPr id="9" name="AI step 2">
            <a:extLst xmlns:a="http://schemas.openxmlformats.org/drawingml/2006/main">
              <a:ext uri="{FF2B5EF4-FFF2-40B4-BE49-F238E27FC236}">
                <a16:creationId xmlns:a16="http://schemas.microsoft.com/office/drawing/2014/main" id="{CC3847D7-DFFF-4BE6-87F4-A81E42D8654F}"/>
              </a:ext>
            </a:extLst>
          </p:cNvPr>
          <p:cNvSpPr>
            <a:spLocks xmlns:a="http://schemas.openxmlformats.org/drawingml/2006/main" noGrp="1"/>
          </p:cNvSpPr>
          <p:nvPr/>
        </p:nvSpPr>
        <p:spPr>
          <a:xfrm xmlns:a="http://schemas.openxmlformats.org/drawingml/2006/main">
            <a:off x="8305800" y="2419350"/>
            <a:ext cx="3352800" cy="962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rmAutofit fontScale="100000"/>
          </a:bodyPr>
          <a:lstStyle xmlns:a="http://schemas.openxmlformats.org/drawingml/2006/main"/>
          <a:p xmlns:a="http://schemas.openxmlformats.org/drawingml/2006/main">
            <a:pPr>
              <a:buNone/>
              <a:defRPr sz="1800" b="1">
                <a:solidFill>
                  <a:srgbClr val="173F33"/>
                </a:solidFill>
                <a:latin typeface="Arial"/>
                <a:ea typeface="Arial"/>
                <a:cs typeface="Arial"/>
              </a:defRPr>
            </a:pPr>
            <a:r>
              <a:rPr sz="1800" b="1">
                <a:solidFill>
                  <a:srgbClr val="173F33"/>
                </a:solidFill>
                <a:latin typeface="Arial"/>
                <a:ea typeface="Arial"/>
                <a:cs typeface="Arial"/>
              </a:rPr>
              <a:t>2. AI guides the physician through a structured goals-of-care discussion.</a:t>
            </a:r>
          </a:p>
        </p:txBody>
      </p:sp>
      <p:pic>
        <p:nvPicPr>
          <p:cNvPr id="35" name=""/>
          <p:cNvPicPr>
            <a:picLocks xmlns:a="http://schemas.openxmlformats.org/drawingml/2006/main" noChangeAspect="1"/>
          </p:cNvPicPr>
          <p:nvPr/>
        </p:nvPicPr>
        <p:blipFill>
          <a:blip xmlns:r="http://schemas.openxmlformats.org/officeDocument/2006/relationships" xmlns:a="http://schemas.openxmlformats.org/drawingml/2006/main" r:embed="Re47dae9423e94bb1">
            <a:extLst>
              <a:ext uri="{96DAC541-7B7A-43D3-8B79-37D633B846F1}">
                <asvg:svgBlip xmlns:asvg="http://schemas.microsoft.com/office/drawing/2016/SVG/main" r:embed="R2219006f50294d5f"/>
              </a:ext>
            </a:extLst>
          </a:blip>
          <a:stretch xmlns:a="http://schemas.openxmlformats.org/drawingml/2006/main"/>
        </p:blipFill>
        <p:spPr>
          <a:xfrm xmlns:a="http://schemas.openxmlformats.org/drawingml/2006/main">
            <a:off x="7810500" y="3495675"/>
            <a:ext cx="361950" cy="361950"/>
          </a:xfrm>
          <a:prstGeom xmlns:a="http://schemas.openxmlformats.org/drawingml/2006/main" prst="rect">
            <a:avLst/>
          </a:prstGeom>
        </p:spPr>
      </p:pic>
      <p:sp>
        <p:nvSpPr>
          <p:cNvPr id="11" name="AI step 3">
            <a:extLst xmlns:a="http://schemas.openxmlformats.org/drawingml/2006/main">
              <a:ext uri="{FF2B5EF4-FFF2-40B4-BE49-F238E27FC236}">
                <a16:creationId xmlns:a16="http://schemas.microsoft.com/office/drawing/2014/main" id="{2B3FDCB5-102A-4060-86E4-E84EBCAF0231}"/>
              </a:ext>
            </a:extLst>
          </p:cNvPr>
          <p:cNvSpPr>
            <a:spLocks xmlns:a="http://schemas.openxmlformats.org/drawingml/2006/main" noGrp="1"/>
          </p:cNvSpPr>
          <p:nvPr/>
        </p:nvSpPr>
        <p:spPr>
          <a:xfrm xmlns:a="http://schemas.openxmlformats.org/drawingml/2006/main">
            <a:off x="8305800" y="3448050"/>
            <a:ext cx="33528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rmAutofit fontScale="100000"/>
          </a:bodyPr>
          <a:lstStyle xmlns:a="http://schemas.openxmlformats.org/drawingml/2006/main"/>
          <a:p xmlns:a="http://schemas.openxmlformats.org/drawingml/2006/main">
            <a:pPr>
              <a:buNone/>
              <a:defRPr sz="1800" b="1">
                <a:solidFill>
                  <a:srgbClr val="173F33"/>
                </a:solidFill>
                <a:latin typeface="Arial"/>
                <a:ea typeface="Arial"/>
                <a:cs typeface="Arial"/>
              </a:defRPr>
            </a:pPr>
            <a:r>
              <a:rPr sz="1800" b="1">
                <a:solidFill>
                  <a:srgbClr val="173F33"/>
                </a:solidFill>
                <a:latin typeface="Arial"/>
                <a:ea typeface="Arial"/>
                <a:cs typeface="Arial"/>
              </a:rPr>
              <a:t>3. AI drafts the Care Note.</a:t>
            </a:r>
          </a:p>
        </p:txBody>
      </p:sp>
      <p:pic>
        <p:nvPicPr>
          <p:cNvPr id="37" name=""/>
          <p:cNvPicPr>
            <a:picLocks xmlns:a="http://schemas.openxmlformats.org/drawingml/2006/main" noChangeAspect="1"/>
          </p:cNvPicPr>
          <p:nvPr/>
        </p:nvPicPr>
        <p:blipFill>
          <a:blip xmlns:r="http://schemas.openxmlformats.org/officeDocument/2006/relationships" xmlns:a="http://schemas.openxmlformats.org/drawingml/2006/main" r:embed="R78b7690eff5c42fb">
            <a:extLst>
              <a:ext uri="{96DAC541-7B7A-43D3-8B79-37D633B846F1}">
                <asvg:svgBlip xmlns:asvg="http://schemas.microsoft.com/office/drawing/2016/SVG/main" r:embed="Rde620be2ce144819"/>
              </a:ext>
            </a:extLst>
          </a:blip>
          <a:stretch xmlns:a="http://schemas.openxmlformats.org/drawingml/2006/main"/>
        </p:blipFill>
        <p:spPr>
          <a:xfrm xmlns:a="http://schemas.openxmlformats.org/drawingml/2006/main">
            <a:off x="7810500" y="4238625"/>
            <a:ext cx="361950" cy="361950"/>
          </a:xfrm>
          <a:prstGeom xmlns:a="http://schemas.openxmlformats.org/drawingml/2006/main" prst="rect">
            <a:avLst/>
          </a:prstGeom>
        </p:spPr>
      </p:pic>
      <p:sp>
        <p:nvSpPr>
          <p:cNvPr id="13" name="AI step 4">
            <a:extLst xmlns:a="http://schemas.openxmlformats.org/drawingml/2006/main">
              <a:ext uri="{FF2B5EF4-FFF2-40B4-BE49-F238E27FC236}">
                <a16:creationId xmlns:a16="http://schemas.microsoft.com/office/drawing/2014/main" id="{B3ADCC34-0CC8-4C8B-BFCB-085124FC60F0}"/>
              </a:ext>
            </a:extLst>
          </p:cNvPr>
          <p:cNvSpPr>
            <a:spLocks xmlns:a="http://schemas.openxmlformats.org/drawingml/2006/main" noGrp="1"/>
          </p:cNvSpPr>
          <p:nvPr/>
        </p:nvSpPr>
        <p:spPr>
          <a:xfrm xmlns:a="http://schemas.openxmlformats.org/drawingml/2006/main">
            <a:off x="8305800" y="4191000"/>
            <a:ext cx="33528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rmAutofit fontScale="100000"/>
          </a:bodyPr>
          <a:lstStyle xmlns:a="http://schemas.openxmlformats.org/drawingml/2006/main"/>
          <a:p xmlns:a="http://schemas.openxmlformats.org/drawingml/2006/main">
            <a:pPr>
              <a:buNone/>
              <a:defRPr sz="1800" b="1">
                <a:solidFill>
                  <a:srgbClr val="173F33"/>
                </a:solidFill>
                <a:latin typeface="Arial"/>
                <a:ea typeface="Arial"/>
                <a:cs typeface="Arial"/>
              </a:defRPr>
            </a:pPr>
            <a:r>
              <a:rPr sz="1800" b="1">
                <a:solidFill>
                  <a:srgbClr val="173F33"/>
                </a:solidFill>
                <a:latin typeface="Arial"/>
                <a:ea typeface="Arial"/>
                <a:cs typeface="Arial"/>
              </a:rPr>
              <a:t>4. The physician reviews, edits and signs.</a:t>
            </a:r>
          </a:p>
        </p:txBody>
      </p:sp>
      <p:pic>
        <p:nvPicPr>
          <p:cNvPr id="39" name=""/>
          <p:cNvPicPr>
            <a:picLocks xmlns:a="http://schemas.openxmlformats.org/drawingml/2006/main" noChangeAspect="1"/>
          </p:cNvPicPr>
          <p:nvPr/>
        </p:nvPicPr>
        <p:blipFill>
          <a:blip xmlns:r="http://schemas.openxmlformats.org/officeDocument/2006/relationships" xmlns:a="http://schemas.openxmlformats.org/drawingml/2006/main" r:embed="R4c6000c13b6549d0">
            <a:extLst>
              <a:ext uri="{96DAC541-7B7A-43D3-8B79-37D633B846F1}">
                <asvg:svgBlip xmlns:asvg="http://schemas.microsoft.com/office/drawing/2016/SVG/main" r:embed="R96e1fa46e6a44385"/>
              </a:ext>
            </a:extLst>
          </a:blip>
          <a:stretch xmlns:a="http://schemas.openxmlformats.org/drawingml/2006/main"/>
        </p:blipFill>
        <p:spPr>
          <a:xfrm xmlns:a="http://schemas.openxmlformats.org/drawingml/2006/main">
            <a:off x="7810500" y="5095875"/>
            <a:ext cx="361950" cy="361950"/>
          </a:xfrm>
          <a:prstGeom xmlns:a="http://schemas.openxmlformats.org/drawingml/2006/main" prst="rect">
            <a:avLst/>
          </a:prstGeom>
        </p:spPr>
      </p:pic>
      <p:sp>
        <p:nvSpPr>
          <p:cNvPr id="15" name="AI step 5">
            <a:extLst xmlns:a="http://schemas.openxmlformats.org/drawingml/2006/main">
              <a:ext uri="{FF2B5EF4-FFF2-40B4-BE49-F238E27FC236}">
                <a16:creationId xmlns:a16="http://schemas.microsoft.com/office/drawing/2014/main" id="{E9C7771F-9176-47F2-B1B4-2672CA0816AE}"/>
              </a:ext>
            </a:extLst>
          </p:cNvPr>
          <p:cNvSpPr>
            <a:spLocks xmlns:a="http://schemas.openxmlformats.org/drawingml/2006/main" noGrp="1"/>
          </p:cNvSpPr>
          <p:nvPr/>
        </p:nvSpPr>
        <p:spPr>
          <a:xfrm xmlns:a="http://schemas.openxmlformats.org/drawingml/2006/main">
            <a:off x="8305800" y="5048250"/>
            <a:ext cx="33528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rmAutofit fontScale="100000"/>
          </a:bodyPr>
          <a:lstStyle xmlns:a="http://schemas.openxmlformats.org/drawingml/2006/main"/>
          <a:p xmlns:a="http://schemas.openxmlformats.org/drawingml/2006/main">
            <a:pPr>
              <a:buNone/>
              <a:defRPr sz="1800" b="1">
                <a:solidFill>
                  <a:srgbClr val="173F33"/>
                </a:solidFill>
                <a:latin typeface="Arial"/>
                <a:ea typeface="Arial"/>
                <a:cs typeface="Arial"/>
              </a:defRPr>
            </a:pPr>
            <a:r>
              <a:rPr sz="1800" b="1">
                <a:solidFill>
                  <a:srgbClr val="173F33"/>
                </a:solidFill>
                <a:latin typeface="Arial"/>
                <a:ea typeface="Arial"/>
                <a:cs typeface="Arial"/>
              </a:rPr>
              <a:t>5. The patient reviews and signs.</a:t>
            </a:r>
          </a:p>
        </p:txBody>
      </p:sp>
      <p:sp>
        <p:nvSpPr>
          <p:cNvPr id="16" name="Encrypted emergency handoff">
            <a:extLst xmlns:a="http://schemas.openxmlformats.org/drawingml/2006/main">
              <a:ext uri="{FF2B5EF4-FFF2-40B4-BE49-F238E27FC236}">
                <a16:creationId xmlns:a16="http://schemas.microsoft.com/office/drawing/2014/main" id="{9741D901-F2BF-4B6E-902D-BA00A15663C6}"/>
              </a:ext>
            </a:extLst>
          </p:cNvPr>
          <p:cNvSpPr>
            <a:spLocks xmlns:a="http://schemas.openxmlformats.org/drawingml/2006/main" noGrp="1"/>
          </p:cNvSpPr>
          <p:nvPr/>
        </p:nvSpPr>
        <p:spPr>
          <a:xfrm xmlns:a="http://schemas.openxmlformats.org/drawingml/2006/main">
            <a:off x="533400" y="6048375"/>
            <a:ext cx="111252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rmAutofit fontScale="100000"/>
          </a:bodyPr>
          <a:lstStyle xmlns:a="http://schemas.openxmlformats.org/drawingml/2006/main"/>
          <a:p xmlns:a="http://schemas.openxmlformats.org/drawingml/2006/main">
            <a:pPr>
              <a:buNone/>
              <a:defRPr sz="1875" b="1">
                <a:solidFill>
                  <a:srgbClr val="173F33"/>
                </a:solidFill>
                <a:latin typeface="Arial"/>
                <a:ea typeface="Arial"/>
                <a:cs typeface="Arial"/>
              </a:defRPr>
            </a:pPr>
            <a:r>
              <a:rPr sz="1875" b="1">
                <a:solidFill>
                  <a:srgbClr val="173F33"/>
                </a:solidFill>
                <a:latin typeface="Arial"/>
                <a:ea typeface="Arial"/>
                <a:cs typeface="Arial"/>
              </a:rPr>
              <a:t>Download the signed Care Note and keep it ready for an emergency.</a:t>
            </a:r>
          </a:p>
        </p:txBody>
      </p:sp>
      <p:sp>
        <p:nvSpPr>
          <p:cNvPr id="17" name="Proposed voice provider">
            <a:extLst xmlns:a="http://schemas.openxmlformats.org/drawingml/2006/main">
              <a:ext uri="{FF2B5EF4-FFF2-40B4-BE49-F238E27FC236}">
                <a16:creationId xmlns:a16="http://schemas.microsoft.com/office/drawing/2014/main" id="{DD4627F3-38B3-4D3B-AC32-5327DE32E655}"/>
              </a:ext>
            </a:extLst>
          </p:cNvPr>
          <p:cNvSpPr>
            <a:spLocks xmlns:a="http://schemas.openxmlformats.org/drawingml/2006/main" noGrp="1"/>
          </p:cNvSpPr>
          <p:nvPr/>
        </p:nvSpPr>
        <p:spPr>
          <a:xfrm xmlns:a="http://schemas.openxmlformats.org/drawingml/2006/main">
            <a:off x="533400" y="6562725"/>
            <a:ext cx="111252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rmAutofit fontScale="100000"/>
          </a:bodyPr>
          <a:lstStyle xmlns:a="http://schemas.openxmlformats.org/drawingml/2006/main"/>
          <a:p xmlns:a="http://schemas.openxmlformats.org/drawingml/2006/main">
            <a:pPr>
              <a:buNone/>
              <a:defRPr sz="1313" b="0">
                <a:solidFill>
                  <a:srgbClr val="145AC6"/>
                </a:solidFill>
                <a:latin typeface="Arial"/>
                <a:ea typeface="Arial"/>
                <a:cs typeface="Arial"/>
              </a:defRPr>
            </a:pPr>
            <a:r>
              <a:rPr sz="1313" b="0" u="sng">
                <a:solidFill>
                  <a:srgbClr val="145AC6"/>
                </a:solidFill>
                <a:latin typeface="Arial"/>
                <a:ea typeface="Arial"/>
                <a:cs typeface="Arial"/>
                <a:hlinkClick xmlns:r="http://schemas.openxmlformats.org/officeDocument/2006/relationships" r:id="Rbc5b39b719484e1a"/>
              </a:rPr>
              <a:t>Sarvam AI can support Indian-language speech, translation and read-aloud.</a:t>
            </a:r>
          </a:p>
        </p:txBody>
      </p:sp>
    </p:spTree>
    <p:extLst>
      <p:ext uri="{BB962C8B-B14F-4D97-AF65-F5344CB8AC3E}">
        <p14:creationId xmlns:p14="http://schemas.microsoft.com/office/powerpoint/2010/main" val="1779657811"/>
      </p:ext>
    </p:extLst>
  </p:cSld>
</p:sld>
</file>

<file path=ppt/slides/slide8.xml><?xml version="1.0" encoding="utf-8"?>
<p:sld xmlns:p="http://schemas.openxmlformats.org/presentationml/2006/main">
  <p:cSld>
    <p:bg>
      <p:bgPr>
        <a:solidFill xmlns:a="http://schemas.openxmlformats.org/drawingml/2006/main">
          <a:srgbClr val="0B1744"/>
        </a:solidFill>
      </p:bgPr>
    </p:bg>
    <p:spTree>
      <p:nvGrpSpPr>
        <p:cNvPr id="1" name=""/>
        <p:cNvGrpSpPr/>
        <p:nvPr/>
      </p:nvGrpSpPr>
      <p:grpSpPr>
        <a:xfrm xmlns:a="http://schemas.openxmlformats.org/drawingml/2006/main"/>
      </p:grpSpPr>
      <p:sp>
        <p:nvSpPr>
          <p:cNvPr id="31" name="References title">
            <a:extLst xmlns:a="http://schemas.openxmlformats.org/drawingml/2006/main">
              <a:ext uri="{FF2B5EF4-FFF2-40B4-BE49-F238E27FC236}">
                <a16:creationId xmlns:a16="http://schemas.microsoft.com/office/drawing/2014/main" id="{9CFDA488-193A-443B-94FE-2420B0889B9F}"/>
              </a:ext>
            </a:extLst>
          </p:cNvPr>
          <p:cNvSpPr>
            <a:spLocks xmlns:a="http://schemas.openxmlformats.org/drawingml/2006/main" noGrp="1"/>
          </p:cNvSpPr>
          <p:nvPr/>
        </p:nvSpPr>
        <p:spPr>
          <a:xfrm xmlns:a="http://schemas.openxmlformats.org/drawingml/2006/main">
            <a:off x="533400" y="285750"/>
            <a:ext cx="111252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rmAutofit fontScale="100000"/>
          </a:bodyPr>
          <a:lstStyle xmlns:a="http://schemas.openxmlformats.org/drawingml/2006/main"/>
          <a:p xmlns:a="http://schemas.openxmlformats.org/drawingml/2006/main">
            <a:pPr>
              <a:buNone/>
              <a:defRPr sz="3450" b="1">
                <a:solidFill>
                  <a:srgbClr val="FFD154"/>
                </a:solidFill>
                <a:latin typeface="Arial"/>
                <a:ea typeface="Arial"/>
                <a:cs typeface="Arial"/>
              </a:defRPr>
            </a:pPr>
            <a:r>
              <a:rPr sz="3450" b="1">
                <a:solidFill>
                  <a:srgbClr val="FFD154"/>
                </a:solidFill>
                <a:latin typeface="Arial"/>
                <a:ea typeface="Arial"/>
                <a:cs typeface="Arial"/>
              </a:rPr>
              <a:t>References</a:t>
            </a:r>
          </a:p>
        </p:txBody>
      </p:sp>
      <p:sp>
        <p:nvSpPr>
          <p:cNvPr id="2" name="References one to four">
            <a:extLst xmlns:a="http://schemas.openxmlformats.org/drawingml/2006/main">
              <a:ext uri="{FF2B5EF4-FFF2-40B4-BE49-F238E27FC236}">
                <a16:creationId xmlns:a16="http://schemas.microsoft.com/office/drawing/2014/main" id="{498E57F2-ED9B-4C27-8217-48A9AFE1BBBE}"/>
              </a:ext>
            </a:extLst>
          </p:cNvPr>
          <p:cNvSpPr>
            <a:spLocks xmlns:a="http://schemas.openxmlformats.org/drawingml/2006/main" noGrp="1"/>
          </p:cNvSpPr>
          <p:nvPr/>
        </p:nvSpPr>
        <p:spPr>
          <a:xfrm xmlns:a="http://schemas.openxmlformats.org/drawingml/2006/main">
            <a:off x="381000" y="981075"/>
            <a:ext cx="5638800" cy="5810250"/>
          </a:xfrm>
          <a:prstGeom xmlns:a="http://schemas.openxmlformats.org/drawingml/2006/main" prst="rect">
            <a:avLst/>
          </a:prstGeom>
          <a:solidFill xmlns:a="http://schemas.openxmlformats.org/drawingml/2006/main">
            <a:srgbClr val="E8F4F0"/>
          </a:solidFill>
          <a:ln xmlns:a="http://schemas.openxmlformats.org/drawingml/2006/main" w="0">
            <a:noFill/>
          </a:ln>
        </p:spPr>
      </p:sp>
      <p:sp>
        <p:nvSpPr>
          <p:cNvPr id="3" name="References five to nine">
            <a:extLst xmlns:a="http://schemas.openxmlformats.org/drawingml/2006/main">
              <a:ext uri="{FF2B5EF4-FFF2-40B4-BE49-F238E27FC236}">
                <a16:creationId xmlns:a16="http://schemas.microsoft.com/office/drawing/2014/main" id="{D2B99F2D-5667-4882-A447-2BA294BC71A0}"/>
              </a:ext>
            </a:extLst>
          </p:cNvPr>
          <p:cNvSpPr>
            <a:spLocks xmlns:a="http://schemas.openxmlformats.org/drawingml/2006/main" noGrp="1"/>
          </p:cNvSpPr>
          <p:nvPr/>
        </p:nvSpPr>
        <p:spPr>
          <a:xfrm xmlns:a="http://schemas.openxmlformats.org/drawingml/2006/main">
            <a:off x="6096000" y="981075"/>
            <a:ext cx="5638800" cy="5810250"/>
          </a:xfrm>
          <a:prstGeom xmlns:a="http://schemas.openxmlformats.org/drawingml/2006/main" prst="rect">
            <a:avLst/>
          </a:prstGeom>
          <a:solidFill xmlns:a="http://schemas.openxmlformats.org/drawingml/2006/main">
            <a:srgbClr val="EEE7FA"/>
          </a:solidFill>
          <a:ln xmlns:a="http://schemas.openxmlformats.org/drawingml/2006/main" w="0">
            <a:noFill/>
          </a:ln>
        </p:spPr>
      </p:sp>
      <p:sp>
        <p:nvSpPr>
          <p:cNvPr id="4" name="Reference 1 author">
            <a:extLst xmlns:a="http://schemas.openxmlformats.org/drawingml/2006/main">
              <a:ext uri="{FF2B5EF4-FFF2-40B4-BE49-F238E27FC236}">
                <a16:creationId xmlns:a16="http://schemas.microsoft.com/office/drawing/2014/main" id="{20F5141E-D27F-4FA1-837D-D4964CA8DDE7}"/>
              </a:ext>
            </a:extLst>
          </p:cNvPr>
          <p:cNvSpPr>
            <a:spLocks xmlns:a="http://schemas.openxmlformats.org/drawingml/2006/main" noGrp="1"/>
          </p:cNvSpPr>
          <p:nvPr/>
        </p:nvSpPr>
        <p:spPr>
          <a:xfrm xmlns:a="http://schemas.openxmlformats.org/drawingml/2006/main">
            <a:off x="533400" y="1066800"/>
            <a:ext cx="53911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rmAutofit fontScale="100000"/>
          </a:bodyPr>
          <a:lstStyle xmlns:a="http://schemas.openxmlformats.org/drawingml/2006/main"/>
          <a:p xmlns:a="http://schemas.openxmlformats.org/drawingml/2006/main">
            <a:pPr>
              <a:buNone/>
              <a:defRPr sz="1223" b="1">
                <a:solidFill>
                  <a:srgbClr val="173F33"/>
                </a:solidFill>
                <a:latin typeface="Arial"/>
                <a:ea typeface="Arial"/>
                <a:cs typeface="Arial"/>
              </a:defRPr>
            </a:pPr>
            <a:r>
              <a:rPr sz="1223" b="1">
                <a:solidFill>
                  <a:srgbClr val="173F33"/>
                </a:solidFill>
                <a:latin typeface="Arial"/>
                <a:ea typeface="Arial"/>
                <a:cs typeface="Arial"/>
              </a:rPr>
              <a:t>1. IARC. Global Cancer Observatory, 2024.</a:t>
            </a:r>
          </a:p>
        </p:txBody>
      </p:sp>
      <p:sp>
        <p:nvSpPr>
          <p:cNvPr id="5" name="Reference 1 title">
            <a:extLst xmlns:a="http://schemas.openxmlformats.org/drawingml/2006/main">
              <a:ext uri="{FF2B5EF4-FFF2-40B4-BE49-F238E27FC236}">
                <a16:creationId xmlns:a16="http://schemas.microsoft.com/office/drawing/2014/main" id="{54BCF0AC-E15E-4672-A0D2-0870E2DE8875}"/>
              </a:ext>
            </a:extLst>
          </p:cNvPr>
          <p:cNvSpPr>
            <a:spLocks xmlns:a="http://schemas.openxmlformats.org/drawingml/2006/main" noGrp="1"/>
          </p:cNvSpPr>
          <p:nvPr/>
        </p:nvSpPr>
        <p:spPr>
          <a:xfrm xmlns:a="http://schemas.openxmlformats.org/drawingml/2006/main">
            <a:off x="533400" y="1323975"/>
            <a:ext cx="539115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rmAutofit fontScale="100000"/>
          </a:bodyPr>
          <a:lstStyle xmlns:a="http://schemas.openxmlformats.org/drawingml/2006/main"/>
          <a:p xmlns:a="http://schemas.openxmlformats.org/drawingml/2006/main">
            <a:pPr>
              <a:buNone/>
              <a:defRPr sz="1290" b="0">
                <a:solidFill>
                  <a:srgbClr val="145AC6"/>
                </a:solidFill>
                <a:latin typeface="Arial"/>
                <a:ea typeface="Arial"/>
                <a:cs typeface="Arial"/>
              </a:defRPr>
            </a:pPr>
            <a:r>
              <a:rPr sz="1290" b="0" u="sng">
                <a:solidFill>
                  <a:srgbClr val="145AC6"/>
                </a:solidFill>
                <a:latin typeface="Arial"/>
                <a:ea typeface="Arial"/>
                <a:cs typeface="Arial"/>
                <a:hlinkClick xmlns:r="http://schemas.openxmlformats.org/officeDocument/2006/relationships" r:id="R2c55e3ac061c436a"/>
              </a:rPr>
              <a:t>India: GLOBOCAN 2024 Fact Sheet</a:t>
            </a:r>
          </a:p>
        </p:txBody>
      </p:sp>
      <p:sp>
        <p:nvSpPr>
          <p:cNvPr id="6" name="Reference 1 link">
            <a:extLst xmlns:a="http://schemas.openxmlformats.org/drawingml/2006/main">
              <a:ext uri="{FF2B5EF4-FFF2-40B4-BE49-F238E27FC236}">
                <a16:creationId xmlns:a16="http://schemas.microsoft.com/office/drawing/2014/main" id="{16F6C79A-52F5-4557-8A44-23A604DB58DF}"/>
              </a:ext>
            </a:extLst>
          </p:cNvPr>
          <p:cNvSpPr>
            <a:spLocks xmlns:a="http://schemas.openxmlformats.org/drawingml/2006/main" noGrp="1"/>
          </p:cNvSpPr>
          <p:nvPr/>
        </p:nvSpPr>
        <p:spPr>
          <a:xfrm xmlns:a="http://schemas.openxmlformats.org/drawingml/2006/main">
            <a:off x="533400" y="1685925"/>
            <a:ext cx="539115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rmAutofit fontScale="100000"/>
          </a:bodyPr>
          <a:lstStyle xmlns:a="http://schemas.openxmlformats.org/drawingml/2006/main"/>
          <a:p xmlns:a="http://schemas.openxmlformats.org/drawingml/2006/main">
            <a:pPr>
              <a:buNone/>
              <a:defRPr sz="1035" b="0">
                <a:solidFill>
                  <a:srgbClr val="145AC6"/>
                </a:solidFill>
                <a:latin typeface="Arial"/>
                <a:ea typeface="Arial"/>
                <a:cs typeface="Arial"/>
              </a:defRPr>
            </a:pPr>
            <a:r>
              <a:rPr sz="1035" b="0" u="sng">
                <a:solidFill>
                  <a:srgbClr val="145AC6"/>
                </a:solidFill>
                <a:latin typeface="Arial"/>
                <a:ea typeface="Arial"/>
                <a:cs typeface="Arial"/>
                <a:hlinkClick xmlns:r="http://schemas.openxmlformats.org/officeDocument/2006/relationships" r:id="R5109bd562bb24553"/>
              </a:rPr>
              <a:t>https://gco.iarc.who.int/media/globocan/factsheets/populations/356-india-fact-sheet.pdf</a:t>
            </a:r>
          </a:p>
        </p:txBody>
      </p:sp>
      <p:sp>
        <p:nvSpPr>
          <p:cNvPr id="7" name="Reference 2 author">
            <a:extLst xmlns:a="http://schemas.openxmlformats.org/drawingml/2006/main">
              <a:ext uri="{FF2B5EF4-FFF2-40B4-BE49-F238E27FC236}">
                <a16:creationId xmlns:a16="http://schemas.microsoft.com/office/drawing/2014/main" id="{C00884C0-D3DE-4F28-9B07-4411696E9ED7}"/>
              </a:ext>
            </a:extLst>
          </p:cNvPr>
          <p:cNvSpPr>
            <a:spLocks xmlns:a="http://schemas.openxmlformats.org/drawingml/2006/main" noGrp="1"/>
          </p:cNvSpPr>
          <p:nvPr/>
        </p:nvSpPr>
        <p:spPr>
          <a:xfrm xmlns:a="http://schemas.openxmlformats.org/drawingml/2006/main">
            <a:off x="533400" y="2343150"/>
            <a:ext cx="53911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rmAutofit fontScale="100000"/>
          </a:bodyPr>
          <a:lstStyle xmlns:a="http://schemas.openxmlformats.org/drawingml/2006/main"/>
          <a:p xmlns:a="http://schemas.openxmlformats.org/drawingml/2006/main">
            <a:pPr>
              <a:buNone/>
              <a:defRPr sz="1223" b="1">
                <a:solidFill>
                  <a:srgbClr val="173F33"/>
                </a:solidFill>
                <a:latin typeface="Arial"/>
                <a:ea typeface="Arial"/>
                <a:cs typeface="Arial"/>
              </a:defRPr>
            </a:pPr>
            <a:r>
              <a:rPr sz="1223" b="1">
                <a:solidFill>
                  <a:srgbClr val="173F33"/>
                </a:solidFill>
                <a:latin typeface="Arial"/>
                <a:ea typeface="Arial"/>
                <a:cs typeface="Arial"/>
              </a:rPr>
              <a:t>2. Patil S, et al. BMJ Support Palliat Care, 2024.</a:t>
            </a:r>
          </a:p>
        </p:txBody>
      </p:sp>
      <p:sp>
        <p:nvSpPr>
          <p:cNvPr id="8" name="Reference 2 title">
            <a:extLst xmlns:a="http://schemas.openxmlformats.org/drawingml/2006/main">
              <a:ext uri="{FF2B5EF4-FFF2-40B4-BE49-F238E27FC236}">
                <a16:creationId xmlns:a16="http://schemas.microsoft.com/office/drawing/2014/main" id="{6AEFF4F3-9CCE-4D30-AB50-2336AFAFB2CB}"/>
              </a:ext>
            </a:extLst>
          </p:cNvPr>
          <p:cNvSpPr>
            <a:spLocks xmlns:a="http://schemas.openxmlformats.org/drawingml/2006/main" noGrp="1"/>
          </p:cNvSpPr>
          <p:nvPr/>
        </p:nvSpPr>
        <p:spPr>
          <a:xfrm xmlns:a="http://schemas.openxmlformats.org/drawingml/2006/main">
            <a:off x="533400" y="2600325"/>
            <a:ext cx="53911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rmAutofit fontScale="100000"/>
          </a:bodyPr>
          <a:lstStyle xmlns:a="http://schemas.openxmlformats.org/drawingml/2006/main"/>
          <a:p xmlns:a="http://schemas.openxmlformats.org/drawingml/2006/main">
            <a:pPr>
              <a:buNone/>
              <a:defRPr sz="1290" b="0">
                <a:solidFill>
                  <a:srgbClr val="145AC6"/>
                </a:solidFill>
                <a:latin typeface="Arial"/>
                <a:ea typeface="Arial"/>
                <a:cs typeface="Arial"/>
              </a:defRPr>
            </a:pPr>
            <a:r>
              <a:rPr sz="1290" b="0" u="sng">
                <a:solidFill>
                  <a:srgbClr val="145AC6"/>
                </a:solidFill>
                <a:latin typeface="Arial"/>
                <a:ea typeface="Arial"/>
                <a:cs typeface="Arial"/>
                <a:hlinkClick xmlns:r="http://schemas.openxmlformats.org/officeDocument/2006/relationships" r:id="R240b4a432c5e4998"/>
              </a:rPr>
              <a:t>Unmet need for cancer palliative care in India</a:t>
            </a:r>
          </a:p>
        </p:txBody>
      </p:sp>
      <p:sp>
        <p:nvSpPr>
          <p:cNvPr id="9" name="Reference 2 link">
            <a:extLst xmlns:a="http://schemas.openxmlformats.org/drawingml/2006/main">
              <a:ext uri="{FF2B5EF4-FFF2-40B4-BE49-F238E27FC236}">
                <a16:creationId xmlns:a16="http://schemas.microsoft.com/office/drawing/2014/main" id="{DFBD5CC4-A38F-467B-9625-1F586AD12707}"/>
              </a:ext>
            </a:extLst>
          </p:cNvPr>
          <p:cNvSpPr>
            <a:spLocks xmlns:a="http://schemas.openxmlformats.org/drawingml/2006/main" noGrp="1"/>
          </p:cNvSpPr>
          <p:nvPr/>
        </p:nvSpPr>
        <p:spPr>
          <a:xfrm xmlns:a="http://schemas.openxmlformats.org/drawingml/2006/main">
            <a:off x="533400" y="3028950"/>
            <a:ext cx="5391150" cy="200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rmAutofit fontScale="100000"/>
          </a:bodyPr>
          <a:lstStyle xmlns:a="http://schemas.openxmlformats.org/drawingml/2006/main"/>
          <a:p xmlns:a="http://schemas.openxmlformats.org/drawingml/2006/main">
            <a:pPr>
              <a:buNone/>
              <a:defRPr sz="1163" b="0">
                <a:solidFill>
                  <a:srgbClr val="145AC6"/>
                </a:solidFill>
                <a:latin typeface="Arial"/>
                <a:ea typeface="Arial"/>
                <a:cs typeface="Arial"/>
              </a:defRPr>
            </a:pPr>
            <a:r>
              <a:rPr sz="1163" b="0" u="sng">
                <a:solidFill>
                  <a:srgbClr val="145AC6"/>
                </a:solidFill>
                <a:latin typeface="Arial"/>
                <a:ea typeface="Arial"/>
                <a:cs typeface="Arial"/>
                <a:hlinkClick xmlns:r="http://schemas.openxmlformats.org/officeDocument/2006/relationships" r:id="R0e95f9bf48964ed0"/>
              </a:rPr>
              <a:t>https://doi.org/10.1136/spcare-2024-004978</a:t>
            </a:r>
          </a:p>
        </p:txBody>
      </p:sp>
      <p:sp>
        <p:nvSpPr>
          <p:cNvPr id="10" name="Reference 3 author">
            <a:extLst xmlns:a="http://schemas.openxmlformats.org/drawingml/2006/main">
              <a:ext uri="{FF2B5EF4-FFF2-40B4-BE49-F238E27FC236}">
                <a16:creationId xmlns:a16="http://schemas.microsoft.com/office/drawing/2014/main" id="{0B07B9E4-0DFE-4D28-AB9D-C1E2E2ECAE0B}"/>
              </a:ext>
            </a:extLst>
          </p:cNvPr>
          <p:cNvSpPr>
            <a:spLocks xmlns:a="http://schemas.openxmlformats.org/drawingml/2006/main" noGrp="1"/>
          </p:cNvSpPr>
          <p:nvPr/>
        </p:nvSpPr>
        <p:spPr>
          <a:xfrm xmlns:a="http://schemas.openxmlformats.org/drawingml/2006/main">
            <a:off x="533400" y="3438525"/>
            <a:ext cx="53911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rmAutofit fontScale="100000"/>
          </a:bodyPr>
          <a:lstStyle xmlns:a="http://schemas.openxmlformats.org/drawingml/2006/main"/>
          <a:p xmlns:a="http://schemas.openxmlformats.org/drawingml/2006/main">
            <a:pPr>
              <a:buNone/>
              <a:defRPr sz="1223" b="1">
                <a:solidFill>
                  <a:srgbClr val="173F33"/>
                </a:solidFill>
                <a:latin typeface="Arial"/>
                <a:ea typeface="Arial"/>
                <a:cs typeface="Arial"/>
              </a:defRPr>
            </a:pPr>
            <a:r>
              <a:rPr sz="1223" b="1">
                <a:solidFill>
                  <a:srgbClr val="173F33"/>
                </a:solidFill>
                <a:latin typeface="Arial"/>
                <a:ea typeface="Arial"/>
                <a:cs typeface="Arial"/>
              </a:rPr>
              <a:t>3. Aslam N, Hayat A. J Pain Symptom Manage, 2024.</a:t>
            </a:r>
          </a:p>
        </p:txBody>
      </p:sp>
      <p:sp>
        <p:nvSpPr>
          <p:cNvPr id="11" name="Reference 3 title">
            <a:extLst xmlns:a="http://schemas.openxmlformats.org/drawingml/2006/main">
              <a:ext uri="{FF2B5EF4-FFF2-40B4-BE49-F238E27FC236}">
                <a16:creationId xmlns:a16="http://schemas.microsoft.com/office/drawing/2014/main" id="{21A12B1A-203D-45E8-93E5-7BA8D2035C0F}"/>
              </a:ext>
            </a:extLst>
          </p:cNvPr>
          <p:cNvSpPr>
            <a:spLocks xmlns:a="http://schemas.openxmlformats.org/drawingml/2006/main" noGrp="1"/>
          </p:cNvSpPr>
          <p:nvPr/>
        </p:nvSpPr>
        <p:spPr>
          <a:xfrm xmlns:a="http://schemas.openxmlformats.org/drawingml/2006/main">
            <a:off x="533400" y="3695700"/>
            <a:ext cx="539115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rmAutofit fontScale="100000"/>
          </a:bodyPr>
          <a:lstStyle xmlns:a="http://schemas.openxmlformats.org/drawingml/2006/main"/>
          <a:p xmlns:a="http://schemas.openxmlformats.org/drawingml/2006/main">
            <a:pPr>
              <a:buNone/>
              <a:defRPr sz="1290" b="0">
                <a:solidFill>
                  <a:srgbClr val="145AC6"/>
                </a:solidFill>
                <a:latin typeface="Arial"/>
                <a:ea typeface="Arial"/>
                <a:cs typeface="Arial"/>
              </a:defRPr>
            </a:pPr>
            <a:r>
              <a:rPr sz="1290" b="0" u="sng">
                <a:solidFill>
                  <a:srgbClr val="145AC6"/>
                </a:solidFill>
                <a:latin typeface="Arial"/>
                <a:ea typeface="Arial"/>
                <a:cs typeface="Arial"/>
                <a:hlinkClick xmlns:r="http://schemas.openxmlformats.org/officeDocument/2006/relationships" r:id="Ra90d4a76b666491c"/>
              </a:rPr>
              <a:t>Early Goal of Care Discussions in Healthcare: A Survey Case Report on Benefits and Perceptions</a:t>
            </a:r>
          </a:p>
        </p:txBody>
      </p:sp>
      <p:sp>
        <p:nvSpPr>
          <p:cNvPr id="12" name="Reference 3 link">
            <a:extLst xmlns:a="http://schemas.openxmlformats.org/drawingml/2006/main">
              <a:ext uri="{FF2B5EF4-FFF2-40B4-BE49-F238E27FC236}">
                <a16:creationId xmlns:a16="http://schemas.microsoft.com/office/drawing/2014/main" id="{60AD80DB-51B5-4C08-85E9-CE5555A59C6A}"/>
              </a:ext>
            </a:extLst>
          </p:cNvPr>
          <p:cNvSpPr>
            <a:spLocks xmlns:a="http://schemas.openxmlformats.org/drawingml/2006/main" noGrp="1"/>
          </p:cNvSpPr>
          <p:nvPr/>
        </p:nvSpPr>
        <p:spPr>
          <a:xfrm xmlns:a="http://schemas.openxmlformats.org/drawingml/2006/main">
            <a:off x="533400" y="4257675"/>
            <a:ext cx="5391150" cy="200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rmAutofit fontScale="100000"/>
          </a:bodyPr>
          <a:lstStyle xmlns:a="http://schemas.openxmlformats.org/drawingml/2006/main"/>
          <a:p xmlns:a="http://schemas.openxmlformats.org/drawingml/2006/main">
            <a:pPr>
              <a:buNone/>
              <a:defRPr sz="1163" b="0">
                <a:solidFill>
                  <a:srgbClr val="145AC6"/>
                </a:solidFill>
                <a:latin typeface="Arial"/>
                <a:ea typeface="Arial"/>
                <a:cs typeface="Arial"/>
              </a:defRPr>
            </a:pPr>
            <a:r>
              <a:rPr sz="1163" b="0" u="sng">
                <a:solidFill>
                  <a:srgbClr val="145AC6"/>
                </a:solidFill>
                <a:latin typeface="Arial"/>
                <a:ea typeface="Arial"/>
                <a:cs typeface="Arial"/>
                <a:hlinkClick xmlns:r="http://schemas.openxmlformats.org/officeDocument/2006/relationships" r:id="R5672176ca5de4864"/>
              </a:rPr>
              <a:t>https://doi.org/10.1016/j.jpainsymman.2024.02.030</a:t>
            </a:r>
          </a:p>
        </p:txBody>
      </p:sp>
      <p:sp>
        <p:nvSpPr>
          <p:cNvPr id="13" name="Reference 4 author">
            <a:extLst xmlns:a="http://schemas.openxmlformats.org/drawingml/2006/main">
              <a:ext uri="{FF2B5EF4-FFF2-40B4-BE49-F238E27FC236}">
                <a16:creationId xmlns:a16="http://schemas.microsoft.com/office/drawing/2014/main" id="{41AE9C68-54CC-402B-96A2-B7E074A9A4C8}"/>
              </a:ext>
            </a:extLst>
          </p:cNvPr>
          <p:cNvSpPr>
            <a:spLocks xmlns:a="http://schemas.openxmlformats.org/drawingml/2006/main" noGrp="1"/>
          </p:cNvSpPr>
          <p:nvPr/>
        </p:nvSpPr>
        <p:spPr>
          <a:xfrm xmlns:a="http://schemas.openxmlformats.org/drawingml/2006/main">
            <a:off x="533400" y="4686300"/>
            <a:ext cx="53911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rmAutofit fontScale="100000"/>
          </a:bodyPr>
          <a:lstStyle xmlns:a="http://schemas.openxmlformats.org/drawingml/2006/main"/>
          <a:p xmlns:a="http://schemas.openxmlformats.org/drawingml/2006/main">
            <a:pPr>
              <a:buNone/>
              <a:defRPr sz="1223" b="1">
                <a:solidFill>
                  <a:srgbClr val="173F33"/>
                </a:solidFill>
                <a:latin typeface="Arial"/>
                <a:ea typeface="Arial"/>
                <a:cs typeface="Arial"/>
              </a:defRPr>
            </a:pPr>
            <a:r>
              <a:rPr sz="1223" b="1">
                <a:solidFill>
                  <a:srgbClr val="173F33"/>
                </a:solidFill>
                <a:latin typeface="Arial"/>
                <a:ea typeface="Arial"/>
                <a:cs typeface="Arial"/>
              </a:rPr>
              <a:t>4. Thangasamy DRJ, et al. Palliat Med Rep, 2025.</a:t>
            </a:r>
          </a:p>
        </p:txBody>
      </p:sp>
      <p:sp>
        <p:nvSpPr>
          <p:cNvPr id="14" name="Reference 4 title">
            <a:extLst xmlns:a="http://schemas.openxmlformats.org/drawingml/2006/main">
              <a:ext uri="{FF2B5EF4-FFF2-40B4-BE49-F238E27FC236}">
                <a16:creationId xmlns:a16="http://schemas.microsoft.com/office/drawing/2014/main" id="{596A0791-4046-4673-AC9C-3FBFCD2CFA36}"/>
              </a:ext>
            </a:extLst>
          </p:cNvPr>
          <p:cNvSpPr>
            <a:spLocks xmlns:a="http://schemas.openxmlformats.org/drawingml/2006/main" noGrp="1"/>
          </p:cNvSpPr>
          <p:nvPr/>
        </p:nvSpPr>
        <p:spPr>
          <a:xfrm xmlns:a="http://schemas.openxmlformats.org/drawingml/2006/main">
            <a:off x="533400" y="4943475"/>
            <a:ext cx="539115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rmAutofit fontScale="100000"/>
          </a:bodyPr>
          <a:lstStyle xmlns:a="http://schemas.openxmlformats.org/drawingml/2006/main"/>
          <a:p xmlns:a="http://schemas.openxmlformats.org/drawingml/2006/main">
            <a:pPr>
              <a:buNone/>
              <a:defRPr sz="1290" b="0">
                <a:solidFill>
                  <a:srgbClr val="145AC6"/>
                </a:solidFill>
                <a:latin typeface="Arial"/>
                <a:ea typeface="Arial"/>
                <a:cs typeface="Arial"/>
              </a:defRPr>
            </a:pPr>
            <a:r>
              <a:rPr sz="1290" b="0" u="sng">
                <a:solidFill>
                  <a:srgbClr val="145AC6"/>
                </a:solidFill>
                <a:latin typeface="Arial"/>
                <a:ea typeface="Arial"/>
                <a:cs typeface="Arial"/>
                <a:hlinkClick xmlns:r="http://schemas.openxmlformats.org/officeDocument/2006/relationships" r:id="R35c97e3e4c994522"/>
              </a:rPr>
              <a:t>Initiating and Documenting Goals of Care Discussion in Patients with Advanced Pancreatic and Colorectal Cancers: A Quality Improvement Project in a Low Resource Setting</a:t>
            </a:r>
          </a:p>
        </p:txBody>
      </p:sp>
      <p:sp>
        <p:nvSpPr>
          <p:cNvPr id="15" name="Reference 4 link">
            <a:extLst xmlns:a="http://schemas.openxmlformats.org/drawingml/2006/main">
              <a:ext uri="{FF2B5EF4-FFF2-40B4-BE49-F238E27FC236}">
                <a16:creationId xmlns:a16="http://schemas.microsoft.com/office/drawing/2014/main" id="{B8EEC163-3F2E-4EBC-B634-38795A413E39}"/>
              </a:ext>
            </a:extLst>
          </p:cNvPr>
          <p:cNvSpPr>
            <a:spLocks xmlns:a="http://schemas.openxmlformats.org/drawingml/2006/main" noGrp="1"/>
          </p:cNvSpPr>
          <p:nvPr/>
        </p:nvSpPr>
        <p:spPr>
          <a:xfrm xmlns:a="http://schemas.openxmlformats.org/drawingml/2006/main">
            <a:off x="533400" y="6019800"/>
            <a:ext cx="5391150" cy="200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rmAutofit fontScale="100000"/>
          </a:bodyPr>
          <a:lstStyle xmlns:a="http://schemas.openxmlformats.org/drawingml/2006/main"/>
          <a:p xmlns:a="http://schemas.openxmlformats.org/drawingml/2006/main">
            <a:pPr>
              <a:buNone/>
              <a:defRPr sz="1163" b="0">
                <a:solidFill>
                  <a:srgbClr val="145AC6"/>
                </a:solidFill>
                <a:latin typeface="Arial"/>
                <a:ea typeface="Arial"/>
                <a:cs typeface="Arial"/>
              </a:defRPr>
            </a:pPr>
            <a:r>
              <a:rPr sz="1163" b="0" u="sng">
                <a:solidFill>
                  <a:srgbClr val="145AC6"/>
                </a:solidFill>
                <a:latin typeface="Arial"/>
                <a:ea typeface="Arial"/>
                <a:cs typeface="Arial"/>
                <a:hlinkClick xmlns:r="http://schemas.openxmlformats.org/officeDocument/2006/relationships" r:id="R06ae8b9456f44bb6"/>
              </a:rPr>
              <a:t>https://doi.org/10.1177/26892820251392545</a:t>
            </a:r>
          </a:p>
        </p:txBody>
      </p:sp>
      <p:sp>
        <p:nvSpPr>
          <p:cNvPr id="16" name="Reference 5 author">
            <a:extLst xmlns:a="http://schemas.openxmlformats.org/drawingml/2006/main">
              <a:ext uri="{FF2B5EF4-FFF2-40B4-BE49-F238E27FC236}">
                <a16:creationId xmlns:a16="http://schemas.microsoft.com/office/drawing/2014/main" id="{88167A31-ECC7-4F32-BE98-CA9E5DC3904D}"/>
              </a:ext>
            </a:extLst>
          </p:cNvPr>
          <p:cNvSpPr>
            <a:spLocks xmlns:a="http://schemas.openxmlformats.org/drawingml/2006/main" noGrp="1"/>
          </p:cNvSpPr>
          <p:nvPr/>
        </p:nvSpPr>
        <p:spPr>
          <a:xfrm xmlns:a="http://schemas.openxmlformats.org/drawingml/2006/main">
            <a:off x="6248400" y="1066800"/>
            <a:ext cx="53911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rmAutofit fontScale="100000"/>
          </a:bodyPr>
          <a:lstStyle xmlns:a="http://schemas.openxmlformats.org/drawingml/2006/main"/>
          <a:p xmlns:a="http://schemas.openxmlformats.org/drawingml/2006/main">
            <a:pPr>
              <a:buNone/>
              <a:defRPr sz="1223" b="1">
                <a:solidFill>
                  <a:srgbClr val="173F33"/>
                </a:solidFill>
                <a:latin typeface="Arial"/>
                <a:ea typeface="Arial"/>
                <a:cs typeface="Arial"/>
              </a:defRPr>
            </a:pPr>
            <a:r>
              <a:rPr sz="1223" b="1">
                <a:solidFill>
                  <a:srgbClr val="173F33"/>
                </a:solidFill>
                <a:latin typeface="Arial"/>
                <a:ea typeface="Arial"/>
                <a:cs typeface="Arial"/>
              </a:rPr>
              <a:t>5. Sharma P. IndiaSpend / Scroll.in, 2019.</a:t>
            </a:r>
          </a:p>
        </p:txBody>
      </p:sp>
      <p:sp>
        <p:nvSpPr>
          <p:cNvPr id="17" name="Reference 5 title">
            <a:extLst xmlns:a="http://schemas.openxmlformats.org/drawingml/2006/main">
              <a:ext uri="{FF2B5EF4-FFF2-40B4-BE49-F238E27FC236}">
                <a16:creationId xmlns:a16="http://schemas.microsoft.com/office/drawing/2014/main" id="{24B898E6-7E9C-426A-A6A4-D8C73DC0C2C7}"/>
              </a:ext>
            </a:extLst>
          </p:cNvPr>
          <p:cNvSpPr>
            <a:spLocks xmlns:a="http://schemas.openxmlformats.org/drawingml/2006/main" noGrp="1"/>
          </p:cNvSpPr>
          <p:nvPr/>
        </p:nvSpPr>
        <p:spPr>
          <a:xfrm xmlns:a="http://schemas.openxmlformats.org/drawingml/2006/main">
            <a:off x="6248400" y="1323975"/>
            <a:ext cx="539115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rmAutofit fontScale="100000"/>
          </a:bodyPr>
          <a:lstStyle xmlns:a="http://schemas.openxmlformats.org/drawingml/2006/main"/>
          <a:p xmlns:a="http://schemas.openxmlformats.org/drawingml/2006/main">
            <a:pPr>
              <a:buNone/>
              <a:defRPr sz="1290" b="0">
                <a:solidFill>
                  <a:srgbClr val="145AC6"/>
                </a:solidFill>
                <a:latin typeface="Arial"/>
                <a:ea typeface="Arial"/>
                <a:cs typeface="Arial"/>
              </a:defRPr>
            </a:pPr>
            <a:r>
              <a:rPr sz="1290" b="0" u="sng">
                <a:solidFill>
                  <a:srgbClr val="145AC6"/>
                </a:solidFill>
                <a:latin typeface="Arial"/>
                <a:ea typeface="Arial"/>
                <a:cs typeface="Arial"/>
                <a:hlinkClick xmlns:r="http://schemas.openxmlformats.org/officeDocument/2006/relationships" r:id="Rb1b3406d7bf74a56"/>
              </a:rPr>
              <a:t>73% urban Indians do not know about their right to make a living will, finds a survey</a:t>
            </a:r>
          </a:p>
        </p:txBody>
      </p:sp>
      <p:sp>
        <p:nvSpPr>
          <p:cNvPr id="18" name="Reference 5 link">
            <a:extLst xmlns:a="http://schemas.openxmlformats.org/drawingml/2006/main">
              <a:ext uri="{FF2B5EF4-FFF2-40B4-BE49-F238E27FC236}">
                <a16:creationId xmlns:a16="http://schemas.microsoft.com/office/drawing/2014/main" id="{1B2DDBF3-AFAE-4CF0-BE77-A52FE7CA9D67}"/>
              </a:ext>
            </a:extLst>
          </p:cNvPr>
          <p:cNvSpPr>
            <a:spLocks xmlns:a="http://schemas.openxmlformats.org/drawingml/2006/main" noGrp="1"/>
          </p:cNvSpPr>
          <p:nvPr/>
        </p:nvSpPr>
        <p:spPr>
          <a:xfrm xmlns:a="http://schemas.openxmlformats.org/drawingml/2006/main">
            <a:off x="6248400" y="1771650"/>
            <a:ext cx="539115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rmAutofit fontScale="100000"/>
          </a:bodyPr>
          <a:lstStyle xmlns:a="http://schemas.openxmlformats.org/drawingml/2006/main"/>
          <a:p xmlns:a="http://schemas.openxmlformats.org/drawingml/2006/main">
            <a:pPr>
              <a:buNone/>
              <a:defRPr sz="1035" b="0">
                <a:solidFill>
                  <a:srgbClr val="145AC6"/>
                </a:solidFill>
                <a:latin typeface="Arial"/>
                <a:ea typeface="Arial"/>
                <a:cs typeface="Arial"/>
              </a:defRPr>
            </a:pPr>
            <a:r>
              <a:rPr sz="1035" b="0" u="sng">
                <a:solidFill>
                  <a:srgbClr val="145AC6"/>
                </a:solidFill>
                <a:latin typeface="Arial"/>
                <a:ea typeface="Arial"/>
                <a:cs typeface="Arial"/>
                <a:hlinkClick xmlns:r="http://schemas.openxmlformats.org/officeDocument/2006/relationships" r:id="R557fe420655344a0"/>
              </a:rPr>
              <a:t>https://scroll.in/article/925875/73-urban-indians-do-not-know-about-their-right-to-make-a-living-will-finds-a-survey</a:t>
            </a:r>
          </a:p>
        </p:txBody>
      </p:sp>
      <p:sp>
        <p:nvSpPr>
          <p:cNvPr id="19" name="Reference 6 author">
            <a:extLst xmlns:a="http://schemas.openxmlformats.org/drawingml/2006/main">
              <a:ext uri="{FF2B5EF4-FFF2-40B4-BE49-F238E27FC236}">
                <a16:creationId xmlns:a16="http://schemas.microsoft.com/office/drawing/2014/main" id="{73B9DB47-B182-4FC4-BC9D-8AC0D6DDEB19}"/>
              </a:ext>
            </a:extLst>
          </p:cNvPr>
          <p:cNvSpPr>
            <a:spLocks xmlns:a="http://schemas.openxmlformats.org/drawingml/2006/main" noGrp="1"/>
          </p:cNvSpPr>
          <p:nvPr/>
        </p:nvSpPr>
        <p:spPr>
          <a:xfrm xmlns:a="http://schemas.openxmlformats.org/drawingml/2006/main">
            <a:off x="6248400" y="2352675"/>
            <a:ext cx="53911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rmAutofit fontScale="100000"/>
          </a:bodyPr>
          <a:lstStyle xmlns:a="http://schemas.openxmlformats.org/drawingml/2006/main"/>
          <a:p xmlns:a="http://schemas.openxmlformats.org/drawingml/2006/main">
            <a:pPr>
              <a:buNone/>
              <a:defRPr sz="1223" b="1">
                <a:solidFill>
                  <a:srgbClr val="173F33"/>
                </a:solidFill>
                <a:latin typeface="Arial"/>
                <a:ea typeface="Arial"/>
                <a:cs typeface="Arial"/>
              </a:defRPr>
            </a:pPr>
            <a:r>
              <a:rPr sz="1223" b="1">
                <a:solidFill>
                  <a:srgbClr val="173F33"/>
                </a:solidFill>
                <a:latin typeface="Arial"/>
                <a:ea typeface="Arial"/>
                <a:cs typeface="Arial"/>
              </a:rPr>
              <a:t>6. Jacob JA, et al. Natl Med J India, 2026.</a:t>
            </a:r>
          </a:p>
        </p:txBody>
      </p:sp>
      <p:sp>
        <p:nvSpPr>
          <p:cNvPr id="20" name="Reference 6 title">
            <a:extLst xmlns:a="http://schemas.openxmlformats.org/drawingml/2006/main">
              <a:ext uri="{FF2B5EF4-FFF2-40B4-BE49-F238E27FC236}">
                <a16:creationId xmlns:a16="http://schemas.microsoft.com/office/drawing/2014/main" id="{DA526F74-6C14-474B-9D37-61177D3AF448}"/>
              </a:ext>
            </a:extLst>
          </p:cNvPr>
          <p:cNvSpPr>
            <a:spLocks xmlns:a="http://schemas.openxmlformats.org/drawingml/2006/main" noGrp="1"/>
          </p:cNvSpPr>
          <p:nvPr/>
        </p:nvSpPr>
        <p:spPr>
          <a:xfrm xmlns:a="http://schemas.openxmlformats.org/drawingml/2006/main">
            <a:off x="6248400" y="2609850"/>
            <a:ext cx="53911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rmAutofit fontScale="100000"/>
          </a:bodyPr>
          <a:lstStyle xmlns:a="http://schemas.openxmlformats.org/drawingml/2006/main"/>
          <a:p xmlns:a="http://schemas.openxmlformats.org/drawingml/2006/main">
            <a:pPr>
              <a:buNone/>
              <a:defRPr sz="1290" b="0">
                <a:solidFill>
                  <a:srgbClr val="145AC6"/>
                </a:solidFill>
                <a:latin typeface="Arial"/>
                <a:ea typeface="Arial"/>
                <a:cs typeface="Arial"/>
              </a:defRPr>
            </a:pPr>
            <a:r>
              <a:rPr sz="1290" b="0" u="sng">
                <a:solidFill>
                  <a:srgbClr val="145AC6"/>
                </a:solidFill>
                <a:latin typeface="Arial"/>
                <a:ea typeface="Arial"/>
                <a:cs typeface="Arial"/>
                <a:hlinkClick xmlns:r="http://schemas.openxmlformats.org/officeDocument/2006/relationships" r:id="R12363ca40c2a4d39"/>
              </a:rPr>
              <a:t>Knowledge and attitude towards advance directives for patients with terminal illnesses among doctors working in a tertiary care hospital</a:t>
            </a:r>
          </a:p>
        </p:txBody>
      </p:sp>
      <p:sp>
        <p:nvSpPr>
          <p:cNvPr id="21" name="Reference 6 link">
            <a:extLst xmlns:a="http://schemas.openxmlformats.org/drawingml/2006/main">
              <a:ext uri="{FF2B5EF4-FFF2-40B4-BE49-F238E27FC236}">
                <a16:creationId xmlns:a16="http://schemas.microsoft.com/office/drawing/2014/main" id="{55DDC84F-E110-4E2B-9B19-0C4A497DB491}"/>
              </a:ext>
            </a:extLst>
          </p:cNvPr>
          <p:cNvSpPr>
            <a:spLocks xmlns:a="http://schemas.openxmlformats.org/drawingml/2006/main" noGrp="1"/>
          </p:cNvSpPr>
          <p:nvPr/>
        </p:nvSpPr>
        <p:spPr>
          <a:xfrm xmlns:a="http://schemas.openxmlformats.org/drawingml/2006/main">
            <a:off x="6248400" y="3114675"/>
            <a:ext cx="5391150" cy="200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rmAutofit fontScale="100000"/>
          </a:bodyPr>
          <a:lstStyle xmlns:a="http://schemas.openxmlformats.org/drawingml/2006/main"/>
          <a:p xmlns:a="http://schemas.openxmlformats.org/drawingml/2006/main">
            <a:pPr>
              <a:buNone/>
              <a:defRPr sz="1163" b="0">
                <a:solidFill>
                  <a:srgbClr val="145AC6"/>
                </a:solidFill>
                <a:latin typeface="Arial"/>
                <a:ea typeface="Arial"/>
                <a:cs typeface="Arial"/>
              </a:defRPr>
            </a:pPr>
            <a:r>
              <a:rPr sz="1163" b="0" u="sng">
                <a:solidFill>
                  <a:srgbClr val="145AC6"/>
                </a:solidFill>
                <a:latin typeface="Arial"/>
                <a:ea typeface="Arial"/>
                <a:cs typeface="Arial"/>
                <a:hlinkClick xmlns:r="http://schemas.openxmlformats.org/officeDocument/2006/relationships" r:id="R21cbe2d965ab4b1b"/>
              </a:rPr>
              <a:t>https://doi.org/10.25259/NMJI_817_2023</a:t>
            </a:r>
          </a:p>
        </p:txBody>
      </p:sp>
      <p:sp>
        <p:nvSpPr>
          <p:cNvPr id="22" name="Reference 7 author">
            <a:extLst xmlns:a="http://schemas.openxmlformats.org/drawingml/2006/main">
              <a:ext uri="{FF2B5EF4-FFF2-40B4-BE49-F238E27FC236}">
                <a16:creationId xmlns:a16="http://schemas.microsoft.com/office/drawing/2014/main" id="{55A8C869-301B-456B-AE83-B0CC3741AFE3}"/>
              </a:ext>
            </a:extLst>
          </p:cNvPr>
          <p:cNvSpPr>
            <a:spLocks xmlns:a="http://schemas.openxmlformats.org/drawingml/2006/main" noGrp="1"/>
          </p:cNvSpPr>
          <p:nvPr/>
        </p:nvSpPr>
        <p:spPr>
          <a:xfrm xmlns:a="http://schemas.openxmlformats.org/drawingml/2006/main">
            <a:off x="6248400" y="3476625"/>
            <a:ext cx="53911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rmAutofit fontScale="100000"/>
          </a:bodyPr>
          <a:lstStyle xmlns:a="http://schemas.openxmlformats.org/drawingml/2006/main"/>
          <a:p xmlns:a="http://schemas.openxmlformats.org/drawingml/2006/main">
            <a:pPr>
              <a:buNone/>
              <a:defRPr sz="1223" b="1">
                <a:solidFill>
                  <a:srgbClr val="173F33"/>
                </a:solidFill>
                <a:latin typeface="Arial"/>
                <a:ea typeface="Arial"/>
                <a:cs typeface="Arial"/>
              </a:defRPr>
            </a:pPr>
            <a:r>
              <a:rPr sz="1223" b="1">
                <a:solidFill>
                  <a:srgbClr val="173F33"/>
                </a:solidFill>
                <a:latin typeface="Arial"/>
                <a:ea typeface="Arial"/>
                <a:cs typeface="Arial"/>
              </a:rPr>
              <a:t>7. Singh P, et al. medRxiv, 2025. Preprint.</a:t>
            </a:r>
          </a:p>
        </p:txBody>
      </p:sp>
      <p:sp>
        <p:nvSpPr>
          <p:cNvPr id="23" name="Reference 7 title">
            <a:extLst xmlns:a="http://schemas.openxmlformats.org/drawingml/2006/main">
              <a:ext uri="{FF2B5EF4-FFF2-40B4-BE49-F238E27FC236}">
                <a16:creationId xmlns:a16="http://schemas.microsoft.com/office/drawing/2014/main" id="{A41E9C7E-6610-482E-8C7E-B0B06BF2EDD0}"/>
              </a:ext>
            </a:extLst>
          </p:cNvPr>
          <p:cNvSpPr>
            <a:spLocks xmlns:a="http://schemas.openxmlformats.org/drawingml/2006/main" noGrp="1"/>
          </p:cNvSpPr>
          <p:nvPr/>
        </p:nvSpPr>
        <p:spPr>
          <a:xfrm xmlns:a="http://schemas.openxmlformats.org/drawingml/2006/main">
            <a:off x="6248400" y="3733800"/>
            <a:ext cx="53911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rmAutofit fontScale="100000"/>
          </a:bodyPr>
          <a:lstStyle xmlns:a="http://schemas.openxmlformats.org/drawingml/2006/main"/>
          <a:p xmlns:a="http://schemas.openxmlformats.org/drawingml/2006/main">
            <a:pPr>
              <a:buNone/>
              <a:defRPr sz="1290" b="0">
                <a:solidFill>
                  <a:srgbClr val="145AC6"/>
                </a:solidFill>
                <a:latin typeface="Arial"/>
                <a:ea typeface="Arial"/>
                <a:cs typeface="Arial"/>
              </a:defRPr>
            </a:pPr>
            <a:r>
              <a:rPr sz="1290" b="0" u="sng">
                <a:solidFill>
                  <a:srgbClr val="145AC6"/>
                </a:solidFill>
                <a:latin typeface="Arial"/>
                <a:ea typeface="Arial"/>
                <a:cs typeface="Arial"/>
                <a:hlinkClick xmlns:r="http://schemas.openxmlformats.org/officeDocument/2006/relationships" r:id="R9cebbae7d94743af"/>
              </a:rPr>
              <a:t>Barriers and Facilitators to Advance Care Planning Implementation for Patients with Neurodegenerative Diseases among Indian Physicians: A Mixed-Methods Analysis</a:t>
            </a:r>
          </a:p>
        </p:txBody>
      </p:sp>
      <p:sp>
        <p:nvSpPr>
          <p:cNvPr id="24" name="Reference 7 link">
            <a:extLst xmlns:a="http://schemas.openxmlformats.org/drawingml/2006/main">
              <a:ext uri="{FF2B5EF4-FFF2-40B4-BE49-F238E27FC236}">
                <a16:creationId xmlns:a16="http://schemas.microsoft.com/office/drawing/2014/main" id="{05C4D0A5-26A4-452F-9713-4754DCF53ECE}"/>
              </a:ext>
            </a:extLst>
          </p:cNvPr>
          <p:cNvSpPr>
            <a:spLocks xmlns:a="http://schemas.openxmlformats.org/drawingml/2006/main" noGrp="1"/>
          </p:cNvSpPr>
          <p:nvPr/>
        </p:nvSpPr>
        <p:spPr>
          <a:xfrm xmlns:a="http://schemas.openxmlformats.org/drawingml/2006/main">
            <a:off x="6248400" y="4381500"/>
            <a:ext cx="5391150" cy="200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rmAutofit fontScale="100000"/>
          </a:bodyPr>
          <a:lstStyle xmlns:a="http://schemas.openxmlformats.org/drawingml/2006/main"/>
          <a:p xmlns:a="http://schemas.openxmlformats.org/drawingml/2006/main">
            <a:pPr>
              <a:buNone/>
              <a:defRPr sz="1163" b="0">
                <a:solidFill>
                  <a:srgbClr val="145AC6"/>
                </a:solidFill>
                <a:latin typeface="Arial"/>
                <a:ea typeface="Arial"/>
                <a:cs typeface="Arial"/>
              </a:defRPr>
            </a:pPr>
            <a:r>
              <a:rPr sz="1163" b="0" u="sng">
                <a:solidFill>
                  <a:srgbClr val="145AC6"/>
                </a:solidFill>
                <a:latin typeface="Arial"/>
                <a:ea typeface="Arial"/>
                <a:cs typeface="Arial"/>
                <a:hlinkClick xmlns:r="http://schemas.openxmlformats.org/officeDocument/2006/relationships" r:id="R27b7fc4bd48c4e2b"/>
              </a:rPr>
              <a:t>https://doi.org/10.1101/2025.10.17.25338242</a:t>
            </a:r>
          </a:p>
        </p:txBody>
      </p:sp>
      <p:sp>
        <p:nvSpPr>
          <p:cNvPr id="25" name="Reference 8 author">
            <a:extLst xmlns:a="http://schemas.openxmlformats.org/drawingml/2006/main">
              <a:ext uri="{FF2B5EF4-FFF2-40B4-BE49-F238E27FC236}">
                <a16:creationId xmlns:a16="http://schemas.microsoft.com/office/drawing/2014/main" id="{83865FF3-5C16-4DE2-AE21-BB14F9A3F7E8}"/>
              </a:ext>
            </a:extLst>
          </p:cNvPr>
          <p:cNvSpPr>
            <a:spLocks xmlns:a="http://schemas.openxmlformats.org/drawingml/2006/main" noGrp="1"/>
          </p:cNvSpPr>
          <p:nvPr/>
        </p:nvSpPr>
        <p:spPr>
          <a:xfrm xmlns:a="http://schemas.openxmlformats.org/drawingml/2006/main">
            <a:off x="6248400" y="4724400"/>
            <a:ext cx="53911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rmAutofit fontScale="100000"/>
          </a:bodyPr>
          <a:lstStyle xmlns:a="http://schemas.openxmlformats.org/drawingml/2006/main"/>
          <a:p xmlns:a="http://schemas.openxmlformats.org/drawingml/2006/main">
            <a:pPr>
              <a:buNone/>
              <a:defRPr sz="1223" b="1">
                <a:solidFill>
                  <a:srgbClr val="173F33"/>
                </a:solidFill>
                <a:latin typeface="Arial"/>
                <a:ea typeface="Arial"/>
                <a:cs typeface="Arial"/>
              </a:defRPr>
            </a:pPr>
            <a:r>
              <a:rPr sz="1223" b="1">
                <a:solidFill>
                  <a:srgbClr val="173F33"/>
                </a:solidFill>
                <a:latin typeface="Arial"/>
                <a:ea typeface="Arial"/>
                <a:cs typeface="Arial"/>
              </a:rPr>
              <a:t>8. LeBaron V, et al. The Oncologist, 2014.</a:t>
            </a:r>
          </a:p>
        </p:txBody>
      </p:sp>
      <p:sp>
        <p:nvSpPr>
          <p:cNvPr id="26" name="Reference 8 title">
            <a:extLst xmlns:a="http://schemas.openxmlformats.org/drawingml/2006/main">
              <a:ext uri="{FF2B5EF4-FFF2-40B4-BE49-F238E27FC236}">
                <a16:creationId xmlns:a16="http://schemas.microsoft.com/office/drawing/2014/main" id="{F602591D-844E-4D4D-826E-3B0FDBB55C9F}"/>
              </a:ext>
            </a:extLst>
          </p:cNvPr>
          <p:cNvSpPr>
            <a:spLocks xmlns:a="http://schemas.openxmlformats.org/drawingml/2006/main" noGrp="1"/>
          </p:cNvSpPr>
          <p:nvPr/>
        </p:nvSpPr>
        <p:spPr>
          <a:xfrm xmlns:a="http://schemas.openxmlformats.org/drawingml/2006/main">
            <a:off x="6248400" y="4981575"/>
            <a:ext cx="53911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rmAutofit fontScale="100000"/>
          </a:bodyPr>
          <a:lstStyle xmlns:a="http://schemas.openxmlformats.org/drawingml/2006/main"/>
          <a:p xmlns:a="http://schemas.openxmlformats.org/drawingml/2006/main">
            <a:pPr>
              <a:buNone/>
              <a:defRPr sz="1290" b="0">
                <a:solidFill>
                  <a:srgbClr val="145AC6"/>
                </a:solidFill>
                <a:latin typeface="Arial"/>
                <a:ea typeface="Arial"/>
                <a:cs typeface="Arial"/>
              </a:defRPr>
            </a:pPr>
            <a:r>
              <a:rPr sz="1290" b="0" u="sng">
                <a:solidFill>
                  <a:srgbClr val="145AC6"/>
                </a:solidFill>
                <a:latin typeface="Arial"/>
                <a:ea typeface="Arial"/>
                <a:cs typeface="Arial"/>
                <a:hlinkClick xmlns:r="http://schemas.openxmlformats.org/officeDocument/2006/relationships" r:id="Rf6fef90db47d4eee"/>
              </a:rPr>
              <a:t>An Ethnographic Study of Barriers to Cancer Pain Management and Opioid Availability in India</a:t>
            </a:r>
          </a:p>
        </p:txBody>
      </p:sp>
      <p:sp>
        <p:nvSpPr>
          <p:cNvPr id="27" name="Reference 8 link">
            <a:extLst xmlns:a="http://schemas.openxmlformats.org/drawingml/2006/main">
              <a:ext uri="{FF2B5EF4-FFF2-40B4-BE49-F238E27FC236}">
                <a16:creationId xmlns:a16="http://schemas.microsoft.com/office/drawing/2014/main" id="{B9D96002-DE7D-4DA4-961D-6A4EE75F09C2}"/>
              </a:ext>
            </a:extLst>
          </p:cNvPr>
          <p:cNvSpPr>
            <a:spLocks xmlns:a="http://schemas.openxmlformats.org/drawingml/2006/main" noGrp="1"/>
          </p:cNvSpPr>
          <p:nvPr/>
        </p:nvSpPr>
        <p:spPr>
          <a:xfrm xmlns:a="http://schemas.openxmlformats.org/drawingml/2006/main">
            <a:off x="6248400" y="5410200"/>
            <a:ext cx="5391150" cy="200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rmAutofit fontScale="100000"/>
          </a:bodyPr>
          <a:lstStyle xmlns:a="http://schemas.openxmlformats.org/drawingml/2006/main"/>
          <a:p xmlns:a="http://schemas.openxmlformats.org/drawingml/2006/main">
            <a:pPr>
              <a:buNone/>
              <a:defRPr sz="1163" b="0">
                <a:solidFill>
                  <a:srgbClr val="145AC6"/>
                </a:solidFill>
                <a:latin typeface="Arial"/>
                <a:ea typeface="Arial"/>
                <a:cs typeface="Arial"/>
              </a:defRPr>
            </a:pPr>
            <a:r>
              <a:rPr sz="1163" b="0" u="sng">
                <a:solidFill>
                  <a:srgbClr val="145AC6"/>
                </a:solidFill>
                <a:latin typeface="Arial"/>
                <a:ea typeface="Arial"/>
                <a:cs typeface="Arial"/>
                <a:hlinkClick xmlns:r="http://schemas.openxmlformats.org/officeDocument/2006/relationships" r:id="R634164d8bc414aa1"/>
              </a:rPr>
              <a:t>https://doi.org/10.1634/theoncologist.2013-0435</a:t>
            </a:r>
          </a:p>
        </p:txBody>
      </p:sp>
      <p:sp>
        <p:nvSpPr>
          <p:cNvPr id="28" name="Reference 9 author">
            <a:extLst xmlns:a="http://schemas.openxmlformats.org/drawingml/2006/main">
              <a:ext uri="{FF2B5EF4-FFF2-40B4-BE49-F238E27FC236}">
                <a16:creationId xmlns:a16="http://schemas.microsoft.com/office/drawing/2014/main" id="{AA91B481-B7A6-4D2B-ACDA-E87F4311806F}"/>
              </a:ext>
            </a:extLst>
          </p:cNvPr>
          <p:cNvSpPr>
            <a:spLocks xmlns:a="http://schemas.openxmlformats.org/drawingml/2006/main" noGrp="1"/>
          </p:cNvSpPr>
          <p:nvPr/>
        </p:nvSpPr>
        <p:spPr>
          <a:xfrm xmlns:a="http://schemas.openxmlformats.org/drawingml/2006/main">
            <a:off x="6248400" y="5800725"/>
            <a:ext cx="53911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rmAutofit fontScale="100000"/>
          </a:bodyPr>
          <a:lstStyle xmlns:a="http://schemas.openxmlformats.org/drawingml/2006/main"/>
          <a:p xmlns:a="http://schemas.openxmlformats.org/drawingml/2006/main">
            <a:pPr>
              <a:buNone/>
              <a:defRPr sz="1223" b="1">
                <a:solidFill>
                  <a:srgbClr val="173F33"/>
                </a:solidFill>
                <a:latin typeface="Arial"/>
                <a:ea typeface="Arial"/>
                <a:cs typeface="Arial"/>
              </a:defRPr>
            </a:pPr>
            <a:r>
              <a:rPr sz="1223" b="1">
                <a:solidFill>
                  <a:srgbClr val="173F33"/>
                </a:solidFill>
                <a:latin typeface="Arial"/>
                <a:ea typeface="Arial"/>
                <a:cs typeface="Arial"/>
              </a:rPr>
              <a:t>9. Forsythe LP, et al. J Clin Oncol, 2013. U.S. cohort.</a:t>
            </a:r>
          </a:p>
        </p:txBody>
      </p:sp>
      <p:sp>
        <p:nvSpPr>
          <p:cNvPr id="29" name="Reference 9 title">
            <a:extLst xmlns:a="http://schemas.openxmlformats.org/drawingml/2006/main">
              <a:ext uri="{FF2B5EF4-FFF2-40B4-BE49-F238E27FC236}">
                <a16:creationId xmlns:a16="http://schemas.microsoft.com/office/drawing/2014/main" id="{5E56CDB8-727B-4322-B44D-71B7FB03F3EA}"/>
              </a:ext>
            </a:extLst>
          </p:cNvPr>
          <p:cNvSpPr>
            <a:spLocks xmlns:a="http://schemas.openxmlformats.org/drawingml/2006/main" noGrp="1"/>
          </p:cNvSpPr>
          <p:nvPr/>
        </p:nvSpPr>
        <p:spPr>
          <a:xfrm xmlns:a="http://schemas.openxmlformats.org/drawingml/2006/main">
            <a:off x="6248400" y="6057900"/>
            <a:ext cx="5391150" cy="447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rmAutofit fontScale="100000"/>
          </a:bodyPr>
          <a:lstStyle xmlns:a="http://schemas.openxmlformats.org/drawingml/2006/main"/>
          <a:p xmlns:a="http://schemas.openxmlformats.org/drawingml/2006/main">
            <a:pPr>
              <a:buNone/>
              <a:defRPr sz="1290" b="0">
                <a:solidFill>
                  <a:srgbClr val="145AC6"/>
                </a:solidFill>
                <a:latin typeface="Arial"/>
                <a:ea typeface="Arial"/>
                <a:cs typeface="Arial"/>
              </a:defRPr>
            </a:pPr>
            <a:r>
              <a:rPr sz="1290" b="0" u="sng">
                <a:solidFill>
                  <a:srgbClr val="145AC6"/>
                </a:solidFill>
                <a:latin typeface="Arial"/>
                <a:ea typeface="Arial"/>
                <a:cs typeface="Arial"/>
                <a:hlinkClick xmlns:r="http://schemas.openxmlformats.org/officeDocument/2006/relationships" r:id="Rbb5713bc66c649b2"/>
              </a:rPr>
              <a:t>Receipt of Psychosocial Care Among Cancer Survivors in the United States</a:t>
            </a:r>
          </a:p>
        </p:txBody>
      </p:sp>
      <p:sp>
        <p:nvSpPr>
          <p:cNvPr id="30" name="Reference 9 link">
            <a:extLst xmlns:a="http://schemas.openxmlformats.org/drawingml/2006/main">
              <a:ext uri="{FF2B5EF4-FFF2-40B4-BE49-F238E27FC236}">
                <a16:creationId xmlns:a16="http://schemas.microsoft.com/office/drawing/2014/main" id="{20C46588-8E1E-469C-A676-3EE67CEB5163}"/>
              </a:ext>
            </a:extLst>
          </p:cNvPr>
          <p:cNvSpPr>
            <a:spLocks xmlns:a="http://schemas.openxmlformats.org/drawingml/2006/main" noGrp="1"/>
          </p:cNvSpPr>
          <p:nvPr/>
        </p:nvSpPr>
        <p:spPr>
          <a:xfrm xmlns:a="http://schemas.openxmlformats.org/drawingml/2006/main">
            <a:off x="6248400" y="6534150"/>
            <a:ext cx="5391150" cy="200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rmAutofit fontScale="100000"/>
          </a:bodyPr>
          <a:lstStyle xmlns:a="http://schemas.openxmlformats.org/drawingml/2006/main"/>
          <a:p xmlns:a="http://schemas.openxmlformats.org/drawingml/2006/main">
            <a:pPr>
              <a:buNone/>
              <a:defRPr sz="1163" b="0">
                <a:solidFill>
                  <a:srgbClr val="145AC6"/>
                </a:solidFill>
                <a:latin typeface="Arial"/>
                <a:ea typeface="Arial"/>
                <a:cs typeface="Arial"/>
              </a:defRPr>
            </a:pPr>
            <a:r>
              <a:rPr sz="1163" b="0" u="sng">
                <a:solidFill>
                  <a:srgbClr val="145AC6"/>
                </a:solidFill>
                <a:latin typeface="Arial"/>
                <a:ea typeface="Arial"/>
                <a:cs typeface="Arial"/>
                <a:hlinkClick xmlns:r="http://schemas.openxmlformats.org/officeDocument/2006/relationships" r:id="Rc66d8cb213c9463a"/>
              </a:rPr>
              <a:t>https://doi.org/10.1200/JCO.2012.46.2101</a:t>
            </a:r>
          </a:p>
        </p:txBody>
      </p:sp>
    </p:spTree>
    <p:extLst>
      <p:ext uri="{BB962C8B-B14F-4D97-AF65-F5344CB8AC3E}">
        <p14:creationId xmlns:p14="http://schemas.microsoft.com/office/powerpoint/2010/main" val="38250901"/>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2026-09-25T19:42:47.7190000Z</dcterms:created>
  <dcterms:modified xsi:type="dcterms:W3CDTF">2026-09-25T19:42:47.7200000Z</dcterms:modified>
</coreProperties>
</file>