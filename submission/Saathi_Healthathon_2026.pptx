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0ac4cc1b0a4efa" /><Relationship Type="http://schemas.openxmlformats.org/officeDocument/2006/relationships/extended-properties" Target="/docProps/app.xml" Id="Rf84ee9b9b9f14bfe" /><Relationship Type="http://schemas.openxmlformats.org/officeDocument/2006/relationships/officeDocument" Target="/ppt/presentation.xml" Id="Reee2f365ff2a494c" /></Relationships>
</file>

<file path=ppt/presentation.xml><?xml version="1.0" encoding="utf-8"?>
<p:presentation xmlns:p="http://schemas.openxmlformats.org/presentationml/2006/main">
  <p:sldMasterIdLst>
    <p:sldMasterId xmlns:r="http://schemas.openxmlformats.org/officeDocument/2006/relationships" id="2147483648" r:id="Rc8192b57c9e54e6f"/>
  </p:sldMasterIdLst>
  <p:notesMasterIdLst>
    <p:notesMasterId xmlns:r="http://schemas.openxmlformats.org/officeDocument/2006/relationships" r:id="R096c1dccbf1c44c7"/>
  </p:notesMasterIdLst>
  <p:sldIdLst>
    <p:sldId xmlns:r="http://schemas.openxmlformats.org/officeDocument/2006/relationships" id="256" r:id="Rb2188de1d4aa4a70"/>
    <p:sldId xmlns:r="http://schemas.openxmlformats.org/officeDocument/2006/relationships" id="257" r:id="Redd8b142a4314868"/>
    <p:sldId xmlns:r="http://schemas.openxmlformats.org/officeDocument/2006/relationships" id="258" r:id="R24909778700d4bca"/>
    <p:sldId xmlns:r="http://schemas.openxmlformats.org/officeDocument/2006/relationships" id="259" r:id="Rb7aff702e9b64a22"/>
    <p:sldId xmlns:r="http://schemas.openxmlformats.org/officeDocument/2006/relationships" id="260" r:id="R83f02c800087414b"/>
    <p:sldId xmlns:r="http://schemas.openxmlformats.org/officeDocument/2006/relationships" id="261" r:id="Rab337533b8654064"/>
    <p:sldId xmlns:r="http://schemas.openxmlformats.org/officeDocument/2006/relationships" id="262" r:id="Rafd2f17347a845b9"/>
    <p:sldId xmlns:r="http://schemas.openxmlformats.org/officeDocument/2006/relationships" id="263" r:id="Rc02c6d5c8e8a49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376c286c6c49c7" /><Relationship Type="http://schemas.openxmlformats.org/officeDocument/2006/relationships/slideMaster" Target="/ppt/slideMasters/slideMaster1.xml" Id="Rc8192b57c9e54e6f" /><Relationship Type="http://schemas.openxmlformats.org/officeDocument/2006/relationships/notesMaster" Target="/ppt/notesMasters/notesMaster1.xml" Id="R096c1dccbf1c44c7" /><Relationship Type="http://schemas.openxmlformats.org/officeDocument/2006/relationships/presProps" Target="/ppt/presProps.xml" Id="Ra4420a23fb3e4813" /><Relationship Type="http://schemas.openxmlformats.org/officeDocument/2006/relationships/tableStyles" Target="/ppt/tableStyles.xml" Id="R70702e691bd94bd2" /><Relationship Type="http://schemas.openxmlformats.org/officeDocument/2006/relationships/slide" Target="/ppt/slides/slide1.xml" Id="Rb2188de1d4aa4a70" /><Relationship Type="http://schemas.openxmlformats.org/officeDocument/2006/relationships/slide" Target="/ppt/slides/slide2.xml" Id="Redd8b142a4314868" /><Relationship Type="http://schemas.openxmlformats.org/officeDocument/2006/relationships/slide" Target="/ppt/slides/slide3.xml" Id="R24909778700d4bca" /><Relationship Type="http://schemas.openxmlformats.org/officeDocument/2006/relationships/slide" Target="/ppt/slides/slide4.xml" Id="Rb7aff702e9b64a22" /><Relationship Type="http://schemas.openxmlformats.org/officeDocument/2006/relationships/slide" Target="/ppt/slides/slide5.xml" Id="R83f02c800087414b" /><Relationship Type="http://schemas.openxmlformats.org/officeDocument/2006/relationships/slide" Target="/ppt/slides/slide6.xml" Id="Rab337533b8654064" /><Relationship Type="http://schemas.openxmlformats.org/officeDocument/2006/relationships/slide" Target="/ppt/slides/slide7.xml" Id="Rafd2f17347a845b9" /><Relationship Type="http://schemas.openxmlformats.org/officeDocument/2006/relationships/slide" Target="/ppt/slides/slide8.xml" Id="Rc02c6d5c8e8a49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1da7ca7a0f48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53097a36c84adb" /><Relationship Type="http://schemas.openxmlformats.org/officeDocument/2006/relationships/notesMaster" Target="/ppt/notesMasters/notesMaster1.xml" Id="R1e6f42485fe24f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045928d2444030" /><Relationship Type="http://schemas.openxmlformats.org/officeDocument/2006/relationships/notesMaster" Target="/ppt/notesMasters/notesMaster1.xml" Id="R15c767bcceed41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f98b0703134a80" /><Relationship Type="http://schemas.openxmlformats.org/officeDocument/2006/relationships/notesMaster" Target="/ppt/notesMasters/notesMaster1.xml" Id="Rfa4ced5af8d64c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4f424aba90f4dc2" /><Relationship Type="http://schemas.openxmlformats.org/officeDocument/2006/relationships/notesMaster" Target="/ppt/notesMasters/notesMaster1.xml" Id="Re87963b721844c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5a5152462f43f2" /><Relationship Type="http://schemas.openxmlformats.org/officeDocument/2006/relationships/notesMaster" Target="/ppt/notesMasters/notesMaster1.xml" Id="R6adea44b1fe24572" /></Relationships>
</file>

<file path=ppt/notesSlides/_rels/notesSlide6.xml.rels>&#65279;<?xml version="1.0" encoding="utf-8"?><Relationships xmlns="http://schemas.openxmlformats.org/package/2006/relationships"><Relationship Type="http://schemas.openxmlformats.org/officeDocument/2006/relationships/slide" Target="/ppt/slides/slide6.xml" Id="R50dfc2ef87f1476d" /><Relationship Type="http://schemas.openxmlformats.org/officeDocument/2006/relationships/notesMaster" Target="/ppt/notesMasters/notesMaster1.xml" Id="R558f482d1c174d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90525c89e84d1a" /><Relationship Type="http://schemas.openxmlformats.org/officeDocument/2006/relationships/notesMaster" Target="/ppt/notesMasters/notesMaster1.xml" Id="R5a0bccae32564be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eee3a27a304063" /><Relationship Type="http://schemas.openxmlformats.org/officeDocument/2006/relationships/notesMaster" Target="/ppt/notesMasters/notesMaster1.xml" Id="R443e26f9e3b943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Saathi (साथी) means companion. The five named people are the current team; Shirin Ayub was added in the user's latest roster. Basith and Awaiz portraits are original team assets from the DevIT ITI deck, with provenance in submission/assets/2026-09-24-team/README.md. Blank spaces are intentionally reserved for the other members' photos. Roles use the supplied roster. The app logo is extracted from the actual app. GitHub and WhatsApp marks are unmodified Simple Icons assets. The QR and OPEN THE WEBSITE link open https://saathi.wedevit.in/. GitHub opens the public project repository; WhatsApp is a contact for questions, not an access request. Entry: Cancer / Patient and Caregiver / Family &amp; Caregiver Support.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story supplied by the team, not a reported patient case. The scenario uses best supportive care, omits the earlier death outcome, and does not recommend or reject emergency treatment. A Care Note records wishes and discussion; it is not an automatic treatment order or a legal advance directive. The photograph provides general consultation context and does not depict the story patient or a Saath user. Photo: Thierry Falise / ILO Asia-Pacific, https://commons.wikimedia.org/wiki/File:Doctor_consultation.jpg, CC BY-SA 4.0 https://creativecommons.org/licenses/by-sa/4.0/, cropped. Sources: docs/meetings/2026-09-23-chat-follow-up.md and both meetings this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shows published research, not Saanthvana outcomes or an AI result. The studies cover different populations and must not be multiplied together. The app addresses documentation and coordination; it cannot by itself supply missing care services.</a:t>
            </a:r>
          </a:p>
          <a:p xmlns:a="http://schemas.openxmlformats.org/drawingml/2006/main">
            <a:r>
              <a:t/>
            </a:r>
          </a:p>
          <a:p xmlns:a="http://schemas.openxmlformats.org/drawingml/2006/main">
            <a:r>
              <a:t>[Sources]</a:t>
            </a:r>
          </a:p>
          <a:p xmlns:a="http://schemas.openxmlformats.org/drawingml/2006/main">
            <a:r>
              <a:t>- IARC. India fact sheet, GLOBOCAN 2024. 1,562,581 estimated new cases in 2024, rounded to 15.6 lakh. https://gco.iarc.who.int/media/globocan/factsheets/populations/356-india-fact-sheet.pdf</a:t>
            </a:r>
          </a:p>
          <a:p xmlns:a="http://schemas.openxmlformats.org/drawingml/2006/main">
            <a:r>
              <a:t>- Patil S, Sharma P, Arora A, Zadey S. Unmet need for cancer palliative care in India. BMJ Supportive &amp; Palliative Care, 2024. DOI: 10.1136/spcare-2024-004978. The estimate uses people with metastatic cancer who did not receive palliative care, drawing on NCRP 2020 data for ten cancer types. It is not an awareness rate or a national survey of all people with cancer. https://pubmed.ncbi.nlm.nih.gov/38834235/</a:t>
            </a:r>
          </a:p>
          <a:p xmlns:a="http://schemas.openxmlformats.org/drawingml/2006/main">
            <a:r>
              <a:t>- Thangasamy DRJ et al. Initiating and documenting goals-of-care discussion in patients with advanced pancreatic and colorectal cancers: a quality improvement project in a low-resource setting. Palliat Med Rep, 2025. DOI: 10.1177/26892820251392545. Single-centre Cancer Institute (WIA), Chennai; 0% baseline and 92% after implementation, with 24 of 26 eligible patients documented. The intervention included a standard process, colour-coded form and awareness/referral work. It is not a national rate or Saanthvana result. https://journals.sagepub.com/doi/10.1177/26892820251392545</a:t>
            </a:r>
          </a:p>
          <a:p xmlns:a="http://schemas.openxmlformats.org/drawingml/2006/main">
            <a:r>
              <a:t/>
            </a:r>
          </a:p>
          <a:p xmlns:a="http://schemas.openxmlformats.org/drawingml/2006/main">
            <a:r>
              <a:t>[Chart data]</a:t>
            </a:r>
          </a:p>
          <a:p xmlns:a="http://schemas.openxmlformats.org/drawingml/2006/main">
            <a:r>
              <a:t>The editable native chart contains the published values [0, 92] percent for before and after the single-centre QI intervention.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central proposed AI workflow, not a claim that a model is already connected. With recording consent, a transcript or existing note becomes a source-linked draft. The clinician can edit, reject or correct it in a distinct review step and must sign before approval. Unanswered questions remain unanswered. No diagnosis, treatment recommendation, risk scoring or interpretation of medical results. Today the browser app supports recording, source-based rule preparation, editing and typed-name signing. Reliable transcription, model integration, verified accounts and sharing between phones remain to connect. A typed name is not a verified digital signature. The screenshot is a real Chrome capture of the live app. The Meera conversation and preferences are fictional illustrative content entered through the app's normal controls; the draft remains unsigned and is not an actual clinical record. Screenshot: output/playwright/2026-09-24-doctor-note-review-filled.png. Sources: 21 September transcript lines 251–303 and 1097–1155; 23 September meeting and chat; Sujay's 24 September feedback.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three AI jobs adopted in the meetings: answer questions from the patient's own files with the exact source passage; prepare a dated treatment history from recorded chemotherapy and radiotherapy dates; read medicine details from printed or typed prescriptions for a person to check before adding reminders. Treatment dates must be present in the record and must not be inferred from the report date. Handwritten prescription recognition was not adopted. The actual screenshot shows literal retrieval from a fictional stored record and a way to open its original; it does not demonstrate connected semantic AI or image OCR. Provider integration code exists but live model calls are not enabled or verified. AI must not interpret test results or create clinical advice. Sources: 21 September transcript lines 1025–1043, 1099–1123 and 1135–1151; 23 September transcript lines 269–277; actual live Chrome capture output/playwright/2026-09-24-documents-source.png.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Goals of care means a discussion about what matters to the patient and what they want from care. The patient or family can request it; the clinician can initiate it too. Discussion, decisions and unresolved questions remain distinct. Home shows the latest signed Care Note and a QR for that patient and version; an unsigned draft is not presented as approved. The cover QR opens the app. Patient, Family and Doctor are three current access choices in the browser; verified accounts and authenticated sharing between phones remain to connect. A Care Note is not a legal advance directive. Screenshot: output/playwright/2026-09-24-home-note-desktop.png. Sources: both meeting transcripts from 21 and 23 September; Sujay's 24 September feedback supplied in this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trial, not a measured result or a confirmed deployment partner. Start with an agreed baseline and keep the same eligibility and documentation definition after deployment. Tally eligible, informed and consented participants, patient requests, family requests, clinician-initiated conversations, held discussions, saved notes and signed notes separately. Deduplicate repeat activity within a discussion episode and record missing data. Primary before/after rate: patients with a documented goals-of-care discussion in the clinical record / all eligible patients. Also report documented/consented, patient requests/informed eligible and doctor-signed/documented where consistently available, each with n/N. Do not infer a completed discussion from an app recording or a signed note. Offering information to all clinic patients is a proposed opt-in approach for discussion with a site. Consent to the discussion, recording and evaluation data are separate. Supporting measures include clinician time to check/sign, patient-family retrieval time, errors and clarification contacts. Protocol detail: docs/pitch/2026-09-24-impact-plan.md. Sources: Sujay's 24 September messages supplied by the user; Health-a-thon design brief, https://healthathon.reskilll.com/guide.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reference set from slide 8 of Saanthvana_Background_Rationale_1.pptx. The source collection includes research, a fact sheet and secondary reporting. Not every background source supports a numerical claim in this pitch. Reference 7 is a preprint; its primary index confirms the title and DOI, while full-text access returned 403. The author attribution follows the supplied deck. Reference 9 concerns a U.S. cohort. For exact scope of the figures used, see docs/pitch/2026-09-24-verified-evidence.md.</a:t>
            </a:r>
          </a:p>
          <a:p xmlns:a="http://schemas.openxmlformats.org/drawingml/2006/main">
            <a:r>
              <a:t/>
            </a:r>
          </a:p>
          <a:p xmlns:a="http://schemas.openxmlformats.org/drawingml/2006/main">
            <a:r>
              <a:t>1. IARC. Global Cancer Observatory, 2024. India — GLOBOCAN 2024 Fact Sheet</a:t>
            </a:r>
          </a:p>
          <a:p xmlns:a="http://schemas.openxmlformats.org/drawingml/2006/main">
            <a:r>
              <a:t>https://gco.iarc.who.int/media/globocan/factsheets/populations/356-india-fact-sheet.pdf</a:t>
            </a:r>
          </a:p>
          <a:p xmlns:a="http://schemas.openxmlformats.org/drawingml/2006/main">
            <a:r>
              <a:t/>
            </a:r>
          </a:p>
          <a:p xmlns:a="http://schemas.openxmlformats.org/drawingml/2006/main">
            <a:r>
              <a:t>2. Patil S, et al. BMJ Support Palliat Care, 2024. Unmet need for cancer palliative care in India</a:t>
            </a:r>
          </a:p>
          <a:p xmlns:a="http://schemas.openxmlformats.org/drawingml/2006/main">
            <a:r>
              <a:t>https://doi.org/10.1136/spcare-2024-004978</a:t>
            </a:r>
          </a:p>
          <a:p xmlns:a="http://schemas.openxmlformats.org/drawingml/2006/main">
            <a:r>
              <a:t/>
            </a:r>
          </a:p>
          <a:p xmlns:a="http://schemas.openxmlformats.org/drawingml/2006/main">
            <a:r>
              <a:t>3. Aslam N, Hayat A. J Pain Symptom Manage, 2024. Early Goal of Care Discussions in Healthcare: A Survey Case Report on Benefits and Perceptions</a:t>
            </a:r>
          </a:p>
          <a:p xmlns:a="http://schemas.openxmlformats.org/drawingml/2006/main">
            <a:r>
              <a:t>https://doi.org/10.1016/j.jpainsymman.2024.02.030</a:t>
            </a:r>
          </a:p>
          <a:p xmlns:a="http://schemas.openxmlformats.org/drawingml/2006/main">
            <a:r>
              <a:t/>
            </a:r>
          </a:p>
          <a:p xmlns:a="http://schemas.openxmlformats.org/drawingml/2006/main">
            <a:r>
              <a:t>4. Thangasamy DRJ, et al. Palliat Med Rep, 2025. Initiating and Documenting Goals of Care Discussion in Patients with Advanced Pancreatic and Colorectal Cancers: A Quality Improvement Project in a Low Resource Setting</a:t>
            </a:r>
          </a:p>
          <a:p xmlns:a="http://schemas.openxmlformats.org/drawingml/2006/main">
            <a:r>
              <a:t>https://doi.org/10.1177/26892820251392545</a:t>
            </a:r>
          </a:p>
          <a:p xmlns:a="http://schemas.openxmlformats.org/drawingml/2006/main">
            <a:r>
              <a:t/>
            </a:r>
          </a:p>
          <a:p xmlns:a="http://schemas.openxmlformats.org/drawingml/2006/main">
            <a:r>
              <a:t>5. Sharma P. IndiaSpend / Scroll.in, 2019. 73% urban Indians do not know about their right to make a living will, finds a survey</a:t>
            </a:r>
          </a:p>
          <a:p xmlns:a="http://schemas.openxmlformats.org/drawingml/2006/main">
            <a:r>
              <a:t>https://scroll.in/article/925875/73-urban-indians-do-not-know-about-their-right-to-make-a-living-will-finds-a-survey</a:t>
            </a:r>
          </a:p>
          <a:p xmlns:a="http://schemas.openxmlformats.org/drawingml/2006/main">
            <a:r>
              <a:t/>
            </a:r>
          </a:p>
          <a:p xmlns:a="http://schemas.openxmlformats.org/drawingml/2006/main">
            <a:r>
              <a:t>6. Jacob JA, et al. Natl Med J India, 2026. Knowledge and attitude towards advance directives for patients with terminal illnesses among doctors working in a tertiary care hospital</a:t>
            </a:r>
          </a:p>
          <a:p xmlns:a="http://schemas.openxmlformats.org/drawingml/2006/main">
            <a:r>
              <a:t>https://doi.org/10.25259/NMJI_817_2023</a:t>
            </a:r>
          </a:p>
          <a:p xmlns:a="http://schemas.openxmlformats.org/drawingml/2006/main">
            <a:r>
              <a:t/>
            </a:r>
          </a:p>
          <a:p xmlns:a="http://schemas.openxmlformats.org/drawingml/2006/main">
            <a:r>
              <a:t>7. Singh P, et al. medRxiv, 2025. Preprint. Barriers and Facilitators to Advance Care Planning Implementation for Patients with Neurodegenerative Diseases among Indian Physicians: A Mixed-Methods Analysis</a:t>
            </a:r>
          </a:p>
          <a:p xmlns:a="http://schemas.openxmlformats.org/drawingml/2006/main">
            <a:r>
              <a:t>https://doi.org/10.1101/2025.10.17.25338242</a:t>
            </a:r>
          </a:p>
          <a:p xmlns:a="http://schemas.openxmlformats.org/drawingml/2006/main">
            <a:r>
              <a:t/>
            </a:r>
          </a:p>
          <a:p xmlns:a="http://schemas.openxmlformats.org/drawingml/2006/main">
            <a:r>
              <a:t>8. LeBaron V, et al. The Oncologist, 2014. An Ethnographic Study of Barriers to Cancer Pain Management and Opioid Availability in India</a:t>
            </a:r>
          </a:p>
          <a:p xmlns:a="http://schemas.openxmlformats.org/drawingml/2006/main">
            <a:r>
              <a:t>https://doi.org/10.1634/theoncologist.2013-0435</a:t>
            </a:r>
          </a:p>
          <a:p xmlns:a="http://schemas.openxmlformats.org/drawingml/2006/main">
            <a:r>
              <a:t/>
            </a:r>
          </a:p>
          <a:p xmlns:a="http://schemas.openxmlformats.org/drawingml/2006/main">
            <a:r>
              <a:t>9. Forsythe LP, et al. J Clin Oncol, 2013. U.S. cohort. Receipt of Psychosocial Care Among Cancer Survivors in the United States</a:t>
            </a:r>
          </a:p>
          <a:p xmlns:a="http://schemas.openxmlformats.org/drawingml/2006/main">
            <a:r>
              <a:t>https://doi.org/10.1200/JCO.2012.46.2101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259405b0c234f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acc93a03f048ff" /><Relationship Type="http://schemas.openxmlformats.org/officeDocument/2006/relationships/slideLayout" Target="/ppt/slideLayouts/slideLayout1.xml" Id="R1607e74d122b42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07e74d122b42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a05960dd77b415c" /><Relationship Type="http://schemas.openxmlformats.org/officeDocument/2006/relationships/image" Target="/ppt/media/image.png" Id="R61332b200d1741ba" /><Relationship Type="http://schemas.openxmlformats.org/officeDocument/2006/relationships/image" Target="/ppt/media/image.svg" Id="R753b9123cf90489c" /><Relationship Type="http://schemas.openxmlformats.org/officeDocument/2006/relationships/image" Target="/ppt/media/image2.png" Id="Rbe6980229adb4a1d" /><Relationship Type="http://schemas.openxmlformats.org/officeDocument/2006/relationships/hyperlink" Target="https://saathi.wedevit.in/" TargetMode="External" Id="R913fbc8461de4ad2" /><Relationship Type="http://schemas.openxmlformats.org/officeDocument/2006/relationships/image" Target="/ppt/media/image3.png" Id="R07c98bd695544a63" /><Relationship Type="http://schemas.openxmlformats.org/officeDocument/2006/relationships/image" Target="/ppt/media/image2.svg" Id="R82c9d554c9d3438c" /><Relationship Type="http://schemas.openxmlformats.org/officeDocument/2006/relationships/hyperlink" Target="https://github.com/basithladdu/healthathon" TargetMode="External" Id="Raf5cc5f1a6094a78" /><Relationship Type="http://schemas.openxmlformats.org/officeDocument/2006/relationships/image" Target="/ppt/media/image4.png" Id="R0478e5e4e4b04656" /><Relationship Type="http://schemas.openxmlformats.org/officeDocument/2006/relationships/image" Target="/ppt/media/image3.svg" Id="Red6bb5b3b4f14f14" /><Relationship Type="http://schemas.openxmlformats.org/officeDocument/2006/relationships/hyperlink" Target="https://wa.me/919553321211" TargetMode="External" Id="R16ba0245d51e47da" /><Relationship Type="http://schemas.openxmlformats.org/officeDocument/2006/relationships/hyperlink" Target="https://wa.me/919553321211" TargetMode="External" Id="R33e41d3baf3d4135" /><Relationship Type="http://schemas.openxmlformats.org/officeDocument/2006/relationships/image" Target="/ppt/media/image.jpeg" Id="R36f8e3295a2f4b6d" /><Relationship Type="http://schemas.openxmlformats.org/officeDocument/2006/relationships/image" Target="/ppt/media/image2.jpeg" Id="R6aae397873c64f73" /><Relationship Type="http://schemas.openxmlformats.org/officeDocument/2006/relationships/notesSlide" Target="/ppt/notesSlides/notesSlide1.xml" Id="R66518854f8004f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afd248fcf244891" /><Relationship Type="http://schemas.openxmlformats.org/officeDocument/2006/relationships/image" Target="/ppt/media/image3.jpeg" Id="R8fd9bc805dd94655" /><Relationship Type="http://schemas.openxmlformats.org/officeDocument/2006/relationships/notesSlide" Target="/ppt/notesSlides/notesSlide2.xml" Id="Re0234439f1514b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760c577f3ae40ec" /><Relationship Type="http://schemas.openxmlformats.org/officeDocument/2006/relationships/chart" Target="/ppt/slides/charts/chart1.xml" Id="R6a43f21337c3423d" /><Relationship Type="http://schemas.openxmlformats.org/officeDocument/2006/relationships/notesSlide" Target="/ppt/notesSlides/notesSlide3.xml" Id="R2ad93a8d60eb42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d05573f26b46e8" /><Relationship Type="http://schemas.openxmlformats.org/officeDocument/2006/relationships/image" Target="/ppt/media/image5.png" Id="R694b0b40fb154e0d" /><Relationship Type="http://schemas.openxmlformats.org/officeDocument/2006/relationships/notesSlide" Target="/ppt/notesSlides/notesSlide4.xml" Id="Rcbcc25ebb5544f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b1925ed73a47d5" /><Relationship Type="http://schemas.openxmlformats.org/officeDocument/2006/relationships/image" Target="/ppt/media/image6.png" Id="R29da2192152e4602" /><Relationship Type="http://schemas.openxmlformats.org/officeDocument/2006/relationships/notesSlide" Target="/ppt/notesSlides/notesSlide5.xml" Id="Rba113d1ec393457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e30e6e5efe644c7" /><Relationship Type="http://schemas.openxmlformats.org/officeDocument/2006/relationships/image" Target="/ppt/media/image4.jpeg" Id="R62692df3875c47af" /><Relationship Type="http://schemas.openxmlformats.org/officeDocument/2006/relationships/notesSlide" Target="/ppt/notesSlides/notesSlide6.xml" Id="R117b1c8965f349d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07a464110d1484c" /><Relationship Type="http://schemas.openxmlformats.org/officeDocument/2006/relationships/notesSlide" Target="/ppt/notesSlides/notesSlide7.xml" Id="R0ad72ab7df3a4d3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43e02f170524161" /><Relationship Type="http://schemas.openxmlformats.org/officeDocument/2006/relationships/hyperlink" Target="https://gco.iarc.who.int/media/globocan/factsheets/populations/356-india-fact-sheet.pdf" TargetMode="External" Id="R0c808a5a5de74b1f" /><Relationship Type="http://schemas.openxmlformats.org/officeDocument/2006/relationships/hyperlink" Target="https://gco.iarc.who.int/media/globocan/factsheets/populations/356-india-fact-sheet.pdf" TargetMode="External" Id="Rd14e6acdf841401a" /><Relationship Type="http://schemas.openxmlformats.org/officeDocument/2006/relationships/hyperlink" Target="https://doi.org/10.1136/spcare-2024-004978" TargetMode="External" Id="R69b9f406934848f2" /><Relationship Type="http://schemas.openxmlformats.org/officeDocument/2006/relationships/hyperlink" Target="https://doi.org/10.1136/spcare-2024-004978" TargetMode="External" Id="R76fa22df3f344ef1" /><Relationship Type="http://schemas.openxmlformats.org/officeDocument/2006/relationships/hyperlink" Target="https://doi.org/10.1016/j.jpainsymman.2024.02.030" TargetMode="External" Id="R9e25f95984724b65" /><Relationship Type="http://schemas.openxmlformats.org/officeDocument/2006/relationships/hyperlink" Target="https://doi.org/10.1016/j.jpainsymman.2024.02.030" TargetMode="External" Id="R53358b9571704f04" /><Relationship Type="http://schemas.openxmlformats.org/officeDocument/2006/relationships/hyperlink" Target="https://doi.org/10.1177/26892820251392545" TargetMode="External" Id="Rabface7db4094a96" /><Relationship Type="http://schemas.openxmlformats.org/officeDocument/2006/relationships/hyperlink" Target="https://doi.org/10.1177/26892820251392545" TargetMode="External" Id="Re910c0ce95ff496e" /><Relationship Type="http://schemas.openxmlformats.org/officeDocument/2006/relationships/hyperlink" Target="https://scroll.in/article/925875/73-urban-indians-do-not-know-about-their-right-to-make-a-living-will-finds-a-survey" TargetMode="External" Id="R1cd945e68708438b" /><Relationship Type="http://schemas.openxmlformats.org/officeDocument/2006/relationships/hyperlink" Target="https://scroll.in/article/925875/73-urban-indians-do-not-know-about-their-right-to-make-a-living-will-finds-a-survey" TargetMode="External" Id="Radaa825285594ca2" /><Relationship Type="http://schemas.openxmlformats.org/officeDocument/2006/relationships/hyperlink" Target="https://doi.org/10.25259/NMJI_817_2023" TargetMode="External" Id="R413ba01b12654c1d" /><Relationship Type="http://schemas.openxmlformats.org/officeDocument/2006/relationships/hyperlink" Target="https://doi.org/10.25259/NMJI_817_2023" TargetMode="External" Id="Rb1a60387beeb4a28" /><Relationship Type="http://schemas.openxmlformats.org/officeDocument/2006/relationships/hyperlink" Target="https://doi.org/10.1101/2025.10.17.25338242" TargetMode="External" Id="R7a6f8758a9f848b9" /><Relationship Type="http://schemas.openxmlformats.org/officeDocument/2006/relationships/hyperlink" Target="https://doi.org/10.1101/2025.10.17.25338242" TargetMode="External" Id="Rb527ac526d0f4888" /><Relationship Type="http://schemas.openxmlformats.org/officeDocument/2006/relationships/hyperlink" Target="https://doi.org/10.1634/theoncologist.2013-0435" TargetMode="External" Id="R36bff3935b7b4941" /><Relationship Type="http://schemas.openxmlformats.org/officeDocument/2006/relationships/hyperlink" Target="https://doi.org/10.1634/theoncologist.2013-0435" TargetMode="External" Id="Redb18ac709424540" /><Relationship Type="http://schemas.openxmlformats.org/officeDocument/2006/relationships/hyperlink" Target="https://doi.org/10.1200/JCO.2012.46.2101" TargetMode="External" Id="R4bde89ead8294675" /><Relationship Type="http://schemas.openxmlformats.org/officeDocument/2006/relationships/hyperlink" Target="https://doi.org/10.1200/JCO.2012.46.2101" TargetMode="External" Id="Ra00d6683a98d42f6" /><Relationship Type="http://schemas.openxmlformats.org/officeDocument/2006/relationships/notesSlide" Target="/ppt/notesSlides/notesSlide8.xml" Id="R1162644cc5f043f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Documented conversations</c:v>
          </c:tx>
          <c:spPr>
            <a:solidFill xmlns:a="http://schemas.openxmlformats.org/drawingml/2006/main">
              <a:srgbClr val="173F33"/>
            </a:solidFill>
          </c:spPr>
          <c:dPt>
            <c:idx val="0"/>
            <c:invertIfNegative val="0"/>
            <c:spPr>
              <a:solidFill xmlns:a="http://schemas.openxmlformats.org/drawingml/2006/main">
                <a:srgbClr val="B75E43"/>
              </a:solidFill>
            </c:spPr>
          </c:dPt>
          <c:dPt>
            <c:idx val="1"/>
            <c:invertIfNegative val="0"/>
            <c:spPr>
              <a:solidFill xmlns:a="http://schemas.openxmlformats.org/drawingml/2006/main">
                <a:srgbClr val="173F33"/>
              </a:solidFill>
            </c:spPr>
          </c:dPt>
          <c:cat>
            <c:strRef>
              <c:f>'Chart Data'!$A$2:$A$3</c:f>
              <c:strCache>
                <c:ptCount val="2"/>
                <c:pt idx="0">
                  <c:v>Before</c:v>
                </c:pt>
                <c:pt idx="1">
                  <c:v>After</c:v>
                </c:pt>
              </c:strCache>
            </c:strRef>
          </c:cat>
          <c:val>
            <c:numRef>
              <c:f>'Chart Data'!$B$2:$B$3</c:f>
              <c:numCache>
                <c:formatCode>0"%"</c:formatCode>
                <c:ptCount val="2"/>
                <c:pt idx="0">
                  <c:v>0</c:v>
                </c:pt>
                <c:pt idx="1">
                  <c:v>92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73F33"/>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nextTo"/>
        <c:spPr>
          <a:ln xmlns:a="http://schemas.openxmlformats.org/drawingml/2006/main" w="9525">
            <a:solidFill>
              <a:srgbClr val="D9D4C7"/>
            </a:solidFill>
          </a:ln>
        </c:spPr>
        <c:txPr>
          <a:bodyPr xmlns:a="http://schemas.openxmlformats.org/drawingml/2006/main" anchorCtr="1"/>
          <a:lstStyle xmlns:a="http://schemas.openxmlformats.org/drawingml/2006/main"/>
          <a:p xmlns:a="http://schemas.openxmlformats.org/drawingml/2006/main">
            <a:pPr>
              <a:defRPr sz="1275">
                <a:solidFill>
                  <a:srgbClr val="173F33"/>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DD9CF"/>
              </a:solidFill>
              <a:prstDash val="solid"/>
            </a:ln>
          </c:spPr>
        </c:majorGridlines>
        <c:numFmt formatCode="0&quot;%&quot;"/>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050">
                <a:solidFill>
                  <a:srgbClr val="53655C"/>
                </a:solidFill>
                <a:latin typeface="Arial"/>
                <a:ea typeface="Arial"/>
                <a:cs typeface="Arial"/>
              </a:defRPr>
            </a:pPr>
          </a:p>
        </c:txPr>
        <c:crossAx val="48650112"/>
        <c:crossBetween val="between"/>
        <c:majorUnit val="25"/>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6E5"/>
        </a:solidFill>
      </p:bgPr>
    </p:bg>
    <p:spTree>
      <p:nvGrpSpPr>
        <p:cNvPr id="1" name=""/>
        <p:cNvGrpSpPr/>
        <p:nvPr/>
      </p:nvGrpSpPr>
      <p:grpSpPr>
        <a:xfrm xmlns:a="http://schemas.openxmlformats.org/drawingml/2006/main"/>
      </p:grpSpPr>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61332b200d1741ba">
            <a:extLst>
              <a:ext uri="{96DAC541-7B7A-43D3-8B79-37D633B846F1}">
                <asvg:svgBlip xmlns:asvg="http://schemas.microsoft.com/office/drawing/2016/SVG/main" r:embed="R753b9123cf90489c"/>
              </a:ext>
            </a:extLst>
          </a:blip>
          <a:stretch xmlns:a="http://schemas.openxmlformats.org/drawingml/2006/main"/>
        </p:blipFill>
        <p:spPr>
          <a:xfrm xmlns:a="http://schemas.openxmlformats.org/drawingml/2006/main">
            <a:off x="533400" y="485775"/>
            <a:ext cx="828675" cy="828675"/>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E6B48B43-B2CA-4AF1-A6D1-09F71EA4F64E}"/>
              </a:ext>
            </a:extLst>
          </p:cNvPr>
          <p:cNvSpPr>
            <a:spLocks xmlns:a="http://schemas.openxmlformats.org/drawingml/2006/main" noGrp="1"/>
          </p:cNvSpPr>
          <p:nvPr/>
        </p:nvSpPr>
        <p:spPr>
          <a:xfrm xmlns:a="http://schemas.openxmlformats.org/drawingml/2006/main">
            <a:off x="1581150" y="381000"/>
            <a:ext cx="30194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5775" b="1">
                <a:solidFill>
                  <a:srgbClr val="173F33"/>
                </a:solidFill>
                <a:latin typeface="Arial"/>
                <a:ea typeface="Arial"/>
                <a:cs typeface="Arial"/>
              </a:defRPr>
            </a:pPr>
            <a:r>
              <a:rPr sz="5775" b="1">
                <a:solidFill>
                  <a:srgbClr val="173F33"/>
                </a:solidFill>
                <a:latin typeface="Arial"/>
                <a:ea typeface="Arial"/>
                <a:cs typeface="Arial"/>
              </a:rPr>
              <a:t>Saathi</a:t>
            </a:r>
          </a:p>
        </p:txBody>
      </p:sp>
      <p:sp>
        <p:nvSpPr>
          <p:cNvPr id="3" name="Hindi name">
            <a:extLst xmlns:a="http://schemas.openxmlformats.org/drawingml/2006/main">
              <a:ext uri="{FF2B5EF4-FFF2-40B4-BE49-F238E27FC236}">
                <a16:creationId xmlns:a16="http://schemas.microsoft.com/office/drawing/2014/main" id="{742EC207-30F4-4563-BBBF-1B10CA2BB34C}"/>
              </a:ext>
            </a:extLst>
          </p:cNvPr>
          <p:cNvSpPr>
            <a:spLocks xmlns:a="http://schemas.openxmlformats.org/drawingml/2006/main" noGrp="1"/>
          </p:cNvSpPr>
          <p:nvPr/>
        </p:nvSpPr>
        <p:spPr>
          <a:xfrm xmlns:a="http://schemas.openxmlformats.org/drawingml/2006/main">
            <a:off x="4867275" y="504825"/>
            <a:ext cx="21621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425" b="1">
                <a:solidFill>
                  <a:srgbClr val="173F33"/>
                </a:solidFill>
                <a:latin typeface="Nirmala UI"/>
                <a:ea typeface="Nirmala UI"/>
                <a:cs typeface="Nirmala UI"/>
              </a:defRPr>
            </a:pPr>
            <a:r>
              <a:rPr sz="4425" b="1">
                <a:solidFill>
                  <a:srgbClr val="173F33"/>
                </a:solidFill>
                <a:latin typeface="Nirmala UI"/>
                <a:ea typeface="Nirmala UI"/>
                <a:cs typeface="Nirmala UI"/>
              </a:rPr>
              <a:t>साथी</a:t>
            </a:r>
          </a:p>
        </p:txBody>
      </p:sp>
      <p:sp>
        <p:nvSpPr>
          <p:cNvPr id="4" name="Name meaning">
            <a:extLst xmlns:a="http://schemas.openxmlformats.org/drawingml/2006/main">
              <a:ext uri="{FF2B5EF4-FFF2-40B4-BE49-F238E27FC236}">
                <a16:creationId xmlns:a16="http://schemas.microsoft.com/office/drawing/2014/main" id="{30D67C62-57CD-4F78-B91F-8A00B1ED3A51}"/>
              </a:ext>
            </a:extLst>
          </p:cNvPr>
          <p:cNvSpPr>
            <a:spLocks xmlns:a="http://schemas.openxmlformats.org/drawingml/2006/main" noGrp="1"/>
          </p:cNvSpPr>
          <p:nvPr/>
        </p:nvSpPr>
        <p:spPr>
          <a:xfrm xmlns:a="http://schemas.openxmlformats.org/drawingml/2006/main">
            <a:off x="7362825" y="695325"/>
            <a:ext cx="4295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00" b="0">
                <a:solidFill>
                  <a:srgbClr val="B75E43"/>
                </a:solidFill>
                <a:latin typeface="Arial"/>
                <a:ea typeface="Arial"/>
                <a:cs typeface="Arial"/>
              </a:defRPr>
            </a:pPr>
            <a:r>
              <a:rPr sz="2400" b="0">
                <a:solidFill>
                  <a:srgbClr val="B75E43"/>
                </a:solidFill>
                <a:latin typeface="Arial"/>
                <a:ea typeface="Arial"/>
                <a:cs typeface="Arial"/>
              </a:rPr>
              <a:t>Companion</a:t>
            </a:r>
          </a:p>
        </p:txBody>
      </p:sp>
      <p:sp>
        <p:nvSpPr>
          <p:cNvPr id="5" name="Purpose">
            <a:extLst xmlns:a="http://schemas.openxmlformats.org/drawingml/2006/main">
              <a:ext uri="{FF2B5EF4-FFF2-40B4-BE49-F238E27FC236}">
                <a16:creationId xmlns:a16="http://schemas.microsoft.com/office/drawing/2014/main" id="{15D7BA70-00C9-41BA-B2F0-2F9A199C3E63}"/>
              </a:ext>
            </a:extLst>
          </p:cNvPr>
          <p:cNvSpPr>
            <a:spLocks xmlns:a="http://schemas.openxmlformats.org/drawingml/2006/main" noGrp="1"/>
          </p:cNvSpPr>
          <p:nvPr/>
        </p:nvSpPr>
        <p:spPr>
          <a:xfrm xmlns:a="http://schemas.openxmlformats.org/drawingml/2006/main">
            <a:off x="533400" y="1552575"/>
            <a:ext cx="111252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250" b="1">
                <a:solidFill>
                  <a:srgbClr val="173F33"/>
                </a:solidFill>
                <a:latin typeface="Arial"/>
                <a:ea typeface="Arial"/>
                <a:cs typeface="Arial"/>
              </a:defRPr>
            </a:pPr>
            <a:r>
              <a:rPr sz="2250" b="1">
                <a:solidFill>
                  <a:srgbClr val="173F33"/>
                </a:solidFill>
                <a:latin typeface="Arial"/>
                <a:ea typeface="Arial"/>
                <a:cs typeface="Arial"/>
              </a:rPr>
              <a:t>Saathi helps cancer patients and their families keep care conversations, reports and everyday plans together.</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be6980229adb4a1d"/>
          <a:stretch xmlns:a="http://schemas.openxmlformats.org/drawingml/2006/main"/>
        </p:blipFill>
        <p:spPr>
          <a:xfrm xmlns:a="http://schemas.openxmlformats.org/drawingml/2006/main">
            <a:off x="533400" y="2619375"/>
            <a:ext cx="1219200" cy="1219200"/>
          </a:xfrm>
          <a:prstGeom xmlns:a="http://schemas.openxmlformats.org/drawingml/2006/main" prst="rect">
            <a:avLst/>
          </a:prstGeom>
        </p:spPr>
      </p:pic>
      <p:sp>
        <p:nvSpPr>
          <p:cNvPr id="7" name="Website link">
            <a:extLst xmlns:a="http://schemas.openxmlformats.org/drawingml/2006/main">
              <a:ext uri="{FF2B5EF4-FFF2-40B4-BE49-F238E27FC236}">
                <a16:creationId xmlns:a16="http://schemas.microsoft.com/office/drawing/2014/main" id="{91EE092C-7F50-4E64-BDB8-46AECB7D7741}"/>
              </a:ext>
            </a:extLst>
          </p:cNvPr>
          <p:cNvSpPr>
            <a:spLocks xmlns:a="http://schemas.openxmlformats.org/drawingml/2006/main" noGrp="1"/>
          </p:cNvSpPr>
          <p:nvPr/>
        </p:nvSpPr>
        <p:spPr>
          <a:xfrm xmlns:a="http://schemas.openxmlformats.org/drawingml/2006/main">
            <a:off x="2124075" y="2828925"/>
            <a:ext cx="95345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600" b="1">
                <a:solidFill>
                  <a:srgbClr val="145AC6"/>
                </a:solidFill>
                <a:latin typeface="Arial"/>
                <a:ea typeface="Arial"/>
                <a:cs typeface="Arial"/>
              </a:defRPr>
            </a:pPr>
            <a:r>
              <a:rPr sz="3600" b="1" u="sng">
                <a:solidFill>
                  <a:srgbClr val="145AC6"/>
                </a:solidFill>
                <a:latin typeface="Arial"/>
                <a:ea typeface="Arial"/>
                <a:cs typeface="Arial"/>
                <a:hlinkClick xmlns:r="http://schemas.openxmlformats.org/officeDocument/2006/relationships" r:id="R913fbc8461de4ad2"/>
              </a:rPr>
              <a:t>OPEN THE WEBSITE</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07c98bd695544a63">
            <a:extLst>
              <a:ext uri="{96DAC541-7B7A-43D3-8B79-37D633B846F1}">
                <asvg:svgBlip xmlns:asvg="http://schemas.microsoft.com/office/drawing/2016/SVG/main" r:embed="R82c9d554c9d3438c"/>
              </a:ext>
            </a:extLst>
          </a:blip>
          <a:stretch xmlns:a="http://schemas.openxmlformats.org/drawingml/2006/main"/>
        </p:blipFill>
        <p:spPr>
          <a:xfrm xmlns:a="http://schemas.openxmlformats.org/drawingml/2006/main">
            <a:off x="533400" y="4257675"/>
            <a:ext cx="285750" cy="285750"/>
          </a:xfrm>
          <a:prstGeom xmlns:a="http://schemas.openxmlformats.org/drawingml/2006/main" prst="rect">
            <a:avLst/>
          </a:prstGeom>
        </p:spPr>
      </p:pic>
      <p:sp>
        <p:nvSpPr>
          <p:cNvPr id="9" name="Repository link">
            <a:extLst xmlns:a="http://schemas.openxmlformats.org/drawingml/2006/main">
              <a:ext uri="{FF2B5EF4-FFF2-40B4-BE49-F238E27FC236}">
                <a16:creationId xmlns:a16="http://schemas.microsoft.com/office/drawing/2014/main" id="{F1CDB26E-80C7-4EF6-A7CD-DA1535DDFEA2}"/>
              </a:ext>
            </a:extLst>
          </p:cNvPr>
          <p:cNvSpPr>
            <a:spLocks xmlns:a="http://schemas.openxmlformats.org/drawingml/2006/main" noGrp="1"/>
          </p:cNvSpPr>
          <p:nvPr/>
        </p:nvSpPr>
        <p:spPr>
          <a:xfrm xmlns:a="http://schemas.openxmlformats.org/drawingml/2006/main">
            <a:off x="962025" y="4257675"/>
            <a:ext cx="5048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45AC6"/>
                </a:solidFill>
                <a:latin typeface="Arial"/>
                <a:ea typeface="Arial"/>
                <a:cs typeface="Arial"/>
              </a:defRPr>
            </a:pPr>
            <a:r>
              <a:rPr sz="1575" b="1" u="sng">
                <a:solidFill>
                  <a:srgbClr val="145AC6"/>
                </a:solidFill>
                <a:latin typeface="Arial"/>
                <a:ea typeface="Arial"/>
                <a:cs typeface="Arial"/>
                <a:hlinkClick xmlns:r="http://schemas.openxmlformats.org/officeDocument/2006/relationships" r:id="Raf5cc5f1a6094a78"/>
              </a:rPr>
              <a:t>github.com/basithladdu/healthathon</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0478e5e4e4b04656">
            <a:extLst>
              <a:ext uri="{96DAC541-7B7A-43D3-8B79-37D633B846F1}">
                <asvg:svgBlip xmlns:asvg="http://schemas.microsoft.com/office/drawing/2016/SVG/main" r:embed="Red6bb5b3b4f14f14"/>
              </a:ext>
            </a:extLst>
          </a:blip>
          <a:stretch xmlns:a="http://schemas.openxmlformats.org/drawingml/2006/main"/>
        </p:blipFill>
        <p:spPr>
          <a:xfrm xmlns:a="http://schemas.openxmlformats.org/drawingml/2006/main">
            <a:off x="6810375" y="4257675"/>
            <a:ext cx="285750" cy="285750"/>
          </a:xfrm>
          <a:prstGeom xmlns:a="http://schemas.openxmlformats.org/drawingml/2006/main" prst="rect">
            <a:avLst/>
          </a:prstGeom>
        </p:spPr>
      </p:pic>
      <p:sp>
        <p:nvSpPr>
          <p:cNvPr id="11" name="Questions contact">
            <a:extLst xmlns:a="http://schemas.openxmlformats.org/drawingml/2006/main">
              <a:ext uri="{FF2B5EF4-FFF2-40B4-BE49-F238E27FC236}">
                <a16:creationId xmlns:a16="http://schemas.microsoft.com/office/drawing/2014/main" id="{2046BA79-C12F-46A8-845F-2211B43440F4}"/>
              </a:ext>
            </a:extLst>
          </p:cNvPr>
          <p:cNvSpPr>
            <a:spLocks xmlns:a="http://schemas.openxmlformats.org/drawingml/2006/main" noGrp="1"/>
          </p:cNvSpPr>
          <p:nvPr/>
        </p:nvSpPr>
        <p:spPr>
          <a:xfrm xmlns:a="http://schemas.openxmlformats.org/drawingml/2006/main">
            <a:off x="7239000" y="4133850"/>
            <a:ext cx="4419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28C4A"/>
                </a:solidFill>
                <a:latin typeface="Arial"/>
                <a:ea typeface="Arial"/>
                <a:cs typeface="Arial"/>
              </a:defRPr>
            </a:pPr>
            <a:r>
              <a:rPr sz="1725" b="1" u="sng">
                <a:solidFill>
                  <a:srgbClr val="128C4A"/>
                </a:solidFill>
                <a:latin typeface="Arial"/>
                <a:ea typeface="Arial"/>
                <a:cs typeface="Arial"/>
                <a:hlinkClick xmlns:r="http://schemas.openxmlformats.org/officeDocument/2006/relationships" r:id="R16ba0245d51e47da"/>
              </a:rPr>
              <a:t>Questions? Contact us</a:t>
            </a:r>
          </a:p>
        </p:txBody>
      </p:sp>
      <p:sp>
        <p:nvSpPr>
          <p:cNvPr id="12" name="WhatsApp link">
            <a:extLst xmlns:a="http://schemas.openxmlformats.org/drawingml/2006/main">
              <a:ext uri="{FF2B5EF4-FFF2-40B4-BE49-F238E27FC236}">
                <a16:creationId xmlns:a16="http://schemas.microsoft.com/office/drawing/2014/main" id="{C2085B37-F16C-4862-A782-B888E0D8B609}"/>
              </a:ext>
            </a:extLst>
          </p:cNvPr>
          <p:cNvSpPr>
            <a:spLocks xmlns:a="http://schemas.openxmlformats.org/drawingml/2006/main" noGrp="1"/>
          </p:cNvSpPr>
          <p:nvPr/>
        </p:nvSpPr>
        <p:spPr>
          <a:xfrm xmlns:a="http://schemas.openxmlformats.org/drawingml/2006/main">
            <a:off x="7239000" y="4505325"/>
            <a:ext cx="441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128C4A"/>
                </a:solidFill>
                <a:latin typeface="Arial"/>
                <a:ea typeface="Arial"/>
                <a:cs typeface="Arial"/>
              </a:defRPr>
            </a:pPr>
            <a:r>
              <a:rPr sz="1500" b="0" u="sng">
                <a:solidFill>
                  <a:srgbClr val="128C4A"/>
                </a:solidFill>
                <a:latin typeface="Arial"/>
                <a:ea typeface="Arial"/>
                <a:cs typeface="Arial"/>
                <a:hlinkClick xmlns:r="http://schemas.openxmlformats.org/officeDocument/2006/relationships" r:id="R33e41d3baf3d4135"/>
              </a:rPr>
              <a:t>wa.me/919553321211</a:t>
            </a:r>
          </a:p>
        </p:txBody>
      </p:sp>
      <p:sp>
        <p:nvSpPr>
          <p:cNvPr id="13" name="">
            <a:extLst xmlns:a="http://schemas.openxmlformats.org/drawingml/2006/main">
              <a:ext uri="{FF2B5EF4-FFF2-40B4-BE49-F238E27FC236}">
                <a16:creationId xmlns:a16="http://schemas.microsoft.com/office/drawing/2014/main" id="{EBEB7ED3-48A5-42F7-96EB-C2DD4AF5F445}"/>
              </a:ext>
            </a:extLst>
          </p:cNvPr>
          <p:cNvSpPr>
            <a:spLocks xmlns:a="http://schemas.openxmlformats.org/drawingml/2006/main" noGrp="1"/>
          </p:cNvSpPr>
          <p:nvPr/>
        </p:nvSpPr>
        <p:spPr>
          <a:xfrm xmlns:a="http://schemas.openxmlformats.org/drawingml/2006/main">
            <a:off x="533400" y="4857750"/>
            <a:ext cx="11125200" cy="0"/>
          </a:xfrm>
          <a:prstGeom xmlns:a="http://schemas.openxmlformats.org/drawingml/2006/main" prst="line">
            <a:avLst/>
          </a:prstGeom>
          <a:ln xmlns:a="http://schemas.openxmlformats.org/drawingml/2006/main" w="9525">
            <a:solidFill>
              <a:srgbClr val="D9D4C7"/>
            </a:solidFill>
          </a:ln>
        </p:spPr>
      </p:sp>
      <p:sp>
        <p:nvSpPr>
          <p:cNvPr id="14" name="Team heading">
            <a:extLst xmlns:a="http://schemas.openxmlformats.org/drawingml/2006/main">
              <a:ext uri="{FF2B5EF4-FFF2-40B4-BE49-F238E27FC236}">
                <a16:creationId xmlns:a16="http://schemas.microsoft.com/office/drawing/2014/main" id="{E4CA17DE-3069-4DBA-A81C-5685E2E3BE36}"/>
              </a:ext>
            </a:extLst>
          </p:cNvPr>
          <p:cNvSpPr>
            <a:spLocks xmlns:a="http://schemas.openxmlformats.org/drawingml/2006/main" noGrp="1"/>
          </p:cNvSpPr>
          <p:nvPr/>
        </p:nvSpPr>
        <p:spPr>
          <a:xfrm xmlns:a="http://schemas.openxmlformats.org/drawingml/2006/main">
            <a:off x="533400" y="5057775"/>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00" b="0">
                <a:solidFill>
                  <a:srgbClr val="53655C"/>
                </a:solidFill>
                <a:latin typeface="Arial"/>
                <a:ea typeface="Arial"/>
                <a:cs typeface="Arial"/>
              </a:defRPr>
            </a:pPr>
            <a:r>
              <a:rPr sz="1500" b="0">
                <a:solidFill>
                  <a:srgbClr val="53655C"/>
                </a:solidFill>
                <a:latin typeface="Arial"/>
                <a:ea typeface="Arial"/>
                <a:cs typeface="Arial"/>
              </a:rPr>
              <a:t>By Zeros and Ones</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36f8e3295a2f4b6d"/>
          <a:srcRect xmlns:a="http://schemas.openxmlformats.org/drawingml/2006/main" l="0" t="5331" r="0" b="5331"/>
          <a:stretch xmlns:a="http://schemas.openxmlformats.org/drawingml/2006/main">
            <a:fillRect l="0" t="0" r="0" b="0"/>
          </a:stretch>
        </p:blipFill>
        <p:spPr>
          <a:xfrm xmlns:a="http://schemas.openxmlformats.org/drawingml/2006/main">
            <a:off x="533400" y="5495925"/>
            <a:ext cx="647700" cy="771525"/>
          </a:xfrm>
          <a:prstGeom xmlns:a="http://schemas.openxmlformats.org/drawingml/2006/main" prst="rect">
            <a:avLst/>
          </a:prstGeom>
        </p:spPr>
      </p:pic>
      <p:sp>
        <p:nvSpPr>
          <p:cNvPr id="16" name="Team member 1">
            <a:extLst xmlns:a="http://schemas.openxmlformats.org/drawingml/2006/main">
              <a:ext uri="{FF2B5EF4-FFF2-40B4-BE49-F238E27FC236}">
                <a16:creationId xmlns:a16="http://schemas.microsoft.com/office/drawing/2014/main" id="{72736747-1ADD-441A-950D-8CC96261CE08}"/>
              </a:ext>
            </a:extLst>
          </p:cNvPr>
          <p:cNvSpPr>
            <a:spLocks xmlns:a="http://schemas.openxmlformats.org/drawingml/2006/main" noGrp="1"/>
          </p:cNvSpPr>
          <p:nvPr/>
        </p:nvSpPr>
        <p:spPr>
          <a:xfrm xmlns:a="http://schemas.openxmlformats.org/drawingml/2006/main">
            <a:off x="12858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Abdul</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Basith</a:t>
            </a:r>
          </a:p>
        </p:txBody>
      </p:sp>
      <p:sp>
        <p:nvSpPr>
          <p:cNvPr id="17" name="Team role 1">
            <a:extLst xmlns:a="http://schemas.openxmlformats.org/drawingml/2006/main">
              <a:ext uri="{FF2B5EF4-FFF2-40B4-BE49-F238E27FC236}">
                <a16:creationId xmlns:a16="http://schemas.microsoft.com/office/drawing/2014/main" id="{FBC4F9B3-69B7-482D-8C17-3AA369727B95}"/>
              </a:ext>
            </a:extLst>
          </p:cNvPr>
          <p:cNvSpPr>
            <a:spLocks xmlns:a="http://schemas.openxmlformats.org/drawingml/2006/main" noGrp="1"/>
          </p:cNvSpPr>
          <p:nvPr/>
        </p:nvSpPr>
        <p:spPr>
          <a:xfrm xmlns:a="http://schemas.openxmlformats.org/drawingml/2006/main">
            <a:off x="12858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Technical lead</a:t>
            </a:r>
          </a:p>
        </p:txBody>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aae397873c64f73"/>
          <a:srcRect xmlns:a="http://schemas.openxmlformats.org/drawingml/2006/main" l="0" t="19104" r="0" b="19104"/>
          <a:stretch xmlns:a="http://schemas.openxmlformats.org/drawingml/2006/main">
            <a:fillRect l="0" t="0" r="0" b="0"/>
          </a:stretch>
        </p:blipFill>
        <p:spPr>
          <a:xfrm xmlns:a="http://schemas.openxmlformats.org/drawingml/2006/main">
            <a:off x="2781300" y="5495925"/>
            <a:ext cx="647700" cy="771525"/>
          </a:xfrm>
          <a:prstGeom xmlns:a="http://schemas.openxmlformats.org/drawingml/2006/main" prst="rect">
            <a:avLst/>
          </a:prstGeom>
        </p:spPr>
      </p:pic>
      <p:sp>
        <p:nvSpPr>
          <p:cNvPr id="19" name="Team member 2">
            <a:extLst xmlns:a="http://schemas.openxmlformats.org/drawingml/2006/main">
              <a:ext uri="{FF2B5EF4-FFF2-40B4-BE49-F238E27FC236}">
                <a16:creationId xmlns:a16="http://schemas.microsoft.com/office/drawing/2014/main" id="{9010C483-B408-468B-B59C-29BD7DA19999}"/>
              </a:ext>
            </a:extLst>
          </p:cNvPr>
          <p:cNvSpPr>
            <a:spLocks xmlns:a="http://schemas.openxmlformats.org/drawingml/2006/main" noGrp="1"/>
          </p:cNvSpPr>
          <p:nvPr/>
        </p:nvSpPr>
        <p:spPr>
          <a:xfrm xmlns:a="http://schemas.openxmlformats.org/drawingml/2006/main">
            <a:off x="35337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Shaik Muhammad</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Awaiz</a:t>
            </a:r>
          </a:p>
        </p:txBody>
      </p:sp>
      <p:sp>
        <p:nvSpPr>
          <p:cNvPr id="20" name="Team role 2">
            <a:extLst xmlns:a="http://schemas.openxmlformats.org/drawingml/2006/main">
              <a:ext uri="{FF2B5EF4-FFF2-40B4-BE49-F238E27FC236}">
                <a16:creationId xmlns:a16="http://schemas.microsoft.com/office/drawing/2014/main" id="{613545AA-4628-4EEF-BACA-BFF2E1318E8E}"/>
              </a:ext>
            </a:extLst>
          </p:cNvPr>
          <p:cNvSpPr>
            <a:spLocks xmlns:a="http://schemas.openxmlformats.org/drawingml/2006/main" noGrp="1"/>
          </p:cNvSpPr>
          <p:nvPr/>
        </p:nvSpPr>
        <p:spPr>
          <a:xfrm xmlns:a="http://schemas.openxmlformats.org/drawingml/2006/main">
            <a:off x="35337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Technology</a:t>
            </a:r>
          </a:p>
        </p:txBody>
      </p:sp>
      <p:sp>
        <p:nvSpPr>
          <p:cNvPr id="21" name="Photo space for Dr Sharada&#10;Vinod Kutty">
            <a:extLst xmlns:a="http://schemas.openxmlformats.org/drawingml/2006/main">
              <a:ext uri="{FF2B5EF4-FFF2-40B4-BE49-F238E27FC236}">
                <a16:creationId xmlns:a16="http://schemas.microsoft.com/office/drawing/2014/main" id="{B911BB96-AE93-45AB-B491-DB5603838E3A}"/>
              </a:ext>
            </a:extLst>
          </p:cNvPr>
          <p:cNvSpPr>
            <a:spLocks xmlns:a="http://schemas.openxmlformats.org/drawingml/2006/main" noGrp="1"/>
          </p:cNvSpPr>
          <p:nvPr/>
        </p:nvSpPr>
        <p:spPr>
          <a:xfrm xmlns:a="http://schemas.openxmlformats.org/drawingml/2006/main">
            <a:off x="50292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2" name="Team member 3">
            <a:extLst xmlns:a="http://schemas.openxmlformats.org/drawingml/2006/main">
              <a:ext uri="{FF2B5EF4-FFF2-40B4-BE49-F238E27FC236}">
                <a16:creationId xmlns:a16="http://schemas.microsoft.com/office/drawing/2014/main" id="{47D76CAB-2703-416C-80A7-AFDD13F83618}"/>
              </a:ext>
            </a:extLst>
          </p:cNvPr>
          <p:cNvSpPr>
            <a:spLocks xmlns:a="http://schemas.openxmlformats.org/drawingml/2006/main" noGrp="1"/>
          </p:cNvSpPr>
          <p:nvPr/>
        </p:nvSpPr>
        <p:spPr>
          <a:xfrm xmlns:a="http://schemas.openxmlformats.org/drawingml/2006/main">
            <a:off x="57816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Sharada</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Vinod Kutty</a:t>
            </a:r>
          </a:p>
        </p:txBody>
      </p:sp>
      <p:sp>
        <p:nvSpPr>
          <p:cNvPr id="23" name="Team role 3">
            <a:extLst xmlns:a="http://schemas.openxmlformats.org/drawingml/2006/main">
              <a:ext uri="{FF2B5EF4-FFF2-40B4-BE49-F238E27FC236}">
                <a16:creationId xmlns:a16="http://schemas.microsoft.com/office/drawing/2014/main" id="{62DC2267-707D-4B74-852E-54D1AA619B4F}"/>
              </a:ext>
            </a:extLst>
          </p:cNvPr>
          <p:cNvSpPr>
            <a:spLocks xmlns:a="http://schemas.openxmlformats.org/drawingml/2006/main" noGrp="1"/>
          </p:cNvSpPr>
          <p:nvPr/>
        </p:nvSpPr>
        <p:spPr>
          <a:xfrm xmlns:a="http://schemas.openxmlformats.org/drawingml/2006/main">
            <a:off x="57816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Doctor partner</a:t>
            </a:r>
          </a:p>
        </p:txBody>
      </p:sp>
      <p:sp>
        <p:nvSpPr>
          <p:cNvPr id="24" name="Photo space for Dr Sujay&#10;Halkur Shankar">
            <a:extLst xmlns:a="http://schemas.openxmlformats.org/drawingml/2006/main">
              <a:ext uri="{FF2B5EF4-FFF2-40B4-BE49-F238E27FC236}">
                <a16:creationId xmlns:a16="http://schemas.microsoft.com/office/drawing/2014/main" id="{9BEE7C96-D3E5-4D00-A6F2-7BF586D9AA27}"/>
              </a:ext>
            </a:extLst>
          </p:cNvPr>
          <p:cNvSpPr>
            <a:spLocks xmlns:a="http://schemas.openxmlformats.org/drawingml/2006/main" noGrp="1"/>
          </p:cNvSpPr>
          <p:nvPr/>
        </p:nvSpPr>
        <p:spPr>
          <a:xfrm xmlns:a="http://schemas.openxmlformats.org/drawingml/2006/main">
            <a:off x="72771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5" name="Team member 4">
            <a:extLst xmlns:a="http://schemas.openxmlformats.org/drawingml/2006/main">
              <a:ext uri="{FF2B5EF4-FFF2-40B4-BE49-F238E27FC236}">
                <a16:creationId xmlns:a16="http://schemas.microsoft.com/office/drawing/2014/main" id="{545808C8-7794-46CA-8255-FF26A6D40D15}"/>
              </a:ext>
            </a:extLst>
          </p:cNvPr>
          <p:cNvSpPr>
            <a:spLocks xmlns:a="http://schemas.openxmlformats.org/drawingml/2006/main" noGrp="1"/>
          </p:cNvSpPr>
          <p:nvPr/>
        </p:nvSpPr>
        <p:spPr>
          <a:xfrm xmlns:a="http://schemas.openxmlformats.org/drawingml/2006/main">
            <a:off x="80295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Dr Sujay</a:t>
            </a:r>
          </a:p>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Halkur Shankar</a:t>
            </a:r>
          </a:p>
        </p:txBody>
      </p:sp>
      <p:sp>
        <p:nvSpPr>
          <p:cNvPr id="26" name="Team role 4">
            <a:extLst xmlns:a="http://schemas.openxmlformats.org/drawingml/2006/main">
              <a:ext uri="{FF2B5EF4-FFF2-40B4-BE49-F238E27FC236}">
                <a16:creationId xmlns:a16="http://schemas.microsoft.com/office/drawing/2014/main" id="{C6D79B1D-5C40-4A08-8CA6-8F8984FD5216}"/>
              </a:ext>
            </a:extLst>
          </p:cNvPr>
          <p:cNvSpPr>
            <a:spLocks xmlns:a="http://schemas.openxmlformats.org/drawingml/2006/main" noGrp="1"/>
          </p:cNvSpPr>
          <p:nvPr/>
        </p:nvSpPr>
        <p:spPr>
          <a:xfrm xmlns:a="http://schemas.openxmlformats.org/drawingml/2006/main">
            <a:off x="80295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Clinician</a:t>
            </a:r>
          </a:p>
        </p:txBody>
      </p:sp>
      <p:sp>
        <p:nvSpPr>
          <p:cNvPr id="27" name="Photo space for Shirin Ayub">
            <a:extLst xmlns:a="http://schemas.openxmlformats.org/drawingml/2006/main">
              <a:ext uri="{FF2B5EF4-FFF2-40B4-BE49-F238E27FC236}">
                <a16:creationId xmlns:a16="http://schemas.microsoft.com/office/drawing/2014/main" id="{C41EA69D-F763-4270-90B1-134B6A626396}"/>
              </a:ext>
            </a:extLst>
          </p:cNvPr>
          <p:cNvSpPr>
            <a:spLocks xmlns:a="http://schemas.openxmlformats.org/drawingml/2006/main" noGrp="1"/>
          </p:cNvSpPr>
          <p:nvPr/>
        </p:nvSpPr>
        <p:spPr>
          <a:xfrm xmlns:a="http://schemas.openxmlformats.org/drawingml/2006/main">
            <a:off x="9525000" y="5495925"/>
            <a:ext cx="647700" cy="771525"/>
          </a:xfrm>
          <a:prstGeom xmlns:a="http://schemas.openxmlformats.org/drawingml/2006/main" prst="rect">
            <a:avLst/>
          </a:prstGeom>
          <a:solidFill xmlns:a="http://schemas.openxmlformats.org/drawingml/2006/main">
            <a:srgbClr val="F0ECE2"/>
          </a:solidFill>
          <a:ln xmlns:a="http://schemas.openxmlformats.org/drawingml/2006/main" w="9525">
            <a:solidFill>
              <a:srgbClr val="D9D4C7"/>
            </a:solidFill>
          </a:ln>
        </p:spPr>
      </p:sp>
      <p:sp>
        <p:nvSpPr>
          <p:cNvPr id="28" name="Team member 5">
            <a:extLst xmlns:a="http://schemas.openxmlformats.org/drawingml/2006/main">
              <a:ext uri="{FF2B5EF4-FFF2-40B4-BE49-F238E27FC236}">
                <a16:creationId xmlns:a16="http://schemas.microsoft.com/office/drawing/2014/main" id="{80655352-D8BA-4906-BF83-00013B8CDDF1}"/>
              </a:ext>
            </a:extLst>
          </p:cNvPr>
          <p:cNvSpPr>
            <a:spLocks xmlns:a="http://schemas.openxmlformats.org/drawingml/2006/main" noGrp="1"/>
          </p:cNvSpPr>
          <p:nvPr/>
        </p:nvSpPr>
        <p:spPr>
          <a:xfrm xmlns:a="http://schemas.openxmlformats.org/drawingml/2006/main">
            <a:off x="10277475" y="5514975"/>
            <a:ext cx="1447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313" b="1">
                <a:solidFill>
                  <a:srgbClr val="173F33"/>
                </a:solidFill>
                <a:latin typeface="Arial"/>
                <a:ea typeface="Arial"/>
                <a:cs typeface="Arial"/>
              </a:defRPr>
            </a:pPr>
            <a:r>
              <a:rPr sz="1313" b="1">
                <a:solidFill>
                  <a:srgbClr val="173F33"/>
                </a:solidFill>
                <a:latin typeface="Arial"/>
                <a:ea typeface="Arial"/>
                <a:cs typeface="Arial"/>
              </a:rPr>
              <a:t>Shirin Ayub</a:t>
            </a:r>
          </a:p>
        </p:txBody>
      </p:sp>
      <p:sp>
        <p:nvSpPr>
          <p:cNvPr id="29" name="Team role 5">
            <a:extLst xmlns:a="http://schemas.openxmlformats.org/drawingml/2006/main">
              <a:ext uri="{FF2B5EF4-FFF2-40B4-BE49-F238E27FC236}">
                <a16:creationId xmlns:a16="http://schemas.microsoft.com/office/drawing/2014/main" id="{16AC059C-A0C9-4EBA-BB4F-430FB9A8EF7C}"/>
              </a:ext>
            </a:extLst>
          </p:cNvPr>
          <p:cNvSpPr>
            <a:spLocks xmlns:a="http://schemas.openxmlformats.org/drawingml/2006/main" noGrp="1"/>
          </p:cNvSpPr>
          <p:nvPr/>
        </p:nvSpPr>
        <p:spPr>
          <a:xfrm xmlns:a="http://schemas.openxmlformats.org/drawingml/2006/main">
            <a:off x="10277475" y="6153150"/>
            <a:ext cx="1447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25" b="0">
                <a:solidFill>
                  <a:srgbClr val="53655C"/>
                </a:solidFill>
                <a:latin typeface="Arial"/>
                <a:ea typeface="Arial"/>
                <a:cs typeface="Arial"/>
              </a:defRPr>
            </a:pPr>
            <a:r>
              <a:rPr sz="1125" b="0">
                <a:solidFill>
                  <a:srgbClr val="53655C"/>
                </a:solidFill>
                <a:latin typeface="Arial"/>
                <a:ea typeface="Arial"/>
                <a:cs typeface="Arial"/>
              </a:rPr>
              <a:t>Team member</a:t>
            </a:r>
          </a:p>
        </p:txBody>
      </p:sp>
    </p:spTree>
    <p:extLst>
      <p:ext uri="{BB962C8B-B14F-4D97-AF65-F5344CB8AC3E}">
        <p14:creationId xmlns:p14="http://schemas.microsoft.com/office/powerpoint/2010/main" val="1441420215"/>
      </p:ext>
    </p:extLst>
  </p:cSld>
</p:sld>
</file>

<file path=ppt/slides/slide2.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16" name="Slide title">
            <a:extLst xmlns:a="http://schemas.openxmlformats.org/drawingml/2006/main">
              <a:ext uri="{FF2B5EF4-FFF2-40B4-BE49-F238E27FC236}">
                <a16:creationId xmlns:a16="http://schemas.microsoft.com/office/drawing/2014/main" id="{F0A85ACB-ABC5-40D2-B996-107BAD3B223C}"/>
              </a:ext>
            </a:extLst>
          </p:cNvPr>
          <p:cNvSpPr>
            <a:spLocks xmlns:a="http://schemas.openxmlformats.org/drawingml/2006/main" noGrp="1"/>
          </p:cNvSpPr>
          <p:nvPr/>
        </p:nvSpPr>
        <p:spPr>
          <a:xfrm xmlns:a="http://schemas.openxmlformats.org/drawingml/2006/main">
            <a:off x="533400" y="36195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When the care conversation gets lost</a:t>
            </a:r>
          </a:p>
        </p:txBody>
      </p:sp>
      <p:sp>
        <p:nvSpPr>
          <p:cNvPr id="2" name="Story number 1">
            <a:extLst xmlns:a="http://schemas.openxmlformats.org/drawingml/2006/main">
              <a:ext uri="{FF2B5EF4-FFF2-40B4-BE49-F238E27FC236}">
                <a16:creationId xmlns:a16="http://schemas.microsoft.com/office/drawing/2014/main" id="{9EFF7117-6A17-4822-AD47-4D9CA54DEFFD}"/>
              </a:ext>
            </a:extLst>
          </p:cNvPr>
          <p:cNvSpPr>
            <a:spLocks xmlns:a="http://schemas.openxmlformats.org/drawingml/2006/main" noGrp="1"/>
          </p:cNvSpPr>
          <p:nvPr/>
        </p:nvSpPr>
        <p:spPr>
          <a:xfrm xmlns:a="http://schemas.openxmlformats.org/drawingml/2006/main">
            <a:off x="533400" y="13239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B75E43"/>
                </a:solidFill>
                <a:latin typeface="Arial"/>
                <a:ea typeface="Arial"/>
                <a:cs typeface="Arial"/>
              </a:defRPr>
            </a:pPr>
            <a:r>
              <a:rPr sz="2100" b="1">
                <a:solidFill>
                  <a:srgbClr val="B75E43"/>
                </a:solidFill>
                <a:latin typeface="Arial"/>
                <a:ea typeface="Arial"/>
                <a:cs typeface="Arial"/>
              </a:rPr>
              <a:t>01</a:t>
            </a:r>
          </a:p>
        </p:txBody>
      </p:sp>
      <p:sp>
        <p:nvSpPr>
          <p:cNvPr id="3" name="Story step 1">
            <a:extLst xmlns:a="http://schemas.openxmlformats.org/drawingml/2006/main">
              <a:ext uri="{FF2B5EF4-FFF2-40B4-BE49-F238E27FC236}">
                <a16:creationId xmlns:a16="http://schemas.microsoft.com/office/drawing/2014/main" id="{8DB6AE50-DA4C-49CC-A173-29F376C1BAE6}"/>
              </a:ext>
            </a:extLst>
          </p:cNvPr>
          <p:cNvSpPr>
            <a:spLocks xmlns:a="http://schemas.openxmlformats.org/drawingml/2006/main" noGrp="1"/>
          </p:cNvSpPr>
          <p:nvPr/>
        </p:nvSpPr>
        <p:spPr>
          <a:xfrm xmlns:a="http://schemas.openxmlformats.org/drawingml/2006/main">
            <a:off x="1200150" y="13239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At the clinic</a:t>
            </a:r>
          </a:p>
        </p:txBody>
      </p:sp>
      <p:sp>
        <p:nvSpPr>
          <p:cNvPr id="4" name="Story step 1 detail">
            <a:extLst xmlns:a="http://schemas.openxmlformats.org/drawingml/2006/main">
              <a:ext uri="{FF2B5EF4-FFF2-40B4-BE49-F238E27FC236}">
                <a16:creationId xmlns:a16="http://schemas.microsoft.com/office/drawing/2014/main" id="{853F8452-96CD-476F-AD2C-7E815B40ADA9}"/>
              </a:ext>
            </a:extLst>
          </p:cNvPr>
          <p:cNvSpPr>
            <a:spLocks xmlns:a="http://schemas.openxmlformats.org/drawingml/2006/main" noGrp="1"/>
          </p:cNvSpPr>
          <p:nvPr/>
        </p:nvSpPr>
        <p:spPr>
          <a:xfrm xmlns:a="http://schemas.openxmlformats.org/drawingml/2006/main">
            <a:off x="1200150" y="17811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Imagine a 62-year-old woman with advanced breast cancer receiving best supportive care. Her doctor discusses her wishes. Only her husband attends.</a:t>
            </a:r>
          </a:p>
        </p:txBody>
      </p:sp>
      <p:sp>
        <p:nvSpPr>
          <p:cNvPr id="5" name="Story number 2">
            <a:extLst xmlns:a="http://schemas.openxmlformats.org/drawingml/2006/main">
              <a:ext uri="{FF2B5EF4-FFF2-40B4-BE49-F238E27FC236}">
                <a16:creationId xmlns:a16="http://schemas.microsoft.com/office/drawing/2014/main" id="{3ED4C9C0-3D33-4BC3-847B-FD1C926E28C5}"/>
              </a:ext>
            </a:extLst>
          </p:cNvPr>
          <p:cNvSpPr>
            <a:spLocks xmlns:a="http://schemas.openxmlformats.org/drawingml/2006/main" noGrp="1"/>
          </p:cNvSpPr>
          <p:nvPr/>
        </p:nvSpPr>
        <p:spPr>
          <a:xfrm xmlns:a="http://schemas.openxmlformats.org/drawingml/2006/main">
            <a:off x="533400" y="25622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7353AC"/>
                </a:solidFill>
                <a:latin typeface="Arial"/>
                <a:ea typeface="Arial"/>
                <a:cs typeface="Arial"/>
              </a:defRPr>
            </a:pPr>
            <a:r>
              <a:rPr sz="2100" b="1">
                <a:solidFill>
                  <a:srgbClr val="7353AC"/>
                </a:solidFill>
                <a:latin typeface="Arial"/>
                <a:ea typeface="Arial"/>
                <a:cs typeface="Arial"/>
              </a:rPr>
              <a:t>02</a:t>
            </a:r>
          </a:p>
        </p:txBody>
      </p:sp>
      <p:sp>
        <p:nvSpPr>
          <p:cNvPr id="6" name="Story step 2">
            <a:extLst xmlns:a="http://schemas.openxmlformats.org/drawingml/2006/main">
              <a:ext uri="{FF2B5EF4-FFF2-40B4-BE49-F238E27FC236}">
                <a16:creationId xmlns:a16="http://schemas.microsoft.com/office/drawing/2014/main" id="{99B8549E-7613-4E6D-B44C-383E5D2D56D6}"/>
              </a:ext>
            </a:extLst>
          </p:cNvPr>
          <p:cNvSpPr>
            <a:spLocks xmlns:a="http://schemas.openxmlformats.org/drawingml/2006/main" noGrp="1"/>
          </p:cNvSpPr>
          <p:nvPr/>
        </p:nvSpPr>
        <p:spPr>
          <a:xfrm xmlns:a="http://schemas.openxmlformats.org/drawingml/2006/main">
            <a:off x="1200150" y="25622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Two months later</a:t>
            </a:r>
          </a:p>
        </p:txBody>
      </p:sp>
      <p:sp>
        <p:nvSpPr>
          <p:cNvPr id="7" name="Story step 2 detail">
            <a:extLst xmlns:a="http://schemas.openxmlformats.org/drawingml/2006/main">
              <a:ext uri="{FF2B5EF4-FFF2-40B4-BE49-F238E27FC236}">
                <a16:creationId xmlns:a16="http://schemas.microsoft.com/office/drawing/2014/main" id="{F330FD2C-B3FC-4BC9-A902-6A34E5D616B3}"/>
              </a:ext>
            </a:extLst>
          </p:cNvPr>
          <p:cNvSpPr>
            <a:spLocks xmlns:a="http://schemas.openxmlformats.org/drawingml/2006/main" noGrp="1"/>
          </p:cNvSpPr>
          <p:nvPr/>
        </p:nvSpPr>
        <p:spPr>
          <a:xfrm xmlns:a="http://schemas.openxmlformats.org/drawingml/2006/main">
            <a:off x="1200150" y="30194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She becomes unconscious and reaches hospital. The doctor asks what she would want if her heart stopped.</a:t>
            </a:r>
          </a:p>
        </p:txBody>
      </p:sp>
      <p:sp>
        <p:nvSpPr>
          <p:cNvPr id="8" name="Story number 3">
            <a:extLst xmlns:a="http://schemas.openxmlformats.org/drawingml/2006/main">
              <a:ext uri="{FF2B5EF4-FFF2-40B4-BE49-F238E27FC236}">
                <a16:creationId xmlns:a16="http://schemas.microsoft.com/office/drawing/2014/main" id="{C476BF9F-CC5D-4DD1-9344-9C7F58CC78C0}"/>
              </a:ext>
            </a:extLst>
          </p:cNvPr>
          <p:cNvSpPr>
            <a:spLocks xmlns:a="http://schemas.openxmlformats.org/drawingml/2006/main" noGrp="1"/>
          </p:cNvSpPr>
          <p:nvPr/>
        </p:nvSpPr>
        <p:spPr>
          <a:xfrm xmlns:a="http://schemas.openxmlformats.org/drawingml/2006/main">
            <a:off x="533400" y="380047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57B68"/>
                </a:solidFill>
                <a:latin typeface="Arial"/>
                <a:ea typeface="Arial"/>
                <a:cs typeface="Arial"/>
              </a:defRPr>
            </a:pPr>
            <a:r>
              <a:rPr sz="2100" b="1">
                <a:solidFill>
                  <a:srgbClr val="157B68"/>
                </a:solidFill>
                <a:latin typeface="Arial"/>
                <a:ea typeface="Arial"/>
                <a:cs typeface="Arial"/>
              </a:rPr>
              <a:t>03</a:t>
            </a:r>
          </a:p>
        </p:txBody>
      </p:sp>
      <p:sp>
        <p:nvSpPr>
          <p:cNvPr id="9" name="Story step 3">
            <a:extLst xmlns:a="http://schemas.openxmlformats.org/drawingml/2006/main">
              <a:ext uri="{FF2B5EF4-FFF2-40B4-BE49-F238E27FC236}">
                <a16:creationId xmlns:a16="http://schemas.microsoft.com/office/drawing/2014/main" id="{1626B8F6-8830-4E5E-8924-74FE466ED9D2}"/>
              </a:ext>
            </a:extLst>
          </p:cNvPr>
          <p:cNvSpPr>
            <a:spLocks xmlns:a="http://schemas.openxmlformats.org/drawingml/2006/main" noGrp="1"/>
          </p:cNvSpPr>
          <p:nvPr/>
        </p:nvSpPr>
        <p:spPr>
          <a:xfrm xmlns:a="http://schemas.openxmlformats.org/drawingml/2006/main">
            <a:off x="1200150" y="380047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The family disagrees</a:t>
            </a:r>
          </a:p>
        </p:txBody>
      </p:sp>
      <p:sp>
        <p:nvSpPr>
          <p:cNvPr id="10" name="Story step 3 detail">
            <a:extLst xmlns:a="http://schemas.openxmlformats.org/drawingml/2006/main">
              <a:ext uri="{FF2B5EF4-FFF2-40B4-BE49-F238E27FC236}">
                <a16:creationId xmlns:a16="http://schemas.microsoft.com/office/drawing/2014/main" id="{2AEEAD33-5370-43E7-A7FD-3272C9550CEF}"/>
              </a:ext>
            </a:extLst>
          </p:cNvPr>
          <p:cNvSpPr>
            <a:spLocks xmlns:a="http://schemas.openxmlformats.org/drawingml/2006/main" noGrp="1"/>
          </p:cNvSpPr>
          <p:nvPr/>
        </p:nvSpPr>
        <p:spPr>
          <a:xfrm xmlns:a="http://schemas.openxmlformats.org/drawingml/2006/main">
            <a:off x="1200150" y="425767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7222"/>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Her husband says yes to attempts to restart her heart. Her daughter says no. Her son calls from another city. No one can find the earlier discussion.</a:t>
            </a:r>
          </a:p>
        </p:txBody>
      </p:sp>
      <p:sp>
        <p:nvSpPr>
          <p:cNvPr id="11" name="Story number 4">
            <a:extLst xmlns:a="http://schemas.openxmlformats.org/drawingml/2006/main">
              <a:ext uri="{FF2B5EF4-FFF2-40B4-BE49-F238E27FC236}">
                <a16:creationId xmlns:a16="http://schemas.microsoft.com/office/drawing/2014/main" id="{C798657C-5217-4689-B713-3718924E3C49}"/>
              </a:ext>
            </a:extLst>
          </p:cNvPr>
          <p:cNvSpPr>
            <a:spLocks xmlns:a="http://schemas.openxmlformats.org/drawingml/2006/main" noGrp="1"/>
          </p:cNvSpPr>
          <p:nvPr/>
        </p:nvSpPr>
        <p:spPr>
          <a:xfrm xmlns:a="http://schemas.openxmlformats.org/drawingml/2006/main">
            <a:off x="533400" y="5038725"/>
            <a:ext cx="495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00" b="1">
                <a:solidFill>
                  <a:srgbClr val="173F33"/>
                </a:solidFill>
                <a:latin typeface="Arial"/>
                <a:ea typeface="Arial"/>
                <a:cs typeface="Arial"/>
              </a:defRPr>
            </a:pPr>
            <a:r>
              <a:rPr sz="2100" b="1">
                <a:solidFill>
                  <a:srgbClr val="173F33"/>
                </a:solidFill>
                <a:latin typeface="Arial"/>
                <a:ea typeface="Arial"/>
                <a:cs typeface="Arial"/>
              </a:rPr>
              <a:t>04</a:t>
            </a:r>
          </a:p>
        </p:txBody>
      </p:sp>
      <p:sp>
        <p:nvSpPr>
          <p:cNvPr id="12" name="Story step 4">
            <a:extLst xmlns:a="http://schemas.openxmlformats.org/drawingml/2006/main">
              <a:ext uri="{FF2B5EF4-FFF2-40B4-BE49-F238E27FC236}">
                <a16:creationId xmlns:a16="http://schemas.microsoft.com/office/drawing/2014/main" id="{3C948CBF-9936-471E-8195-C7D4AE4797E1}"/>
              </a:ext>
            </a:extLst>
          </p:cNvPr>
          <p:cNvSpPr>
            <a:spLocks xmlns:a="http://schemas.openxmlformats.org/drawingml/2006/main" noGrp="1"/>
          </p:cNvSpPr>
          <p:nvPr/>
        </p:nvSpPr>
        <p:spPr>
          <a:xfrm xmlns:a="http://schemas.openxmlformats.org/drawingml/2006/main">
            <a:off x="1200150" y="5038725"/>
            <a:ext cx="57245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950" b="1">
                <a:solidFill>
                  <a:srgbClr val="173F33"/>
                </a:solidFill>
                <a:latin typeface="Arial"/>
                <a:ea typeface="Arial"/>
                <a:cs typeface="Arial"/>
              </a:defRPr>
            </a:pPr>
            <a:r>
              <a:rPr sz="1950" b="1">
                <a:solidFill>
                  <a:srgbClr val="173F33"/>
                </a:solidFill>
                <a:latin typeface="Arial"/>
                <a:ea typeface="Arial"/>
                <a:cs typeface="Arial"/>
              </a:rPr>
              <a:t>What could help</a:t>
            </a:r>
          </a:p>
        </p:txBody>
      </p:sp>
      <p:sp>
        <p:nvSpPr>
          <p:cNvPr id="13" name="Story step 4 detail">
            <a:extLst xmlns:a="http://schemas.openxmlformats.org/drawingml/2006/main">
              <a:ext uri="{FF2B5EF4-FFF2-40B4-BE49-F238E27FC236}">
                <a16:creationId xmlns:a16="http://schemas.microsoft.com/office/drawing/2014/main" id="{02946A4F-0E12-4835-8046-9D2C7C27DBBD}"/>
              </a:ext>
            </a:extLst>
          </p:cNvPr>
          <p:cNvSpPr>
            <a:spLocks xmlns:a="http://schemas.openxmlformats.org/drawingml/2006/main" noGrp="1"/>
          </p:cNvSpPr>
          <p:nvPr/>
        </p:nvSpPr>
        <p:spPr>
          <a:xfrm xmlns:a="http://schemas.openxmlformats.org/drawingml/2006/main">
            <a:off x="1200150" y="5495925"/>
            <a:ext cx="57245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shared, doctor-checked Care Note could give everyone the same information before a crisis.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8fd9bc805dd94655"/>
          <a:srcRect xmlns:a="http://schemas.openxmlformats.org/drawingml/2006/main" l="3646" t="0" r="3646" b="0"/>
          <a:stretch xmlns:a="http://schemas.openxmlformats.org/drawingml/2006/main">
            <a:fillRect l="0" t="0" r="0" b="0"/>
          </a:stretch>
        </p:blipFill>
        <p:spPr>
          <a:xfrm xmlns:a="http://schemas.openxmlformats.org/drawingml/2006/main">
            <a:off x="7419975" y="1352550"/>
            <a:ext cx="4238625" cy="3143250"/>
          </a:xfrm>
          <a:prstGeom xmlns:a="http://schemas.openxmlformats.org/drawingml/2006/main" prst="rect">
            <a:avLst/>
          </a:prstGeom>
        </p:spPr>
      </p:pic>
      <p:sp>
        <p:nvSpPr>
          <p:cNvPr id="15" name="Closing thought">
            <a:extLst xmlns:a="http://schemas.openxmlformats.org/drawingml/2006/main">
              <a:ext uri="{FF2B5EF4-FFF2-40B4-BE49-F238E27FC236}">
                <a16:creationId xmlns:a16="http://schemas.microsoft.com/office/drawing/2014/main" id="{7B3D3D9C-53EA-4424-AD57-0418BC9C6CF0}"/>
              </a:ext>
            </a:extLst>
          </p:cNvPr>
          <p:cNvSpPr>
            <a:spLocks xmlns:a="http://schemas.openxmlformats.org/drawingml/2006/main" noGrp="1"/>
          </p:cNvSpPr>
          <p:nvPr/>
        </p:nvSpPr>
        <p:spPr>
          <a:xfrm xmlns:a="http://schemas.openxmlformats.org/drawingml/2006/main">
            <a:off x="7419975" y="4876800"/>
            <a:ext cx="4238625"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325" b="1">
                <a:solidFill>
                  <a:srgbClr val="173F33"/>
                </a:solidFill>
                <a:latin typeface="Arial"/>
                <a:ea typeface="Arial"/>
                <a:cs typeface="Arial"/>
              </a:defRPr>
            </a:pPr>
            <a:r>
              <a:rPr sz="2325" b="1">
                <a:solidFill>
                  <a:srgbClr val="173F33"/>
                </a:solidFill>
                <a:latin typeface="Arial"/>
                <a:ea typeface="Arial"/>
                <a:cs typeface="Arial"/>
              </a:rPr>
              <a:t>The hardest decisions shouldn’t be made without the right information.</a:t>
            </a:r>
          </a:p>
        </p:txBody>
      </p:sp>
    </p:spTree>
    <p:extLst>
      <p:ext uri="{BB962C8B-B14F-4D97-AF65-F5344CB8AC3E}">
        <p14:creationId xmlns:p14="http://schemas.microsoft.com/office/powerpoint/2010/main" val="486496822"/>
      </p:ext>
    </p:extLst>
  </p:cSld>
</p:sld>
</file>

<file path=ppt/slides/slide3.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graphicFrame>
        <p:nvGraphicFramePr>
          <p:cNvPr id="32" name="Chart"/>
          <p:cNvGraphicFramePr/>
          <p:nvPr/>
        </p:nvGraphicFramePr>
        <p:xfrm>
          <a:off xmlns:a="http://schemas.openxmlformats.org/drawingml/2006/main" x="7734300" y="1971675"/>
          <a:ext xmlns:a="http://schemas.openxmlformats.org/drawingml/2006/main" cx="3924300" cy="2495550"/>
        </p:xfrm>
        <a:graphic xmlns:a="http://schemas.openxmlformats.org/drawingml/2006/main">
          <a:graphicData uri="http://schemas.openxmlformats.org/drawingml/2006/chart">
            <c:chart xmlns:r="http://schemas.openxmlformats.org/officeDocument/2006/relationships" xmlns:c="http://schemas.openxmlformats.org/drawingml/2006/chart" r:id="R6a43f21337c3423d"/>
          </a:graphicData>
        </a:graphic>
      </p:graphicFrame>
      <p:sp>
        <p:nvSpPr>
          <p:cNvPr id="15" name="Slide title">
            <a:extLst xmlns:a="http://schemas.openxmlformats.org/drawingml/2006/main">
              <a:ext uri="{FF2B5EF4-FFF2-40B4-BE49-F238E27FC236}">
                <a16:creationId xmlns:a16="http://schemas.microsoft.com/office/drawing/2014/main" id="{0947618F-D3DE-43D6-8F92-27B02732AB30}"/>
              </a:ext>
            </a:extLst>
          </p:cNvPr>
          <p:cNvSpPr>
            <a:spLocks xmlns:a="http://schemas.openxmlformats.org/drawingml/2006/main" noGrp="1"/>
          </p:cNvSpPr>
          <p:nvPr/>
        </p:nvSpPr>
        <p:spPr>
          <a:xfrm xmlns:a="http://schemas.openxmlformats.org/drawingml/2006/main">
            <a:off x="533400" y="361950"/>
            <a:ext cx="111252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75" b="1">
                <a:solidFill>
                  <a:srgbClr val="173F33"/>
                </a:solidFill>
                <a:latin typeface="Arial"/>
                <a:ea typeface="Arial"/>
                <a:cs typeface="Arial"/>
              </a:defRPr>
            </a:pPr>
            <a:r>
              <a:rPr sz="3075" b="1">
                <a:solidFill>
                  <a:srgbClr val="173F33"/>
                </a:solidFill>
                <a:latin typeface="Arial"/>
                <a:ea typeface="Arial"/>
                <a:cs typeface="Arial"/>
              </a:rPr>
              <a:t>Why these conversations need a record</a:t>
            </a:r>
          </a:p>
        </p:txBody>
      </p:sp>
      <p:sp>
        <p:nvSpPr>
          <p:cNvPr id="16" name="Evidence 15.6 lakh">
            <a:extLst xmlns:a="http://schemas.openxmlformats.org/drawingml/2006/main">
              <a:ext uri="{FF2B5EF4-FFF2-40B4-BE49-F238E27FC236}">
                <a16:creationId xmlns:a16="http://schemas.microsoft.com/office/drawing/2014/main" id="{4F6F4EC9-E7F6-4AEC-8361-5360478C6EBA}"/>
              </a:ext>
            </a:extLst>
          </p:cNvPr>
          <p:cNvSpPr>
            <a:spLocks xmlns:a="http://schemas.openxmlformats.org/drawingml/2006/main" noGrp="1"/>
          </p:cNvSpPr>
          <p:nvPr/>
        </p:nvSpPr>
        <p:spPr>
          <a:xfrm xmlns:a="http://schemas.openxmlformats.org/drawingml/2006/main">
            <a:off x="533400" y="1485900"/>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B75E43"/>
                </a:solidFill>
                <a:latin typeface="Arial"/>
                <a:ea typeface="Arial"/>
                <a:cs typeface="Arial"/>
              </a:defRPr>
            </a:pPr>
            <a:r>
              <a:rPr sz="4275" b="1">
                <a:solidFill>
                  <a:srgbClr val="B75E43"/>
                </a:solidFill>
                <a:latin typeface="Arial"/>
                <a:ea typeface="Arial"/>
                <a:cs typeface="Arial"/>
              </a:rPr>
              <a:t>15.6 lakh</a:t>
            </a:r>
          </a:p>
        </p:txBody>
      </p:sp>
      <p:sp>
        <p:nvSpPr>
          <p:cNvPr id="17" name="Evidence 15.6 lakh scope">
            <a:extLst xmlns:a="http://schemas.openxmlformats.org/drawingml/2006/main">
              <a:ext uri="{FF2B5EF4-FFF2-40B4-BE49-F238E27FC236}">
                <a16:creationId xmlns:a16="http://schemas.microsoft.com/office/drawing/2014/main" id="{23E7E67B-4AF6-41E4-95B9-88FA306056AD}"/>
              </a:ext>
            </a:extLst>
          </p:cNvPr>
          <p:cNvSpPr>
            <a:spLocks xmlns:a="http://schemas.openxmlformats.org/drawingml/2006/main" noGrp="1"/>
          </p:cNvSpPr>
          <p:nvPr/>
        </p:nvSpPr>
        <p:spPr>
          <a:xfrm xmlns:a="http://schemas.openxmlformats.org/drawingml/2006/main">
            <a:off x="533400" y="2266950"/>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new cancer cases in India in 2024.</a:t>
            </a:r>
          </a:p>
        </p:txBody>
      </p:sp>
      <p:sp>
        <p:nvSpPr>
          <p:cNvPr id="18" name="Evidence 15.6 lakh source">
            <a:extLst xmlns:a="http://schemas.openxmlformats.org/drawingml/2006/main">
              <a:ext uri="{FF2B5EF4-FFF2-40B4-BE49-F238E27FC236}">
                <a16:creationId xmlns:a16="http://schemas.microsoft.com/office/drawing/2014/main" id="{20A5BBF0-A535-445E-8BCF-D48E8C51C8E9}"/>
              </a:ext>
            </a:extLst>
          </p:cNvPr>
          <p:cNvSpPr>
            <a:spLocks xmlns:a="http://schemas.openxmlformats.org/drawingml/2006/main" noGrp="1"/>
          </p:cNvSpPr>
          <p:nvPr/>
        </p:nvSpPr>
        <p:spPr>
          <a:xfrm xmlns:a="http://schemas.openxmlformats.org/drawingml/2006/main">
            <a:off x="533400" y="3390900"/>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IARC, GLOBOCAN 2024</a:t>
            </a:r>
          </a:p>
        </p:txBody>
      </p:sp>
      <p:sp>
        <p:nvSpPr>
          <p:cNvPr id="19" name="Evidence 98.39%">
            <a:extLst xmlns:a="http://schemas.openxmlformats.org/drawingml/2006/main">
              <a:ext uri="{FF2B5EF4-FFF2-40B4-BE49-F238E27FC236}">
                <a16:creationId xmlns:a16="http://schemas.microsoft.com/office/drawing/2014/main" id="{6DCB59AB-A386-4552-BB07-C879FAD6A36D}"/>
              </a:ext>
            </a:extLst>
          </p:cNvPr>
          <p:cNvSpPr>
            <a:spLocks xmlns:a="http://schemas.openxmlformats.org/drawingml/2006/main" noGrp="1"/>
          </p:cNvSpPr>
          <p:nvPr/>
        </p:nvSpPr>
        <p:spPr>
          <a:xfrm xmlns:a="http://schemas.openxmlformats.org/drawingml/2006/main">
            <a:off x="4010025" y="1485900"/>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157B68"/>
                </a:solidFill>
                <a:latin typeface="Arial"/>
                <a:ea typeface="Arial"/>
                <a:cs typeface="Arial"/>
              </a:defRPr>
            </a:pPr>
            <a:r>
              <a:rPr sz="4275" b="1">
                <a:solidFill>
                  <a:srgbClr val="157B68"/>
                </a:solidFill>
                <a:latin typeface="Arial"/>
                <a:ea typeface="Arial"/>
                <a:cs typeface="Arial"/>
              </a:rPr>
              <a:t>98.39%</a:t>
            </a:r>
          </a:p>
        </p:txBody>
      </p:sp>
      <p:sp>
        <p:nvSpPr>
          <p:cNvPr id="20" name="Evidence 98.39% scope">
            <a:extLst xmlns:a="http://schemas.openxmlformats.org/drawingml/2006/main">
              <a:ext uri="{FF2B5EF4-FFF2-40B4-BE49-F238E27FC236}">
                <a16:creationId xmlns:a16="http://schemas.microsoft.com/office/drawing/2014/main" id="{DF6A2B08-6AAD-4816-90D8-ABFB68108B46}"/>
              </a:ext>
            </a:extLst>
          </p:cNvPr>
          <p:cNvSpPr>
            <a:spLocks xmlns:a="http://schemas.openxmlformats.org/drawingml/2006/main" noGrp="1"/>
          </p:cNvSpPr>
          <p:nvPr/>
        </p:nvSpPr>
        <p:spPr>
          <a:xfrm xmlns:a="http://schemas.openxmlformats.org/drawingml/2006/main">
            <a:off x="4010025" y="22669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Estimated unmet need for palliative care among people whose cancer had spread, across 10 cancer types.</a:t>
            </a:r>
          </a:p>
        </p:txBody>
      </p:sp>
      <p:sp>
        <p:nvSpPr>
          <p:cNvPr id="21" name="Evidence 98.39% source">
            <a:extLst xmlns:a="http://schemas.openxmlformats.org/drawingml/2006/main">
              <a:ext uri="{FF2B5EF4-FFF2-40B4-BE49-F238E27FC236}">
                <a16:creationId xmlns:a16="http://schemas.microsoft.com/office/drawing/2014/main" id="{361B68B4-BE5A-43B6-8EAC-99EEC1DD4EAD}"/>
              </a:ext>
            </a:extLst>
          </p:cNvPr>
          <p:cNvSpPr>
            <a:spLocks xmlns:a="http://schemas.openxmlformats.org/drawingml/2006/main" noGrp="1"/>
          </p:cNvSpPr>
          <p:nvPr/>
        </p:nvSpPr>
        <p:spPr>
          <a:xfrm xmlns:a="http://schemas.openxmlformats.org/drawingml/2006/main">
            <a:off x="4010025" y="3390900"/>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Patil et al., 2024</a:t>
            </a:r>
          </a:p>
        </p:txBody>
      </p:sp>
      <p:sp>
        <p:nvSpPr>
          <p:cNvPr id="22" name="Evidence 88%">
            <a:extLst xmlns:a="http://schemas.openxmlformats.org/drawingml/2006/main">
              <a:ext uri="{FF2B5EF4-FFF2-40B4-BE49-F238E27FC236}">
                <a16:creationId xmlns:a16="http://schemas.microsoft.com/office/drawing/2014/main" id="{081CB4D8-9725-4E33-83BA-7FDED8B479C5}"/>
              </a:ext>
            </a:extLst>
          </p:cNvPr>
          <p:cNvSpPr>
            <a:spLocks xmlns:a="http://schemas.openxmlformats.org/drawingml/2006/main" noGrp="1"/>
          </p:cNvSpPr>
          <p:nvPr/>
        </p:nvSpPr>
        <p:spPr>
          <a:xfrm xmlns:a="http://schemas.openxmlformats.org/drawingml/2006/main">
            <a:off x="533400" y="4124325"/>
            <a:ext cx="2952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7353AC"/>
                </a:solidFill>
                <a:latin typeface="Arial"/>
                <a:ea typeface="Arial"/>
                <a:cs typeface="Arial"/>
              </a:defRPr>
            </a:pPr>
            <a:r>
              <a:rPr sz="4275" b="1">
                <a:solidFill>
                  <a:srgbClr val="7353AC"/>
                </a:solidFill>
                <a:latin typeface="Arial"/>
                <a:ea typeface="Arial"/>
                <a:cs typeface="Arial"/>
              </a:rPr>
              <a:t>88%</a:t>
            </a:r>
          </a:p>
        </p:txBody>
      </p:sp>
      <p:sp>
        <p:nvSpPr>
          <p:cNvPr id="23" name="Evidence 88% scope">
            <a:extLst xmlns:a="http://schemas.openxmlformats.org/drawingml/2006/main">
              <a:ext uri="{FF2B5EF4-FFF2-40B4-BE49-F238E27FC236}">
                <a16:creationId xmlns:a16="http://schemas.microsoft.com/office/drawing/2014/main" id="{01CE23E0-21EB-49DC-90B6-BF7E203C6E9F}"/>
              </a:ext>
            </a:extLst>
          </p:cNvPr>
          <p:cNvSpPr>
            <a:spLocks xmlns:a="http://schemas.openxmlformats.org/drawingml/2006/main" noGrp="1"/>
          </p:cNvSpPr>
          <p:nvPr/>
        </p:nvSpPr>
        <p:spPr>
          <a:xfrm xmlns:a="http://schemas.openxmlformats.org/drawingml/2006/main">
            <a:off x="533400" y="4905375"/>
            <a:ext cx="29527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Wanted to choose their treatment near the end of life in a 2019 survey of 2,400+ urban respondents.</a:t>
            </a:r>
          </a:p>
        </p:txBody>
      </p:sp>
      <p:sp>
        <p:nvSpPr>
          <p:cNvPr id="24" name="Evidence 88% source">
            <a:extLst xmlns:a="http://schemas.openxmlformats.org/drawingml/2006/main">
              <a:ext uri="{FF2B5EF4-FFF2-40B4-BE49-F238E27FC236}">
                <a16:creationId xmlns:a16="http://schemas.microsoft.com/office/drawing/2014/main" id="{A231FA02-54F2-409A-B45B-84F95AC0739A}"/>
              </a:ext>
            </a:extLst>
          </p:cNvPr>
          <p:cNvSpPr>
            <a:spLocks xmlns:a="http://schemas.openxmlformats.org/drawingml/2006/main" noGrp="1"/>
          </p:cNvSpPr>
          <p:nvPr/>
        </p:nvSpPr>
        <p:spPr>
          <a:xfrm xmlns:a="http://schemas.openxmlformats.org/drawingml/2006/main">
            <a:off x="533400" y="6029325"/>
            <a:ext cx="2952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IndiaSpend reporting; seven cities</a:t>
            </a:r>
          </a:p>
        </p:txBody>
      </p:sp>
      <p:sp>
        <p:nvSpPr>
          <p:cNvPr id="25" name="Evidence 11.5%">
            <a:extLst xmlns:a="http://schemas.openxmlformats.org/drawingml/2006/main">
              <a:ext uri="{FF2B5EF4-FFF2-40B4-BE49-F238E27FC236}">
                <a16:creationId xmlns:a16="http://schemas.microsoft.com/office/drawing/2014/main" id="{A0A472DC-B2B2-400A-BE29-B5FE2EF590BE}"/>
              </a:ext>
            </a:extLst>
          </p:cNvPr>
          <p:cNvSpPr>
            <a:spLocks xmlns:a="http://schemas.openxmlformats.org/drawingml/2006/main" noGrp="1"/>
          </p:cNvSpPr>
          <p:nvPr/>
        </p:nvSpPr>
        <p:spPr>
          <a:xfrm xmlns:a="http://schemas.openxmlformats.org/drawingml/2006/main">
            <a:off x="4010025" y="4124325"/>
            <a:ext cx="3114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4275" b="1">
                <a:solidFill>
                  <a:srgbClr val="4357C7"/>
                </a:solidFill>
                <a:latin typeface="Arial"/>
                <a:ea typeface="Arial"/>
                <a:cs typeface="Arial"/>
              </a:defRPr>
            </a:pPr>
            <a:r>
              <a:rPr sz="4275" b="1">
                <a:solidFill>
                  <a:srgbClr val="4357C7"/>
                </a:solidFill>
                <a:latin typeface="Arial"/>
                <a:ea typeface="Arial"/>
                <a:cs typeface="Arial"/>
              </a:rPr>
              <a:t>11.5%</a:t>
            </a:r>
          </a:p>
        </p:txBody>
      </p:sp>
      <p:sp>
        <p:nvSpPr>
          <p:cNvPr id="26" name="Evidence 11.5% scope">
            <a:extLst xmlns:a="http://schemas.openxmlformats.org/drawingml/2006/main">
              <a:ext uri="{FF2B5EF4-FFF2-40B4-BE49-F238E27FC236}">
                <a16:creationId xmlns:a16="http://schemas.microsoft.com/office/drawing/2014/main" id="{B89BA89E-47AB-439B-824E-E2D26A36013B}"/>
              </a:ext>
            </a:extLst>
          </p:cNvPr>
          <p:cNvSpPr>
            <a:spLocks xmlns:a="http://schemas.openxmlformats.org/drawingml/2006/main" noGrp="1"/>
          </p:cNvSpPr>
          <p:nvPr/>
        </p:nvSpPr>
        <p:spPr>
          <a:xfrm xmlns:a="http://schemas.openxmlformats.org/drawingml/2006/main">
            <a:off x="4010025" y="4905375"/>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45 of 391 doctors at one hospital had training in advance directives, which record wishes for future care.</a:t>
            </a:r>
          </a:p>
        </p:txBody>
      </p:sp>
      <p:sp>
        <p:nvSpPr>
          <p:cNvPr id="27" name="Evidence 11.5% source">
            <a:extLst xmlns:a="http://schemas.openxmlformats.org/drawingml/2006/main">
              <a:ext uri="{FF2B5EF4-FFF2-40B4-BE49-F238E27FC236}">
                <a16:creationId xmlns:a16="http://schemas.microsoft.com/office/drawing/2014/main" id="{2C46C2A3-F4FB-4BFD-A611-33E69A76455F}"/>
              </a:ext>
            </a:extLst>
          </p:cNvPr>
          <p:cNvSpPr>
            <a:spLocks xmlns:a="http://schemas.openxmlformats.org/drawingml/2006/main" noGrp="1"/>
          </p:cNvSpPr>
          <p:nvPr/>
        </p:nvSpPr>
        <p:spPr>
          <a:xfrm xmlns:a="http://schemas.openxmlformats.org/drawingml/2006/main">
            <a:off x="4010025" y="6029325"/>
            <a:ext cx="31146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53655C"/>
                </a:solidFill>
                <a:latin typeface="Arial"/>
                <a:ea typeface="Arial"/>
                <a:cs typeface="Arial"/>
              </a:defRPr>
            </a:pPr>
            <a:r>
              <a:rPr sz="1163" b="0">
                <a:solidFill>
                  <a:srgbClr val="53655C"/>
                </a:solidFill>
                <a:latin typeface="Arial"/>
                <a:ea typeface="Arial"/>
                <a:cs typeface="Arial"/>
              </a:rPr>
              <a:t>Jacob et al., CMC Vellore, 2026</a:t>
            </a:r>
          </a:p>
        </p:txBody>
      </p:sp>
      <p:sp>
        <p:nvSpPr>
          <p:cNvPr id="28" name="QI measure">
            <a:extLst xmlns:a="http://schemas.openxmlformats.org/drawingml/2006/main">
              <a:ext uri="{FF2B5EF4-FFF2-40B4-BE49-F238E27FC236}">
                <a16:creationId xmlns:a16="http://schemas.microsoft.com/office/drawing/2014/main" id="{2BB7CFF2-549A-44EE-95B4-59D488C15E51}"/>
              </a:ext>
            </a:extLst>
          </p:cNvPr>
          <p:cNvSpPr>
            <a:spLocks xmlns:a="http://schemas.openxmlformats.org/drawingml/2006/main" noGrp="1"/>
          </p:cNvSpPr>
          <p:nvPr/>
        </p:nvSpPr>
        <p:spPr>
          <a:xfrm xmlns:a="http://schemas.openxmlformats.org/drawingml/2006/main">
            <a:off x="7734300" y="1495425"/>
            <a:ext cx="39243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173F33"/>
                </a:solidFill>
                <a:latin typeface="Arial"/>
                <a:ea typeface="Arial"/>
                <a:cs typeface="Arial"/>
              </a:defRPr>
            </a:pPr>
            <a:r>
              <a:rPr sz="1800" b="1">
                <a:solidFill>
                  <a:srgbClr val="173F33"/>
                </a:solidFill>
                <a:latin typeface="Arial"/>
                <a:ea typeface="Arial"/>
                <a:cs typeface="Arial"/>
              </a:rPr>
              <a:t>Care discussions written down</a:t>
            </a:r>
          </a:p>
        </p:txBody>
      </p:sp>
      <p:sp>
        <p:nvSpPr>
          <p:cNvPr id="29" name="QI finding">
            <a:extLst xmlns:a="http://schemas.openxmlformats.org/drawingml/2006/main">
              <a:ext uri="{FF2B5EF4-FFF2-40B4-BE49-F238E27FC236}">
                <a16:creationId xmlns:a16="http://schemas.microsoft.com/office/drawing/2014/main" id="{C28269F1-A4C9-484A-88D6-90A577FA20DF}"/>
              </a:ext>
            </a:extLst>
          </p:cNvPr>
          <p:cNvSpPr>
            <a:spLocks xmlns:a="http://schemas.openxmlformats.org/drawingml/2006/main" noGrp="1"/>
          </p:cNvSpPr>
          <p:nvPr/>
        </p:nvSpPr>
        <p:spPr>
          <a:xfrm xmlns:a="http://schemas.openxmlformats.org/drawingml/2006/main">
            <a:off x="7734300" y="4667250"/>
            <a:ext cx="3924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650" b="0">
                <a:solidFill>
                  <a:srgbClr val="173F33"/>
                </a:solidFill>
                <a:latin typeface="Arial"/>
                <a:ea typeface="Arial"/>
                <a:cs typeface="Arial"/>
              </a:defRPr>
            </a:pPr>
            <a:r>
              <a:rPr sz="1650" b="0">
                <a:solidFill>
                  <a:srgbClr val="173F33"/>
                </a:solidFill>
                <a:latin typeface="Arial"/>
                <a:ea typeface="Arial"/>
                <a:cs typeface="Arial"/>
              </a:rPr>
              <a:t>A standard process helped one Chennai hospital write down care discussions for 24 of 26 eligible patients.</a:t>
            </a:r>
          </a:p>
        </p:txBody>
      </p:sp>
      <p:sp>
        <p:nvSpPr>
          <p:cNvPr id="30" name="QI scope">
            <a:extLst xmlns:a="http://schemas.openxmlformats.org/drawingml/2006/main">
              <a:ext uri="{FF2B5EF4-FFF2-40B4-BE49-F238E27FC236}">
                <a16:creationId xmlns:a16="http://schemas.microsoft.com/office/drawing/2014/main" id="{29B6A6BC-BA63-4191-B09F-774EEB7E9F98}"/>
              </a:ext>
            </a:extLst>
          </p:cNvPr>
          <p:cNvSpPr>
            <a:spLocks xmlns:a="http://schemas.openxmlformats.org/drawingml/2006/main" noGrp="1"/>
          </p:cNvSpPr>
          <p:nvPr/>
        </p:nvSpPr>
        <p:spPr>
          <a:xfrm xmlns:a="http://schemas.openxmlformats.org/drawingml/2006/main">
            <a:off x="7734300" y="5781675"/>
            <a:ext cx="39243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75" b="0">
                <a:solidFill>
                  <a:srgbClr val="53655C"/>
                </a:solidFill>
                <a:latin typeface="Arial"/>
                <a:ea typeface="Arial"/>
                <a:cs typeface="Arial"/>
              </a:defRPr>
            </a:pPr>
            <a:r>
              <a:rPr sz="1275" b="0">
                <a:solidFill>
                  <a:srgbClr val="53655C"/>
                </a:solidFill>
                <a:latin typeface="Arial"/>
                <a:ea typeface="Arial"/>
                <a:cs typeface="Arial"/>
              </a:rPr>
              <a:t>Advanced pancreatic / colorectal cancer. Thangasamy et al., 2025.</a:t>
            </a:r>
          </a:p>
        </p:txBody>
      </p:sp>
      <p:sp>
        <p:nvSpPr>
          <p:cNvPr id="31" name="Evidence boundary">
            <a:extLst xmlns:a="http://schemas.openxmlformats.org/drawingml/2006/main">
              <a:ext uri="{FF2B5EF4-FFF2-40B4-BE49-F238E27FC236}">
                <a16:creationId xmlns:a16="http://schemas.microsoft.com/office/drawing/2014/main" id="{5B05A0E4-D62E-44CB-8125-5B2BFD964634}"/>
              </a:ext>
            </a:extLst>
          </p:cNvPr>
          <p:cNvSpPr>
            <a:spLocks xmlns:a="http://schemas.openxmlformats.org/drawingml/2006/main" noGrp="1"/>
          </p:cNvSpPr>
          <p:nvPr/>
        </p:nvSpPr>
        <p:spPr>
          <a:xfrm xmlns:a="http://schemas.openxmlformats.org/drawingml/2006/main">
            <a:off x="533400" y="651510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00" b="0">
                <a:solidFill>
                  <a:srgbClr val="53655C"/>
                </a:solidFill>
                <a:latin typeface="Arial"/>
                <a:ea typeface="Arial"/>
                <a:cs typeface="Arial"/>
              </a:defRPr>
            </a:pPr>
            <a:r>
              <a:rPr sz="1200" b="0">
                <a:solidFill>
                  <a:srgbClr val="53655C"/>
                </a:solidFill>
                <a:latin typeface="Arial"/>
                <a:ea typeface="Arial"/>
                <a:cs typeface="Arial"/>
              </a:rPr>
              <a:t>Each study looked at a different group of people. These figures are not results from Saathi.</a:t>
            </a:r>
          </a:p>
        </p:txBody>
      </p:sp>
    </p:spTree>
    <p:extLst>
      <p:ext uri="{BB962C8B-B14F-4D97-AF65-F5344CB8AC3E}">
        <p14:creationId xmlns:p14="http://schemas.microsoft.com/office/powerpoint/2010/main" val="1299123762"/>
      </p:ext>
    </p:extLst>
  </p:cSld>
</p:sld>
</file>

<file path=ppt/slides/slide4.xml><?xml version="1.0" encoding="utf-8"?>
<p:sld xmlns:p="http://schemas.openxmlformats.org/presentationml/2006/main">
  <p:cSld>
    <p:bg>
      <p:bgPr>
        <a:solidFill xmlns:a="http://schemas.openxmlformats.org/drawingml/2006/main">
          <a:srgbClr val="FFC799"/>
        </a:solidFill>
      </p:bgPr>
    </p:bg>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E5575184-9D03-4E62-84C7-80333996275F}"/>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173F33"/>
                </a:solidFill>
                <a:latin typeface="Arial"/>
                <a:ea typeface="Arial"/>
                <a:cs typeface="Arial"/>
              </a:defRPr>
            </a:pPr>
            <a:r>
              <a:rPr sz="2925" b="1">
                <a:solidFill>
                  <a:srgbClr val="173F33"/>
                </a:solidFill>
                <a:latin typeface="Arial"/>
                <a:ea typeface="Arial"/>
                <a:cs typeface="Arial"/>
              </a:rPr>
              <a:t>AI turns the conversation into a draft Care Note</a:t>
            </a:r>
          </a:p>
        </p:txBody>
      </p:sp>
      <p:sp>
        <p:nvSpPr>
          <p:cNvPr id="2" name="Human review">
            <a:extLst xmlns:a="http://schemas.openxmlformats.org/drawingml/2006/main">
              <a:ext uri="{FF2B5EF4-FFF2-40B4-BE49-F238E27FC236}">
                <a16:creationId xmlns:a16="http://schemas.microsoft.com/office/drawing/2014/main" id="{C9817EA1-9DEC-4878-8326-018627B5565F}"/>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0">
                <a:solidFill>
                  <a:srgbClr val="53655C"/>
                </a:solidFill>
                <a:latin typeface="Arial"/>
                <a:ea typeface="Arial"/>
                <a:cs typeface="Arial"/>
              </a:defRPr>
            </a:pPr>
            <a:r>
              <a:rPr sz="1875" b="0">
                <a:solidFill>
                  <a:srgbClr val="53655C"/>
                </a:solidFill>
                <a:latin typeface="Arial"/>
                <a:ea typeface="Arial"/>
                <a:cs typeface="Arial"/>
              </a:rPr>
              <a:t>The doctor checks it before anyone uses it.</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94b0b40fb154e0d"/>
          <a:stretch xmlns:a="http://schemas.openxmlformats.org/drawingml/2006/main"/>
        </p:blipFill>
        <p:spPr>
          <a:xfrm xmlns:a="http://schemas.openxmlformats.org/drawingml/2006/main">
            <a:off x="400050" y="1979682"/>
            <a:ext cx="8286750" cy="3670161"/>
          </a:xfrm>
          <a:prstGeom xmlns:a="http://schemas.openxmlformats.org/drawingml/2006/main" prst="rect">
            <a:avLst/>
          </a:prstGeom>
        </p:spPr>
      </p:pic>
      <p:sp>
        <p:nvSpPr>
          <p:cNvPr id="4" name="Source traceability">
            <a:extLst xmlns:a="http://schemas.openxmlformats.org/drawingml/2006/main">
              <a:ext uri="{FF2B5EF4-FFF2-40B4-BE49-F238E27FC236}">
                <a16:creationId xmlns:a16="http://schemas.microsoft.com/office/drawing/2014/main" id="{8A5D8E6A-18E9-4E2A-A638-3EBDB64BEDFD}"/>
              </a:ext>
            </a:extLst>
          </p:cNvPr>
          <p:cNvSpPr>
            <a:spLocks xmlns:a="http://schemas.openxmlformats.org/drawingml/2006/main" noGrp="1"/>
          </p:cNvSpPr>
          <p:nvPr/>
        </p:nvSpPr>
        <p:spPr>
          <a:xfrm xmlns:a="http://schemas.openxmlformats.org/drawingml/2006/main">
            <a:off x="533400" y="6048375"/>
            <a:ext cx="8001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Every part of the note links back to what the patient and doctor actually said.</a:t>
            </a:r>
          </a:p>
        </p:txBody>
      </p:sp>
      <p:sp>
        <p:nvSpPr>
          <p:cNvPr id="5" name="AI step 1">
            <a:extLst xmlns:a="http://schemas.openxmlformats.org/drawingml/2006/main">
              <a:ext uri="{FF2B5EF4-FFF2-40B4-BE49-F238E27FC236}">
                <a16:creationId xmlns:a16="http://schemas.microsoft.com/office/drawing/2014/main" id="{088B1BD7-9A75-434A-919F-8E2A84D6E2EA}"/>
              </a:ext>
            </a:extLst>
          </p:cNvPr>
          <p:cNvSpPr>
            <a:spLocks xmlns:a="http://schemas.openxmlformats.org/drawingml/2006/main" noGrp="1"/>
          </p:cNvSpPr>
          <p:nvPr/>
        </p:nvSpPr>
        <p:spPr>
          <a:xfrm xmlns:a="http://schemas.openxmlformats.org/drawingml/2006/main">
            <a:off x="9001125" y="167640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638"/>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1. Record the conversation</a:t>
            </a:r>
          </a:p>
        </p:txBody>
      </p:sp>
      <p:sp>
        <p:nvSpPr>
          <p:cNvPr id="6" name="AI step 1 detail">
            <a:extLst xmlns:a="http://schemas.openxmlformats.org/drawingml/2006/main">
              <a:ext uri="{FF2B5EF4-FFF2-40B4-BE49-F238E27FC236}">
                <a16:creationId xmlns:a16="http://schemas.microsoft.com/office/drawing/2014/main" id="{508F148C-2113-4634-AE25-796AAEA3F18B}"/>
              </a:ext>
            </a:extLst>
          </p:cNvPr>
          <p:cNvSpPr>
            <a:spLocks xmlns:a="http://schemas.openxmlformats.org/drawingml/2006/main" noGrp="1"/>
          </p:cNvSpPr>
          <p:nvPr/>
        </p:nvSpPr>
        <p:spPr>
          <a:xfrm xmlns:a="http://schemas.openxmlformats.org/drawingml/2006/main">
            <a:off x="9001125" y="220980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53655C"/>
                </a:solidFill>
                <a:latin typeface="Arial"/>
                <a:ea typeface="Arial"/>
                <a:cs typeface="Arial"/>
              </a:defRPr>
            </a:pPr>
            <a:r>
              <a:rPr sz="1463" b="0">
                <a:solidFill>
                  <a:srgbClr val="53655C"/>
                </a:solidFill>
                <a:latin typeface="Arial"/>
                <a:ea typeface="Arial"/>
                <a:cs typeface="Arial"/>
              </a:rPr>
              <a:t>Ask permission to record what the patient and doctor say.</a:t>
            </a:r>
          </a:p>
        </p:txBody>
      </p:sp>
      <p:sp>
        <p:nvSpPr>
          <p:cNvPr id="7" name="AI step 2">
            <a:extLst xmlns:a="http://schemas.openxmlformats.org/drawingml/2006/main">
              <a:ext uri="{FF2B5EF4-FFF2-40B4-BE49-F238E27FC236}">
                <a16:creationId xmlns:a16="http://schemas.microsoft.com/office/drawing/2014/main" id="{B066882A-36B2-466E-8F93-B1C2DA8E0D2F}"/>
              </a:ext>
            </a:extLst>
          </p:cNvPr>
          <p:cNvSpPr>
            <a:spLocks xmlns:a="http://schemas.openxmlformats.org/drawingml/2006/main" noGrp="1"/>
          </p:cNvSpPr>
          <p:nvPr/>
        </p:nvSpPr>
        <p:spPr>
          <a:xfrm xmlns:a="http://schemas.openxmlformats.org/drawingml/2006/main">
            <a:off x="9001125" y="282892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2. AI writes a draft</a:t>
            </a:r>
          </a:p>
        </p:txBody>
      </p:sp>
      <p:sp>
        <p:nvSpPr>
          <p:cNvPr id="8" name="AI step 2 detail">
            <a:extLst xmlns:a="http://schemas.openxmlformats.org/drawingml/2006/main">
              <a:ext uri="{FF2B5EF4-FFF2-40B4-BE49-F238E27FC236}">
                <a16:creationId xmlns:a16="http://schemas.microsoft.com/office/drawing/2014/main" id="{0BC849A2-A883-4BE4-B869-A5B633E11DAF}"/>
              </a:ext>
            </a:extLst>
          </p:cNvPr>
          <p:cNvSpPr>
            <a:spLocks xmlns:a="http://schemas.openxmlformats.org/drawingml/2006/main" noGrp="1"/>
          </p:cNvSpPr>
          <p:nvPr/>
        </p:nvSpPr>
        <p:spPr>
          <a:xfrm xmlns:a="http://schemas.openxmlformats.org/drawingml/2006/main">
            <a:off x="9001125" y="336232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1169"/>
          </a:bodyPr>
          <a:lstStyle xmlns:a="http://schemas.openxmlformats.org/drawingml/2006/main"/>
          <a:p xmlns:a="http://schemas.openxmlformats.org/drawingml/2006/main">
            <a:pPr>
              <a:defRPr sz="1463" b="0">
                <a:solidFill>
                  <a:srgbClr val="53655C"/>
                </a:solidFill>
                <a:latin typeface="Arial"/>
                <a:ea typeface="Arial"/>
                <a:cs typeface="Arial"/>
              </a:defRPr>
            </a:pPr>
            <a:r>
              <a:rPr sz="1463" b="0">
                <a:solidFill>
                  <a:srgbClr val="53655C"/>
                </a:solidFill>
                <a:latin typeface="Arial"/>
                <a:ea typeface="Arial"/>
                <a:cs typeface="Arial"/>
              </a:rPr>
              <a:t>Separate what was discussed, what was agreed and what still needs an answer.</a:t>
            </a:r>
          </a:p>
        </p:txBody>
      </p:sp>
      <p:sp>
        <p:nvSpPr>
          <p:cNvPr id="9" name="AI step 3">
            <a:extLst xmlns:a="http://schemas.openxmlformats.org/drawingml/2006/main">
              <a:ext uri="{FF2B5EF4-FFF2-40B4-BE49-F238E27FC236}">
                <a16:creationId xmlns:a16="http://schemas.microsoft.com/office/drawing/2014/main" id="{93B4E8EC-EA2A-4045-AEA2-63BF7A03BC84}"/>
              </a:ext>
            </a:extLst>
          </p:cNvPr>
          <p:cNvSpPr>
            <a:spLocks xmlns:a="http://schemas.openxmlformats.org/drawingml/2006/main" noGrp="1"/>
          </p:cNvSpPr>
          <p:nvPr/>
        </p:nvSpPr>
        <p:spPr>
          <a:xfrm xmlns:a="http://schemas.openxmlformats.org/drawingml/2006/main">
            <a:off x="9001125" y="3981450"/>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3. The doctor checks it</a:t>
            </a:r>
          </a:p>
        </p:txBody>
      </p:sp>
      <p:sp>
        <p:nvSpPr>
          <p:cNvPr id="10" name="AI step 3 detail">
            <a:extLst xmlns:a="http://schemas.openxmlformats.org/drawingml/2006/main">
              <a:ext uri="{FF2B5EF4-FFF2-40B4-BE49-F238E27FC236}">
                <a16:creationId xmlns:a16="http://schemas.microsoft.com/office/drawing/2014/main" id="{08374E0C-6A24-416A-8446-DF3BD83C8982}"/>
              </a:ext>
            </a:extLst>
          </p:cNvPr>
          <p:cNvSpPr>
            <a:spLocks xmlns:a="http://schemas.openxmlformats.org/drawingml/2006/main" noGrp="1"/>
          </p:cNvSpPr>
          <p:nvPr/>
        </p:nvSpPr>
        <p:spPr>
          <a:xfrm xmlns:a="http://schemas.openxmlformats.org/drawingml/2006/main">
            <a:off x="9001125" y="4514850"/>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463" b="0">
                <a:solidFill>
                  <a:srgbClr val="53655C"/>
                </a:solidFill>
                <a:latin typeface="Arial"/>
                <a:ea typeface="Arial"/>
                <a:cs typeface="Arial"/>
              </a:defRPr>
            </a:pPr>
            <a:r>
              <a:rPr sz="1463" b="0">
                <a:solidFill>
                  <a:srgbClr val="53655C"/>
                </a:solidFill>
                <a:latin typeface="Arial"/>
                <a:ea typeface="Arial"/>
                <a:cs typeface="Arial"/>
              </a:rPr>
              <a:t>Read the original words, correct the note and sign what is right.</a:t>
            </a:r>
          </a:p>
        </p:txBody>
      </p:sp>
      <p:sp>
        <p:nvSpPr>
          <p:cNvPr id="11" name="AI step 4">
            <a:extLst xmlns:a="http://schemas.openxmlformats.org/drawingml/2006/main">
              <a:ext uri="{FF2B5EF4-FFF2-40B4-BE49-F238E27FC236}">
                <a16:creationId xmlns:a16="http://schemas.microsoft.com/office/drawing/2014/main" id="{C49A2E0B-DC28-4396-A120-0DE614B3550C}"/>
              </a:ext>
            </a:extLst>
          </p:cNvPr>
          <p:cNvSpPr>
            <a:spLocks xmlns:a="http://schemas.openxmlformats.org/drawingml/2006/main" noGrp="1"/>
          </p:cNvSpPr>
          <p:nvPr/>
        </p:nvSpPr>
        <p:spPr>
          <a:xfrm xmlns:a="http://schemas.openxmlformats.org/drawingml/2006/main">
            <a:off x="9001125" y="5133975"/>
            <a:ext cx="2657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9638"/>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4. Keep each conversation</a:t>
            </a:r>
          </a:p>
        </p:txBody>
      </p:sp>
      <p:sp>
        <p:nvSpPr>
          <p:cNvPr id="12" name="AI step 4 detail">
            <a:extLst xmlns:a="http://schemas.openxmlformats.org/drawingml/2006/main">
              <a:ext uri="{FF2B5EF4-FFF2-40B4-BE49-F238E27FC236}">
                <a16:creationId xmlns:a16="http://schemas.microsoft.com/office/drawing/2014/main" id="{D19D5B94-156F-47F7-8EBE-C4870E550085}"/>
              </a:ext>
            </a:extLst>
          </p:cNvPr>
          <p:cNvSpPr>
            <a:spLocks xmlns:a="http://schemas.openxmlformats.org/drawingml/2006/main" noGrp="1"/>
          </p:cNvSpPr>
          <p:nvPr/>
        </p:nvSpPr>
        <p:spPr>
          <a:xfrm xmlns:a="http://schemas.openxmlformats.org/drawingml/2006/main">
            <a:off x="9001125" y="5667375"/>
            <a:ext cx="26574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81169"/>
          </a:bodyPr>
          <a:lstStyle xmlns:a="http://schemas.openxmlformats.org/drawingml/2006/main"/>
          <a:p xmlns:a="http://schemas.openxmlformats.org/drawingml/2006/main">
            <a:pPr>
              <a:defRPr sz="1463" b="0">
                <a:solidFill>
                  <a:srgbClr val="53655C"/>
                </a:solidFill>
                <a:latin typeface="Arial"/>
                <a:ea typeface="Arial"/>
                <a:cs typeface="Arial"/>
              </a:defRPr>
            </a:pPr>
            <a:r>
              <a:rPr sz="1463" b="0">
                <a:solidFill>
                  <a:srgbClr val="53655C"/>
                </a:solidFill>
                <a:latin typeface="Arial"/>
                <a:ea typeface="Arial"/>
                <a:cs typeface="Arial"/>
              </a:rPr>
              <a:t>Start from the earlier note at the next visit. Check changes and keep both versions.</a:t>
            </a:r>
          </a:p>
        </p:txBody>
      </p:sp>
    </p:spTree>
    <p:extLst>
      <p:ext uri="{BB962C8B-B14F-4D97-AF65-F5344CB8AC3E}">
        <p14:creationId xmlns:p14="http://schemas.microsoft.com/office/powerpoint/2010/main" val="1779657811"/>
      </p:ext>
    </p:extLst>
  </p:cSld>
</p:sld>
</file>

<file path=ppt/slides/slide5.xml><?xml version="1.0" encoding="utf-8"?>
<p:sld xmlns:p="http://schemas.openxmlformats.org/presentationml/2006/main">
  <p:cSld>
    <p:bg>
      <p:bgPr>
        <a:solidFill xmlns:a="http://schemas.openxmlformats.org/drawingml/2006/main">
          <a:srgbClr val="E8F4F0"/>
        </a:solidFill>
      </p:bgPr>
    </p:bg>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8273B3D1-1007-4444-896A-3C811911A7D0}"/>
              </a:ext>
            </a:extLst>
          </p:cNvPr>
          <p:cNvSpPr>
            <a:spLocks xmlns:a="http://schemas.openxmlformats.org/drawingml/2006/main" noGrp="1"/>
          </p:cNvSpPr>
          <p:nvPr/>
        </p:nvSpPr>
        <p:spPr>
          <a:xfrm xmlns:a="http://schemas.openxmlformats.org/drawingml/2006/main">
            <a:off x="533400" y="361950"/>
            <a:ext cx="11125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AI makes the family’s records easier to use</a:t>
            </a:r>
          </a:p>
        </p:txBody>
      </p:sp>
      <p:sp>
        <p:nvSpPr>
          <p:cNvPr id="2" name="Records assistant purpose">
            <a:extLst xmlns:a="http://schemas.openxmlformats.org/drawingml/2006/main">
              <a:ext uri="{FF2B5EF4-FFF2-40B4-BE49-F238E27FC236}">
                <a16:creationId xmlns:a16="http://schemas.microsoft.com/office/drawing/2014/main" id="{6CFFB6F1-B5C5-4BB4-97C1-C01D1578EA2B}"/>
              </a:ext>
            </a:extLst>
          </p:cNvPr>
          <p:cNvSpPr>
            <a:spLocks xmlns:a="http://schemas.openxmlformats.org/drawingml/2006/main" noGrp="1"/>
          </p:cNvSpPr>
          <p:nvPr/>
        </p:nvSpPr>
        <p:spPr>
          <a:xfrm xmlns:a="http://schemas.openxmlformats.org/drawingml/2006/main">
            <a:off x="533400" y="1028700"/>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53655C"/>
                </a:solidFill>
                <a:latin typeface="Arial"/>
                <a:ea typeface="Arial"/>
                <a:cs typeface="Arial"/>
              </a:defRPr>
            </a:pPr>
            <a:r>
              <a:rPr sz="1800" b="0">
                <a:solidFill>
                  <a:srgbClr val="53655C"/>
                </a:solidFill>
                <a:latin typeface="Arial"/>
                <a:ea typeface="Arial"/>
                <a:cs typeface="Arial"/>
              </a:rPr>
              <a:t>Ask about your own reports. See the original passage with the answer.</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29da2192152e4602"/>
          <a:stretch xmlns:a="http://schemas.openxmlformats.org/drawingml/2006/main"/>
        </p:blipFill>
        <p:spPr>
          <a:xfrm xmlns:a="http://schemas.openxmlformats.org/drawingml/2006/main">
            <a:off x="400050" y="1938366"/>
            <a:ext cx="8058150" cy="3533719"/>
          </a:xfrm>
          <a:prstGeom xmlns:a="http://schemas.openxmlformats.org/drawingml/2006/main" prst="rect">
            <a:avLst/>
          </a:prstGeom>
        </p:spPr>
      </p:pic>
      <p:sp>
        <p:nvSpPr>
          <p:cNvPr id="4" name="Records assistant 1">
            <a:extLst xmlns:a="http://schemas.openxmlformats.org/drawingml/2006/main">
              <a:ext uri="{FF2B5EF4-FFF2-40B4-BE49-F238E27FC236}">
                <a16:creationId xmlns:a16="http://schemas.microsoft.com/office/drawing/2014/main" id="{35AD8332-46F5-4F79-8E11-0A0C5F583BB7}"/>
              </a:ext>
            </a:extLst>
          </p:cNvPr>
          <p:cNvSpPr>
            <a:spLocks xmlns:a="http://schemas.openxmlformats.org/drawingml/2006/main" noGrp="1"/>
          </p:cNvSpPr>
          <p:nvPr/>
        </p:nvSpPr>
        <p:spPr>
          <a:xfrm xmlns:a="http://schemas.openxmlformats.org/drawingml/2006/main">
            <a:off x="8763000" y="166687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Find an answer in a report</a:t>
            </a:r>
          </a:p>
        </p:txBody>
      </p:sp>
      <p:sp>
        <p:nvSpPr>
          <p:cNvPr id="5" name="Records assistant 1 detail">
            <a:extLst xmlns:a="http://schemas.openxmlformats.org/drawingml/2006/main">
              <a:ext uri="{FF2B5EF4-FFF2-40B4-BE49-F238E27FC236}">
                <a16:creationId xmlns:a16="http://schemas.microsoft.com/office/drawing/2014/main" id="{98ACDDC0-5889-4D68-A006-1C88E8212E73}"/>
              </a:ext>
            </a:extLst>
          </p:cNvPr>
          <p:cNvSpPr>
            <a:spLocks xmlns:a="http://schemas.openxmlformats.org/drawingml/2006/main" noGrp="1"/>
          </p:cNvSpPr>
          <p:nvPr/>
        </p:nvSpPr>
        <p:spPr>
          <a:xfrm xmlns:a="http://schemas.openxmlformats.org/drawingml/2006/main">
            <a:off x="8763000" y="2247900"/>
            <a:ext cx="289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Ask a question. See the exact part of the report the answer came from. Say when it cannot be found.</a:t>
            </a:r>
          </a:p>
        </p:txBody>
      </p:sp>
      <p:sp>
        <p:nvSpPr>
          <p:cNvPr id="6" name="Records assistant 2">
            <a:extLst xmlns:a="http://schemas.openxmlformats.org/drawingml/2006/main">
              <a:ext uri="{FF2B5EF4-FFF2-40B4-BE49-F238E27FC236}">
                <a16:creationId xmlns:a16="http://schemas.microsoft.com/office/drawing/2014/main" id="{F8A60EA1-45D2-4E46-9C03-D36A1CFDB118}"/>
              </a:ext>
            </a:extLst>
          </p:cNvPr>
          <p:cNvSpPr>
            <a:spLocks xmlns:a="http://schemas.openxmlformats.org/drawingml/2006/main" noGrp="1"/>
          </p:cNvSpPr>
          <p:nvPr/>
        </p:nvSpPr>
        <p:spPr>
          <a:xfrm xmlns:a="http://schemas.openxmlformats.org/drawingml/2006/main">
            <a:off x="8763000" y="3276600"/>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See what happened when</a:t>
            </a:r>
          </a:p>
        </p:txBody>
      </p:sp>
      <p:sp>
        <p:nvSpPr>
          <p:cNvPr id="7" name="Records assistant 2 detail">
            <a:extLst xmlns:a="http://schemas.openxmlformats.org/drawingml/2006/main">
              <a:ext uri="{FF2B5EF4-FFF2-40B4-BE49-F238E27FC236}">
                <a16:creationId xmlns:a16="http://schemas.microsoft.com/office/drawing/2014/main" id="{DC7BF69B-79CB-4A72-AD06-481DB46CB1DB}"/>
              </a:ext>
            </a:extLst>
          </p:cNvPr>
          <p:cNvSpPr>
            <a:spLocks xmlns:a="http://schemas.openxmlformats.org/drawingml/2006/main" noGrp="1"/>
          </p:cNvSpPr>
          <p:nvPr/>
        </p:nvSpPr>
        <p:spPr>
          <a:xfrm xmlns:a="http://schemas.openxmlformats.org/drawingml/2006/main">
            <a:off x="8763000" y="3857625"/>
            <a:ext cx="289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Put reports in date order. Show earlier treatment dates beside the reports they came from.</a:t>
            </a:r>
          </a:p>
        </p:txBody>
      </p:sp>
      <p:sp>
        <p:nvSpPr>
          <p:cNvPr id="8" name="Records assistant 3">
            <a:extLst xmlns:a="http://schemas.openxmlformats.org/drawingml/2006/main">
              <a:ext uri="{FF2B5EF4-FFF2-40B4-BE49-F238E27FC236}">
                <a16:creationId xmlns:a16="http://schemas.microsoft.com/office/drawing/2014/main" id="{DDD2414E-E301-4B35-9B86-D095C46C2231}"/>
              </a:ext>
            </a:extLst>
          </p:cNvPr>
          <p:cNvSpPr>
            <a:spLocks xmlns:a="http://schemas.openxmlformats.org/drawingml/2006/main" noGrp="1"/>
          </p:cNvSpPr>
          <p:nvPr/>
        </p:nvSpPr>
        <p:spPr>
          <a:xfrm xmlns:a="http://schemas.openxmlformats.org/drawingml/2006/main">
            <a:off x="8763000" y="4886325"/>
            <a:ext cx="2895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1">
                <a:solidFill>
                  <a:srgbClr val="B75E43"/>
                </a:solidFill>
                <a:latin typeface="Arial"/>
                <a:ea typeface="Arial"/>
                <a:cs typeface="Arial"/>
              </a:defRPr>
            </a:pPr>
            <a:r>
              <a:rPr sz="1800" b="1">
                <a:solidFill>
                  <a:srgbClr val="B75E43"/>
                </a:solidFill>
                <a:latin typeface="Arial"/>
                <a:ea typeface="Arial"/>
                <a:cs typeface="Arial"/>
              </a:rPr>
              <a:t>Add medicine reminders</a:t>
            </a:r>
          </a:p>
        </p:txBody>
      </p:sp>
      <p:sp>
        <p:nvSpPr>
          <p:cNvPr id="9" name="Records assistant 3 detail">
            <a:extLst xmlns:a="http://schemas.openxmlformats.org/drawingml/2006/main">
              <a:ext uri="{FF2B5EF4-FFF2-40B4-BE49-F238E27FC236}">
                <a16:creationId xmlns:a16="http://schemas.microsoft.com/office/drawing/2014/main" id="{6B989332-87C8-4C5F-92FE-E6DB3EE306A4}"/>
              </a:ext>
            </a:extLst>
          </p:cNvPr>
          <p:cNvSpPr>
            <a:spLocks xmlns:a="http://schemas.openxmlformats.org/drawingml/2006/main" noGrp="1"/>
          </p:cNvSpPr>
          <p:nvPr/>
        </p:nvSpPr>
        <p:spPr>
          <a:xfrm xmlns:a="http://schemas.openxmlformats.org/drawingml/2006/main">
            <a:off x="8763000" y="5467350"/>
            <a:ext cx="28956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173F33"/>
                </a:solidFill>
                <a:latin typeface="Arial"/>
                <a:ea typeface="Arial"/>
                <a:cs typeface="Arial"/>
              </a:defRPr>
            </a:pPr>
            <a:r>
              <a:rPr sz="1575" b="0">
                <a:solidFill>
                  <a:srgbClr val="173F33"/>
                </a:solidFill>
                <a:latin typeface="Arial"/>
                <a:ea typeface="Arial"/>
                <a:cs typeface="Arial"/>
              </a:rPr>
              <a:t>Read the names and times from a printed prescription. Let a person check them before adding reminders.</a:t>
            </a:r>
          </a:p>
        </p:txBody>
      </p:sp>
      <p:sp>
        <p:nvSpPr>
          <p:cNvPr id="10" name="Clinical scope">
            <a:extLst xmlns:a="http://schemas.openxmlformats.org/drawingml/2006/main">
              <a:ext uri="{FF2B5EF4-FFF2-40B4-BE49-F238E27FC236}">
                <a16:creationId xmlns:a16="http://schemas.microsoft.com/office/drawing/2014/main" id="{92A79875-D0D7-4414-BDE3-8085238A0328}"/>
              </a:ext>
            </a:extLst>
          </p:cNvPr>
          <p:cNvSpPr>
            <a:spLocks xmlns:a="http://schemas.openxmlformats.org/drawingml/2006/main" noGrp="1"/>
          </p:cNvSpPr>
          <p:nvPr/>
        </p:nvSpPr>
        <p:spPr>
          <a:xfrm xmlns:a="http://schemas.openxmlformats.org/drawingml/2006/main">
            <a:off x="533400" y="5895975"/>
            <a:ext cx="7762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173F33"/>
                </a:solidFill>
                <a:latin typeface="Arial"/>
                <a:ea typeface="Arial"/>
                <a:cs typeface="Arial"/>
              </a:defRPr>
            </a:pPr>
            <a:r>
              <a:rPr sz="1725" b="1">
                <a:solidFill>
                  <a:srgbClr val="173F33"/>
                </a:solidFill>
                <a:latin typeface="Arial"/>
                <a:ea typeface="Arial"/>
                <a:cs typeface="Arial"/>
              </a:rPr>
              <a:t>AI organises the records. The care team decides what treatment the patient needs.</a:t>
            </a:r>
          </a:p>
        </p:txBody>
      </p:sp>
    </p:spTree>
    <p:extLst>
      <p:ext uri="{BB962C8B-B14F-4D97-AF65-F5344CB8AC3E}">
        <p14:creationId xmlns:p14="http://schemas.microsoft.com/office/powerpoint/2010/main" val="1405124457"/>
      </p:ext>
    </p:extLst>
  </p:cSld>
</p:sld>
</file>

<file path=ppt/slides/slide6.xml><?xml version="1.0" encoding="utf-8"?>
<p:sld xmlns:p="http://schemas.openxmlformats.org/presentationml/2006/main">
  <p:cSld>
    <p:bg>
      <p:bgPr>
        <a:solidFill xmlns:a="http://schemas.openxmlformats.org/drawingml/2006/main">
          <a:srgbClr val="FCFAF4"/>
        </a:solidFill>
      </p:bgPr>
    </p:bg>
    <p:spTree>
      <p:nvGrpSpPr>
        <p:cNvPr id="1" name=""/>
        <p:cNvGrpSpPr/>
        <p:nvPr/>
      </p:nvGrpSpPr>
      <p:grpSpPr>
        <a:xfrm xmlns:a="http://schemas.openxmlformats.org/drawingml/2006/main"/>
      </p:grpSpPr>
      <p:sp>
        <p:nvSpPr>
          <p:cNvPr id="19" name="Slide title">
            <a:extLst xmlns:a="http://schemas.openxmlformats.org/drawingml/2006/main">
              <a:ext uri="{FF2B5EF4-FFF2-40B4-BE49-F238E27FC236}">
                <a16:creationId xmlns:a16="http://schemas.microsoft.com/office/drawing/2014/main" id="{7D82848D-472E-4037-A905-79EB9A1A7C4D}"/>
              </a:ext>
            </a:extLst>
          </p:cNvPr>
          <p:cNvSpPr>
            <a:spLocks xmlns:a="http://schemas.openxmlformats.org/drawingml/2006/main" noGrp="1"/>
          </p:cNvSpPr>
          <p:nvPr/>
        </p:nvSpPr>
        <p:spPr>
          <a:xfrm xmlns:a="http://schemas.openxmlformats.org/drawingml/2006/main">
            <a:off x="533400" y="361950"/>
            <a:ext cx="111252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One place for the patient, family and doctor</a:t>
            </a:r>
          </a:p>
        </p:txBody>
      </p:sp>
      <p:sp>
        <p:nvSpPr>
          <p:cNvPr id="2" name="Purpose">
            <a:extLst xmlns:a="http://schemas.openxmlformats.org/drawingml/2006/main">
              <a:ext uri="{FF2B5EF4-FFF2-40B4-BE49-F238E27FC236}">
                <a16:creationId xmlns:a16="http://schemas.microsoft.com/office/drawing/2014/main" id="{14F3621E-3D26-45AA-A39B-88FBF23F222F}"/>
              </a:ext>
            </a:extLst>
          </p:cNvPr>
          <p:cNvSpPr>
            <a:spLocks xmlns:a="http://schemas.openxmlformats.org/drawingml/2006/main" noGrp="1"/>
          </p:cNvSpPr>
          <p:nvPr/>
        </p:nvSpPr>
        <p:spPr>
          <a:xfrm xmlns:a="http://schemas.openxmlformats.org/drawingml/2006/main">
            <a:off x="533400" y="1028700"/>
            <a:ext cx="111252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53655C"/>
                </a:solidFill>
                <a:latin typeface="Arial"/>
                <a:ea typeface="Arial"/>
                <a:cs typeface="Arial"/>
              </a:defRPr>
            </a:pPr>
            <a:r>
              <a:rPr sz="1800" b="0">
                <a:solidFill>
                  <a:srgbClr val="53655C"/>
                </a:solidFill>
                <a:latin typeface="Arial"/>
                <a:ea typeface="Arial"/>
                <a:cs typeface="Arial"/>
              </a:rPr>
              <a:t>The latest Care Note and the family’s next steps stay together.</a:t>
            </a:r>
          </a:p>
        </p:txBody>
      </p:sp>
      <p:sp>
        <p:nvSpPr>
          <p:cNvPr id="3" name="Three sign-ins">
            <a:extLst xmlns:a="http://schemas.openxmlformats.org/drawingml/2006/main">
              <a:ext uri="{FF2B5EF4-FFF2-40B4-BE49-F238E27FC236}">
                <a16:creationId xmlns:a16="http://schemas.microsoft.com/office/drawing/2014/main" id="{8A389E51-B9A9-402C-A25D-EB50BDD928EF}"/>
              </a:ext>
            </a:extLst>
          </p:cNvPr>
          <p:cNvSpPr>
            <a:spLocks xmlns:a="http://schemas.openxmlformats.org/drawingml/2006/main" noGrp="1"/>
          </p:cNvSpPr>
          <p:nvPr/>
        </p:nvSpPr>
        <p:spPr>
          <a:xfrm xmlns:a="http://schemas.openxmlformats.org/drawingml/2006/main">
            <a:off x="533400" y="1638300"/>
            <a:ext cx="1781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53655C"/>
                </a:solidFill>
                <a:latin typeface="Arial"/>
                <a:ea typeface="Arial"/>
                <a:cs typeface="Arial"/>
              </a:defRPr>
            </a:pPr>
            <a:r>
              <a:rPr sz="1575" b="1">
                <a:solidFill>
                  <a:srgbClr val="53655C"/>
                </a:solidFill>
                <a:latin typeface="Arial"/>
                <a:ea typeface="Arial"/>
                <a:cs typeface="Arial"/>
              </a:rPr>
              <a:t>Three sign-ins</a:t>
            </a:r>
          </a:p>
        </p:txBody>
      </p:sp>
      <p:sp>
        <p:nvSpPr>
          <p:cNvPr id="4" name="">
            <a:extLst xmlns:a="http://schemas.openxmlformats.org/drawingml/2006/main">
              <a:ext uri="{FF2B5EF4-FFF2-40B4-BE49-F238E27FC236}">
                <a16:creationId xmlns:a16="http://schemas.microsoft.com/office/drawing/2014/main" id="{5E0C261D-D66D-4895-B5A9-3B59B87399E5}"/>
              </a:ext>
            </a:extLst>
          </p:cNvPr>
          <p:cNvSpPr>
            <a:spLocks xmlns:a="http://schemas.openxmlformats.org/drawingml/2006/main" noGrp="1"/>
          </p:cNvSpPr>
          <p:nvPr/>
        </p:nvSpPr>
        <p:spPr>
          <a:xfrm xmlns:a="http://schemas.openxmlformats.org/drawingml/2006/main">
            <a:off x="2447925" y="1600200"/>
            <a:ext cx="1714500" cy="400050"/>
          </a:xfrm>
          <a:prstGeom xmlns:a="http://schemas.openxmlformats.org/drawingml/2006/main" prst="roundRect">
            <a:avLst>
              <a:gd name="adj" fmla="val 19048"/>
            </a:avLst>
          </a:prstGeom>
          <a:solidFill xmlns:a="http://schemas.openxmlformats.org/drawingml/2006/main">
            <a:srgbClr val="E8F4F0"/>
          </a:solidFill>
          <a:ln xmlns:a="http://schemas.openxmlformats.org/drawingml/2006/main" w="0">
            <a:noFill/>
          </a:ln>
        </p:spPr>
      </p:sp>
      <p:sp>
        <p:nvSpPr>
          <p:cNvPr id="5" name="Patient sign-in">
            <a:extLst xmlns:a="http://schemas.openxmlformats.org/drawingml/2006/main">
              <a:ext uri="{FF2B5EF4-FFF2-40B4-BE49-F238E27FC236}">
                <a16:creationId xmlns:a16="http://schemas.microsoft.com/office/drawing/2014/main" id="{38E7F387-C7B7-4C61-8A55-84322FA95347}"/>
              </a:ext>
            </a:extLst>
          </p:cNvPr>
          <p:cNvSpPr>
            <a:spLocks xmlns:a="http://schemas.openxmlformats.org/drawingml/2006/main" noGrp="1"/>
          </p:cNvSpPr>
          <p:nvPr/>
        </p:nvSpPr>
        <p:spPr>
          <a:xfrm xmlns:a="http://schemas.openxmlformats.org/drawingml/2006/main">
            <a:off x="2619375"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Patient</a:t>
            </a:r>
          </a:p>
        </p:txBody>
      </p:sp>
      <p:sp>
        <p:nvSpPr>
          <p:cNvPr id="6" name="">
            <a:extLst xmlns:a="http://schemas.openxmlformats.org/drawingml/2006/main">
              <a:ext uri="{FF2B5EF4-FFF2-40B4-BE49-F238E27FC236}">
                <a16:creationId xmlns:a16="http://schemas.microsoft.com/office/drawing/2014/main" id="{989DCE43-7C6E-4821-8417-2B65D35EA091}"/>
              </a:ext>
            </a:extLst>
          </p:cNvPr>
          <p:cNvSpPr>
            <a:spLocks xmlns:a="http://schemas.openxmlformats.org/drawingml/2006/main" noGrp="1"/>
          </p:cNvSpPr>
          <p:nvPr/>
        </p:nvSpPr>
        <p:spPr>
          <a:xfrm xmlns:a="http://schemas.openxmlformats.org/drawingml/2006/main">
            <a:off x="4400550" y="1600200"/>
            <a:ext cx="1714500" cy="400050"/>
          </a:xfrm>
          <a:prstGeom xmlns:a="http://schemas.openxmlformats.org/drawingml/2006/main" prst="roundRect">
            <a:avLst>
              <a:gd name="adj" fmla="val 19048"/>
            </a:avLst>
          </a:prstGeom>
          <a:solidFill xmlns:a="http://schemas.openxmlformats.org/drawingml/2006/main">
            <a:srgbClr val="EEE7FA"/>
          </a:solidFill>
          <a:ln xmlns:a="http://schemas.openxmlformats.org/drawingml/2006/main" w="0">
            <a:noFill/>
          </a:ln>
        </p:spPr>
      </p:sp>
      <p:sp>
        <p:nvSpPr>
          <p:cNvPr id="7" name="Family sign-in">
            <a:extLst xmlns:a="http://schemas.openxmlformats.org/drawingml/2006/main">
              <a:ext uri="{FF2B5EF4-FFF2-40B4-BE49-F238E27FC236}">
                <a16:creationId xmlns:a16="http://schemas.microsoft.com/office/drawing/2014/main" id="{12BC9E68-6BF4-4C21-A71C-B8412472F8E6}"/>
              </a:ext>
            </a:extLst>
          </p:cNvPr>
          <p:cNvSpPr>
            <a:spLocks xmlns:a="http://schemas.openxmlformats.org/drawingml/2006/main" noGrp="1"/>
          </p:cNvSpPr>
          <p:nvPr/>
        </p:nvSpPr>
        <p:spPr>
          <a:xfrm xmlns:a="http://schemas.openxmlformats.org/drawingml/2006/main">
            <a:off x="4572000"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Family</a:t>
            </a:r>
          </a:p>
        </p:txBody>
      </p:sp>
      <p:sp>
        <p:nvSpPr>
          <p:cNvPr id="8" name="">
            <a:extLst xmlns:a="http://schemas.openxmlformats.org/drawingml/2006/main">
              <a:ext uri="{FF2B5EF4-FFF2-40B4-BE49-F238E27FC236}">
                <a16:creationId xmlns:a16="http://schemas.microsoft.com/office/drawing/2014/main" id="{358462A4-E932-4C03-AFDA-49D54950B23E}"/>
              </a:ext>
            </a:extLst>
          </p:cNvPr>
          <p:cNvSpPr>
            <a:spLocks xmlns:a="http://schemas.openxmlformats.org/drawingml/2006/main" noGrp="1"/>
          </p:cNvSpPr>
          <p:nvPr/>
        </p:nvSpPr>
        <p:spPr>
          <a:xfrm xmlns:a="http://schemas.openxmlformats.org/drawingml/2006/main">
            <a:off x="6353175" y="1600200"/>
            <a:ext cx="1714500" cy="400050"/>
          </a:xfrm>
          <a:prstGeom xmlns:a="http://schemas.openxmlformats.org/drawingml/2006/main" prst="roundRect">
            <a:avLst>
              <a:gd name="adj" fmla="val 19048"/>
            </a:avLst>
          </a:prstGeom>
          <a:solidFill xmlns:a="http://schemas.openxmlformats.org/drawingml/2006/main">
            <a:srgbClr val="FFF0C6"/>
          </a:solidFill>
          <a:ln xmlns:a="http://schemas.openxmlformats.org/drawingml/2006/main" w="0">
            <a:noFill/>
          </a:ln>
        </p:spPr>
      </p:sp>
      <p:sp>
        <p:nvSpPr>
          <p:cNvPr id="9" name="Doctor sign-in">
            <a:extLst xmlns:a="http://schemas.openxmlformats.org/drawingml/2006/main">
              <a:ext uri="{FF2B5EF4-FFF2-40B4-BE49-F238E27FC236}">
                <a16:creationId xmlns:a16="http://schemas.microsoft.com/office/drawing/2014/main" id="{EE839F57-4D50-4F4C-B7E4-683590C5E05A}"/>
              </a:ext>
            </a:extLst>
          </p:cNvPr>
          <p:cNvSpPr>
            <a:spLocks xmlns:a="http://schemas.openxmlformats.org/drawingml/2006/main" noGrp="1"/>
          </p:cNvSpPr>
          <p:nvPr/>
        </p:nvSpPr>
        <p:spPr>
          <a:xfrm xmlns:a="http://schemas.openxmlformats.org/drawingml/2006/main">
            <a:off x="6524625" y="1666875"/>
            <a:ext cx="1447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1">
                <a:solidFill>
                  <a:srgbClr val="173F33"/>
                </a:solidFill>
                <a:latin typeface="Arial"/>
                <a:ea typeface="Arial"/>
                <a:cs typeface="Arial"/>
              </a:defRPr>
            </a:pPr>
            <a:r>
              <a:rPr sz="1575" b="1">
                <a:solidFill>
                  <a:srgbClr val="173F33"/>
                </a:solidFill>
                <a:latin typeface="Arial"/>
                <a:ea typeface="Arial"/>
                <a:cs typeface="Arial"/>
              </a:rPr>
              <a:t>Doctor</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62692df3875c47af"/>
          <a:stretch xmlns:a="http://schemas.openxmlformats.org/drawingml/2006/main"/>
        </p:blipFill>
        <p:spPr>
          <a:xfrm xmlns:a="http://schemas.openxmlformats.org/drawingml/2006/main">
            <a:off x="400050" y="2440867"/>
            <a:ext cx="8524875" cy="3738390"/>
          </a:xfrm>
          <a:prstGeom xmlns:a="http://schemas.openxmlformats.org/drawingml/2006/main" prst="rect">
            <a:avLst/>
          </a:prstGeom>
        </p:spPr>
      </p:pic>
      <p:sp>
        <p:nvSpPr>
          <p:cNvPr id="11" name="Daily need 1">
            <a:extLst xmlns:a="http://schemas.openxmlformats.org/drawingml/2006/main">
              <a:ext uri="{FF2B5EF4-FFF2-40B4-BE49-F238E27FC236}">
                <a16:creationId xmlns:a16="http://schemas.microsoft.com/office/drawing/2014/main" id="{45B04C46-65D6-4F68-8024-5C235F5A9B09}"/>
              </a:ext>
            </a:extLst>
          </p:cNvPr>
          <p:cNvSpPr>
            <a:spLocks xmlns:a="http://schemas.openxmlformats.org/drawingml/2006/main" noGrp="1"/>
          </p:cNvSpPr>
          <p:nvPr/>
        </p:nvSpPr>
        <p:spPr>
          <a:xfrm xmlns:a="http://schemas.openxmlformats.org/drawingml/2006/main">
            <a:off x="9182100" y="2162175"/>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Care Note and QR</a:t>
            </a:r>
          </a:p>
        </p:txBody>
      </p:sp>
      <p:sp>
        <p:nvSpPr>
          <p:cNvPr id="12" name="Daily need 1 detail">
            <a:extLst xmlns:a="http://schemas.openxmlformats.org/drawingml/2006/main">
              <a:ext uri="{FF2B5EF4-FFF2-40B4-BE49-F238E27FC236}">
                <a16:creationId xmlns:a16="http://schemas.microsoft.com/office/drawing/2014/main" id="{9AE5D66A-E709-4710-8036-696DE15FAB7B}"/>
              </a:ext>
            </a:extLst>
          </p:cNvPr>
          <p:cNvSpPr>
            <a:spLocks xmlns:a="http://schemas.openxmlformats.org/drawingml/2006/main" noGrp="1"/>
          </p:cNvSpPr>
          <p:nvPr/>
        </p:nvSpPr>
        <p:spPr>
          <a:xfrm xmlns:a="http://schemas.openxmlformats.org/drawingml/2006/main">
            <a:off x="9182100" y="253365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Find the latest signed version and earlier notes.</a:t>
            </a:r>
          </a:p>
        </p:txBody>
      </p:sp>
      <p:sp>
        <p:nvSpPr>
          <p:cNvPr id="13" name="Daily need 2">
            <a:extLst xmlns:a="http://schemas.openxmlformats.org/drawingml/2006/main">
              <a:ext uri="{FF2B5EF4-FFF2-40B4-BE49-F238E27FC236}">
                <a16:creationId xmlns:a16="http://schemas.microsoft.com/office/drawing/2014/main" id="{3A18A240-5F99-4B0D-B45F-1016283296E9}"/>
              </a:ext>
            </a:extLst>
          </p:cNvPr>
          <p:cNvSpPr>
            <a:spLocks xmlns:a="http://schemas.openxmlformats.org/drawingml/2006/main" noGrp="1"/>
          </p:cNvSpPr>
          <p:nvPr/>
        </p:nvSpPr>
        <p:spPr>
          <a:xfrm xmlns:a="http://schemas.openxmlformats.org/drawingml/2006/main">
            <a:off x="9182100" y="323850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Today’s plan</a:t>
            </a:r>
          </a:p>
        </p:txBody>
      </p:sp>
      <p:sp>
        <p:nvSpPr>
          <p:cNvPr id="14" name="Daily need 2 detail">
            <a:extLst xmlns:a="http://schemas.openxmlformats.org/drawingml/2006/main">
              <a:ext uri="{FF2B5EF4-FFF2-40B4-BE49-F238E27FC236}">
                <a16:creationId xmlns:a16="http://schemas.microsoft.com/office/drawing/2014/main" id="{13274187-A712-4C72-949F-38C0BFCADCF4}"/>
              </a:ext>
            </a:extLst>
          </p:cNvPr>
          <p:cNvSpPr>
            <a:spLocks xmlns:a="http://schemas.openxmlformats.org/drawingml/2006/main" noGrp="1"/>
          </p:cNvSpPr>
          <p:nvPr/>
        </p:nvSpPr>
        <p:spPr>
          <a:xfrm xmlns:a="http://schemas.openxmlformats.org/drawingml/2006/main">
            <a:off x="9182100" y="3609975"/>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See medicine times, appointments and preparation notes.</a:t>
            </a:r>
          </a:p>
        </p:txBody>
      </p:sp>
      <p:sp>
        <p:nvSpPr>
          <p:cNvPr id="15" name="Daily need 3">
            <a:extLst xmlns:a="http://schemas.openxmlformats.org/drawingml/2006/main">
              <a:ext uri="{FF2B5EF4-FFF2-40B4-BE49-F238E27FC236}">
                <a16:creationId xmlns:a16="http://schemas.microsoft.com/office/drawing/2014/main" id="{9225F332-EAC6-4F71-A287-F98D440E886F}"/>
              </a:ext>
            </a:extLst>
          </p:cNvPr>
          <p:cNvSpPr>
            <a:spLocks xmlns:a="http://schemas.openxmlformats.org/drawingml/2006/main" noGrp="1"/>
          </p:cNvSpPr>
          <p:nvPr/>
        </p:nvSpPr>
        <p:spPr>
          <a:xfrm xmlns:a="http://schemas.openxmlformats.org/drawingml/2006/main">
            <a:off x="9182100" y="4314825"/>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Someone to help</a:t>
            </a:r>
          </a:p>
        </p:txBody>
      </p:sp>
      <p:sp>
        <p:nvSpPr>
          <p:cNvPr id="16" name="Daily need 3 detail">
            <a:extLst xmlns:a="http://schemas.openxmlformats.org/drawingml/2006/main">
              <a:ext uri="{FF2B5EF4-FFF2-40B4-BE49-F238E27FC236}">
                <a16:creationId xmlns:a16="http://schemas.microsoft.com/office/drawing/2014/main" id="{368FB0F0-47FC-4E75-A2C1-86FC6F0F375E}"/>
              </a:ext>
            </a:extLst>
          </p:cNvPr>
          <p:cNvSpPr>
            <a:spLocks xmlns:a="http://schemas.openxmlformats.org/drawingml/2006/main" noGrp="1"/>
          </p:cNvSpPr>
          <p:nvPr/>
        </p:nvSpPr>
        <p:spPr>
          <a:xfrm xmlns:a="http://schemas.openxmlformats.org/drawingml/2006/main">
            <a:off x="9182100" y="4686300"/>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Ask someone in the family to help. See who has agreed and what is done.</a:t>
            </a:r>
          </a:p>
        </p:txBody>
      </p:sp>
      <p:sp>
        <p:nvSpPr>
          <p:cNvPr id="17" name="Daily need 4">
            <a:extLst xmlns:a="http://schemas.openxmlformats.org/drawingml/2006/main">
              <a:ext uri="{FF2B5EF4-FFF2-40B4-BE49-F238E27FC236}">
                <a16:creationId xmlns:a16="http://schemas.microsoft.com/office/drawing/2014/main" id="{3C4C9173-B3DF-4489-AC03-FCB7BEAE2C1F}"/>
              </a:ext>
            </a:extLst>
          </p:cNvPr>
          <p:cNvSpPr>
            <a:spLocks xmlns:a="http://schemas.openxmlformats.org/drawingml/2006/main" noGrp="1"/>
          </p:cNvSpPr>
          <p:nvPr/>
        </p:nvSpPr>
        <p:spPr>
          <a:xfrm xmlns:a="http://schemas.openxmlformats.org/drawingml/2006/main">
            <a:off x="9182100" y="5391150"/>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725" b="1">
                <a:solidFill>
                  <a:srgbClr val="B75E43"/>
                </a:solidFill>
                <a:latin typeface="Arial"/>
                <a:ea typeface="Arial"/>
                <a:cs typeface="Arial"/>
              </a:defRPr>
            </a:pPr>
            <a:r>
              <a:rPr sz="1725" b="1">
                <a:solidFill>
                  <a:srgbClr val="B75E43"/>
                </a:solidFill>
                <a:latin typeface="Arial"/>
                <a:ea typeface="Arial"/>
                <a:cs typeface="Arial"/>
              </a:rPr>
              <a:t>Space and support</a:t>
            </a:r>
          </a:p>
        </p:txBody>
      </p:sp>
      <p:sp>
        <p:nvSpPr>
          <p:cNvPr id="18" name="Daily need 4 detail">
            <a:extLst xmlns:a="http://schemas.openxmlformats.org/drawingml/2006/main">
              <a:ext uri="{FF2B5EF4-FFF2-40B4-BE49-F238E27FC236}">
                <a16:creationId xmlns:a16="http://schemas.microsoft.com/office/drawing/2014/main" id="{6FBBE604-6836-43F0-AA18-163FD6EF72D1}"/>
              </a:ext>
            </a:extLst>
          </p:cNvPr>
          <p:cNvSpPr>
            <a:spLocks xmlns:a="http://schemas.openxmlformats.org/drawingml/2006/main" noGrp="1"/>
          </p:cNvSpPr>
          <p:nvPr/>
        </p:nvSpPr>
        <p:spPr>
          <a:xfrm xmlns:a="http://schemas.openxmlformats.org/drawingml/2006/main">
            <a:off x="9182100" y="5762625"/>
            <a:ext cx="2476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95683"/>
          </a:bodyPr>
          <a:lstStyle xmlns:a="http://schemas.openxmlformats.org/drawingml/2006/main"/>
          <a:p xmlns:a="http://schemas.openxmlformats.org/drawingml/2006/main">
            <a:pPr>
              <a:defRPr sz="1538" b="0">
                <a:solidFill>
                  <a:srgbClr val="173F33"/>
                </a:solidFill>
                <a:latin typeface="Arial"/>
                <a:ea typeface="Arial"/>
                <a:cs typeface="Arial"/>
              </a:defRPr>
            </a:pPr>
            <a:r>
              <a:rPr sz="1538" b="0">
                <a:solidFill>
                  <a:srgbClr val="173F33"/>
                </a:solidFill>
                <a:latin typeface="Arial"/>
                <a:ea typeface="Arial"/>
                <a:cs typeface="Arial"/>
              </a:rPr>
              <a:t>Keep a journal and questions. Find best supportive care and support groups.</a:t>
            </a:r>
          </a:p>
        </p:txBody>
      </p:sp>
    </p:spTree>
    <p:extLst>
      <p:ext uri="{BB962C8B-B14F-4D97-AF65-F5344CB8AC3E}">
        <p14:creationId xmlns:p14="http://schemas.microsoft.com/office/powerpoint/2010/main" val="221085739"/>
      </p:ext>
    </p:extLst>
  </p:cSld>
</p:sld>
</file>

<file path=ppt/slides/slide7.xml><?xml version="1.0" encoding="utf-8"?>
<p:sld xmlns:p="http://schemas.openxmlformats.org/presentationml/2006/main">
  <p:cSld>
    <p:bg>
      <p:bgPr>
        <a:solidFill xmlns:a="http://schemas.openxmlformats.org/drawingml/2006/main">
          <a:srgbClr val="EFE8F8"/>
        </a:solidFill>
      </p:bgPr>
    </p:bg>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0B1618AE-D6C3-40B6-B9CB-AC83D28CD5D9}"/>
              </a:ext>
            </a:extLst>
          </p:cNvPr>
          <p:cNvSpPr>
            <a:spLocks xmlns:a="http://schemas.openxmlformats.org/drawingml/2006/main" noGrp="1"/>
          </p:cNvSpPr>
          <p:nvPr/>
        </p:nvSpPr>
        <p:spPr>
          <a:xfrm xmlns:a="http://schemas.openxmlformats.org/drawingml/2006/main">
            <a:off x="533400" y="361950"/>
            <a:ext cx="111252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925" b="1">
                <a:solidFill>
                  <a:srgbClr val="173F33"/>
                </a:solidFill>
                <a:latin typeface="Arial"/>
                <a:ea typeface="Arial"/>
                <a:cs typeface="Arial"/>
              </a:defRPr>
            </a:pPr>
            <a:r>
              <a:rPr sz="2925" b="1">
                <a:solidFill>
                  <a:srgbClr val="173F33"/>
                </a:solidFill>
                <a:latin typeface="Arial"/>
                <a:ea typeface="Arial"/>
                <a:cs typeface="Arial"/>
              </a:rPr>
              <a:t>Does Saathi help more care conversations happen?</a:t>
            </a:r>
          </a:p>
        </p:txBody>
      </p:sp>
      <p:sp>
        <p:nvSpPr>
          <p:cNvPr id="2" name="Trial design">
            <a:extLst xmlns:a="http://schemas.openxmlformats.org/drawingml/2006/main">
              <a:ext uri="{FF2B5EF4-FFF2-40B4-BE49-F238E27FC236}">
                <a16:creationId xmlns:a16="http://schemas.microsoft.com/office/drawing/2014/main" id="{60A0D535-08CF-4E9A-AD2D-69E60804C8A9}"/>
              </a:ext>
            </a:extLst>
          </p:cNvPr>
          <p:cNvSpPr>
            <a:spLocks xmlns:a="http://schemas.openxmlformats.org/drawingml/2006/main" noGrp="1"/>
          </p:cNvSpPr>
          <p:nvPr/>
        </p:nvSpPr>
        <p:spPr>
          <a:xfrm xmlns:a="http://schemas.openxmlformats.org/drawingml/2006/main">
            <a:off x="533400" y="1390650"/>
            <a:ext cx="11125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0">
                <a:solidFill>
                  <a:srgbClr val="53655C"/>
                </a:solidFill>
                <a:latin typeface="Arial"/>
                <a:ea typeface="Arial"/>
                <a:cs typeface="Arial"/>
              </a:defRPr>
            </a:pPr>
            <a:r>
              <a:rPr sz="1875" b="0">
                <a:solidFill>
                  <a:srgbClr val="53655C"/>
                </a:solidFill>
                <a:latin typeface="Arial"/>
                <a:ea typeface="Arial"/>
                <a:cs typeface="Arial"/>
              </a:rPr>
              <a:t>We propose a 60–90 day study in a clinic, comparing care conversations before and after Saathi.</a:t>
            </a:r>
          </a:p>
        </p:txBody>
      </p:sp>
      <p:sp>
        <p:nvSpPr>
          <p:cNvPr id="3" name="Primary measure 1">
            <a:extLst xmlns:a="http://schemas.openxmlformats.org/drawingml/2006/main">
              <a:ext uri="{FF2B5EF4-FFF2-40B4-BE49-F238E27FC236}">
                <a16:creationId xmlns:a16="http://schemas.microsoft.com/office/drawing/2014/main" id="{274118DD-50AC-437B-A6FC-DEFA15498C29}"/>
              </a:ext>
            </a:extLst>
          </p:cNvPr>
          <p:cNvSpPr>
            <a:spLocks xmlns:a="http://schemas.openxmlformats.org/drawingml/2006/main" noGrp="1"/>
          </p:cNvSpPr>
          <p:nvPr/>
        </p:nvSpPr>
        <p:spPr>
          <a:xfrm xmlns:a="http://schemas.openxmlformats.org/drawingml/2006/main">
            <a:off x="5334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B75E43"/>
                </a:solidFill>
                <a:latin typeface="Arial"/>
                <a:ea typeface="Arial"/>
                <a:cs typeface="Arial"/>
              </a:defRPr>
            </a:pPr>
            <a:r>
              <a:rPr sz="2175" b="1">
                <a:solidFill>
                  <a:srgbClr val="B75E43"/>
                </a:solidFill>
                <a:latin typeface="Arial"/>
                <a:ea typeface="Arial"/>
                <a:cs typeface="Arial"/>
              </a:rPr>
              <a:t>Patient requests</a:t>
            </a:r>
          </a:p>
        </p:txBody>
      </p:sp>
      <p:sp>
        <p:nvSpPr>
          <p:cNvPr id="4" name="Primary measure 1 detail">
            <a:extLst xmlns:a="http://schemas.openxmlformats.org/drawingml/2006/main">
              <a:ext uri="{FF2B5EF4-FFF2-40B4-BE49-F238E27FC236}">
                <a16:creationId xmlns:a16="http://schemas.microsoft.com/office/drawing/2014/main" id="{BAF896DA-B1BC-4401-BA41-C362D8C834B5}"/>
              </a:ext>
            </a:extLst>
          </p:cNvPr>
          <p:cNvSpPr>
            <a:spLocks xmlns:a="http://schemas.openxmlformats.org/drawingml/2006/main" noGrp="1"/>
          </p:cNvSpPr>
          <p:nvPr/>
        </p:nvSpPr>
        <p:spPr>
          <a:xfrm xmlns:a="http://schemas.openxmlformats.org/drawingml/2006/main">
            <a:off x="5334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patients who ask for a conversation about their care and wishes. Record family requests separately.</a:t>
            </a:r>
          </a:p>
        </p:txBody>
      </p:sp>
      <p:sp>
        <p:nvSpPr>
          <p:cNvPr id="5" name="Primary measure 2">
            <a:extLst xmlns:a="http://schemas.openxmlformats.org/drawingml/2006/main">
              <a:ext uri="{FF2B5EF4-FFF2-40B4-BE49-F238E27FC236}">
                <a16:creationId xmlns:a16="http://schemas.microsoft.com/office/drawing/2014/main" id="{5F66D72F-ED2E-42A7-B242-D38F906BEC67}"/>
              </a:ext>
            </a:extLst>
          </p:cNvPr>
          <p:cNvSpPr>
            <a:spLocks xmlns:a="http://schemas.openxmlformats.org/drawingml/2006/main" noGrp="1"/>
          </p:cNvSpPr>
          <p:nvPr/>
        </p:nvSpPr>
        <p:spPr>
          <a:xfrm xmlns:a="http://schemas.openxmlformats.org/drawingml/2006/main">
            <a:off x="436245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7353AC"/>
                </a:solidFill>
                <a:latin typeface="Arial"/>
                <a:ea typeface="Arial"/>
                <a:cs typeface="Arial"/>
              </a:defRPr>
            </a:pPr>
            <a:r>
              <a:rPr sz="2175" b="1">
                <a:solidFill>
                  <a:srgbClr val="7353AC"/>
                </a:solidFill>
                <a:latin typeface="Arial"/>
                <a:ea typeface="Arial"/>
                <a:cs typeface="Arial"/>
              </a:rPr>
              <a:t>Doctor-started discussions</a:t>
            </a:r>
          </a:p>
        </p:txBody>
      </p:sp>
      <p:sp>
        <p:nvSpPr>
          <p:cNvPr id="6" name="Primary measure 2 detail">
            <a:extLst xmlns:a="http://schemas.openxmlformats.org/drawingml/2006/main">
              <a:ext uri="{FF2B5EF4-FFF2-40B4-BE49-F238E27FC236}">
                <a16:creationId xmlns:a16="http://schemas.microsoft.com/office/drawing/2014/main" id="{0E2E2091-2041-4B5E-868B-7A87E2E396A6}"/>
              </a:ext>
            </a:extLst>
          </p:cNvPr>
          <p:cNvSpPr>
            <a:spLocks xmlns:a="http://schemas.openxmlformats.org/drawingml/2006/main" noGrp="1"/>
          </p:cNvSpPr>
          <p:nvPr/>
        </p:nvSpPr>
        <p:spPr>
          <a:xfrm xmlns:a="http://schemas.openxmlformats.org/drawingml/2006/main">
            <a:off x="436245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conversations a doctor starts. Keep these separate from invitations that did not lead to a conversation.</a:t>
            </a:r>
          </a:p>
        </p:txBody>
      </p:sp>
      <p:sp>
        <p:nvSpPr>
          <p:cNvPr id="7" name="Primary measure 3">
            <a:extLst xmlns:a="http://schemas.openxmlformats.org/drawingml/2006/main">
              <a:ext uri="{FF2B5EF4-FFF2-40B4-BE49-F238E27FC236}">
                <a16:creationId xmlns:a16="http://schemas.microsoft.com/office/drawing/2014/main" id="{507A930C-4096-4E36-A75A-A1CFDD1B6759}"/>
              </a:ext>
            </a:extLst>
          </p:cNvPr>
          <p:cNvSpPr>
            <a:spLocks xmlns:a="http://schemas.openxmlformats.org/drawingml/2006/main" noGrp="1"/>
          </p:cNvSpPr>
          <p:nvPr/>
        </p:nvSpPr>
        <p:spPr>
          <a:xfrm xmlns:a="http://schemas.openxmlformats.org/drawingml/2006/main">
            <a:off x="8191500" y="24765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175" b="1">
                <a:solidFill>
                  <a:srgbClr val="157B68"/>
                </a:solidFill>
                <a:latin typeface="Arial"/>
                <a:ea typeface="Arial"/>
                <a:cs typeface="Arial"/>
              </a:defRPr>
            </a:pPr>
            <a:r>
              <a:rPr sz="2175" b="1">
                <a:solidFill>
                  <a:srgbClr val="157B68"/>
                </a:solidFill>
                <a:latin typeface="Arial"/>
                <a:ea typeface="Arial"/>
                <a:cs typeface="Arial"/>
              </a:rPr>
              <a:t>Conversations written down</a:t>
            </a:r>
          </a:p>
        </p:txBody>
      </p:sp>
      <p:sp>
        <p:nvSpPr>
          <p:cNvPr id="8" name="Primary measure 3 detail">
            <a:extLst xmlns:a="http://schemas.openxmlformats.org/drawingml/2006/main">
              <a:ext uri="{FF2B5EF4-FFF2-40B4-BE49-F238E27FC236}">
                <a16:creationId xmlns:a16="http://schemas.microsoft.com/office/drawing/2014/main" id="{05E23B33-4769-401D-A549-D56781BB91D6}"/>
              </a:ext>
            </a:extLst>
          </p:cNvPr>
          <p:cNvSpPr>
            <a:spLocks xmlns:a="http://schemas.openxmlformats.org/drawingml/2006/main" noGrp="1"/>
          </p:cNvSpPr>
          <p:nvPr/>
        </p:nvSpPr>
        <p:spPr>
          <a:xfrm xmlns:a="http://schemas.openxmlformats.org/drawingml/2006/main">
            <a:off x="8191500" y="3295650"/>
            <a:ext cx="34766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00" b="0">
                <a:solidFill>
                  <a:srgbClr val="173F33"/>
                </a:solidFill>
                <a:latin typeface="Arial"/>
                <a:ea typeface="Arial"/>
                <a:cs typeface="Arial"/>
              </a:defRPr>
            </a:pPr>
            <a:r>
              <a:rPr sz="1800" b="0">
                <a:solidFill>
                  <a:srgbClr val="173F33"/>
                </a:solidFill>
                <a:latin typeface="Arial"/>
                <a:ea typeface="Arial"/>
                <a:cs typeface="Arial"/>
              </a:rPr>
              <a:t>Count conversations with a saved Care Note. Record how many the doctor has checked and signed.</a:t>
            </a:r>
          </a:p>
        </p:txBody>
      </p:sp>
      <p:sp>
        <p:nvSpPr>
          <p:cNvPr id="9" name="">
            <a:extLst xmlns:a="http://schemas.openxmlformats.org/drawingml/2006/main">
              <a:ext uri="{FF2B5EF4-FFF2-40B4-BE49-F238E27FC236}">
                <a16:creationId xmlns:a16="http://schemas.microsoft.com/office/drawing/2014/main" id="{067C72FE-795B-4964-9BAD-20BAD681326D}"/>
              </a:ext>
            </a:extLst>
          </p:cNvPr>
          <p:cNvSpPr>
            <a:spLocks xmlns:a="http://schemas.openxmlformats.org/drawingml/2006/main" noGrp="1"/>
          </p:cNvSpPr>
          <p:nvPr/>
        </p:nvSpPr>
        <p:spPr>
          <a:xfrm xmlns:a="http://schemas.openxmlformats.org/drawingml/2006/main">
            <a:off x="533400" y="4781550"/>
            <a:ext cx="11125200" cy="0"/>
          </a:xfrm>
          <a:prstGeom xmlns:a="http://schemas.openxmlformats.org/drawingml/2006/main" prst="line">
            <a:avLst/>
          </a:prstGeom>
          <a:ln xmlns:a="http://schemas.openxmlformats.org/drawingml/2006/main" w="9525">
            <a:solidFill>
              <a:srgbClr val="D9D4C7"/>
            </a:solidFill>
          </a:ln>
        </p:spPr>
      </p:sp>
      <p:sp>
        <p:nvSpPr>
          <p:cNvPr id="10" name="Comparison">
            <a:extLst xmlns:a="http://schemas.openxmlformats.org/drawingml/2006/main">
              <a:ext uri="{FF2B5EF4-FFF2-40B4-BE49-F238E27FC236}">
                <a16:creationId xmlns:a16="http://schemas.microsoft.com/office/drawing/2014/main" id="{CF1A10FF-14D6-496C-B209-E9B5E78D71C6}"/>
              </a:ext>
            </a:extLst>
          </p:cNvPr>
          <p:cNvSpPr>
            <a:spLocks xmlns:a="http://schemas.openxmlformats.org/drawingml/2006/main" noGrp="1"/>
          </p:cNvSpPr>
          <p:nvPr/>
        </p:nvSpPr>
        <p:spPr>
          <a:xfrm xmlns:a="http://schemas.openxmlformats.org/drawingml/2006/main">
            <a:off x="533400" y="5076825"/>
            <a:ext cx="2838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2475" b="1">
                <a:solidFill>
                  <a:srgbClr val="173F33"/>
                </a:solidFill>
                <a:latin typeface="Arial"/>
                <a:ea typeface="Arial"/>
                <a:cs typeface="Arial"/>
              </a:defRPr>
            </a:pPr>
            <a:r>
              <a:rPr sz="2475" b="1">
                <a:solidFill>
                  <a:srgbClr val="173F33"/>
                </a:solidFill>
                <a:latin typeface="Arial"/>
                <a:ea typeface="Arial"/>
                <a:cs typeface="Arial"/>
              </a:rPr>
              <a:t>Before vs after</a:t>
            </a:r>
          </a:p>
        </p:txBody>
      </p:sp>
      <p:sp>
        <p:nvSpPr>
          <p:cNvPr id="11" name="Primary outcome definition">
            <a:extLst xmlns:a="http://schemas.openxmlformats.org/drawingml/2006/main">
              <a:ext uri="{FF2B5EF4-FFF2-40B4-BE49-F238E27FC236}">
                <a16:creationId xmlns:a16="http://schemas.microsoft.com/office/drawing/2014/main" id="{976E700F-A43D-44A8-B42D-A1A08119D49D}"/>
              </a:ext>
            </a:extLst>
          </p:cNvPr>
          <p:cNvSpPr>
            <a:spLocks xmlns:a="http://schemas.openxmlformats.org/drawingml/2006/main" noGrp="1"/>
          </p:cNvSpPr>
          <p:nvPr/>
        </p:nvSpPr>
        <p:spPr>
          <a:xfrm xmlns:a="http://schemas.openxmlformats.org/drawingml/2006/main">
            <a:off x="3686175" y="5076825"/>
            <a:ext cx="79724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875" b="1">
                <a:solidFill>
                  <a:srgbClr val="173F33"/>
                </a:solidFill>
                <a:latin typeface="Arial"/>
                <a:ea typeface="Arial"/>
                <a:cs typeface="Arial"/>
              </a:defRPr>
            </a:pPr>
            <a:r>
              <a:rPr sz="1875" b="1">
                <a:solidFill>
                  <a:srgbClr val="173F33"/>
                </a:solidFill>
                <a:latin typeface="Arial"/>
                <a:ea typeface="Arial"/>
                <a:cs typeface="Arial"/>
              </a:rPr>
              <a:t>Patients whose care discussion was written down ÷ all patients who fit the study’s agreed rules</a:t>
            </a:r>
          </a:p>
        </p:txBody>
      </p:sp>
      <p:sp>
        <p:nvSpPr>
          <p:cNvPr id="12" name="Additional measures">
            <a:extLst xmlns:a="http://schemas.openxmlformats.org/drawingml/2006/main">
              <a:ext uri="{FF2B5EF4-FFF2-40B4-BE49-F238E27FC236}">
                <a16:creationId xmlns:a16="http://schemas.microsoft.com/office/drawing/2014/main" id="{BA020CD7-4DF7-4EC7-A40F-3CE266AB01A8}"/>
              </a:ext>
            </a:extLst>
          </p:cNvPr>
          <p:cNvSpPr>
            <a:spLocks xmlns:a="http://schemas.openxmlformats.org/drawingml/2006/main" noGrp="1"/>
          </p:cNvSpPr>
          <p:nvPr/>
        </p:nvSpPr>
        <p:spPr>
          <a:xfrm xmlns:a="http://schemas.openxmlformats.org/drawingml/2006/main">
            <a:off x="533400" y="592455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575" b="0">
                <a:solidFill>
                  <a:srgbClr val="53655C"/>
                </a:solidFill>
                <a:latin typeface="Arial"/>
                <a:ea typeface="Arial"/>
                <a:cs typeface="Arial"/>
              </a:defRPr>
            </a:pPr>
            <a:r>
              <a:rPr sz="1575" b="0">
                <a:solidFill>
                  <a:srgbClr val="53655C"/>
                </a:solidFill>
                <a:latin typeface="Arial"/>
                <a:ea typeface="Arial"/>
                <a:cs typeface="Arial"/>
              </a:rPr>
              <a:t>Also measure how long the work takes, what details were missed and whether doctors have more work.</a:t>
            </a:r>
          </a:p>
        </p:txBody>
      </p:sp>
      <p:sp>
        <p:nvSpPr>
          <p:cNvPr id="13" name="Implementation status">
            <a:extLst xmlns:a="http://schemas.openxmlformats.org/drawingml/2006/main">
              <a:ext uri="{FF2B5EF4-FFF2-40B4-BE49-F238E27FC236}">
                <a16:creationId xmlns:a16="http://schemas.microsoft.com/office/drawing/2014/main" id="{BAE85E07-B501-4CAE-B297-2F59C51AE825}"/>
              </a:ext>
            </a:extLst>
          </p:cNvPr>
          <p:cNvSpPr>
            <a:spLocks xmlns:a="http://schemas.openxmlformats.org/drawingml/2006/main" noGrp="1"/>
          </p:cNvSpPr>
          <p:nvPr/>
        </p:nvSpPr>
        <p:spPr>
          <a:xfrm xmlns:a="http://schemas.openxmlformats.org/drawingml/2006/main">
            <a:off x="533400" y="6534150"/>
            <a:ext cx="11125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38" b="0">
                <a:solidFill>
                  <a:srgbClr val="53655C"/>
                </a:solidFill>
                <a:latin typeface="Arial"/>
                <a:ea typeface="Arial"/>
                <a:cs typeface="Arial"/>
              </a:defRPr>
            </a:pPr>
            <a:r>
              <a:rPr sz="1238" b="0">
                <a:solidFill>
                  <a:srgbClr val="53655C"/>
                </a:solidFill>
                <a:latin typeface="Arial"/>
                <a:ea typeface="Arial"/>
                <a:cs typeface="Arial"/>
              </a:rPr>
              <a:t>The linked app shows the workflow. AI, verified sign-in and sharing between phones still need connecting.</a:t>
            </a:r>
          </a:p>
        </p:txBody>
      </p:sp>
    </p:spTree>
    <p:extLst>
      <p:ext uri="{BB962C8B-B14F-4D97-AF65-F5344CB8AC3E}">
        <p14:creationId xmlns:p14="http://schemas.microsoft.com/office/powerpoint/2010/main" val="1410585306"/>
      </p:ext>
    </p:extLst>
  </p:cSld>
</p:sld>
</file>

<file path=ppt/slides/slide8.xml><?xml version="1.0" encoding="utf-8"?>
<p:sld xmlns:p="http://schemas.openxmlformats.org/presentationml/2006/main">
  <p:cSld>
    <p:bg>
      <p:bgPr>
        <a:solidFill xmlns:a="http://schemas.openxmlformats.org/drawingml/2006/main">
          <a:srgbClr val="F7F3E9"/>
        </a:solidFill>
      </p:bgPr>
    </p:bg>
    <p:spTree>
      <p:nvGrpSpPr>
        <p:cNvPr id="1" name=""/>
        <p:cNvGrpSpPr/>
        <p:nvPr/>
      </p:nvGrpSpPr>
      <p:grpSpPr>
        <a:xfrm xmlns:a="http://schemas.openxmlformats.org/drawingml/2006/main"/>
      </p:grpSpPr>
      <p:sp>
        <p:nvSpPr>
          <p:cNvPr id="29" name="References title">
            <a:extLst xmlns:a="http://schemas.openxmlformats.org/drawingml/2006/main">
              <a:ext uri="{FF2B5EF4-FFF2-40B4-BE49-F238E27FC236}">
                <a16:creationId xmlns:a16="http://schemas.microsoft.com/office/drawing/2014/main" id="{78749B74-E1D8-47C2-B9D3-3738D7CC740C}"/>
              </a:ext>
            </a:extLst>
          </p:cNvPr>
          <p:cNvSpPr>
            <a:spLocks xmlns:a="http://schemas.openxmlformats.org/drawingml/2006/main" noGrp="1"/>
          </p:cNvSpPr>
          <p:nvPr/>
        </p:nvSpPr>
        <p:spPr>
          <a:xfrm xmlns:a="http://schemas.openxmlformats.org/drawingml/2006/main">
            <a:off x="533400" y="342900"/>
            <a:ext cx="11125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3000" b="1">
                <a:solidFill>
                  <a:srgbClr val="173F33"/>
                </a:solidFill>
                <a:latin typeface="Arial"/>
                <a:ea typeface="Arial"/>
                <a:cs typeface="Arial"/>
              </a:defRPr>
            </a:pPr>
            <a:r>
              <a:rPr sz="3000" b="1">
                <a:solidFill>
                  <a:srgbClr val="173F33"/>
                </a:solidFill>
                <a:latin typeface="Arial"/>
                <a:ea typeface="Arial"/>
                <a:cs typeface="Arial"/>
              </a:rPr>
              <a:t>References</a:t>
            </a:r>
          </a:p>
        </p:txBody>
      </p:sp>
      <p:sp>
        <p:nvSpPr>
          <p:cNvPr id="2" name="Reference 1 author">
            <a:extLst xmlns:a="http://schemas.openxmlformats.org/drawingml/2006/main">
              <a:ext uri="{FF2B5EF4-FFF2-40B4-BE49-F238E27FC236}">
                <a16:creationId xmlns:a16="http://schemas.microsoft.com/office/drawing/2014/main" id="{2F562063-EF81-40FC-BBEA-726CACD9B502}"/>
              </a:ext>
            </a:extLst>
          </p:cNvPr>
          <p:cNvSpPr>
            <a:spLocks xmlns:a="http://schemas.openxmlformats.org/drawingml/2006/main" noGrp="1"/>
          </p:cNvSpPr>
          <p:nvPr/>
        </p:nvSpPr>
        <p:spPr>
          <a:xfrm xmlns:a="http://schemas.openxmlformats.org/drawingml/2006/main">
            <a:off x="533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1. IARC. Global Cancer Observatory, 2024.</a:t>
            </a:r>
          </a:p>
        </p:txBody>
      </p:sp>
      <p:sp>
        <p:nvSpPr>
          <p:cNvPr id="3" name="Reference 1 title">
            <a:extLst xmlns:a="http://schemas.openxmlformats.org/drawingml/2006/main">
              <a:ext uri="{FF2B5EF4-FFF2-40B4-BE49-F238E27FC236}">
                <a16:creationId xmlns:a16="http://schemas.microsoft.com/office/drawing/2014/main" id="{D02F04C1-C4FF-48D1-B538-00CCADB31FD1}"/>
              </a:ext>
            </a:extLst>
          </p:cNvPr>
          <p:cNvSpPr>
            <a:spLocks xmlns:a="http://schemas.openxmlformats.org/drawingml/2006/main" noGrp="1"/>
          </p:cNvSpPr>
          <p:nvPr/>
        </p:nvSpPr>
        <p:spPr>
          <a:xfrm xmlns:a="http://schemas.openxmlformats.org/drawingml/2006/main">
            <a:off x="533400" y="13239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0c808a5a5de74b1f"/>
              </a:rPr>
              <a:t>India — GLOBOCAN 2024 Fact Sheet</a:t>
            </a:r>
          </a:p>
        </p:txBody>
      </p:sp>
      <p:sp>
        <p:nvSpPr>
          <p:cNvPr id="4" name="Reference 1 link">
            <a:extLst xmlns:a="http://schemas.openxmlformats.org/drawingml/2006/main">
              <a:ext uri="{FF2B5EF4-FFF2-40B4-BE49-F238E27FC236}">
                <a16:creationId xmlns:a16="http://schemas.microsoft.com/office/drawing/2014/main" id="{CDC2A488-8E84-41A9-8532-EC7A06340443}"/>
              </a:ext>
            </a:extLst>
          </p:cNvPr>
          <p:cNvSpPr>
            <a:spLocks xmlns:a="http://schemas.openxmlformats.org/drawingml/2006/main" noGrp="1"/>
          </p:cNvSpPr>
          <p:nvPr/>
        </p:nvSpPr>
        <p:spPr>
          <a:xfrm xmlns:a="http://schemas.openxmlformats.org/drawingml/2006/main">
            <a:off x="533400" y="168592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d14e6acdf841401a"/>
              </a:rPr>
              <a:t>https://gco.iarc.who.int/media/globocan/factsheets/populations/356-india-fact-sheet.pdf</a:t>
            </a:r>
          </a:p>
        </p:txBody>
      </p:sp>
      <p:sp>
        <p:nvSpPr>
          <p:cNvPr id="5" name="Reference 2 author">
            <a:extLst xmlns:a="http://schemas.openxmlformats.org/drawingml/2006/main">
              <a:ext uri="{FF2B5EF4-FFF2-40B4-BE49-F238E27FC236}">
                <a16:creationId xmlns:a16="http://schemas.microsoft.com/office/drawing/2014/main" id="{21450416-E250-49D1-8ABB-4C5CF9BB84E9}"/>
              </a:ext>
            </a:extLst>
          </p:cNvPr>
          <p:cNvSpPr>
            <a:spLocks xmlns:a="http://schemas.openxmlformats.org/drawingml/2006/main" noGrp="1"/>
          </p:cNvSpPr>
          <p:nvPr/>
        </p:nvSpPr>
        <p:spPr>
          <a:xfrm xmlns:a="http://schemas.openxmlformats.org/drawingml/2006/main">
            <a:off x="533400" y="234315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2. Patil S, et al. BMJ Support Palliat Care, 2024.</a:t>
            </a:r>
          </a:p>
        </p:txBody>
      </p:sp>
      <p:sp>
        <p:nvSpPr>
          <p:cNvPr id="6" name="Reference 2 title">
            <a:extLst xmlns:a="http://schemas.openxmlformats.org/drawingml/2006/main">
              <a:ext uri="{FF2B5EF4-FFF2-40B4-BE49-F238E27FC236}">
                <a16:creationId xmlns:a16="http://schemas.microsoft.com/office/drawing/2014/main" id="{41A9AAAB-F01A-44FA-B59D-D0AE07CA331D}"/>
              </a:ext>
            </a:extLst>
          </p:cNvPr>
          <p:cNvSpPr>
            <a:spLocks xmlns:a="http://schemas.openxmlformats.org/drawingml/2006/main" noGrp="1"/>
          </p:cNvSpPr>
          <p:nvPr/>
        </p:nvSpPr>
        <p:spPr>
          <a:xfrm xmlns:a="http://schemas.openxmlformats.org/drawingml/2006/main">
            <a:off x="533400" y="260032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69b9f406934848f2"/>
              </a:rPr>
              <a:t>Unmet need for cancer palliative care in India</a:t>
            </a:r>
          </a:p>
        </p:txBody>
      </p:sp>
      <p:sp>
        <p:nvSpPr>
          <p:cNvPr id="7" name="Reference 2 link">
            <a:extLst xmlns:a="http://schemas.openxmlformats.org/drawingml/2006/main">
              <a:ext uri="{FF2B5EF4-FFF2-40B4-BE49-F238E27FC236}">
                <a16:creationId xmlns:a16="http://schemas.microsoft.com/office/drawing/2014/main" id="{29E77E35-D95D-49C7-93AF-5F00D9823145}"/>
              </a:ext>
            </a:extLst>
          </p:cNvPr>
          <p:cNvSpPr>
            <a:spLocks xmlns:a="http://schemas.openxmlformats.org/drawingml/2006/main" noGrp="1"/>
          </p:cNvSpPr>
          <p:nvPr/>
        </p:nvSpPr>
        <p:spPr>
          <a:xfrm xmlns:a="http://schemas.openxmlformats.org/drawingml/2006/main">
            <a:off x="533400" y="30289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76fa22df3f344ef1"/>
              </a:rPr>
              <a:t>https://doi.org/10.1136/spcare-2024-004978</a:t>
            </a:r>
          </a:p>
        </p:txBody>
      </p:sp>
      <p:sp>
        <p:nvSpPr>
          <p:cNvPr id="8" name="Reference 3 author">
            <a:extLst xmlns:a="http://schemas.openxmlformats.org/drawingml/2006/main">
              <a:ext uri="{FF2B5EF4-FFF2-40B4-BE49-F238E27FC236}">
                <a16:creationId xmlns:a16="http://schemas.microsoft.com/office/drawing/2014/main" id="{DA19BA15-BAA1-4754-BC6D-B61D38BB084F}"/>
              </a:ext>
            </a:extLst>
          </p:cNvPr>
          <p:cNvSpPr>
            <a:spLocks xmlns:a="http://schemas.openxmlformats.org/drawingml/2006/main" noGrp="1"/>
          </p:cNvSpPr>
          <p:nvPr/>
        </p:nvSpPr>
        <p:spPr>
          <a:xfrm xmlns:a="http://schemas.openxmlformats.org/drawingml/2006/main">
            <a:off x="533400" y="34385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3. Aslam N, Hayat A. J Pain Symptom Manage, 2024.</a:t>
            </a:r>
          </a:p>
        </p:txBody>
      </p:sp>
      <p:sp>
        <p:nvSpPr>
          <p:cNvPr id="9" name="Reference 3 title">
            <a:extLst xmlns:a="http://schemas.openxmlformats.org/drawingml/2006/main">
              <a:ext uri="{FF2B5EF4-FFF2-40B4-BE49-F238E27FC236}">
                <a16:creationId xmlns:a16="http://schemas.microsoft.com/office/drawing/2014/main" id="{0E6ED0CB-B616-4CF1-A8AD-848B885D5149}"/>
              </a:ext>
            </a:extLst>
          </p:cNvPr>
          <p:cNvSpPr>
            <a:spLocks xmlns:a="http://schemas.openxmlformats.org/drawingml/2006/main" noGrp="1"/>
          </p:cNvSpPr>
          <p:nvPr/>
        </p:nvSpPr>
        <p:spPr>
          <a:xfrm xmlns:a="http://schemas.openxmlformats.org/drawingml/2006/main">
            <a:off x="533400" y="3695700"/>
            <a:ext cx="5391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9e25f95984724b65"/>
              </a:rPr>
              <a:t>Early Goal of Care Discussions in Healthcare: A Survey Case Report on Benefits and Perceptions</a:t>
            </a:r>
          </a:p>
        </p:txBody>
      </p:sp>
      <p:sp>
        <p:nvSpPr>
          <p:cNvPr id="10" name="Reference 3 link">
            <a:extLst xmlns:a="http://schemas.openxmlformats.org/drawingml/2006/main">
              <a:ext uri="{FF2B5EF4-FFF2-40B4-BE49-F238E27FC236}">
                <a16:creationId xmlns:a16="http://schemas.microsoft.com/office/drawing/2014/main" id="{102C84A7-F6AF-41F8-9F7E-8634B1378B8F}"/>
              </a:ext>
            </a:extLst>
          </p:cNvPr>
          <p:cNvSpPr>
            <a:spLocks xmlns:a="http://schemas.openxmlformats.org/drawingml/2006/main" noGrp="1"/>
          </p:cNvSpPr>
          <p:nvPr/>
        </p:nvSpPr>
        <p:spPr>
          <a:xfrm xmlns:a="http://schemas.openxmlformats.org/drawingml/2006/main">
            <a:off x="533400" y="4257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53358b9571704f04"/>
              </a:rPr>
              <a:t>https://doi.org/10.1016/j.jpainsymman.2024.02.030</a:t>
            </a:r>
          </a:p>
        </p:txBody>
      </p:sp>
      <p:sp>
        <p:nvSpPr>
          <p:cNvPr id="11" name="Reference 4 author">
            <a:extLst xmlns:a="http://schemas.openxmlformats.org/drawingml/2006/main">
              <a:ext uri="{FF2B5EF4-FFF2-40B4-BE49-F238E27FC236}">
                <a16:creationId xmlns:a16="http://schemas.microsoft.com/office/drawing/2014/main" id="{B6D6569F-7F39-4E89-AA3E-C1DAB0EBFFAA}"/>
              </a:ext>
            </a:extLst>
          </p:cNvPr>
          <p:cNvSpPr>
            <a:spLocks xmlns:a="http://schemas.openxmlformats.org/drawingml/2006/main" noGrp="1"/>
          </p:cNvSpPr>
          <p:nvPr/>
        </p:nvSpPr>
        <p:spPr>
          <a:xfrm xmlns:a="http://schemas.openxmlformats.org/drawingml/2006/main">
            <a:off x="533400" y="46863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4. Thangasamy DRJ, et al. Palliat Med Rep, 2025.</a:t>
            </a:r>
          </a:p>
        </p:txBody>
      </p:sp>
      <p:sp>
        <p:nvSpPr>
          <p:cNvPr id="12" name="Reference 4 title">
            <a:extLst xmlns:a="http://schemas.openxmlformats.org/drawingml/2006/main">
              <a:ext uri="{FF2B5EF4-FFF2-40B4-BE49-F238E27FC236}">
                <a16:creationId xmlns:a16="http://schemas.microsoft.com/office/drawing/2014/main" id="{DE72E9D1-6A8C-497A-ACF5-632B5CA4FD0B}"/>
              </a:ext>
            </a:extLst>
          </p:cNvPr>
          <p:cNvSpPr>
            <a:spLocks xmlns:a="http://schemas.openxmlformats.org/drawingml/2006/main" noGrp="1"/>
          </p:cNvSpPr>
          <p:nvPr/>
        </p:nvSpPr>
        <p:spPr>
          <a:xfrm xmlns:a="http://schemas.openxmlformats.org/drawingml/2006/main">
            <a:off x="533400" y="4943475"/>
            <a:ext cx="53911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abface7db4094a96"/>
              </a:rPr>
              <a:t>Initiating and Documenting Goals of Care Discussion in Patients with Advanced Pancreatic and Colorectal Cancers: A Quality Improvement Project in a Low Resource Setting</a:t>
            </a:r>
          </a:p>
        </p:txBody>
      </p:sp>
      <p:sp>
        <p:nvSpPr>
          <p:cNvPr id="13" name="Reference 4 link">
            <a:extLst xmlns:a="http://schemas.openxmlformats.org/drawingml/2006/main">
              <a:ext uri="{FF2B5EF4-FFF2-40B4-BE49-F238E27FC236}">
                <a16:creationId xmlns:a16="http://schemas.microsoft.com/office/drawing/2014/main" id="{4F24AC60-6B24-43E3-A2B2-7574C9987AA5}"/>
              </a:ext>
            </a:extLst>
          </p:cNvPr>
          <p:cNvSpPr>
            <a:spLocks xmlns:a="http://schemas.openxmlformats.org/drawingml/2006/main" noGrp="1"/>
          </p:cNvSpPr>
          <p:nvPr/>
        </p:nvSpPr>
        <p:spPr>
          <a:xfrm xmlns:a="http://schemas.openxmlformats.org/drawingml/2006/main">
            <a:off x="533400" y="60198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e910c0ce95ff496e"/>
              </a:rPr>
              <a:t>https://doi.org/10.1177/26892820251392545</a:t>
            </a:r>
          </a:p>
        </p:txBody>
      </p:sp>
      <p:sp>
        <p:nvSpPr>
          <p:cNvPr id="14" name="Reference 5 author">
            <a:extLst xmlns:a="http://schemas.openxmlformats.org/drawingml/2006/main">
              <a:ext uri="{FF2B5EF4-FFF2-40B4-BE49-F238E27FC236}">
                <a16:creationId xmlns:a16="http://schemas.microsoft.com/office/drawing/2014/main" id="{6043ECB5-4B8C-4FD1-963C-7F01933F7C7D}"/>
              </a:ext>
            </a:extLst>
          </p:cNvPr>
          <p:cNvSpPr>
            <a:spLocks xmlns:a="http://schemas.openxmlformats.org/drawingml/2006/main" noGrp="1"/>
          </p:cNvSpPr>
          <p:nvPr/>
        </p:nvSpPr>
        <p:spPr>
          <a:xfrm xmlns:a="http://schemas.openxmlformats.org/drawingml/2006/main">
            <a:off x="6248400" y="10668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5. Sharma P. IndiaSpend / Scroll.in, 2019.</a:t>
            </a:r>
          </a:p>
        </p:txBody>
      </p:sp>
      <p:sp>
        <p:nvSpPr>
          <p:cNvPr id="15" name="Reference 5 title">
            <a:extLst xmlns:a="http://schemas.openxmlformats.org/drawingml/2006/main">
              <a:ext uri="{FF2B5EF4-FFF2-40B4-BE49-F238E27FC236}">
                <a16:creationId xmlns:a16="http://schemas.microsoft.com/office/drawing/2014/main" id="{16E40E53-678D-40C2-AE3B-0B31814E208A}"/>
              </a:ext>
            </a:extLst>
          </p:cNvPr>
          <p:cNvSpPr>
            <a:spLocks xmlns:a="http://schemas.openxmlformats.org/drawingml/2006/main" noGrp="1"/>
          </p:cNvSpPr>
          <p:nvPr/>
        </p:nvSpPr>
        <p:spPr>
          <a:xfrm xmlns:a="http://schemas.openxmlformats.org/drawingml/2006/main">
            <a:off x="6248400" y="1323975"/>
            <a:ext cx="5391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1cd945e68708438b"/>
              </a:rPr>
              <a:t>73% urban Indians do not know about their right to make a living will, finds a survey</a:t>
            </a:r>
          </a:p>
        </p:txBody>
      </p:sp>
      <p:sp>
        <p:nvSpPr>
          <p:cNvPr id="16" name="Reference 5 link">
            <a:extLst xmlns:a="http://schemas.openxmlformats.org/drawingml/2006/main">
              <a:ext uri="{FF2B5EF4-FFF2-40B4-BE49-F238E27FC236}">
                <a16:creationId xmlns:a16="http://schemas.microsoft.com/office/drawing/2014/main" id="{C8143483-4792-4993-8CD8-D7C40E54AB9F}"/>
              </a:ext>
            </a:extLst>
          </p:cNvPr>
          <p:cNvSpPr>
            <a:spLocks xmlns:a="http://schemas.openxmlformats.org/drawingml/2006/main" noGrp="1"/>
          </p:cNvSpPr>
          <p:nvPr/>
        </p:nvSpPr>
        <p:spPr>
          <a:xfrm xmlns:a="http://schemas.openxmlformats.org/drawingml/2006/main">
            <a:off x="6248400" y="17716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035" b="0">
                <a:solidFill>
                  <a:srgbClr val="145AC6"/>
                </a:solidFill>
                <a:latin typeface="Arial"/>
                <a:ea typeface="Arial"/>
                <a:cs typeface="Arial"/>
              </a:defRPr>
            </a:pPr>
            <a:r>
              <a:rPr sz="1035" b="0" u="sng">
                <a:solidFill>
                  <a:srgbClr val="145AC6"/>
                </a:solidFill>
                <a:latin typeface="Arial"/>
                <a:ea typeface="Arial"/>
                <a:cs typeface="Arial"/>
                <a:hlinkClick xmlns:r="http://schemas.openxmlformats.org/officeDocument/2006/relationships" r:id="Radaa825285594ca2"/>
              </a:rPr>
              <a:t>https://scroll.in/article/925875/73-urban-indians-do-not-know-about-their-right-to-make-a-living-will-finds-a-survey</a:t>
            </a:r>
          </a:p>
        </p:txBody>
      </p:sp>
      <p:sp>
        <p:nvSpPr>
          <p:cNvPr id="17" name="Reference 6 author">
            <a:extLst xmlns:a="http://schemas.openxmlformats.org/drawingml/2006/main">
              <a:ext uri="{FF2B5EF4-FFF2-40B4-BE49-F238E27FC236}">
                <a16:creationId xmlns:a16="http://schemas.microsoft.com/office/drawing/2014/main" id="{77D28CF3-934E-4E69-933E-302827CF182F}"/>
              </a:ext>
            </a:extLst>
          </p:cNvPr>
          <p:cNvSpPr>
            <a:spLocks xmlns:a="http://schemas.openxmlformats.org/drawingml/2006/main" noGrp="1"/>
          </p:cNvSpPr>
          <p:nvPr/>
        </p:nvSpPr>
        <p:spPr>
          <a:xfrm xmlns:a="http://schemas.openxmlformats.org/drawingml/2006/main">
            <a:off x="6248400" y="235267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6. Jacob JA, et al. Natl Med J India, 2026.</a:t>
            </a:r>
          </a:p>
        </p:txBody>
      </p:sp>
      <p:sp>
        <p:nvSpPr>
          <p:cNvPr id="18" name="Reference 6 title">
            <a:extLst xmlns:a="http://schemas.openxmlformats.org/drawingml/2006/main">
              <a:ext uri="{FF2B5EF4-FFF2-40B4-BE49-F238E27FC236}">
                <a16:creationId xmlns:a16="http://schemas.microsoft.com/office/drawing/2014/main" id="{441E93D8-FE9A-45A5-BC46-406230C9903C}"/>
              </a:ext>
            </a:extLst>
          </p:cNvPr>
          <p:cNvSpPr>
            <a:spLocks xmlns:a="http://schemas.openxmlformats.org/drawingml/2006/main" noGrp="1"/>
          </p:cNvSpPr>
          <p:nvPr/>
        </p:nvSpPr>
        <p:spPr>
          <a:xfrm xmlns:a="http://schemas.openxmlformats.org/drawingml/2006/main">
            <a:off x="6248400" y="2609850"/>
            <a:ext cx="5391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413ba01b12654c1d"/>
              </a:rPr>
              <a:t>Knowledge and attitude towards advance directives for patients with terminal illnesses among doctors working in a tertiary care hospital</a:t>
            </a:r>
          </a:p>
        </p:txBody>
      </p:sp>
      <p:sp>
        <p:nvSpPr>
          <p:cNvPr id="19" name="Reference 6 link">
            <a:extLst xmlns:a="http://schemas.openxmlformats.org/drawingml/2006/main">
              <a:ext uri="{FF2B5EF4-FFF2-40B4-BE49-F238E27FC236}">
                <a16:creationId xmlns:a16="http://schemas.microsoft.com/office/drawing/2014/main" id="{B5541A15-C92D-4BCB-9A5F-FDA68AA7F84B}"/>
              </a:ext>
            </a:extLst>
          </p:cNvPr>
          <p:cNvSpPr>
            <a:spLocks xmlns:a="http://schemas.openxmlformats.org/drawingml/2006/main" noGrp="1"/>
          </p:cNvSpPr>
          <p:nvPr/>
        </p:nvSpPr>
        <p:spPr>
          <a:xfrm xmlns:a="http://schemas.openxmlformats.org/drawingml/2006/main">
            <a:off x="6248400" y="3114675"/>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b1a60387beeb4a28"/>
              </a:rPr>
              <a:t>https://doi.org/10.25259/NMJI_817_2023</a:t>
            </a:r>
          </a:p>
        </p:txBody>
      </p:sp>
      <p:sp>
        <p:nvSpPr>
          <p:cNvPr id="20" name="Reference 7 author">
            <a:extLst xmlns:a="http://schemas.openxmlformats.org/drawingml/2006/main">
              <a:ext uri="{FF2B5EF4-FFF2-40B4-BE49-F238E27FC236}">
                <a16:creationId xmlns:a16="http://schemas.microsoft.com/office/drawing/2014/main" id="{676B869F-5851-460F-B65C-E9BCA32AE697}"/>
              </a:ext>
            </a:extLst>
          </p:cNvPr>
          <p:cNvSpPr>
            <a:spLocks xmlns:a="http://schemas.openxmlformats.org/drawingml/2006/main" noGrp="1"/>
          </p:cNvSpPr>
          <p:nvPr/>
        </p:nvSpPr>
        <p:spPr>
          <a:xfrm xmlns:a="http://schemas.openxmlformats.org/drawingml/2006/main">
            <a:off x="6248400" y="34766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7. Singh P, et al. medRxiv, 2025. Preprint.</a:t>
            </a:r>
          </a:p>
        </p:txBody>
      </p:sp>
      <p:sp>
        <p:nvSpPr>
          <p:cNvPr id="21" name="Reference 7 title">
            <a:extLst xmlns:a="http://schemas.openxmlformats.org/drawingml/2006/main">
              <a:ext uri="{FF2B5EF4-FFF2-40B4-BE49-F238E27FC236}">
                <a16:creationId xmlns:a16="http://schemas.microsoft.com/office/drawing/2014/main" id="{D346813A-E2D5-4E66-B6F2-FF9B22BF87D4}"/>
              </a:ext>
            </a:extLst>
          </p:cNvPr>
          <p:cNvSpPr>
            <a:spLocks xmlns:a="http://schemas.openxmlformats.org/drawingml/2006/main" noGrp="1"/>
          </p:cNvSpPr>
          <p:nvPr/>
        </p:nvSpPr>
        <p:spPr>
          <a:xfrm xmlns:a="http://schemas.openxmlformats.org/drawingml/2006/main">
            <a:off x="6248400" y="3733800"/>
            <a:ext cx="53911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7a6f8758a9f848b9"/>
              </a:rPr>
              <a:t>Barriers and Facilitators to Advance Care Planning Implementation for Patients with Neurodegenerative Diseases among Indian Physicians: A Mixed-Methods Analysis</a:t>
            </a:r>
          </a:p>
        </p:txBody>
      </p:sp>
      <p:sp>
        <p:nvSpPr>
          <p:cNvPr id="22" name="Reference 7 link">
            <a:extLst xmlns:a="http://schemas.openxmlformats.org/drawingml/2006/main">
              <a:ext uri="{FF2B5EF4-FFF2-40B4-BE49-F238E27FC236}">
                <a16:creationId xmlns:a16="http://schemas.microsoft.com/office/drawing/2014/main" id="{ED2F7378-0609-4481-9D63-90B5684BC3A7}"/>
              </a:ext>
            </a:extLst>
          </p:cNvPr>
          <p:cNvSpPr>
            <a:spLocks xmlns:a="http://schemas.openxmlformats.org/drawingml/2006/main" noGrp="1"/>
          </p:cNvSpPr>
          <p:nvPr/>
        </p:nvSpPr>
        <p:spPr>
          <a:xfrm xmlns:a="http://schemas.openxmlformats.org/drawingml/2006/main">
            <a:off x="6248400" y="43815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b527ac526d0f4888"/>
              </a:rPr>
              <a:t>https://doi.org/10.1101/2025.10.17.25338242</a:t>
            </a:r>
          </a:p>
        </p:txBody>
      </p:sp>
      <p:sp>
        <p:nvSpPr>
          <p:cNvPr id="23" name="Reference 8 author">
            <a:extLst xmlns:a="http://schemas.openxmlformats.org/drawingml/2006/main">
              <a:ext uri="{FF2B5EF4-FFF2-40B4-BE49-F238E27FC236}">
                <a16:creationId xmlns:a16="http://schemas.microsoft.com/office/drawing/2014/main" id="{62302700-C492-43F7-8927-3093349B9741}"/>
              </a:ext>
            </a:extLst>
          </p:cNvPr>
          <p:cNvSpPr>
            <a:spLocks xmlns:a="http://schemas.openxmlformats.org/drawingml/2006/main" noGrp="1"/>
          </p:cNvSpPr>
          <p:nvPr/>
        </p:nvSpPr>
        <p:spPr>
          <a:xfrm xmlns:a="http://schemas.openxmlformats.org/drawingml/2006/main">
            <a:off x="6248400" y="4724400"/>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8. LeBaron V, et al. The Oncologist, 2014.</a:t>
            </a:r>
          </a:p>
        </p:txBody>
      </p:sp>
      <p:sp>
        <p:nvSpPr>
          <p:cNvPr id="24" name="Reference 8 title">
            <a:extLst xmlns:a="http://schemas.openxmlformats.org/drawingml/2006/main">
              <a:ext uri="{FF2B5EF4-FFF2-40B4-BE49-F238E27FC236}">
                <a16:creationId xmlns:a16="http://schemas.microsoft.com/office/drawing/2014/main" id="{D3694978-2BCB-4F5A-8D75-411C6C9B85DB}"/>
              </a:ext>
            </a:extLst>
          </p:cNvPr>
          <p:cNvSpPr>
            <a:spLocks xmlns:a="http://schemas.openxmlformats.org/drawingml/2006/main" noGrp="1"/>
          </p:cNvSpPr>
          <p:nvPr/>
        </p:nvSpPr>
        <p:spPr>
          <a:xfrm xmlns:a="http://schemas.openxmlformats.org/drawingml/2006/main">
            <a:off x="6248400" y="4981575"/>
            <a:ext cx="5391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36bff3935b7b4941"/>
              </a:rPr>
              <a:t>An Ethnographic Study of Barriers to Cancer Pain Management and Opioid Availability in India</a:t>
            </a:r>
          </a:p>
        </p:txBody>
      </p:sp>
      <p:sp>
        <p:nvSpPr>
          <p:cNvPr id="25" name="Reference 8 link">
            <a:extLst xmlns:a="http://schemas.openxmlformats.org/drawingml/2006/main">
              <a:ext uri="{FF2B5EF4-FFF2-40B4-BE49-F238E27FC236}">
                <a16:creationId xmlns:a16="http://schemas.microsoft.com/office/drawing/2014/main" id="{9B695DE4-CED3-4360-9DDC-53D44638E4BC}"/>
              </a:ext>
            </a:extLst>
          </p:cNvPr>
          <p:cNvSpPr>
            <a:spLocks xmlns:a="http://schemas.openxmlformats.org/drawingml/2006/main" noGrp="1"/>
          </p:cNvSpPr>
          <p:nvPr/>
        </p:nvSpPr>
        <p:spPr>
          <a:xfrm xmlns:a="http://schemas.openxmlformats.org/drawingml/2006/main">
            <a:off x="6248400" y="541020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edb18ac709424540"/>
              </a:rPr>
              <a:t>https://doi.org/10.1634/theoncologist.2013-0435</a:t>
            </a:r>
          </a:p>
        </p:txBody>
      </p:sp>
      <p:sp>
        <p:nvSpPr>
          <p:cNvPr id="26" name="Reference 9 author">
            <a:extLst xmlns:a="http://schemas.openxmlformats.org/drawingml/2006/main">
              <a:ext uri="{FF2B5EF4-FFF2-40B4-BE49-F238E27FC236}">
                <a16:creationId xmlns:a16="http://schemas.microsoft.com/office/drawing/2014/main" id="{148C3078-7984-42FA-9EF1-EC0116C823B7}"/>
              </a:ext>
            </a:extLst>
          </p:cNvPr>
          <p:cNvSpPr>
            <a:spLocks xmlns:a="http://schemas.openxmlformats.org/drawingml/2006/main" noGrp="1"/>
          </p:cNvSpPr>
          <p:nvPr/>
        </p:nvSpPr>
        <p:spPr>
          <a:xfrm xmlns:a="http://schemas.openxmlformats.org/drawingml/2006/main">
            <a:off x="6248400" y="5800725"/>
            <a:ext cx="53911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23" b="1">
                <a:solidFill>
                  <a:srgbClr val="173F33"/>
                </a:solidFill>
                <a:latin typeface="Arial"/>
                <a:ea typeface="Arial"/>
                <a:cs typeface="Arial"/>
              </a:defRPr>
            </a:pPr>
            <a:r>
              <a:rPr sz="1223" b="1">
                <a:solidFill>
                  <a:srgbClr val="173F33"/>
                </a:solidFill>
                <a:latin typeface="Arial"/>
                <a:ea typeface="Arial"/>
                <a:cs typeface="Arial"/>
              </a:rPr>
              <a:t>9. Forsythe LP, et al. J Clin Oncol, 2013. U.S. cohort.</a:t>
            </a:r>
          </a:p>
        </p:txBody>
      </p:sp>
      <p:sp>
        <p:nvSpPr>
          <p:cNvPr id="27" name="Reference 9 title">
            <a:extLst xmlns:a="http://schemas.openxmlformats.org/drawingml/2006/main">
              <a:ext uri="{FF2B5EF4-FFF2-40B4-BE49-F238E27FC236}">
                <a16:creationId xmlns:a16="http://schemas.microsoft.com/office/drawing/2014/main" id="{00335ACC-6B91-4DA2-8F3E-0134D03C09AA}"/>
              </a:ext>
            </a:extLst>
          </p:cNvPr>
          <p:cNvSpPr>
            <a:spLocks xmlns:a="http://schemas.openxmlformats.org/drawingml/2006/main" noGrp="1"/>
          </p:cNvSpPr>
          <p:nvPr/>
        </p:nvSpPr>
        <p:spPr>
          <a:xfrm xmlns:a="http://schemas.openxmlformats.org/drawingml/2006/main">
            <a:off x="6248400" y="6057900"/>
            <a:ext cx="53911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290" b="0">
                <a:solidFill>
                  <a:srgbClr val="145AC6"/>
                </a:solidFill>
                <a:latin typeface="Arial"/>
                <a:ea typeface="Arial"/>
                <a:cs typeface="Arial"/>
              </a:defRPr>
            </a:pPr>
            <a:r>
              <a:rPr sz="1290" b="0" u="sng">
                <a:solidFill>
                  <a:srgbClr val="145AC6"/>
                </a:solidFill>
                <a:latin typeface="Arial"/>
                <a:ea typeface="Arial"/>
                <a:cs typeface="Arial"/>
                <a:hlinkClick xmlns:r="http://schemas.openxmlformats.org/officeDocument/2006/relationships" r:id="R4bde89ead8294675"/>
              </a:rPr>
              <a:t>Receipt of Psychosocial Care Among Cancer Survivors in the United States</a:t>
            </a:r>
          </a:p>
        </p:txBody>
      </p:sp>
      <p:sp>
        <p:nvSpPr>
          <p:cNvPr id="28" name="Reference 9 link">
            <a:extLst xmlns:a="http://schemas.openxmlformats.org/drawingml/2006/main">
              <a:ext uri="{FF2B5EF4-FFF2-40B4-BE49-F238E27FC236}">
                <a16:creationId xmlns:a16="http://schemas.microsoft.com/office/drawing/2014/main" id="{FF7E3300-15CA-475B-BDA9-E9203A461A43}"/>
              </a:ext>
            </a:extLst>
          </p:cNvPr>
          <p:cNvSpPr>
            <a:spLocks xmlns:a="http://schemas.openxmlformats.org/drawingml/2006/main" noGrp="1"/>
          </p:cNvSpPr>
          <p:nvPr/>
        </p:nvSpPr>
        <p:spPr>
          <a:xfrm xmlns:a="http://schemas.openxmlformats.org/drawingml/2006/main">
            <a:off x="6248400" y="6534150"/>
            <a:ext cx="53911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rmAutofit fontScale="100000"/>
          </a:bodyPr>
          <a:lstStyle xmlns:a="http://schemas.openxmlformats.org/drawingml/2006/main"/>
          <a:p xmlns:a="http://schemas.openxmlformats.org/drawingml/2006/main">
            <a:pPr>
              <a:defRPr sz="1163" b="0">
                <a:solidFill>
                  <a:srgbClr val="145AC6"/>
                </a:solidFill>
                <a:latin typeface="Arial"/>
                <a:ea typeface="Arial"/>
                <a:cs typeface="Arial"/>
              </a:defRPr>
            </a:pPr>
            <a:r>
              <a:rPr sz="1163" b="0" u="sng">
                <a:solidFill>
                  <a:srgbClr val="145AC6"/>
                </a:solidFill>
                <a:latin typeface="Arial"/>
                <a:ea typeface="Arial"/>
                <a:cs typeface="Arial"/>
                <a:hlinkClick xmlns:r="http://schemas.openxmlformats.org/officeDocument/2006/relationships" r:id="Ra00d6683a98d42f6"/>
              </a:rPr>
              <a:t>https://doi.org/10.1200/JCO.2012.46.2101</a:t>
            </a:r>
          </a:p>
        </p:txBody>
      </p:sp>
    </p:spTree>
    <p:extLst>
      <p:ext uri="{BB962C8B-B14F-4D97-AF65-F5344CB8AC3E}">
        <p14:creationId xmlns:p14="http://schemas.microsoft.com/office/powerpoint/2010/main" val="3825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2026-09-24T06:54:54.4390000Z</dcterms:created>
  <dcterms:modified xsi:type="dcterms:W3CDTF">2026-09-24T06:54:54.4390000Z</dcterms:modified>
</coreProperties>
</file>