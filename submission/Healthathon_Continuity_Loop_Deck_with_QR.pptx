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14b95ca2b54e68" /><Relationship Type="http://schemas.openxmlformats.org/officeDocument/2006/relationships/extended-properties" Target="/docProps/app.xml" Id="R7597e8296eb04ef8" /><Relationship Type="http://schemas.openxmlformats.org/officeDocument/2006/relationships/officeDocument" Target="/ppt/presentation.xml" Id="R82cb2f35f6d14e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588a1fa92f447a"/>
  </p:sldMasterIdLst>
  <p:notesMasterIdLst>
    <p:notesMasterId xmlns:r="http://schemas.openxmlformats.org/officeDocument/2006/relationships" r:id="R5d7ab8649b9f45a6"/>
  </p:notesMasterIdLst>
  <p:sldIdLst>
    <p:sldId xmlns:r="http://schemas.openxmlformats.org/officeDocument/2006/relationships" id="256" r:id="Rebd010f083d842ce"/>
    <p:sldId xmlns:r="http://schemas.openxmlformats.org/officeDocument/2006/relationships" id="257" r:id="R49fbebfe26814a3d"/>
    <p:sldId xmlns:r="http://schemas.openxmlformats.org/officeDocument/2006/relationships" id="258" r:id="R71245263553b4f99"/>
    <p:sldId xmlns:r="http://schemas.openxmlformats.org/officeDocument/2006/relationships" id="259" r:id="R3ee770be8b534912"/>
    <p:sldId xmlns:r="http://schemas.openxmlformats.org/officeDocument/2006/relationships" id="260" r:id="R888e10114d3b4e02"/>
    <p:sldId xmlns:r="http://schemas.openxmlformats.org/officeDocument/2006/relationships" id="261" r:id="R38dbaca3e58f4fd1"/>
    <p:sldId xmlns:r="http://schemas.openxmlformats.org/officeDocument/2006/relationships" id="262" r:id="R173a98a8bf8149cf"/>
    <p:sldId xmlns:r="http://schemas.openxmlformats.org/officeDocument/2006/relationships" id="263" r:id="Rfd0e8170e95f45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3e68a67f4348fa" /><Relationship Type="http://schemas.openxmlformats.org/officeDocument/2006/relationships/slideMaster" Target="/ppt/slideMasters/slideMaster1.xml" Id="Ra1588a1fa92f447a" /><Relationship Type="http://schemas.openxmlformats.org/officeDocument/2006/relationships/notesMaster" Target="/ppt/notesMasters/notesMaster1.xml" Id="R5d7ab8649b9f45a6" /><Relationship Type="http://schemas.openxmlformats.org/officeDocument/2006/relationships/presProps" Target="/ppt/presProps.xml" Id="R4ee24e4fb7294d45" /><Relationship Type="http://schemas.openxmlformats.org/officeDocument/2006/relationships/tableStyles" Target="/ppt/tableStyles.xml" Id="R2087b01a2f564a92" /><Relationship Type="http://schemas.openxmlformats.org/officeDocument/2006/relationships/slide" Target="/ppt/slides/slide1.xml" Id="Rebd010f083d842ce" /><Relationship Type="http://schemas.openxmlformats.org/officeDocument/2006/relationships/slide" Target="/ppt/slides/slide2.xml" Id="R49fbebfe26814a3d" /><Relationship Type="http://schemas.openxmlformats.org/officeDocument/2006/relationships/slide" Target="/ppt/slides/slide3.xml" Id="R71245263553b4f99" /><Relationship Type="http://schemas.openxmlformats.org/officeDocument/2006/relationships/slide" Target="/ppt/slides/slide4.xml" Id="R3ee770be8b534912" /><Relationship Type="http://schemas.openxmlformats.org/officeDocument/2006/relationships/slide" Target="/ppt/slides/slide5.xml" Id="R888e10114d3b4e02" /><Relationship Type="http://schemas.openxmlformats.org/officeDocument/2006/relationships/slide" Target="/ppt/slides/slide6.xml" Id="R38dbaca3e58f4fd1" /><Relationship Type="http://schemas.openxmlformats.org/officeDocument/2006/relationships/slide" Target="/ppt/slides/slide7.xml" Id="R173a98a8bf8149cf" /><Relationship Type="http://schemas.openxmlformats.org/officeDocument/2006/relationships/slide" Target="/ppt/slides/slide8.xml" Id="Rfd0e8170e95f45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2a3838d01d42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08209729a643ea" /><Relationship Type="http://schemas.openxmlformats.org/officeDocument/2006/relationships/notesMaster" Target="/ppt/notesMasters/notesMaster1.xml" Id="R150c4df980864b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5c8d0b2c7c4443" /><Relationship Type="http://schemas.openxmlformats.org/officeDocument/2006/relationships/notesMaster" Target="/ppt/notesMasters/notesMaster1.xml" Id="Rd9da2dbdd5ea40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7c86036f9d4b9e" /><Relationship Type="http://schemas.openxmlformats.org/officeDocument/2006/relationships/notesMaster" Target="/ppt/notesMasters/notesMaster1.xml" Id="R3f5be856ac0a43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08e71d2e35456a" /><Relationship Type="http://schemas.openxmlformats.org/officeDocument/2006/relationships/notesMaster" Target="/ppt/notesMasters/notesMaster1.xml" Id="Rd3f0cb34b1a246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247ef490284f5c" /><Relationship Type="http://schemas.openxmlformats.org/officeDocument/2006/relationships/notesMaster" Target="/ppt/notesMasters/notesMaster1.xml" Id="R0daaf9daa9cf40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52071569c54241" /><Relationship Type="http://schemas.openxmlformats.org/officeDocument/2006/relationships/notesMaster" Target="/ppt/notesMasters/notesMaster1.xml" Id="R3ef49841fbea40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7a586175554734" /><Relationship Type="http://schemas.openxmlformats.org/officeDocument/2006/relationships/notesMaster" Target="/ppt/notesMasters/notesMaster1.xml" Id="Rd477c4536df346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5e23c0e3f24388" /><Relationship Type="http://schemas.openxmlformats.org/officeDocument/2006/relationships/notesMaster" Target="/ppt/notesMasters/notesMaster1.xml" Id="Rabcf6188834248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continuity failure and the product's narrow promise: keep a clinician-owned conversation current and retrievable when care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C:\Users\basit\Downloads\CODE\healthathon\VENTURE_DECISION_MATRIX.md (selected use case and product position)</a:t>
            </a:r>
          </a:p>
          <a:p xmlns:a="http://schemas.openxmlformats.org/drawingml/2006/main">
            <a:r>
              <a:t>- C:\Users\basit\Downloads\CODE\healthathon\MEETING_SUMMARY_FOR_TEAM.md (one-sentence concept)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the failure as a continuity problem: the conversation may exist somewhere, but it does not reliably travel with the patient's changing care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C:\Users\basit\Downloads\CODE\healthathon\MEETING_SUMMARY_FOR_TEAM.md (problem described by clinicians)</a:t>
            </a:r>
          </a:p>
          <a:p xmlns:a="http://schemas.openxmlformats.org/drawingml/2006/main">
            <a:r>
              <a:t>- C:\Users\basit\Downloads\CODE\healthathon\VENTURE_DECISION_MATRIX.md (visible handoff wedge and operational product)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screenshot as the product proof point. The value is the controlled handoff gate: the clinician records the access purpose and relationship before retrieving the current verified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C:\Users\basit\Downloads\CODE\healthathon\PRODUCT_REQUIREMENTS.md (emergency retrieval requirements)</a:t>
            </a:r>
          </a:p>
          <a:p xmlns:a="http://schemas.openxmlformats.org/drawingml/2006/main">
            <a:r>
              <a:t>- C:\Users\basit\Downloads\CODE\healthathon\PROTOTYPE_HANDOFF.md (demonstrated retrieval workflow and boundaries)</a:t>
            </a:r>
          </a:p>
          <a:p xmlns:a="http://schemas.openxmlformats.org/drawingml/2006/main">
            <a:r>
              <a:t>- Visual asset: https://continuity-loop-healthathon.vercel.app/ (captured 27 August 2026 at 1440 x 1000 CSS pixels; synthetic data)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worklist is the operational layer, but the record is only released after the physician review and acknowledgement gate; retrieval ends with reconfirmation, not an automatic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C:\Users\basit\Downloads\CODE\healthathon\PRODUCT_REQUIREMENTS.md (P0 workflow, verification, versioning and retrieval requirements)</a:t>
            </a:r>
          </a:p>
          <a:p xmlns:a="http://schemas.openxmlformats.org/drawingml/2006/main">
            <a:r>
              <a:t>- C:\Users\basit\Downloads\CODE\healthathon\PROTOTYPE_HANDOFF.md (demonstrated workflow)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trust mechanism, not an AI magic trick. The source excerpt anchors the field; unsupported silence remains visible, and the physician gate is what makes release possible.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C:\Users\basit\Downloads\CODE\healthathon\PRODUCT_REQUIREMENTS.md (source mapping, unresolved fields and verification gate)</a:t>
            </a:r>
          </a:p>
          <a:p xmlns:a="http://schemas.openxmlformats.org/drawingml/2006/main">
            <a:r>
              <a:t>- C:\Users\basit\Downloads\CODE\healthathon\PROTOTYPE_HANDOFF.md (deterministic extraction and no external AI claim)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the exclusions plainly. These are not missing features to hide; they are the safety boundary of the hackathon prototype and the reason the current proof can be evaluated honestly.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C:\Users\basit\Downloads\CODE\healthathon\PRODUCT_REQUIREMENTS.md (demonstration integrity and non-goals)</a:t>
            </a:r>
          </a:p>
          <a:p xmlns:a="http://schemas.openxmlformats.org/drawingml/2006/main">
            <a:r>
              <a:t>- C:\Users\basit\Downloads\CODE\healthathon\PROTOTYPE_HANDOFF.md (current implementation boundary)</a:t>
            </a:r>
          </a:p>
          <a:p xmlns:a="http://schemas.openxmlformats.org/drawingml/2006/main">
            <a:r>
              <a:t>- C:\Users\basit\Downloads\CODE\healthathon\MEETING_SUMMARY_FOR_TEAM.md (clinical summary, not legal/treatment authority)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next step concrete. The 20-case exercise is a proposed validation plan; it is not a result. Compare the product record to a clinician-authored reference and measure fidelity, uncertainty capture and retrieval clarity.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C:\Users\basit\Downloads\CODE\healthathon\VENTURE_DECISION_MATRIX.md (20-case pilot hypothesis and measures)</a:t>
            </a:r>
          </a:p>
          <a:p xmlns:a="http://schemas.openxmlformats.org/drawingml/2006/main">
            <a:r>
              <a:t>- C:\Users\basit\Downloads\CODE\healthathon\PRODUCT_REQUIREMENTS.md (eight-domain checklist and no-inference requirement)</a:t>
            </a:r>
          </a:p>
          <a:p xmlns:a="http://schemas.openxmlformats.org/drawingml/2006/main">
            <a:r>
              <a:t>- C:\Users\basit\Downloads\CODE\healthathon\PROTOTYPE_HANDOFF.md (current MVP scorecard boundaries)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decision, not a generic thank-you. The product is ready for clinician-owned validation, but the clinical protocol, reference cases, pilot owner and access semantics still need explicit agreement.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C:\Users\basit\Downloads\CODE\healthathon\TOMORROW_CALL_CARD.md (clinician decision gate and required inputs)</a:t>
            </a:r>
          </a:p>
          <a:p xmlns:a="http://schemas.openxmlformats.org/drawingml/2006/main">
            <a:r>
              <a:t>- C:\Users\basit\Downloads\CODE\healthathon\VENTURE_DECISION_MATRIX.md (remaining clinical decisions and pilot hypothesis)</a:t>
            </a:r>
          </a:p>
          <a:p xmlns:a="http://schemas.openxmlformats.org/drawingml/2006/main">
            <a:r>
              <a:t>- C:\Users\basit\Downloads\CODE\healthathon\PRODUCT_REQUIREMENTS.md (P1 clinician protocol requirements)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c354039af04a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291c26e88e41fe" /><Relationship Type="http://schemas.openxmlformats.org/officeDocument/2006/relationships/slideLayout" Target="/ppt/slideLayouts/slideLayout1.xml" Id="Rbdcfbf49f09240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cfbf49f09240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bf98222f24ba2" /><Relationship Type="http://schemas.openxmlformats.org/officeDocument/2006/relationships/notesSlide" Target="/ppt/notesSlides/notesSlide1.xml" Id="Rdae46283e01b4a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5105aa3644276" /><Relationship Type="http://schemas.openxmlformats.org/officeDocument/2006/relationships/notesSlide" Target="/ppt/notesSlides/notesSlide2.xml" Id="Ra27ea24dde7a41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d1c6ada774822" /><Relationship Type="http://schemas.openxmlformats.org/officeDocument/2006/relationships/image" Target="/ppt/media/image.png" Id="R1f2e56ae685348df" /><Relationship Type="http://schemas.openxmlformats.org/officeDocument/2006/relationships/notesSlide" Target="/ppt/notesSlides/notesSlide3.xml" Id="R2f97c3a95db048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a719664db4d67" /><Relationship Type="http://schemas.openxmlformats.org/officeDocument/2006/relationships/notesSlide" Target="/ppt/notesSlides/notesSlide4.xml" Id="Rc19589a02f3648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33d507b084224" /><Relationship Type="http://schemas.openxmlformats.org/officeDocument/2006/relationships/notesSlide" Target="/ppt/notesSlides/notesSlide5.xml" Id="R8d1ff2ffeb434f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6b73c73d94edc" /><Relationship Type="http://schemas.openxmlformats.org/officeDocument/2006/relationships/notesSlide" Target="/ppt/notesSlides/notesSlide6.xml" Id="Rbdecfec8cb6643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62fcea6b6449b" /><Relationship Type="http://schemas.openxmlformats.org/officeDocument/2006/relationships/notesSlide" Target="/ppt/notesSlides/notesSlide7.xml" Id="R1316b3d016df41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df969dad24ae8" /><Relationship Type="http://schemas.openxmlformats.org/officeDocument/2006/relationships/image" Target="/ppt/media/image2.png" Id="R73b0bb4b94ce4b63" /><Relationship Type="http://schemas.openxmlformats.org/officeDocument/2006/relationships/notesSlide" Target="/ppt/notesSlides/notesSlide8.xml" Id="R40c1077e4e5e4b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44B1D880-0B53-4898-9BA1-ED0812DC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rPr>
              <a:t>CONTINUITY LOOP</a:t>
            </a:r>
          </a:p>
        </p:txBody>
      </p:sp>
      <p:sp>
        <p:nvSpPr>
          <p:cNvPr id="2" name="cover-kicker-rule">
            <a:extLst xmlns:a="http://schemas.openxmlformats.org/drawingml/2006/main">
              <a:ext uri="{FF2B5EF4-FFF2-40B4-BE49-F238E27FC236}">
                <a16:creationId xmlns:a16="http://schemas.microsoft.com/office/drawing/2014/main" id="{E80F0395-8344-46E7-BF27-081ECCB8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13A4663-40B8-4814-AE37-AE314A7C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885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Keep a clinician-owned</a:t>
            </a:r>
          </a:p>
          <a:p xmlns:a="http://schemas.openxmlformats.org/drawingml/2006/main">
            <a:pPr algn="l">
              <a:buNone/>
              <a:defRPr sz="51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conversation current.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74FF2D0-240F-49CB-93EC-04872029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Goals-of-care follow-up and verified clinical handoff for cancer care.</a:t>
            </a:r>
          </a:p>
        </p:txBody>
      </p:sp>
      <p:sp>
        <p:nvSpPr>
          <p:cNvPr id="5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9DCD6ED0-3950-4F3B-9E01-1170CDD4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CANCER CARE  /  PATIENT FOLLOW-UP &amp; CONTINUITY OF CARE  /  HACKATHON MVP</a:t>
            </a:r>
          </a:p>
        </p:txBody>
      </p:sp>
      <p:sp>
        <p:nvSpPr>
          <p:cNvPr id="6" name="cover-accent-field">
            <a:extLst xmlns:a="http://schemas.openxmlformats.org/drawingml/2006/main">
              <a:ext uri="{FF2B5EF4-FFF2-40B4-BE49-F238E27FC236}">
                <a16:creationId xmlns:a16="http://schemas.microsoft.com/office/drawing/2014/main" id="{1F928B54-9F89-4FE0-91B1-B6CFD7D2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00050"/>
            <a:ext cx="1390650" cy="541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accent-copy">
            <a:extLst xmlns:a="http://schemas.openxmlformats.org/drawingml/2006/main">
              <a:ext uri="{FF2B5EF4-FFF2-40B4-BE49-F238E27FC236}">
                <a16:creationId xmlns:a16="http://schemas.microsoft.com/office/drawing/2014/main" id="{2105D6FA-C25D-4FD6-9387-15BC83AD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000125"/>
            <a:ext cx="11239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CLINICIAN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OWNED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VERIFIED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RETRIEVABLE</a:t>
            </a:r>
          </a:p>
        </p:txBody>
      </p:sp>
      <p:sp>
        <p:nvSpPr>
          <p:cNvPr id="8" name="cover-synthetic">
            <a:extLst xmlns:a="http://schemas.openxmlformats.org/drawingml/2006/main">
              <a:ext uri="{FF2B5EF4-FFF2-40B4-BE49-F238E27FC236}">
                <a16:creationId xmlns:a16="http://schemas.microsoft.com/office/drawing/2014/main" id="{7FDD47C5-8476-4CFD-BCBC-4B594762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197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SYNTHETIC PROTOTYPE</a:t>
            </a:r>
          </a:p>
        </p:txBody>
      </p:sp>
      <p:sp>
        <p:nvSpPr>
          <p:cNvPr id="9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C5DCE897-F82B-448C-869D-664DBD36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899C88AA-4DFC-41A4-AA55-0765F48C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CONTINUITY LOOP  ·  HEALTH-A-THON 2026</a:t>
            </a:r>
          </a:p>
        </p:txBody>
      </p:sp>
      <p:sp>
        <p:nvSpPr>
          <p:cNvPr id="11" name="footer-number-1">
            <a:extLst xmlns:a="http://schemas.openxmlformats.org/drawingml/2006/main">
              <a:ext uri="{FF2B5EF4-FFF2-40B4-BE49-F238E27FC236}">
                <a16:creationId xmlns:a16="http://schemas.microsoft.com/office/drawing/2014/main" id="{8184F9D5-B5B8-4BCF-94F4-E42BFED0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188134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757D34EF-579E-4EE8-9D3D-B9309BD0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The failure is continuity, not the absence of another note.</a:t>
            </a:r>
          </a:p>
        </p:txBody>
      </p:sp>
      <p:sp>
        <p:nvSpPr>
          <p:cNvPr id="2" name="problem-intro">
            <a:extLst xmlns:a="http://schemas.openxmlformats.org/drawingml/2006/main">
              <a:ext uri="{FF2B5EF4-FFF2-40B4-BE49-F238E27FC236}">
                <a16:creationId xmlns:a16="http://schemas.microsoft.com/office/drawing/2014/main" id="{4941E05A-070E-40AC-8476-35D51C84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A difficult conversation can be unfinished, informal, or hard to find when care changes.</a:t>
            </a:r>
          </a:p>
        </p:txBody>
      </p:sp>
      <p:sp>
        <p:nvSpPr>
          <p:cNvPr id="3" name="problem-statement">
            <a:extLst xmlns:a="http://schemas.openxmlformats.org/drawingml/2006/main">
              <a:ext uri="{FF2B5EF4-FFF2-40B4-BE49-F238E27FC236}">
                <a16:creationId xmlns:a16="http://schemas.microsoft.com/office/drawing/2014/main" id="{20394E1F-D9D8-46CD-B8F5-68F37133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At night, the receiving physician and family may repeat the conversation under pressure.</a:t>
            </a:r>
          </a:p>
        </p:txBody>
      </p:sp>
      <p:sp>
        <p:nvSpPr>
          <p:cNvPr id="4" name="problem-implication">
            <a:extLst xmlns:a="http://schemas.openxmlformats.org/drawingml/2006/main">
              <a:ext uri="{FF2B5EF4-FFF2-40B4-BE49-F238E27FC236}">
                <a16:creationId xmlns:a16="http://schemas.microsoft.com/office/drawing/2014/main" id="{940731DF-FDFF-4DB2-A3AC-065DF1B6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The operational wedge is not a document repository. It is a closed loop from follow-up ownership to verified retrieval.</a:t>
            </a:r>
          </a:p>
        </p:txBody>
      </p:sp>
      <p:sp>
        <p:nvSpPr>
          <p:cNvPr id="5" name="problem-flow-rule">
            <a:extLst xmlns:a="http://schemas.openxmlformats.org/drawingml/2006/main">
              <a:ext uri="{FF2B5EF4-FFF2-40B4-BE49-F238E27FC236}">
                <a16:creationId xmlns:a16="http://schemas.microsoft.com/office/drawing/2014/main" id="{FF7D1AF2-9C9F-48B8-AE82-78009835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21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blem-node-0">
            <a:extLst xmlns:a="http://schemas.openxmlformats.org/drawingml/2006/main">
              <a:ext uri="{FF2B5EF4-FFF2-40B4-BE49-F238E27FC236}">
                <a16:creationId xmlns:a16="http://schemas.microsoft.com/office/drawing/2014/main" id="{1215B92B-4978-4166-BA5C-3C117593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5F4"/>
          </a:solidFill>
          <a:ln xmlns:a="http://schemas.openxmlformats.org/drawingml/2006/main" w="9525">
            <a:solidFill>
              <a:srgbClr val="B8C4C0"/>
            </a:solidFill>
            <a:prstDash val="solid"/>
          </a:ln>
        </p:spPr>
      </p:sp>
      <p:sp>
        <p:nvSpPr>
          <p:cNvPr id="7" name="problem-node-number-0">
            <a:extLst xmlns:a="http://schemas.openxmlformats.org/drawingml/2006/main">
              <a:ext uri="{FF2B5EF4-FFF2-40B4-BE49-F238E27FC236}">
                <a16:creationId xmlns:a16="http://schemas.microsoft.com/office/drawing/2014/main" id="{3D23D996-852C-4809-8E65-F555D81D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problem-node-title-0">
            <a:extLst xmlns:a="http://schemas.openxmlformats.org/drawingml/2006/main">
              <a:ext uri="{FF2B5EF4-FFF2-40B4-BE49-F238E27FC236}">
                <a16:creationId xmlns:a16="http://schemas.microsoft.com/office/drawing/2014/main" id="{37E6BA7E-66AE-4241-99F4-959B3540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33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Treating clinician</a:t>
            </a:r>
          </a:p>
        </p:txBody>
      </p:sp>
      <p:sp>
        <p:nvSpPr>
          <p:cNvPr id="9" name="problem-node-body-0">
            <a:extLst xmlns:a="http://schemas.openxmlformats.org/drawingml/2006/main">
              <a:ext uri="{FF2B5EF4-FFF2-40B4-BE49-F238E27FC236}">
                <a16:creationId xmlns:a16="http://schemas.microsoft.com/office/drawing/2014/main" id="{00568CC7-3558-42C6-89C7-53A6D5A5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90975"/>
            <a:ext cx="1428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Conversation may remain incomplete.</a:t>
            </a:r>
          </a:p>
        </p:txBody>
      </p:sp>
      <p:sp>
        <p:nvSpPr>
          <p:cNvPr id="10" name="problem-node-1">
            <a:extLst xmlns:a="http://schemas.openxmlformats.org/drawingml/2006/main">
              <a:ext uri="{FF2B5EF4-FFF2-40B4-BE49-F238E27FC236}">
                <a16:creationId xmlns:a16="http://schemas.microsoft.com/office/drawing/2014/main" id="{1BAB51D3-C95B-4F8E-8930-3C5FCF94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19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5F4"/>
          </a:solidFill>
          <a:ln xmlns:a="http://schemas.openxmlformats.org/drawingml/2006/main" w="9525">
            <a:solidFill>
              <a:srgbClr val="B8C4C0"/>
            </a:solidFill>
            <a:prstDash val="solid"/>
          </a:ln>
        </p:spPr>
      </p:sp>
      <p:sp>
        <p:nvSpPr>
          <p:cNvPr id="11" name="problem-node-number-1">
            <a:extLst xmlns:a="http://schemas.openxmlformats.org/drawingml/2006/main">
              <a:ext uri="{FF2B5EF4-FFF2-40B4-BE49-F238E27FC236}">
                <a16:creationId xmlns:a16="http://schemas.microsoft.com/office/drawing/2014/main" id="{005DA697-F1C9-4470-8E08-3C22E945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problem-node-title-1">
            <a:extLst xmlns:a="http://schemas.openxmlformats.org/drawingml/2006/main">
              <a:ext uri="{FF2B5EF4-FFF2-40B4-BE49-F238E27FC236}">
                <a16:creationId xmlns:a16="http://schemas.microsoft.com/office/drawing/2014/main" id="{9DA25C90-3231-4735-AD63-97B0CD5E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333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Patient + family</a:t>
            </a:r>
          </a:p>
        </p:txBody>
      </p:sp>
      <p:sp>
        <p:nvSpPr>
          <p:cNvPr id="13" name="problem-node-body-1">
            <a:extLst xmlns:a="http://schemas.openxmlformats.org/drawingml/2006/main">
              <a:ext uri="{FF2B5EF4-FFF2-40B4-BE49-F238E27FC236}">
                <a16:creationId xmlns:a16="http://schemas.microsoft.com/office/drawing/2014/main" id="{78FCE757-5482-489C-B6D5-CD6A9821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990975"/>
            <a:ext cx="1428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Preferences can change or need revisiting.</a:t>
            </a:r>
          </a:p>
        </p:txBody>
      </p:sp>
      <p:sp>
        <p:nvSpPr>
          <p:cNvPr id="14" name="problem-node-2">
            <a:extLst xmlns:a="http://schemas.openxmlformats.org/drawingml/2006/main">
              <a:ext uri="{FF2B5EF4-FFF2-40B4-BE49-F238E27FC236}">
                <a16:creationId xmlns:a16="http://schemas.microsoft.com/office/drawing/2014/main" id="{E4C423FC-85AC-4D8E-9D42-93F5E66F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19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problem-node-number-2">
            <a:extLst xmlns:a="http://schemas.openxmlformats.org/drawingml/2006/main">
              <a:ext uri="{FF2B5EF4-FFF2-40B4-BE49-F238E27FC236}">
                <a16:creationId xmlns:a16="http://schemas.microsoft.com/office/drawing/2014/main" id="{0FA45E6F-04B9-4B01-B422-65F40CAE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2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problem-node-title-2">
            <a:extLst xmlns:a="http://schemas.openxmlformats.org/drawingml/2006/main">
              <a:ext uri="{FF2B5EF4-FFF2-40B4-BE49-F238E27FC236}">
                <a16:creationId xmlns:a16="http://schemas.microsoft.com/office/drawing/2014/main" id="{F4D48CEA-7AB3-4B1F-8DCC-383F41D4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333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Receiving physician</a:t>
            </a:r>
          </a:p>
        </p:txBody>
      </p:sp>
      <p:sp>
        <p:nvSpPr>
          <p:cNvPr id="17" name="problem-node-body-2">
            <a:extLst xmlns:a="http://schemas.openxmlformats.org/drawingml/2006/main">
              <a:ext uri="{FF2B5EF4-FFF2-40B4-BE49-F238E27FC236}">
                <a16:creationId xmlns:a16="http://schemas.microsoft.com/office/drawing/2014/main" id="{4D85828D-B18E-4ACA-929A-69000B14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990975"/>
            <a:ext cx="1428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The latest verified context must be findable.</a:t>
            </a:r>
          </a:p>
        </p:txBody>
      </p:sp>
      <p:sp>
        <p:nvSpPr>
          <p:cNvPr id="18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C63D5E84-07D4-44EE-98EA-D73AF5D9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F712A800-DCE7-448E-A378-5CD18BFC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CONTINUITY LOOP  ·  HEALTH-A-THON 2026</a:t>
            </a:r>
          </a:p>
        </p:txBody>
      </p:sp>
      <p:sp>
        <p:nvSpPr>
          <p:cNvPr id="20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0A4DAB57-35BD-4324-A5C9-9D260803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965092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wedge-title">
            <a:extLst xmlns:a="http://schemas.openxmlformats.org/drawingml/2006/main">
              <a:ext uri="{FF2B5EF4-FFF2-40B4-BE49-F238E27FC236}">
                <a16:creationId xmlns:a16="http://schemas.microsoft.com/office/drawing/2014/main" id="{C30D5905-F9F5-4724-AB2C-D6A35EE6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The first high-trust moment is a verified handoff.</a:t>
            </a:r>
          </a:p>
        </p:txBody>
      </p:sp>
      <p:sp>
        <p:nvSpPr>
          <p:cNvPr id="2" name="wedge-kicker">
            <a:extLst xmlns:a="http://schemas.openxmlformats.org/drawingml/2006/main">
              <a:ext uri="{FF2B5EF4-FFF2-40B4-BE49-F238E27FC236}">
                <a16:creationId xmlns:a16="http://schemas.microsoft.com/office/drawing/2014/main" id="{AF536FA5-64DF-49D4-A6CD-FC45A14A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rPr>
              <a:t>RECEIVING PHYSICIAN</a:t>
            </a:r>
          </a:p>
        </p:txBody>
      </p:sp>
      <p:sp>
        <p:nvSpPr>
          <p:cNvPr id="3" name="wedge-claim">
            <a:extLst xmlns:a="http://schemas.openxmlformats.org/drawingml/2006/main">
              <a:ext uri="{FF2B5EF4-FFF2-40B4-BE49-F238E27FC236}">
                <a16:creationId xmlns:a16="http://schemas.microsoft.com/office/drawing/2014/main" id="{71C02364-539E-4E04-A7D4-6FEBA521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333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Find the latest</a:t>
            </a:r>
          </a:p>
          <a:p xmlns:a="http://schemas.openxmlformats.org/drawingml/2006/main">
            <a:pPr algn="l">
              <a:buNone/>
              <a:defRPr sz="27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record—after</a:t>
            </a:r>
          </a:p>
          <a:p xmlns:a="http://schemas.openxmlformats.org/drawingml/2006/main">
            <a:pPr algn="l">
              <a:buNone/>
              <a:defRPr sz="27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recording why.</a:t>
            </a:r>
          </a:p>
        </p:txBody>
      </p:sp>
      <p:sp>
        <p:nvSpPr>
          <p:cNvPr id="4" name="wedge-body">
            <a:extLst xmlns:a="http://schemas.openxmlformats.org/drawingml/2006/main">
              <a:ext uri="{FF2B5EF4-FFF2-40B4-BE49-F238E27FC236}">
                <a16:creationId xmlns:a16="http://schemas.microsoft.com/office/drawing/2014/main" id="{3033BA5D-49F4-4DA3-A1A7-8F8E40BD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The receiving clinician sees a controlled access gate before the verified summary is opened.</a:t>
            </a:r>
          </a:p>
        </p:txBody>
      </p:sp>
      <p:sp>
        <p:nvSpPr>
          <p:cNvPr id="5" name="wedge-bullet-1-mark">
            <a:extLst xmlns:a="http://schemas.openxmlformats.org/drawingml/2006/main">
              <a:ext uri="{FF2B5EF4-FFF2-40B4-BE49-F238E27FC236}">
                <a16:creationId xmlns:a16="http://schemas.microsoft.com/office/drawing/2014/main" id="{B232330B-404B-4028-B81C-DA5D882F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edge-bullet-1-text">
            <a:extLst xmlns:a="http://schemas.openxmlformats.org/drawingml/2006/main">
              <a:ext uri="{FF2B5EF4-FFF2-40B4-BE49-F238E27FC236}">
                <a16:creationId xmlns:a16="http://schemas.microsoft.com/office/drawing/2014/main" id="{B68B6053-ACE0-4CC1-B584-312DA983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Patient-bound record</a:t>
            </a:r>
          </a:p>
        </p:txBody>
      </p:sp>
      <p:sp>
        <p:nvSpPr>
          <p:cNvPr id="7" name="wedge-bullet-2-mark">
            <a:extLst xmlns:a="http://schemas.openxmlformats.org/drawingml/2006/main">
              <a:ext uri="{FF2B5EF4-FFF2-40B4-BE49-F238E27FC236}">
                <a16:creationId xmlns:a16="http://schemas.microsoft.com/office/drawing/2014/main" id="{7D2A74C4-AE02-4473-9AEC-97A09B6F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43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edge-bullet-2-text">
            <a:extLst xmlns:a="http://schemas.openxmlformats.org/drawingml/2006/main">
              <a:ext uri="{FF2B5EF4-FFF2-40B4-BE49-F238E27FC236}">
                <a16:creationId xmlns:a16="http://schemas.microsoft.com/office/drawing/2014/main" id="{F40191E1-7E6D-4E04-87E7-F6141425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Purpose + care relationship</a:t>
            </a:r>
          </a:p>
        </p:txBody>
      </p:sp>
      <p:sp>
        <p:nvSpPr>
          <p:cNvPr id="9" name="wedge-bullet-3-mark">
            <a:extLst xmlns:a="http://schemas.openxmlformats.org/drawingml/2006/main">
              <a:ext uri="{FF2B5EF4-FFF2-40B4-BE49-F238E27FC236}">
                <a16:creationId xmlns:a16="http://schemas.microsoft.com/office/drawing/2014/main" id="{4BFAF255-EFAB-4BA8-B884-AB702DBD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edge-bullet-3-text">
            <a:extLst xmlns:a="http://schemas.openxmlformats.org/drawingml/2006/main">
              <a:ext uri="{FF2B5EF4-FFF2-40B4-BE49-F238E27FC236}">
                <a16:creationId xmlns:a16="http://schemas.microsoft.com/office/drawing/2014/main" id="{33C2331E-D018-482A-959B-27226EF1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483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Latest version + audit event</a:t>
            </a:r>
          </a:p>
        </p:txBody>
      </p:sp>
      <p:sp>
        <p:nvSpPr>
          <p:cNvPr id="11" name="wedge-image-frame">
            <a:extLst xmlns:a="http://schemas.openxmlformats.org/drawingml/2006/main">
              <a:ext uri="{FF2B5EF4-FFF2-40B4-BE49-F238E27FC236}">
                <a16:creationId xmlns:a16="http://schemas.microsoft.com/office/drawing/2014/main" id="{1D81C958-3C25-4D43-8FE9-220DA759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81125"/>
            <a:ext cx="6572250" cy="45720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2F5F4"/>
          </a:solidFill>
          <a:ln xmlns:a="http://schemas.openxmlformats.org/drawingml/2006/main" w="9525">
            <a:solidFill>
              <a:srgbClr val="B8C4C0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e56ae685348df"/>
          <a:stretch xmlns:a="http://schemas.openxmlformats.org/drawingml/2006/main"/>
        </p:blipFill>
        <p:spPr>
          <a:xfrm xmlns:a="http://schemas.openxmlformats.org/drawingml/2006/main">
            <a:off x="5467731" y="1562100"/>
            <a:ext cx="6076188" cy="4219575"/>
          </a:xfrm>
          <a:prstGeom xmlns:a="http://schemas.openxmlformats.org/drawingml/2006/main" prst="rect">
            <a:avLst/>
          </a:prstGeom>
        </p:spPr>
      </p:pic>
      <p:sp>
        <p:nvSpPr>
          <p:cNvPr id="13" name="wedge-caption">
            <a:extLst xmlns:a="http://schemas.openxmlformats.org/drawingml/2006/main">
              <a:ext uri="{FF2B5EF4-FFF2-40B4-BE49-F238E27FC236}">
                <a16:creationId xmlns:a16="http://schemas.microsoft.com/office/drawing/2014/main" id="{357C3C1E-5EFC-4253-BB83-4AB2534F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829300"/>
            <a:ext cx="624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Production UI capture · synthetic data · emergency access gate</a:t>
            </a:r>
          </a:p>
        </p:txBody>
      </p:sp>
      <p:sp>
        <p:nvSpPr>
          <p:cNvPr id="1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373742D6-7F71-4FC9-A4D9-D3B2E386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7E739802-0871-4BE2-BABD-8DFDCB85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CONTINUITY LOOP  ·  HEALTH-A-THON 2026</a:t>
            </a:r>
          </a:p>
        </p:txBody>
      </p:sp>
      <p:sp>
        <p:nvSpPr>
          <p:cNvPr id="16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8E02E0F9-95EE-4F0E-ACA7-0009A657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707697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workflow-title">
            <a:extLst xmlns:a="http://schemas.openxmlformats.org/drawingml/2006/main">
              <a:ext uri="{FF2B5EF4-FFF2-40B4-BE49-F238E27FC236}">
                <a16:creationId xmlns:a16="http://schemas.microsoft.com/office/drawing/2014/main" id="{D871FB9B-BC35-4732-94F8-A054C332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A closed loop connects follow-up, documentation, verification and retrieval.</a:t>
            </a:r>
          </a:p>
        </p:txBody>
      </p:sp>
      <p:sp>
        <p:nvSpPr>
          <p:cNvPr id="2" name="workflow-intro">
            <a:extLst xmlns:a="http://schemas.openxmlformats.org/drawingml/2006/main">
              <a:ext uri="{FF2B5EF4-FFF2-40B4-BE49-F238E27FC236}">
                <a16:creationId xmlns:a16="http://schemas.microsoft.com/office/drawing/2014/main" id="{28EE369D-1370-4FBB-AEEC-5D162C54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Five clinician-owned states make the continuity handoff explicit.</a:t>
            </a:r>
          </a:p>
        </p:txBody>
      </p:sp>
      <p:sp>
        <p:nvSpPr>
          <p:cNvPr id="3" name="workflow-spine">
            <a:extLst xmlns:a="http://schemas.openxmlformats.org/drawingml/2006/main">
              <a:ext uri="{FF2B5EF4-FFF2-40B4-BE49-F238E27FC236}">
                <a16:creationId xmlns:a16="http://schemas.microsoft.com/office/drawing/2014/main" id="{3BDBF849-E798-4323-A33A-BC14869C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85975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orkflow-spine-node-0">
            <a:extLst xmlns:a="http://schemas.openxmlformats.org/drawingml/2006/main">
              <a:ext uri="{FF2B5EF4-FFF2-40B4-BE49-F238E27FC236}">
                <a16:creationId xmlns:a16="http://schemas.microsoft.com/office/drawing/2014/main" id="{01CAE8F3-D7F4-4176-BE4A-2D13F92B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71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workflow-spine-node-1">
            <a:extLst xmlns:a="http://schemas.openxmlformats.org/drawingml/2006/main">
              <a:ext uri="{FF2B5EF4-FFF2-40B4-BE49-F238E27FC236}">
                <a16:creationId xmlns:a16="http://schemas.microsoft.com/office/drawing/2014/main" id="{7A6F39C9-C11C-4078-8E4C-139A4E57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71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workflow-spine-node-2">
            <a:extLst xmlns:a="http://schemas.openxmlformats.org/drawingml/2006/main">
              <a:ext uri="{FF2B5EF4-FFF2-40B4-BE49-F238E27FC236}">
                <a16:creationId xmlns:a16="http://schemas.microsoft.com/office/drawing/2014/main" id="{52C5E232-C42A-4F1E-9548-F5737817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71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workflow-spine-node-3">
            <a:extLst xmlns:a="http://schemas.openxmlformats.org/drawingml/2006/main">
              <a:ext uri="{FF2B5EF4-FFF2-40B4-BE49-F238E27FC236}">
                <a16:creationId xmlns:a16="http://schemas.microsoft.com/office/drawing/2014/main" id="{783BE91D-87A7-4D82-BAE2-A0242838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71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workflow-spine-node-4">
            <a:extLst xmlns:a="http://schemas.openxmlformats.org/drawingml/2006/main">
              <a:ext uri="{FF2B5EF4-FFF2-40B4-BE49-F238E27FC236}">
                <a16:creationId xmlns:a16="http://schemas.microsoft.com/office/drawing/2014/main" id="{F392E630-E738-4537-BB19-23BD3F2C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971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step-1-rule">
            <a:extLst xmlns:a="http://schemas.openxmlformats.org/drawingml/2006/main">
              <a:ext uri="{FF2B5EF4-FFF2-40B4-BE49-F238E27FC236}">
                <a16:creationId xmlns:a16="http://schemas.microsoft.com/office/drawing/2014/main" id="{B2E9420A-A0B8-4070-BD9E-D0357224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1962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E9AB2F29-4D44-4256-8117-88B10AFA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8D17EA82-5F5C-4512-AE24-CC5F0C4B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28925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Enrol + assign</a:t>
            </a:r>
          </a:p>
        </p:txBody>
      </p:sp>
      <p:sp>
        <p:nvSpPr>
          <p:cNvPr id="12" name="step-1-body">
            <a:extLst xmlns:a="http://schemas.openxmlformats.org/drawingml/2006/main">
              <a:ext uri="{FF2B5EF4-FFF2-40B4-BE49-F238E27FC236}">
                <a16:creationId xmlns:a16="http://schemas.microsoft.com/office/drawing/2014/main" id="{169E525B-5357-48B7-BD49-79F34C9E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The clinician selects the patient, owner and next review date.</a:t>
            </a:r>
          </a:p>
        </p:txBody>
      </p:sp>
      <p:sp>
        <p:nvSpPr>
          <p:cNvPr id="13" name="step-2-rule">
            <a:extLst xmlns:a="http://schemas.openxmlformats.org/drawingml/2006/main">
              <a:ext uri="{FF2B5EF4-FFF2-40B4-BE49-F238E27FC236}">
                <a16:creationId xmlns:a16="http://schemas.microsoft.com/office/drawing/2014/main" id="{59B85D2F-7025-436E-9DD7-3F57D47E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38375"/>
            <a:ext cx="1962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553C5C13-05A6-428D-B4A6-55730404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193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519A069A-9406-4FB5-88E7-5EEEB16C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28925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Talk + mark</a:t>
            </a:r>
          </a:p>
        </p:txBody>
      </p:sp>
      <p:sp>
        <p:nvSpPr>
          <p:cNvPr id="16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D6BC8DA-C69B-4B37-A5A2-6DCCD60A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5760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The clinician records discussed, not discussed or defer/clarify.</a:t>
            </a:r>
          </a:p>
        </p:txBody>
      </p:sp>
      <p:sp>
        <p:nvSpPr>
          <p:cNvPr id="17" name="step-3-rule">
            <a:extLst xmlns:a="http://schemas.openxmlformats.org/drawingml/2006/main">
              <a:ext uri="{FF2B5EF4-FFF2-40B4-BE49-F238E27FC236}">
                <a16:creationId xmlns:a16="http://schemas.microsoft.com/office/drawing/2014/main" id="{E0746CF9-552C-4616-A185-526B5F5E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38375"/>
            <a:ext cx="1962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FC0F0DBD-1038-4831-90A2-3E571733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193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9FBDF809-99F2-489E-9D1B-E8B45186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28925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Draft + trace</a:t>
            </a:r>
          </a:p>
        </p:txBody>
      </p:sp>
      <p:sp>
        <p:nvSpPr>
          <p:cNvPr id="20" name="step-3-body">
            <a:extLst xmlns:a="http://schemas.openxmlformats.org/drawingml/2006/main">
              <a:ext uri="{FF2B5EF4-FFF2-40B4-BE49-F238E27FC236}">
                <a16:creationId xmlns:a16="http://schemas.microsoft.com/office/drawing/2014/main" id="{9ECF142F-7E3D-4422-A0AB-29181448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5760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Each substantive field stays linked to the source conversation.</a:t>
            </a:r>
          </a:p>
        </p:txBody>
      </p:sp>
      <p:sp>
        <p:nvSpPr>
          <p:cNvPr id="21" name="step-4-rule">
            <a:extLst xmlns:a="http://schemas.openxmlformats.org/drawingml/2006/main">
              <a:ext uri="{FF2B5EF4-FFF2-40B4-BE49-F238E27FC236}">
                <a16:creationId xmlns:a16="http://schemas.microsoft.com/office/drawing/2014/main" id="{DB9AE477-8CD3-4EAE-9A80-037E54DA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38375"/>
            <a:ext cx="1962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8C92632B-243E-4262-9A83-02D8EA68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193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EED32E97-E219-4621-B470-AB5E38CB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28925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Review + acknowledge</a:t>
            </a:r>
          </a:p>
        </p:txBody>
      </p:sp>
      <p:sp>
        <p:nvSpPr>
          <p:cNvPr id="24" name="step-4-body">
            <a:extLst xmlns:a="http://schemas.openxmlformats.org/drawingml/2006/main">
              <a:ext uri="{FF2B5EF4-FFF2-40B4-BE49-F238E27FC236}">
                <a16:creationId xmlns:a16="http://schemas.microsoft.com/office/drawing/2014/main" id="{A29F9F14-003D-40B0-A0C2-14C3DC36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5760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The physician edits, resolves and releases the verified version.</a:t>
            </a:r>
          </a:p>
        </p:txBody>
      </p:sp>
      <p:sp>
        <p:nvSpPr>
          <p:cNvPr id="25" name="step-5-rule">
            <a:extLst xmlns:a="http://schemas.openxmlformats.org/drawingml/2006/main">
              <a:ext uri="{FF2B5EF4-FFF2-40B4-BE49-F238E27FC236}">
                <a16:creationId xmlns:a16="http://schemas.microsoft.com/office/drawing/2014/main" id="{897DA2C8-C255-480D-9087-74657422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38375"/>
            <a:ext cx="1962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ep-5-number">
            <a:extLst xmlns:a="http://schemas.openxmlformats.org/drawingml/2006/main">
              <a:ext uri="{FF2B5EF4-FFF2-40B4-BE49-F238E27FC236}">
                <a16:creationId xmlns:a16="http://schemas.microsoft.com/office/drawing/2014/main" id="{76EC3A10-95F3-4AA6-A2B2-72E1CCC0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193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7" name="step-5-title">
            <a:extLst xmlns:a="http://schemas.openxmlformats.org/drawingml/2006/main">
              <a:ext uri="{FF2B5EF4-FFF2-40B4-BE49-F238E27FC236}">
                <a16:creationId xmlns:a16="http://schemas.microsoft.com/office/drawing/2014/main" id="{7EAE76AF-2F1F-4CAC-BC8C-692CD94C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28925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Retrieve + reconfirm</a:t>
            </a:r>
          </a:p>
        </p:txBody>
      </p:sp>
      <p:sp>
        <p:nvSpPr>
          <p:cNvPr id="28" name="step-5-body">
            <a:extLst xmlns:a="http://schemas.openxmlformats.org/drawingml/2006/main">
              <a:ext uri="{FF2B5EF4-FFF2-40B4-BE49-F238E27FC236}">
                <a16:creationId xmlns:a16="http://schemas.microsoft.com/office/drawing/2014/main" id="{6F3CD6FD-4608-4083-B409-D5A10094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5760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The receiving physician records purpose and checks what may have changed.</a:t>
            </a:r>
          </a:p>
        </p:txBody>
      </p:sp>
      <p:sp>
        <p:nvSpPr>
          <p:cNvPr id="29" name="workflow-version-box">
            <a:extLst xmlns:a="http://schemas.openxmlformats.org/drawingml/2006/main">
              <a:ext uri="{FF2B5EF4-FFF2-40B4-BE49-F238E27FC236}">
                <a16:creationId xmlns:a16="http://schemas.microsoft.com/office/drawing/2014/main" id="{D09BA934-6143-446F-AC2A-239994BA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workflow-version-text">
            <a:extLst xmlns:a="http://schemas.openxmlformats.org/drawingml/2006/main">
              <a:ext uri="{FF2B5EF4-FFF2-40B4-BE49-F238E27FC236}">
                <a16:creationId xmlns:a16="http://schemas.microsoft.com/office/drawing/2014/main" id="{A24CD874-3F95-413F-8AB6-2007A86C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81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A changed preference creates a new version; nothing released is overwritten.</a:t>
            </a:r>
          </a:p>
        </p:txBody>
      </p:sp>
      <p:sp>
        <p:nvSpPr>
          <p:cNvPr id="31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8CA06079-2D14-4FEF-907F-D991CE1F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03EA4ADE-1FD1-4588-BEA1-E228A933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CONTINUITY LOOP  ·  HEALTH-A-THON 2026</a:t>
            </a:r>
          </a:p>
        </p:txBody>
      </p:sp>
      <p:sp>
        <p:nvSpPr>
          <p:cNvPr id="33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5D4F414B-0049-48DC-9C13-0101699B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518680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rust-title">
            <a:extLst xmlns:a="http://schemas.openxmlformats.org/drawingml/2006/main">
              <a:ext uri="{FF2B5EF4-FFF2-40B4-BE49-F238E27FC236}">
                <a16:creationId xmlns:a16="http://schemas.microsoft.com/office/drawing/2014/main" id="{E6A5087D-BC24-4D88-8BD1-0B4754EB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Every field has a source. Every release has a human gate.</a:t>
            </a:r>
          </a:p>
        </p:txBody>
      </p:sp>
      <p:sp>
        <p:nvSpPr>
          <p:cNvPr id="2" name="trust-source-label">
            <a:extLst xmlns:a="http://schemas.openxmlformats.org/drawingml/2006/main">
              <a:ext uri="{FF2B5EF4-FFF2-40B4-BE49-F238E27FC236}">
                <a16:creationId xmlns:a16="http://schemas.microsoft.com/office/drawing/2014/main" id="{FD9E726F-03F8-487F-89F6-3F0CECD5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rPr>
              <a:t>SYNTHETIC EXCERPT</a:t>
            </a:r>
          </a:p>
        </p:txBody>
      </p:sp>
      <p:sp>
        <p:nvSpPr>
          <p:cNvPr id="3" name="trust-source-box">
            <a:extLst xmlns:a="http://schemas.openxmlformats.org/drawingml/2006/main">
              <a:ext uri="{FF2B5EF4-FFF2-40B4-BE49-F238E27FC236}">
                <a16:creationId xmlns:a16="http://schemas.microsoft.com/office/drawing/2014/main" id="{6A8BB9D1-1425-4263-B7A2-EC508BE3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857750" cy="20955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2F5F4"/>
          </a:solidFill>
          <a:ln xmlns:a="http://schemas.openxmlformats.org/drawingml/2006/main" w="9525">
            <a:solidFill>
              <a:srgbClr val="B8C4C0"/>
            </a:solidFill>
            <a:prstDash val="solid"/>
          </a:ln>
        </p:spPr>
      </p:sp>
      <p:sp>
        <p:nvSpPr>
          <p:cNvPr id="4" name="trust-source-copy">
            <a:extLst xmlns:a="http://schemas.openxmlformats.org/drawingml/2006/main">
              <a:ext uri="{FF2B5EF4-FFF2-40B4-BE49-F238E27FC236}">
                <a16:creationId xmlns:a16="http://schemas.microsoft.com/office/drawing/2014/main" id="{BBE88E1D-9F3E-4704-8D0D-49019A45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1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1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“Patient initiated discussion</a:t>
            </a:r>
          </a:p>
          <a:p xmlns:a="http://schemas.openxmlformats.org/drawingml/2006/main">
            <a:pPr algn="l">
              <a:buNone/>
              <a:defRPr sz="1875" b="1" i="1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1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regarding family understanding</a:t>
            </a:r>
          </a:p>
          <a:p xmlns:a="http://schemas.openxmlformats.org/drawingml/2006/main">
            <a:pPr algn="l">
              <a:buNone/>
              <a:defRPr sz="1875" b="1" i="1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1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of illness.”</a:t>
            </a:r>
          </a:p>
        </p:txBody>
      </p:sp>
      <p:sp>
        <p:nvSpPr>
          <p:cNvPr id="5" name="trust-source-meta">
            <a:extLst xmlns:a="http://schemas.openxmlformats.org/drawingml/2006/main">
              <a:ext uri="{FF2B5EF4-FFF2-40B4-BE49-F238E27FC236}">
                <a16:creationId xmlns:a16="http://schemas.microsoft.com/office/drawing/2014/main" id="{4A419B70-C072-41E5-856B-90D44BBA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Source-linked draft · synthetic patient</a:t>
            </a:r>
          </a:p>
        </p:txBody>
      </p:sp>
      <p:sp>
        <p:nvSpPr>
          <p:cNvPr id="6" name="trust-connector">
            <a:extLst xmlns:a="http://schemas.openxmlformats.org/drawingml/2006/main">
              <a:ext uri="{FF2B5EF4-FFF2-40B4-BE49-F238E27FC236}">
                <a16:creationId xmlns:a16="http://schemas.microsoft.com/office/drawing/2014/main" id="{91654571-D4FE-4020-85EA-882FD7B7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81300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rust-connector-label">
            <a:extLst xmlns:a="http://schemas.openxmlformats.org/drawingml/2006/main">
              <a:ext uri="{FF2B5EF4-FFF2-40B4-BE49-F238E27FC236}">
                <a16:creationId xmlns:a16="http://schemas.microsoft.com/office/drawing/2014/main" id="{63FBCD51-81D7-44C6-BFAE-CD38D3C4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maps to</a:t>
            </a:r>
          </a:p>
        </p:txBody>
      </p:sp>
      <p:sp>
        <p:nvSpPr>
          <p:cNvPr id="8" name="trust-field-label">
            <a:extLst xmlns:a="http://schemas.openxmlformats.org/drawingml/2006/main">
              <a:ext uri="{FF2B5EF4-FFF2-40B4-BE49-F238E27FC236}">
                <a16:creationId xmlns:a16="http://schemas.microsoft.com/office/drawing/2014/main" id="{F937F83C-8DD0-43A2-8B0D-AC13FEEC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09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rPr>
              <a:t>STRUCTURED FIELD</a:t>
            </a:r>
          </a:p>
        </p:txBody>
      </p:sp>
      <p:sp>
        <p:nvSpPr>
          <p:cNvPr id="9" name="trust-field-box">
            <a:extLst xmlns:a="http://schemas.openxmlformats.org/drawingml/2006/main">
              <a:ext uri="{FF2B5EF4-FFF2-40B4-BE49-F238E27FC236}">
                <a16:creationId xmlns:a16="http://schemas.microsoft.com/office/drawing/2014/main" id="{7E5631DA-AA5C-4A6D-9BED-922C85A8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5029200" cy="1381125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trust-field-copy">
            <a:extLst xmlns:a="http://schemas.openxmlformats.org/drawingml/2006/main">
              <a:ext uri="{FF2B5EF4-FFF2-40B4-BE49-F238E27FC236}">
                <a16:creationId xmlns:a16="http://schemas.microsoft.com/office/drawing/2014/main" id="{A4B76C0E-55F1-490E-9A40-7E73A997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478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Patient priority</a:t>
            </a:r>
          </a:p>
        </p:txBody>
      </p:sp>
      <p:sp>
        <p:nvSpPr>
          <p:cNvPr id="11" name="trust-field-value">
            <a:extLst xmlns:a="http://schemas.openxmlformats.org/drawingml/2006/main">
              <a:ext uri="{FF2B5EF4-FFF2-40B4-BE49-F238E27FC236}">
                <a16:creationId xmlns:a16="http://schemas.microsoft.com/office/drawing/2014/main" id="{53F54320-2FE8-4BEC-8625-04952CAF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76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Patient initiated discussion regarding family understanding of illness.</a:t>
            </a:r>
          </a:p>
        </p:txBody>
      </p:sp>
      <p:sp>
        <p:nvSpPr>
          <p:cNvPr id="12" name="trust-gate-label">
            <a:extLst xmlns:a="http://schemas.openxmlformats.org/drawingml/2006/main">
              <a:ext uri="{FF2B5EF4-FFF2-40B4-BE49-F238E27FC236}">
                <a16:creationId xmlns:a16="http://schemas.microsoft.com/office/drawing/2014/main" id="{FBA9BEA7-E261-4081-91F9-B57438FA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86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rPr>
              <a:t>RELEASE GATE</a:t>
            </a:r>
          </a:p>
        </p:txBody>
      </p:sp>
      <p:sp>
        <p:nvSpPr>
          <p:cNvPr id="13" name="trust-bullet-1-mark">
            <a:extLst xmlns:a="http://schemas.openxmlformats.org/drawingml/2006/main">
              <a:ext uri="{FF2B5EF4-FFF2-40B4-BE49-F238E27FC236}">
                <a16:creationId xmlns:a16="http://schemas.microsoft.com/office/drawing/2014/main" id="{E0520674-8A5B-41BB-A11F-47A37D8F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rust-bullet-1-text">
            <a:extLst xmlns:a="http://schemas.openxmlformats.org/drawingml/2006/main">
              <a:ext uri="{FF2B5EF4-FFF2-40B4-BE49-F238E27FC236}">
                <a16:creationId xmlns:a16="http://schemas.microsoft.com/office/drawing/2014/main" id="{5D99DB02-F7C7-4F8A-B8EA-280A062D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57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Unstated stays unstated.</a:t>
            </a:r>
          </a:p>
        </p:txBody>
      </p:sp>
      <p:sp>
        <p:nvSpPr>
          <p:cNvPr id="15" name="trust-bullet-2-mark">
            <a:extLst xmlns:a="http://schemas.openxmlformats.org/drawingml/2006/main">
              <a:ext uri="{FF2B5EF4-FFF2-40B4-BE49-F238E27FC236}">
                <a16:creationId xmlns:a16="http://schemas.microsoft.com/office/drawing/2014/main" id="{EA183F6B-7EBA-435C-8572-CF5D444B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71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ust-bullet-2-text">
            <a:extLst xmlns:a="http://schemas.openxmlformats.org/drawingml/2006/main">
              <a:ext uri="{FF2B5EF4-FFF2-40B4-BE49-F238E27FC236}">
                <a16:creationId xmlns:a16="http://schemas.microsoft.com/office/drawing/2014/main" id="{73804E5F-E08C-4FBC-8AFB-A273FA76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05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Clarification blocks publication.</a:t>
            </a:r>
          </a:p>
        </p:txBody>
      </p:sp>
      <p:sp>
        <p:nvSpPr>
          <p:cNvPr id="17" name="trust-bullet-3-mark">
            <a:extLst xmlns:a="http://schemas.openxmlformats.org/drawingml/2006/main">
              <a:ext uri="{FF2B5EF4-FFF2-40B4-BE49-F238E27FC236}">
                <a16:creationId xmlns:a16="http://schemas.microsoft.com/office/drawing/2014/main" id="{963AE3BF-F27D-40C3-A805-87251716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9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rust-bullet-3-text">
            <a:extLst xmlns:a="http://schemas.openxmlformats.org/drawingml/2006/main">
              <a:ext uri="{FF2B5EF4-FFF2-40B4-BE49-F238E27FC236}">
                <a16:creationId xmlns:a16="http://schemas.microsoft.com/office/drawing/2014/main" id="{3A6375F7-230F-4201-B38D-B501E4CB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529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Physician review and acknowledgement are explicit.</a:t>
            </a:r>
          </a:p>
        </p:txBody>
      </p:sp>
      <p:sp>
        <p:nvSpPr>
          <p:cNvPr id="19" name="trust-bottom">
            <a:extLst xmlns:a="http://schemas.openxmlformats.org/drawingml/2006/main">
              <a:ext uri="{FF2B5EF4-FFF2-40B4-BE49-F238E27FC236}">
                <a16:creationId xmlns:a16="http://schemas.microsoft.com/office/drawing/2014/main" id="{4EA8BE00-A757-4870-B5BF-9B5ADA79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38775"/>
            <a:ext cx="11391900" cy="4286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rust-bottom-text">
            <a:extLst xmlns:a="http://schemas.openxmlformats.org/drawingml/2006/main">
              <a:ext uri="{FF2B5EF4-FFF2-40B4-BE49-F238E27FC236}">
                <a16:creationId xmlns:a16="http://schemas.microsoft.com/office/drawing/2014/main" id="{16648D73-A852-4A04-9FA3-771DE874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Deterministic prototype behaviour · no external AI model is active</a:t>
            </a:r>
          </a:p>
        </p:txBody>
      </p:sp>
      <p:sp>
        <p:nvSpPr>
          <p:cNvPr id="21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093FDAF2-E51B-4ED8-91C5-627323A2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4692713A-E89C-4B22-96ED-3CA68FAF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CONTINUITY LOOP  ·  HEALTH-A-THON 2026</a:t>
            </a:r>
          </a:p>
        </p:txBody>
      </p:sp>
      <p:sp>
        <p:nvSpPr>
          <p:cNvPr id="23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942A6619-A8D0-471A-8488-0895DFEF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15623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10432A9C-43F7-4961-960D-A211B5BC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The MVP is useful because its boundaries are explicit.</a:t>
            </a:r>
          </a:p>
        </p:txBody>
      </p:sp>
      <p:sp>
        <p:nvSpPr>
          <p:cNvPr id="2" name="boundary-now-label">
            <a:extLst xmlns:a="http://schemas.openxmlformats.org/drawingml/2006/main">
              <a:ext uri="{FF2B5EF4-FFF2-40B4-BE49-F238E27FC236}">
                <a16:creationId xmlns:a16="http://schemas.microsoft.com/office/drawing/2014/main" id="{9B596F9C-464D-417F-9439-A6712FC7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rPr>
              <a:t>DEMONSTRATED NOW</a:t>
            </a:r>
          </a:p>
        </p:txBody>
      </p:sp>
      <p:sp>
        <p:nvSpPr>
          <p:cNvPr id="3" name="boundary-not-label">
            <a:extLst xmlns:a="http://schemas.openxmlformats.org/drawingml/2006/main">
              <a:ext uri="{FF2B5EF4-FFF2-40B4-BE49-F238E27FC236}">
                <a16:creationId xmlns:a16="http://schemas.microsoft.com/office/drawing/2014/main" id="{0D5CF4EA-68C6-4881-BD5C-148E2536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76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rPr>
              <a:t>NOT CLAIMED</a:t>
            </a:r>
          </a:p>
        </p:txBody>
      </p:sp>
      <p:sp>
        <p:nvSpPr>
          <p:cNvPr id="4" name="boundary-divider">
            <a:extLst xmlns:a="http://schemas.openxmlformats.org/drawingml/2006/main">
              <a:ext uri="{FF2B5EF4-FFF2-40B4-BE49-F238E27FC236}">
                <a16:creationId xmlns:a16="http://schemas.microsoft.com/office/drawing/2014/main" id="{65466F63-F34D-46D3-BCAA-FC8C88AF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428750"/>
            <a:ext cx="95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undary-now-0-mark">
            <a:extLst xmlns:a="http://schemas.openxmlformats.org/drawingml/2006/main">
              <a:ext uri="{FF2B5EF4-FFF2-40B4-BE49-F238E27FC236}">
                <a16:creationId xmlns:a16="http://schemas.microsoft.com/office/drawing/2014/main" id="{F74C2FC7-ABCF-4CE3-967E-883F999E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undary-now-0-text">
            <a:extLst xmlns:a="http://schemas.openxmlformats.org/drawingml/2006/main">
              <a:ext uri="{FF2B5EF4-FFF2-40B4-BE49-F238E27FC236}">
                <a16:creationId xmlns:a16="http://schemas.microsoft.com/office/drawing/2014/main" id="{B55D4981-A0AA-416C-8A6E-822A011B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145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Synthetic patient binding</a:t>
            </a:r>
          </a:p>
        </p:txBody>
      </p:sp>
      <p:sp>
        <p:nvSpPr>
          <p:cNvPr id="7" name="boundary-now-1-mark">
            <a:extLst xmlns:a="http://schemas.openxmlformats.org/drawingml/2006/main">
              <a:ext uri="{FF2B5EF4-FFF2-40B4-BE49-F238E27FC236}">
                <a16:creationId xmlns:a16="http://schemas.microsoft.com/office/drawing/2014/main" id="{F39DDFD5-BC40-4E01-9C93-F7A249EB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undary-now-1-text">
            <a:extLst xmlns:a="http://schemas.openxmlformats.org/drawingml/2006/main">
              <a:ext uri="{FF2B5EF4-FFF2-40B4-BE49-F238E27FC236}">
                <a16:creationId xmlns:a16="http://schemas.microsoft.com/office/drawing/2014/main" id="{4C2B6948-66EB-49B0-ADA3-CDA105D7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Guided eight-domain checklist</a:t>
            </a:r>
          </a:p>
        </p:txBody>
      </p:sp>
      <p:sp>
        <p:nvSpPr>
          <p:cNvPr id="9" name="boundary-now-2-mark">
            <a:extLst xmlns:a="http://schemas.openxmlformats.org/drawingml/2006/main">
              <a:ext uri="{FF2B5EF4-FFF2-40B4-BE49-F238E27FC236}">
                <a16:creationId xmlns:a16="http://schemas.microsoft.com/office/drawing/2014/main" id="{B392DAF3-2828-4CEB-8825-D0AF7932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undary-now-2-text">
            <a:extLst xmlns:a="http://schemas.openxmlformats.org/drawingml/2006/main">
              <a:ext uri="{FF2B5EF4-FFF2-40B4-BE49-F238E27FC236}">
                <a16:creationId xmlns:a16="http://schemas.microsoft.com/office/drawing/2014/main" id="{57CED957-848D-4E81-9D77-53CCC368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527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Deterministic source-linked draft</a:t>
            </a:r>
          </a:p>
        </p:txBody>
      </p:sp>
      <p:sp>
        <p:nvSpPr>
          <p:cNvPr id="11" name="boundary-now-3-mark">
            <a:extLst xmlns:a="http://schemas.openxmlformats.org/drawingml/2006/main">
              <a:ext uri="{FF2B5EF4-FFF2-40B4-BE49-F238E27FC236}">
                <a16:creationId xmlns:a16="http://schemas.microsoft.com/office/drawing/2014/main" id="{379E4FE5-8E24-43E6-A41F-92AA83EB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undary-now-3-text">
            <a:extLst xmlns:a="http://schemas.openxmlformats.org/drawingml/2006/main">
              <a:ext uri="{FF2B5EF4-FFF2-40B4-BE49-F238E27FC236}">
                <a16:creationId xmlns:a16="http://schemas.microsoft.com/office/drawing/2014/main" id="{4F252AE8-B08B-4444-A79C-9BAEDD5F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Physician review + acknowledgement gate</a:t>
            </a:r>
          </a:p>
        </p:txBody>
      </p:sp>
      <p:sp>
        <p:nvSpPr>
          <p:cNvPr id="13" name="boundary-now-4-mark">
            <a:extLst xmlns:a="http://schemas.openxmlformats.org/drawingml/2006/main">
              <a:ext uri="{FF2B5EF4-FFF2-40B4-BE49-F238E27FC236}">
                <a16:creationId xmlns:a16="http://schemas.microsoft.com/office/drawing/2014/main" id="{EBD6061F-38C0-4622-84E5-35A0E6B7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undary-now-4-text">
            <a:extLst xmlns:a="http://schemas.openxmlformats.org/drawingml/2006/main">
              <a:ext uri="{FF2B5EF4-FFF2-40B4-BE49-F238E27FC236}">
                <a16:creationId xmlns:a16="http://schemas.microsoft.com/office/drawing/2014/main" id="{6A9BDBD8-EE71-4BBC-98ED-DE11B85F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Append-only version 2</a:t>
            </a:r>
          </a:p>
        </p:txBody>
      </p:sp>
      <p:sp>
        <p:nvSpPr>
          <p:cNvPr id="15" name="boundary-now-5-mark">
            <a:extLst xmlns:a="http://schemas.openxmlformats.org/drawingml/2006/main">
              <a:ext uri="{FF2B5EF4-FFF2-40B4-BE49-F238E27FC236}">
                <a16:creationId xmlns:a16="http://schemas.microsoft.com/office/drawing/2014/main" id="{0401266D-964E-43F4-A4CB-19991E4F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undary-now-5-text">
            <a:extLst xmlns:a="http://schemas.openxmlformats.org/drawingml/2006/main">
              <a:ext uri="{FF2B5EF4-FFF2-40B4-BE49-F238E27FC236}">
                <a16:creationId xmlns:a16="http://schemas.microsoft.com/office/drawing/2014/main" id="{28E249B0-C808-4F7F-8EA9-CF7DF5C5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Purpose-bound retrieval + audit</a:t>
            </a:r>
          </a:p>
        </p:txBody>
      </p:sp>
      <p:sp>
        <p:nvSpPr>
          <p:cNvPr id="17" name="boundary-now-6-mark">
            <a:extLst xmlns:a="http://schemas.openxmlformats.org/drawingml/2006/main">
              <a:ext uri="{FF2B5EF4-FFF2-40B4-BE49-F238E27FC236}">
                <a16:creationId xmlns:a16="http://schemas.microsoft.com/office/drawing/2014/main" id="{958D5AC2-1EDF-4FC2-B3FF-C63F96D2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undary-now-6-text">
            <a:extLst xmlns:a="http://schemas.openxmlformats.org/drawingml/2006/main">
              <a:ext uri="{FF2B5EF4-FFF2-40B4-BE49-F238E27FC236}">
                <a16:creationId xmlns:a16="http://schemas.microsoft.com/office/drawing/2014/main" id="{8769DFFF-8E57-4ADB-82CF-A96B95D1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Coordinator outreach worklist</a:t>
            </a:r>
          </a:p>
        </p:txBody>
      </p:sp>
      <p:sp>
        <p:nvSpPr>
          <p:cNvPr id="19" name="boundary-not-0-mark">
            <a:extLst xmlns:a="http://schemas.openxmlformats.org/drawingml/2006/main">
              <a:ext uri="{FF2B5EF4-FFF2-40B4-BE49-F238E27FC236}">
                <a16:creationId xmlns:a16="http://schemas.microsoft.com/office/drawing/2014/main" id="{B5D852D8-A577-4EE0-87F4-60DD06D3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81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undary-not-0-text">
            <a:extLst xmlns:a="http://schemas.openxmlformats.org/drawingml/2006/main">
              <a:ext uri="{FF2B5EF4-FFF2-40B4-BE49-F238E27FC236}">
                <a16:creationId xmlns:a16="http://schemas.microsoft.com/office/drawing/2014/main" id="{A8EABC36-259A-4012-B4B7-1178D96D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145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Live AI transcription or model accuracy</a:t>
            </a:r>
          </a:p>
        </p:txBody>
      </p:sp>
      <p:sp>
        <p:nvSpPr>
          <p:cNvPr id="21" name="boundary-not-1-mark">
            <a:extLst xmlns:a="http://schemas.openxmlformats.org/drawingml/2006/main">
              <a:ext uri="{FF2B5EF4-FFF2-40B4-BE49-F238E27FC236}">
                <a16:creationId xmlns:a16="http://schemas.microsoft.com/office/drawing/2014/main" id="{7F10CBDE-9B95-48FA-8F08-8F94AA58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57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undary-not-1-text">
            <a:extLst xmlns:a="http://schemas.openxmlformats.org/drawingml/2006/main">
              <a:ext uri="{FF2B5EF4-FFF2-40B4-BE49-F238E27FC236}">
                <a16:creationId xmlns:a16="http://schemas.microsoft.com/office/drawing/2014/main" id="{A64BD4FA-6B0F-40C1-8DFF-25297BF3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9077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Real authentication, encryption or cryptographic audit</a:t>
            </a:r>
          </a:p>
        </p:txBody>
      </p:sp>
      <p:sp>
        <p:nvSpPr>
          <p:cNvPr id="23" name="boundary-not-2-mark">
            <a:extLst xmlns:a="http://schemas.openxmlformats.org/drawingml/2006/main">
              <a:ext uri="{FF2B5EF4-FFF2-40B4-BE49-F238E27FC236}">
                <a16:creationId xmlns:a16="http://schemas.microsoft.com/office/drawing/2014/main" id="{522207FE-19A6-4331-9DA7-7792B7B2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33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undary-not-2-text">
            <a:extLst xmlns:a="http://schemas.openxmlformats.org/drawingml/2006/main">
              <a:ext uri="{FF2B5EF4-FFF2-40B4-BE49-F238E27FC236}">
                <a16:creationId xmlns:a16="http://schemas.microsoft.com/office/drawing/2014/main" id="{AB5F3377-5548-4B6D-94C2-ED2F11CA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670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EHR, ABDM or messaging integration</a:t>
            </a:r>
          </a:p>
        </p:txBody>
      </p:sp>
      <p:sp>
        <p:nvSpPr>
          <p:cNvPr id="25" name="boundary-not-3-mark">
            <a:extLst xmlns:a="http://schemas.openxmlformats.org/drawingml/2006/main">
              <a:ext uri="{FF2B5EF4-FFF2-40B4-BE49-F238E27FC236}">
                <a16:creationId xmlns:a16="http://schemas.microsoft.com/office/drawing/2014/main" id="{D8235F09-50DF-414C-BF98-D1DF3F9F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09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undary-not-3-text">
            <a:extLst xmlns:a="http://schemas.openxmlformats.org/drawingml/2006/main">
              <a:ext uri="{FF2B5EF4-FFF2-40B4-BE49-F238E27FC236}">
                <a16:creationId xmlns:a16="http://schemas.microsoft.com/office/drawing/2014/main" id="{FA1A1A9E-D269-417E-A1E4-AE511EE1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4327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Patient outcomes or treatment effects</a:t>
            </a:r>
          </a:p>
        </p:txBody>
      </p:sp>
      <p:sp>
        <p:nvSpPr>
          <p:cNvPr id="27" name="boundary-not-4-mark">
            <a:extLst xmlns:a="http://schemas.openxmlformats.org/drawingml/2006/main">
              <a:ext uri="{FF2B5EF4-FFF2-40B4-BE49-F238E27FC236}">
                <a16:creationId xmlns:a16="http://schemas.microsoft.com/office/drawing/2014/main" id="{4A83E654-D217-4936-B152-83C540D0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undary-not-4-text">
            <a:extLst xmlns:a="http://schemas.openxmlformats.org/drawingml/2006/main">
              <a:ext uri="{FF2B5EF4-FFF2-40B4-BE49-F238E27FC236}">
                <a16:creationId xmlns:a16="http://schemas.microsoft.com/office/drawing/2014/main" id="{6C6347BD-A64B-4011-834C-CFD4001B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195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Legal signature, living will or treatment order</a:t>
            </a:r>
          </a:p>
        </p:txBody>
      </p:sp>
      <p:sp>
        <p:nvSpPr>
          <p:cNvPr id="29" name="boundary-not-5-mark">
            <a:extLst xmlns:a="http://schemas.openxmlformats.org/drawingml/2006/main">
              <a:ext uri="{FF2B5EF4-FFF2-40B4-BE49-F238E27FC236}">
                <a16:creationId xmlns:a16="http://schemas.microsoft.com/office/drawing/2014/main" id="{45285D0C-6609-42F0-B630-D693C80C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62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undary-not-5-text">
            <a:extLst xmlns:a="http://schemas.openxmlformats.org/drawingml/2006/main">
              <a:ext uri="{FF2B5EF4-FFF2-40B4-BE49-F238E27FC236}">
                <a16:creationId xmlns:a16="http://schemas.microsoft.com/office/drawing/2014/main" id="{E09D632D-71ED-420A-A124-FA9F3D4B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9577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Autonomous triage, prognosis or recommendation</a:t>
            </a:r>
          </a:p>
        </p:txBody>
      </p:sp>
      <p:sp>
        <p:nvSpPr>
          <p:cNvPr id="31" name="boundary-bottom">
            <a:extLst xmlns:a="http://schemas.openxmlformats.org/drawingml/2006/main">
              <a:ext uri="{FF2B5EF4-FFF2-40B4-BE49-F238E27FC236}">
                <a16:creationId xmlns:a16="http://schemas.microsoft.com/office/drawing/2014/main" id="{828ABD2D-997D-4EB5-8A33-30DF5D43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13919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oundary-bottom-text">
            <a:extLst xmlns:a="http://schemas.openxmlformats.org/drawingml/2006/main">
              <a:ext uri="{FF2B5EF4-FFF2-40B4-BE49-F238E27FC236}">
                <a16:creationId xmlns:a16="http://schemas.microsoft.com/office/drawing/2014/main" id="{1DD23739-BB2B-413B-84A0-70DC1378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89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Clinical summary only · Reconfirm current status before acute orders.</a:t>
            </a:r>
          </a:p>
        </p:txBody>
      </p:sp>
      <p:sp>
        <p:nvSpPr>
          <p:cNvPr id="3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EA7C2B96-4B1E-40A8-8654-683C0500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A28DCFAA-18FC-41C2-B1AD-FB9C9C1A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CONTINUITY LOOP  ·  HEALTH-A-THON 2026</a:t>
            </a:r>
          </a:p>
        </p:txBody>
      </p:sp>
      <p:sp>
        <p:nvSpPr>
          <p:cNvPr id="35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5386A19A-E42D-41C1-BEF4-DBE1B0BF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235188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validation-title">
            <a:extLst xmlns:a="http://schemas.openxmlformats.org/drawingml/2006/main">
              <a:ext uri="{FF2B5EF4-FFF2-40B4-BE49-F238E27FC236}">
                <a16:creationId xmlns:a16="http://schemas.microsoft.com/office/drawing/2014/main" id="{6EBCB68B-03F9-4F16-A7DF-0DD41DEA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The next credible proof is a clinician-reviewed simulation.</a:t>
            </a:r>
          </a:p>
        </p:txBody>
      </p:sp>
      <p:sp>
        <p:nvSpPr>
          <p:cNvPr id="2" name="validation-intro">
            <a:extLst xmlns:a="http://schemas.openxmlformats.org/drawingml/2006/main">
              <a:ext uri="{FF2B5EF4-FFF2-40B4-BE49-F238E27FC236}">
                <a16:creationId xmlns:a16="http://schemas.microsoft.com/office/drawing/2014/main" id="{00AB2A06-55C6-42B3-9E54-FF6C4FFA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8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Compare product output with clinician-authored references across varied synthetic or fully anonymised scenarios.</a:t>
            </a:r>
          </a:p>
        </p:txBody>
      </p:sp>
      <p:sp>
        <p:nvSpPr>
          <p:cNvPr id="3" name="metric-0-number">
            <a:extLst xmlns:a="http://schemas.openxmlformats.org/drawingml/2006/main">
              <a:ext uri="{FF2B5EF4-FFF2-40B4-BE49-F238E27FC236}">
                <a16:creationId xmlns:a16="http://schemas.microsoft.com/office/drawing/2014/main" id="{EEB5344D-EF94-45E3-B759-393157D8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4" name="metric-0-rule">
            <a:extLst xmlns:a="http://schemas.openxmlformats.org/drawingml/2006/main">
              <a:ext uri="{FF2B5EF4-FFF2-40B4-BE49-F238E27FC236}">
                <a16:creationId xmlns:a16="http://schemas.microsoft.com/office/drawing/2014/main" id="{87CAB761-3E9A-4BD8-A953-F74DFCAB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0-title">
            <a:extLst xmlns:a="http://schemas.openxmlformats.org/drawingml/2006/main">
              <a:ext uri="{FF2B5EF4-FFF2-40B4-BE49-F238E27FC236}">
                <a16:creationId xmlns:a16="http://schemas.microsoft.com/office/drawing/2014/main" id="{7C645EF0-570E-43AB-93F3-AAE83771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670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scenarios to run</a:t>
            </a:r>
          </a:p>
        </p:txBody>
      </p:sp>
      <p:sp>
        <p:nvSpPr>
          <p:cNvPr id="6" name="metric-0-body">
            <a:extLst xmlns:a="http://schemas.openxmlformats.org/drawingml/2006/main">
              <a:ext uri="{FF2B5EF4-FFF2-40B4-BE49-F238E27FC236}">
                <a16:creationId xmlns:a16="http://schemas.microsoft.com/office/drawing/2014/main" id="{A4BCE033-5E93-4927-9753-9035DD32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0047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A clinician-owned reference set.</a:t>
            </a:r>
          </a:p>
        </p:txBody>
      </p:sp>
      <p:sp>
        <p:nvSpPr>
          <p:cNvPr id="7" name="metric-1-number">
            <a:extLst xmlns:a="http://schemas.openxmlformats.org/drawingml/2006/main">
              <a:ext uri="{FF2B5EF4-FFF2-40B4-BE49-F238E27FC236}">
                <a16:creationId xmlns:a16="http://schemas.microsoft.com/office/drawing/2014/main" id="{93D45060-E2CA-4691-938F-7F0EBC9C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479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8" name="metric-1-rule">
            <a:extLst xmlns:a="http://schemas.openxmlformats.org/drawingml/2006/main">
              <a:ext uri="{FF2B5EF4-FFF2-40B4-BE49-F238E27FC236}">
                <a16:creationId xmlns:a16="http://schemas.microsoft.com/office/drawing/2014/main" id="{EDB609F0-B8BA-4243-BA0F-5795DB55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6705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1-title">
            <a:extLst xmlns:a="http://schemas.openxmlformats.org/drawingml/2006/main">
              <a:ext uri="{FF2B5EF4-FFF2-40B4-BE49-F238E27FC236}">
                <a16:creationId xmlns:a16="http://schemas.microsoft.com/office/drawing/2014/main" id="{BD91AA76-B269-4228-9D17-B270F8DA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670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conversation domains</a:t>
            </a:r>
          </a:p>
        </p:txBody>
      </p:sp>
      <p:sp>
        <p:nvSpPr>
          <p:cNvPr id="10" name="metric-1-body">
            <a:extLst xmlns:a="http://schemas.openxmlformats.org/drawingml/2006/main">
              <a:ext uri="{FF2B5EF4-FFF2-40B4-BE49-F238E27FC236}">
                <a16:creationId xmlns:a16="http://schemas.microsoft.com/office/drawing/2014/main" id="{C46B79DB-335B-4FE2-9DBB-E098C798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0047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The current prototype checklist.</a:t>
            </a:r>
          </a:p>
        </p:txBody>
      </p:sp>
      <p:sp>
        <p:nvSpPr>
          <p:cNvPr id="11" name="metric-2-number">
            <a:extLst xmlns:a="http://schemas.openxmlformats.org/drawingml/2006/main">
              <a:ext uri="{FF2B5EF4-FFF2-40B4-BE49-F238E27FC236}">
                <a16:creationId xmlns:a16="http://schemas.microsoft.com/office/drawing/2014/main" id="{07B93B01-4258-4C63-A13C-CA2E8F0A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&lt;30 sec</a:t>
            </a:r>
          </a:p>
        </p:txBody>
      </p:sp>
      <p:sp>
        <p:nvSpPr>
          <p:cNvPr id="12" name="metric-2-rule">
            <a:extLst xmlns:a="http://schemas.openxmlformats.org/drawingml/2006/main">
              <a:ext uri="{FF2B5EF4-FFF2-40B4-BE49-F238E27FC236}">
                <a16:creationId xmlns:a16="http://schemas.microsoft.com/office/drawing/2014/main" id="{56030418-20EC-4152-8203-7599F71B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6705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2-title">
            <a:extLst xmlns:a="http://schemas.openxmlformats.org/drawingml/2006/main">
              <a:ext uri="{FF2B5EF4-FFF2-40B4-BE49-F238E27FC236}">
                <a16:creationId xmlns:a16="http://schemas.microsoft.com/office/drawing/2014/main" id="{FBAA9106-9D21-4956-9110-52342C28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670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retrieval target</a:t>
            </a:r>
          </a:p>
        </p:txBody>
      </p:sp>
      <p:sp>
        <p:nvSpPr>
          <p:cNvPr id="14" name="metric-2-body">
            <a:extLst xmlns:a="http://schemas.openxmlformats.org/drawingml/2006/main">
              <a:ext uri="{FF2B5EF4-FFF2-40B4-BE49-F238E27FC236}">
                <a16:creationId xmlns:a16="http://schemas.microsoft.com/office/drawing/2014/main" id="{35B30A28-8F28-4FA0-ACCA-D4AC3F26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0047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A target, not an observed result.</a:t>
            </a:r>
          </a:p>
        </p:txBody>
      </p:sp>
      <p:sp>
        <p:nvSpPr>
          <p:cNvPr id="15" name="metric-3-number">
            <a:extLst xmlns:a="http://schemas.openxmlformats.org/drawingml/2006/main">
              <a:ext uri="{FF2B5EF4-FFF2-40B4-BE49-F238E27FC236}">
                <a16:creationId xmlns:a16="http://schemas.microsoft.com/office/drawing/2014/main" id="{6A4A0E97-41FD-481D-84E8-17F13539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479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6" name="metric-3-rule">
            <a:extLst xmlns:a="http://schemas.openxmlformats.org/drawingml/2006/main">
              <a:ext uri="{FF2B5EF4-FFF2-40B4-BE49-F238E27FC236}">
                <a16:creationId xmlns:a16="http://schemas.microsoft.com/office/drawing/2014/main" id="{7745BD06-AE2E-4E71-B42A-05772EA9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6705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ric-3-title">
            <a:extLst xmlns:a="http://schemas.openxmlformats.org/drawingml/2006/main">
              <a:ext uri="{FF2B5EF4-FFF2-40B4-BE49-F238E27FC236}">
                <a16:creationId xmlns:a16="http://schemas.microsoft.com/office/drawing/2014/main" id="{36473456-94D8-4B00-8688-5CA2C554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670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unstated preferences filled</a:t>
            </a:r>
          </a:p>
        </p:txBody>
      </p:sp>
      <p:sp>
        <p:nvSpPr>
          <p:cNvPr id="18" name="metric-3-body">
            <a:extLst xmlns:a="http://schemas.openxmlformats.org/drawingml/2006/main">
              <a:ext uri="{FF2B5EF4-FFF2-40B4-BE49-F238E27FC236}">
                <a16:creationId xmlns:a16="http://schemas.microsoft.com/office/drawing/2014/main" id="{AF9AACDF-4E3F-4BD7-8DA9-22BDA059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0047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An integrity invariant.</a:t>
            </a:r>
          </a:p>
        </p:txBody>
      </p:sp>
      <p:sp>
        <p:nvSpPr>
          <p:cNvPr id="19" name="validation-measures-label">
            <a:extLst xmlns:a="http://schemas.openxmlformats.org/drawingml/2006/main">
              <a:ext uri="{FF2B5EF4-FFF2-40B4-BE49-F238E27FC236}">
                <a16:creationId xmlns:a16="http://schemas.microsoft.com/office/drawing/2014/main" id="{C02AF22A-678E-45AB-883D-8BE25E32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rPr>
              <a:t>MEASURE</a:t>
            </a:r>
          </a:p>
        </p:txBody>
      </p:sp>
      <p:sp>
        <p:nvSpPr>
          <p:cNvPr id="20" name="validation-measures">
            <a:extLst xmlns:a="http://schemas.openxmlformats.org/drawingml/2006/main">
              <a:ext uri="{FF2B5EF4-FFF2-40B4-BE49-F238E27FC236}">
                <a16:creationId xmlns:a16="http://schemas.microsoft.com/office/drawing/2014/main" id="{CD7C5A02-6EC4-44DF-A98F-2446C087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29175"/>
            <a:ext cx="9667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Required-domain coverage · unsupported statement rate · unresolved-item capture · clinician correction rate · time to prepare/retrieve · receiving-clinician clarity</a:t>
            </a:r>
          </a:p>
        </p:txBody>
      </p:sp>
      <p:sp>
        <p:nvSpPr>
          <p:cNvPr id="21" name="validation-footnote">
            <a:extLst xmlns:a="http://schemas.openxmlformats.org/drawingml/2006/main">
              <a:ext uri="{FF2B5EF4-FFF2-40B4-BE49-F238E27FC236}">
                <a16:creationId xmlns:a16="http://schemas.microsoft.com/office/drawing/2014/main" id="{87A54A45-0537-4B3D-8632-5EAA4623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1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1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Targets / plan — not observed outcomes.</a:t>
            </a:r>
          </a:p>
        </p:txBody>
      </p:sp>
      <p:sp>
        <p:nvSpPr>
          <p:cNvPr id="22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3C42511E-FBC6-4086-A8EC-0E9F6C4E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23805831-0CBD-4DC7-B0CF-9060AA8A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CONTINUITY LOOP  ·  HEALTH-A-THON 2026</a:t>
            </a:r>
          </a:p>
        </p:txBody>
      </p:sp>
      <p:sp>
        <p:nvSpPr>
          <p:cNvPr id="24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E3D58172-28FF-428B-B9C6-5CE7C880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427842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ask-kicker">
            <a:extLst xmlns:a="http://schemas.openxmlformats.org/drawingml/2006/main">
              <a:ext uri="{FF2B5EF4-FFF2-40B4-BE49-F238E27FC236}">
                <a16:creationId xmlns:a16="http://schemas.microsoft.com/office/drawing/2014/main" id="{6F7D004D-7C3E-4983-8301-14A996BB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rPr>
              <a:t>THE NEXT DECISION</a:t>
            </a:r>
          </a:p>
        </p:txBody>
      </p:sp>
      <p:sp>
        <p:nvSpPr>
          <p:cNvPr id="2" name="ask-kicker-rule">
            <a:extLst xmlns:a="http://schemas.openxmlformats.org/drawingml/2006/main">
              <a:ext uri="{FF2B5EF4-FFF2-40B4-BE49-F238E27FC236}">
                <a16:creationId xmlns:a16="http://schemas.microsoft.com/office/drawing/2014/main" id="{71CC94DF-5B43-4641-98A1-0BDF009E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sk-title">
            <a:extLst xmlns:a="http://schemas.openxmlformats.org/drawingml/2006/main">
              <a:ext uri="{FF2B5EF4-FFF2-40B4-BE49-F238E27FC236}">
                <a16:creationId xmlns:a16="http://schemas.microsoft.com/office/drawing/2014/main" id="{849E00CC-281D-4E5D-9148-CE65A8AA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52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The decision needed now</a:t>
            </a:r>
          </a:p>
          <a:p xmlns:a="http://schemas.openxmlformats.org/drawingml/2006/main">
            <a:pPr algn="l">
              <a:buNone/>
              <a:defRPr sz="39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is clinical ownership.</a:t>
            </a:r>
          </a:p>
        </p:txBody>
      </p:sp>
      <p:sp>
        <p:nvSpPr>
          <p:cNvPr id="4" name="ask-intro">
            <a:extLst xmlns:a="http://schemas.openxmlformats.org/drawingml/2006/main">
              <a:ext uri="{FF2B5EF4-FFF2-40B4-BE49-F238E27FC236}">
                <a16:creationId xmlns:a16="http://schemas.microsoft.com/office/drawing/2014/main" id="{AE73401E-A1FB-4E89-9B69-E7C4F532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To make this a real pilot, we need four inputs from clinicians.</a:t>
            </a:r>
          </a:p>
        </p:txBody>
      </p:sp>
      <p:sp>
        <p:nvSpPr>
          <p:cNvPr id="5" name="ask-number-0">
            <a:extLst xmlns:a="http://schemas.openxmlformats.org/drawingml/2006/main">
              <a:ext uri="{FF2B5EF4-FFF2-40B4-BE49-F238E27FC236}">
                <a16:creationId xmlns:a16="http://schemas.microsoft.com/office/drawing/2014/main" id="{A9D1D676-9CA7-4A95-97F1-C63A6F91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95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ask-copy-0">
            <a:extLst xmlns:a="http://schemas.openxmlformats.org/drawingml/2006/main">
              <a:ext uri="{FF2B5EF4-FFF2-40B4-BE49-F238E27FC236}">
                <a16:creationId xmlns:a16="http://schemas.microsoft.com/office/drawing/2014/main" id="{B20A74E3-B952-4EA2-BDE4-386A05C6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7637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Approve the exact conversation domains and wording.</a:t>
            </a:r>
          </a:p>
        </p:txBody>
      </p:sp>
      <p:sp>
        <p:nvSpPr>
          <p:cNvPr id="7" name="ask-rule-0">
            <a:extLst xmlns:a="http://schemas.openxmlformats.org/drawingml/2006/main">
              <a:ext uri="{FF2B5EF4-FFF2-40B4-BE49-F238E27FC236}">
                <a16:creationId xmlns:a16="http://schemas.microsoft.com/office/drawing/2014/main" id="{3A77F503-4D37-4B26-8F63-2D262D84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02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k-number-1">
            <a:extLst xmlns:a="http://schemas.openxmlformats.org/drawingml/2006/main">
              <a:ext uri="{FF2B5EF4-FFF2-40B4-BE49-F238E27FC236}">
                <a16:creationId xmlns:a16="http://schemas.microsoft.com/office/drawing/2014/main" id="{B2D97551-1234-4174-A385-A0C24D15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860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ask-copy-1">
            <a:extLst xmlns:a="http://schemas.openxmlformats.org/drawingml/2006/main">
              <a:ext uri="{FF2B5EF4-FFF2-40B4-BE49-F238E27FC236}">
                <a16:creationId xmlns:a16="http://schemas.microsoft.com/office/drawing/2014/main" id="{56174F5E-D011-4E4C-A54A-D492D33A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6697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Provide 20 synthetic scenarios and clinician reference records.</a:t>
            </a:r>
          </a:p>
        </p:txBody>
      </p:sp>
      <p:sp>
        <p:nvSpPr>
          <p:cNvPr id="10" name="ask-rule-1">
            <a:extLst xmlns:a="http://schemas.openxmlformats.org/drawingml/2006/main">
              <a:ext uri="{FF2B5EF4-FFF2-40B4-BE49-F238E27FC236}">
                <a16:creationId xmlns:a16="http://schemas.microsoft.com/office/drawing/2014/main" id="{835D629E-9CDC-4F0A-9A64-E6BD5713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908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k-number-2">
            <a:extLst xmlns:a="http://schemas.openxmlformats.org/drawingml/2006/main">
              <a:ext uri="{FF2B5EF4-FFF2-40B4-BE49-F238E27FC236}">
                <a16:creationId xmlns:a16="http://schemas.microsoft.com/office/drawing/2014/main" id="{7A38FD23-60DA-4A04-A9D9-2A3291E7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ask-copy-2">
            <a:extLst xmlns:a="http://schemas.openxmlformats.org/drawingml/2006/main">
              <a:ext uri="{FF2B5EF4-FFF2-40B4-BE49-F238E27FC236}">
                <a16:creationId xmlns:a16="http://schemas.microsoft.com/office/drawing/2014/main" id="{5256A64F-6C33-452E-8CAC-7CE23B1A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5757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Name one workflow owner, pilot setting and due-date rule.</a:t>
            </a:r>
          </a:p>
        </p:txBody>
      </p:sp>
      <p:sp>
        <p:nvSpPr>
          <p:cNvPr id="13" name="ask-rule-2">
            <a:extLst xmlns:a="http://schemas.openxmlformats.org/drawingml/2006/main">
              <a:ext uri="{FF2B5EF4-FFF2-40B4-BE49-F238E27FC236}">
                <a16:creationId xmlns:a16="http://schemas.microsoft.com/office/drawing/2014/main" id="{8D96C676-A055-42B4-969B-4BAD202C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814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k-number-3">
            <a:extLst xmlns:a="http://schemas.openxmlformats.org/drawingml/2006/main">
              <a:ext uri="{FF2B5EF4-FFF2-40B4-BE49-F238E27FC236}">
                <a16:creationId xmlns:a16="http://schemas.microsoft.com/office/drawing/2014/main" id="{A350BD63-DDE6-4C85-A162-5DFD5E9D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672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ask-copy-3">
            <a:extLst xmlns:a="http://schemas.openxmlformats.org/drawingml/2006/main">
              <a:ext uri="{FF2B5EF4-FFF2-40B4-BE49-F238E27FC236}">
                <a16:creationId xmlns:a16="http://schemas.microsoft.com/office/drawing/2014/main" id="{9A8592EE-2EC9-490E-B33F-9B7DE541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4817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Define acknowledgement, surrogate authority and retrieval roles.</a:t>
            </a:r>
          </a:p>
        </p:txBody>
      </p:sp>
      <p:sp>
        <p:nvSpPr>
          <p:cNvPr id="16" name="ask-rule-3">
            <a:extLst xmlns:a="http://schemas.openxmlformats.org/drawingml/2006/main">
              <a:ext uri="{FF2B5EF4-FFF2-40B4-BE49-F238E27FC236}">
                <a16:creationId xmlns:a16="http://schemas.microsoft.com/office/drawing/2014/main" id="{CB5F37C7-34A8-491B-AFEB-4F262579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720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sk-boundary">
            <a:extLst xmlns:a="http://schemas.openxmlformats.org/drawingml/2006/main">
              <a:ext uri="{FF2B5EF4-FFF2-40B4-BE49-F238E27FC236}">
                <a16:creationId xmlns:a16="http://schemas.microsoft.com/office/drawing/2014/main" id="{1E318D71-98BD-4D39-8CDB-B451A2E3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113919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sk-boundary-copy">
            <a:extLst xmlns:a="http://schemas.openxmlformats.org/drawingml/2006/main">
              <a:ext uri="{FF2B5EF4-FFF2-40B4-BE49-F238E27FC236}">
                <a16:creationId xmlns:a16="http://schemas.microsoft.com/office/drawing/2014/main" id="{2A1D7147-4B56-4766-8728-4A869BBC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81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Documents, verifies and retrieves clinician decisions.</a:t>
            </a:r>
          </a:p>
          <a:p xmlns:a="http://schemas.openxmlformats.org/drawingml/2006/main">
            <a:pPr algn="l">
              <a:buNone/>
              <a:def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It does not select patients, recommend treatment or create a legal directive.</a:t>
            </a:r>
          </a:p>
        </p:txBody>
      </p:sp>
      <p:sp>
        <p:nvSpPr>
          <p:cNvPr id="19" name="ask-url">
            <a:extLst xmlns:a="http://schemas.openxmlformats.org/drawingml/2006/main">
              <a:ext uri="{FF2B5EF4-FFF2-40B4-BE49-F238E27FC236}">
                <a16:creationId xmlns:a16="http://schemas.microsoft.com/office/drawing/2014/main" id="{C5F8BC93-C35C-464E-A1FE-F1CA126D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continuity-loop-healthathon.vercel.app  ·  synthetic prototype  ·  clinical review pending</a:t>
            </a:r>
          </a:p>
        </p:txBody>
      </p:sp>
      <p:sp>
        <p:nvSpPr>
          <p:cNvPr id="20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EB389DFC-BB54-49E7-B8DE-730C0C79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0B439E2E-A200-450A-B1CA-4D905123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CONTINUITY LOOP  ·  HEALTH-A-THON 2026</a:t>
            </a:r>
          </a:p>
        </p:txBody>
      </p:sp>
      <p:sp>
        <p:nvSpPr>
          <p:cNvPr id="22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8F515BFB-13FE-4B97-BDD6-DC13E461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0bb4b94ce4b63"/>
          <a:stretch xmlns:a="http://schemas.openxmlformats.org/drawingml/2006/main"/>
        </p:blipFill>
        <p:spPr>
          <a:xfrm xmlns:a="http://schemas.openxmlformats.org/drawingml/2006/main">
            <a:off x="10572750" y="55626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25" name="mvp-qr-label">
            <a:extLst xmlns:a="http://schemas.openxmlformats.org/drawingml/2006/main">
              <a:ext uri="{FF2B5EF4-FFF2-40B4-BE49-F238E27FC236}">
                <a16:creationId xmlns:a16="http://schemas.microsoft.com/office/drawing/2014/main" id="{C400815C-8BE4-4D4E-8660-C1CE0484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7721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A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A6B57"/>
                </a:solidFill>
                <a:latin typeface="Helvetica Neue"/>
                <a:ea typeface="Helvetica Neue"/>
                <a:cs typeface="Helvetica Neue"/>
              </a:rPr>
              <a:t>SCAN TO TRY</a:t>
            </a:r>
          </a:p>
        </p:txBody>
      </p:sp>
    </p:spTree>
    <p:extLst>
      <p:ext uri="{BB962C8B-B14F-4D97-AF65-F5344CB8AC3E}">
        <p14:creationId xmlns:p14="http://schemas.microsoft.com/office/powerpoint/2010/main" val="1271923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2026-09-13T10:50:11.2460000Z</dcterms:created>
  <dcterms:modified xsi:type="dcterms:W3CDTF">2026-09-13T10:50:11.2460000Z</dcterms:modified>
</coreProperties>
</file>