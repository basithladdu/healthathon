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dddb7cfa14f7c" /><Relationship Type="http://schemas.openxmlformats.org/officeDocument/2006/relationships/extended-properties" Target="/docProps/app.xml" Id="Rabd0b82cc619414a" /><Relationship Type="http://schemas.openxmlformats.org/officeDocument/2006/relationships/officeDocument" Target="/ppt/presentation.xml" Id="R5d1051e2000b4bab" /></Relationships>
</file>

<file path=ppt/presentation.xml><?xml version="1.0" encoding="utf-8"?>
<p:presentation xmlns:p="http://schemas.openxmlformats.org/presentationml/2006/main">
  <p:sldMasterIdLst>
    <p:sldMasterId xmlns:r="http://schemas.openxmlformats.org/officeDocument/2006/relationships" id="2147483648" r:id="R577898a30ec7489c"/>
  </p:sldMasterIdLst>
  <p:notesMasterIdLst>
    <p:notesMasterId xmlns:r="http://schemas.openxmlformats.org/officeDocument/2006/relationships" r:id="Rf2a743c6cf234134"/>
  </p:notesMasterIdLst>
  <p:sldIdLst>
    <p:sldId xmlns:r="http://schemas.openxmlformats.org/officeDocument/2006/relationships" id="256" r:id="Rb0d5b8a947e34542"/>
    <p:sldId xmlns:r="http://schemas.openxmlformats.org/officeDocument/2006/relationships" id="257" r:id="R7dc19dd0983d4035"/>
    <p:sldId xmlns:r="http://schemas.openxmlformats.org/officeDocument/2006/relationships" id="258" r:id="R2a323c0087a4474d"/>
    <p:sldId xmlns:r="http://schemas.openxmlformats.org/officeDocument/2006/relationships" id="259" r:id="Rd3f20ef6bfb64d72"/>
    <p:sldId xmlns:r="http://schemas.openxmlformats.org/officeDocument/2006/relationships" id="260" r:id="Rb37ffbb0791d455f"/>
    <p:sldId xmlns:r="http://schemas.openxmlformats.org/officeDocument/2006/relationships" id="261" r:id="Race4691ba3a641b1"/>
    <p:sldId xmlns:r="http://schemas.openxmlformats.org/officeDocument/2006/relationships" id="262" r:id="Rfa2dcd82b8f441d4"/>
    <p:sldId xmlns:r="http://schemas.openxmlformats.org/officeDocument/2006/relationships" id="263" r:id="Rf6dbb208de6f4b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c3e02cd5ce45ca" /><Relationship Type="http://schemas.openxmlformats.org/officeDocument/2006/relationships/slideMaster" Target="/ppt/slideMasters/slideMaster1.xml" Id="R577898a30ec7489c" /><Relationship Type="http://schemas.openxmlformats.org/officeDocument/2006/relationships/notesMaster" Target="/ppt/notesMasters/notesMaster1.xml" Id="Rf2a743c6cf234134" /><Relationship Type="http://schemas.openxmlformats.org/officeDocument/2006/relationships/presProps" Target="/ppt/presProps.xml" Id="Rdebe5a1930814d31" /><Relationship Type="http://schemas.openxmlformats.org/officeDocument/2006/relationships/tableStyles" Target="/ppt/tableStyles.xml" Id="R75d24959fba0481b" /><Relationship Type="http://schemas.openxmlformats.org/officeDocument/2006/relationships/slide" Target="/ppt/slides/slide1.xml" Id="Rb0d5b8a947e34542" /><Relationship Type="http://schemas.openxmlformats.org/officeDocument/2006/relationships/slide" Target="/ppt/slides/slide2.xml" Id="R7dc19dd0983d4035" /><Relationship Type="http://schemas.openxmlformats.org/officeDocument/2006/relationships/slide" Target="/ppt/slides/slide3.xml" Id="R2a323c0087a4474d" /><Relationship Type="http://schemas.openxmlformats.org/officeDocument/2006/relationships/slide" Target="/ppt/slides/slide4.xml" Id="Rd3f20ef6bfb64d72" /><Relationship Type="http://schemas.openxmlformats.org/officeDocument/2006/relationships/slide" Target="/ppt/slides/slide5.xml" Id="Rb37ffbb0791d455f" /><Relationship Type="http://schemas.openxmlformats.org/officeDocument/2006/relationships/slide" Target="/ppt/slides/slide6.xml" Id="Race4691ba3a641b1" /><Relationship Type="http://schemas.openxmlformats.org/officeDocument/2006/relationships/slide" Target="/ppt/slides/slide7.xml" Id="Rfa2dcd82b8f441d4" /><Relationship Type="http://schemas.openxmlformats.org/officeDocument/2006/relationships/slide" Target="/ppt/slides/slide8.xml" Id="Rf6dbb208de6f4b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08be6b7cb643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1c59717b494bdc" /><Relationship Type="http://schemas.openxmlformats.org/officeDocument/2006/relationships/notesMaster" Target="/ppt/notesMasters/notesMaster1.xml" Id="R519b7b10f50349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f9dca65d0f4004" /><Relationship Type="http://schemas.openxmlformats.org/officeDocument/2006/relationships/notesMaster" Target="/ppt/notesMasters/notesMaster1.xml" Id="R351b69e195054e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be2c4e982c441d" /><Relationship Type="http://schemas.openxmlformats.org/officeDocument/2006/relationships/notesMaster" Target="/ppt/notesMasters/notesMaster1.xml" Id="Rf41091cbf6464d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79ce2aad9f4679" /><Relationship Type="http://schemas.openxmlformats.org/officeDocument/2006/relationships/notesMaster" Target="/ppt/notesMasters/notesMaster1.xml" Id="R47ee434a7cb64c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56eeb112c7496f" /><Relationship Type="http://schemas.openxmlformats.org/officeDocument/2006/relationships/notesMaster" Target="/ppt/notesMasters/notesMaster1.xml" Id="R41b6c0c9c8d346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492da228cc4b3f" /><Relationship Type="http://schemas.openxmlformats.org/officeDocument/2006/relationships/notesMaster" Target="/ppt/notesMasters/notesMaster1.xml" Id="Raafa6f12c7a64c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2fc61e88e24eb7" /><Relationship Type="http://schemas.openxmlformats.org/officeDocument/2006/relationships/notesMaster" Target="/ppt/notesMasters/notesMaster1.xml" Id="Rcdc3dcf8a9ec49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b89404960042d5" /><Relationship Type="http://schemas.openxmlformats.org/officeDocument/2006/relationships/notesMaster" Target="/ppt/notesMasters/notesMaster1.xml" Id="Rc97bb35afaf84a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is the name accepted in the team discussion. Confirmed category: Cancer, Patient / Caregiver, Family &amp; Caregiver Support. The local prototype supports clinician-led conversation documentation and family preparation. This is an editorial illustration, not a clinical-pilot photograph.</a:t>
            </a:r>
          </a:p>
          <a:p xmlns:a="http://schemas.openxmlformats.org/drawingml/2006/main">
            <a:r>
              <a:t/>
            </a:r>
          </a:p>
          <a:p xmlns:a="http://schemas.openxmlformats.org/drawingml/2006/main">
            <a:r>
              <a:t>Sources</a:t>
            </a:r>
          </a:p>
          <a:p xmlns:a="http://schemas.openxmlformats.org/drawingml/2006/main">
            <a:r>
              <a:t>form.md</a:t>
            </a:r>
          </a:p>
          <a:p xmlns:a="http://schemas.openxmlformats.org/drawingml/2006/main">
            <a:r>
              <a:t>WhatsApp team discussion, 17–18 September 2026</a:t>
            </a:r>
          </a:p>
          <a:p xmlns:a="http://schemas.openxmlformats.org/drawingml/2006/main">
            <a:r>
              <a:t>prototype/public/care-conversation.png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illustrative, adapted from the team’s Presentation draft.pptx. It does not establish a preventable outcome or causal benefit from Saanthvana. IARC estimates 1,562,581 new cancer cases in India in 2024. The documentation figure concerns one quality-improvement project at Cancer Institute (WIA), Chennai, not a national documentation rate. Unverified or population-mismatched statistics from the source decks have been excluded.</a:t>
            </a:r>
          </a:p>
          <a:p xmlns:a="http://schemas.openxmlformats.org/drawingml/2006/main">
            <a:r>
              <a:t/>
            </a:r>
          </a:p>
          <a:p xmlns:a="http://schemas.openxmlformats.org/drawingml/2006/main">
            <a:r>
              <a:t>Sources</a:t>
            </a:r>
          </a:p>
          <a:p xmlns:a="http://schemas.openxmlformats.org/drawingml/2006/main">
            <a:r>
              <a:t>Presentation draft.pptx, slides 1–3</a:t>
            </a:r>
          </a:p>
          <a:p xmlns:a="http://schemas.openxmlformats.org/drawingml/2006/main">
            <a:r>
              <a:t>Saanthvana_Background_Rationale_1.pptx</a:t>
            </a:r>
          </a:p>
          <a:p xmlns:a="http://schemas.openxmlformats.org/drawingml/2006/main">
            <a:r>
              <a:t>https://gco.iarc.who.int/media/globocan/factsheets/populations/356-india-fact-sheet.pdf</a:t>
            </a:r>
          </a:p>
          <a:p xmlns:a="http://schemas.openxmlformats.org/drawingml/2006/main">
            <a:r>
              <a:t>https://pubmed.ncbi.nlm.nih.gov/41340644/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Healthathon form distilled by Sujay guides the workflow. Saanthvana v 1.0 supplies broader clinical reference. The prototype records whether eight conversation domains were discussed, deferred or not discussed. Source-linked fields, review gates, released versions and retrieval are existing features. Recording a conversation does not create an advance medical directive or emergency treatment order. Image is an editorial illustration.</a:t>
            </a:r>
          </a:p>
          <a:p xmlns:a="http://schemas.openxmlformats.org/drawingml/2006/main">
            <a:r>
              <a:t/>
            </a:r>
          </a:p>
          <a:p xmlns:a="http://schemas.openxmlformats.org/drawingml/2006/main">
            <a:r>
              <a:t>Sources</a:t>
            </a:r>
          </a:p>
          <a:p xmlns:a="http://schemas.openxmlformats.org/drawingml/2006/main">
            <a:r>
              <a:t>Healthathon form.docx</a:t>
            </a:r>
          </a:p>
          <a:p xmlns:a="http://schemas.openxmlformats.org/drawingml/2006/main">
            <a:r>
              <a:t>source-materials/user-provided/Saanthvana v 1.0.docx</a:t>
            </a:r>
          </a:p>
          <a:p xmlns:a="http://schemas.openxmlformats.org/drawingml/2006/main">
            <a:r>
              <a:t>prototype/app/continuity-prototype.tsx</a:t>
            </a:r>
          </a:p>
          <a:p xmlns:a="http://schemas.openxmlformats.org/drawingml/2006/main">
            <a:r>
              <a:t>Vidhi-EOLC-Toolkit-FAQ.pdf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local Chrome screenshot captured 20 September 2026. All patient/family details and notes are synthetic. Notes are separated by patient, author and role. They are session-only, are not sent to the care team and cannot alter released summaries. The text download explicitly labels the notes unreviewed. No production hospital identity system or durable patient database is active.</a:t>
            </a:r>
          </a:p>
          <a:p xmlns:a="http://schemas.openxmlformats.org/drawingml/2006/main">
            <a:r>
              <a:t/>
            </a:r>
          </a:p>
          <a:p xmlns:a="http://schemas.openxmlformats.org/drawingml/2006/main">
            <a:r>
              <a:t>Sources</a:t>
            </a:r>
          </a:p>
          <a:p xmlns:a="http://schemas.openxmlformats.org/drawingml/2006/main">
            <a:r>
              <a:t>prototype/app/conversation-preparation.tsx</a:t>
            </a:r>
          </a:p>
          <a:p xmlns:a="http://schemas.openxmlformats.org/drawingml/2006/main">
            <a:r>
              <a:t>prototype/app/continuity-prototype.tsx</a:t>
            </a:r>
          </a:p>
          <a:p xmlns:a="http://schemas.openxmlformats.org/drawingml/2006/main">
            <a:r>
              <a:t>submission/screenshots/2026-09-20/preparation-desktop.png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local Chrome screenshot, 20 September 2026. Twelve selected public Pallium India listings appear on /care and in the patient/family portal. Four Karnataka listings are shown. This is not a comprehensive national directory. Public addresses, phone numbers and service types come from state directories. Availability is unconfirmed. Directions use addresses without invented coordinates. The separate OSM/Photon map searches nearby hospitals and clinics. RMI authorisation and medicine stock remain unverified.</a:t>
            </a:r>
          </a:p>
          <a:p xmlns:a="http://schemas.openxmlformats.org/drawingml/2006/main">
            <a:r>
              <a:t/>
            </a:r>
          </a:p>
          <a:p xmlns:a="http://schemas.openxmlformats.org/drawingml/2006/main">
            <a:r>
              <a:t>Sources</a:t>
            </a:r>
          </a:p>
          <a:p xmlns:a="http://schemas.openxmlformats.org/drawingml/2006/main">
            <a:r>
              <a:t>https://palliumindia.org/clinics/karnataka</a:t>
            </a:r>
          </a:p>
          <a:p xmlns:a="http://schemas.openxmlformats.org/drawingml/2006/main">
            <a:r>
              <a:t>https://palliumindia.org/clinics/telangana</a:t>
            </a:r>
          </a:p>
          <a:p xmlns:a="http://schemas.openxmlformats.org/drawingml/2006/main">
            <a:r>
              <a:t>https://palliumindia.org/clinics/andhrapradesh</a:t>
            </a:r>
          </a:p>
          <a:p xmlns:a="http://schemas.openxmlformats.org/drawingml/2006/main">
            <a:r>
              <a:t>prototype/app/care-directory-data.ts</a:t>
            </a:r>
          </a:p>
          <a:p xmlns:a="http://schemas.openxmlformats.org/drawingml/2006/main">
            <a:r>
              <a:t>submission/screenshots/2026-09-20/care-desktop.png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AI documentation workflow, not an implemented model pipeline. Whisper/Bhashini, native Swift/Kotlin, India-hosted services/storage, messaging and ABDM/FHIR are team proposals. The current application is a Next.js browser-local demonstration without a live AI model, transcription, hospital authentication, SMS or WhatsApp. The workflow records discussions, not treatment recommendations. Pre-existing experimental clinical tools require a scope decision before a competition release.</a:t>
            </a:r>
          </a:p>
          <a:p xmlns:a="http://schemas.openxmlformats.org/drawingml/2006/main">
            <a:r>
              <a:t/>
            </a:r>
          </a:p>
          <a:p xmlns:a="http://schemas.openxmlformats.org/drawingml/2006/main">
            <a:r>
              <a:t>Sources</a:t>
            </a:r>
          </a:p>
          <a:p xmlns:a="http://schemas.openxmlformats.org/drawingml/2006/main">
            <a:r>
              <a:t>form.md, saved build answer</a:t>
            </a:r>
          </a:p>
          <a:p xmlns:a="http://schemas.openxmlformats.org/drawingml/2006/main">
            <a:r>
              <a:t>prototype/package.json</a:t>
            </a:r>
          </a:p>
          <a:p xmlns:a="http://schemas.openxmlformats.org/drawingml/2006/main">
            <a:r>
              <a:t>CONTEXT_RECOVERY_2026-09-20.md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status is source- and browser-verified on 20 September 2026. Software tests and simulated conversations are not clinical validation or AI accuracy measurements. Evaluation with real patients would need clinician ownership, consent and an appropriate protocol. The programme excludes diagnosis, treatment recommendations, clinical decision support and risk scoring. Pre-existing experimental clinical modules are outside the proposed documentation and care-navigation workflow and require a deliberate release-scope decision.</a:t>
            </a:r>
          </a:p>
          <a:p xmlns:a="http://schemas.openxmlformats.org/drawingml/2006/main">
            <a:r>
              <a:t/>
            </a:r>
          </a:p>
          <a:p xmlns:a="http://schemas.openxmlformats.org/drawingml/2006/main">
            <a:r>
              <a:t>Sources</a:t>
            </a:r>
          </a:p>
          <a:p xmlns:a="http://schemas.openxmlformats.org/drawingml/2006/main">
            <a:r>
              <a:t>form.md, programme scope</a:t>
            </a:r>
          </a:p>
          <a:p xmlns:a="http://schemas.openxmlformats.org/drawingml/2006/main">
            <a:r>
              <a:t>SAANTHVANA_VERIFICATION_2026-09-20.md</a:t>
            </a:r>
          </a:p>
          <a:p xmlns:a="http://schemas.openxmlformats.org/drawingml/2006/main">
            <a:r>
              <a:t>healthathon-2026-raw.txt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the exact four team member names from the portal on 20 September. Sharada is displayed as doctor partner and Basith as technical lead. A portal assignment warning remains unresolved. Shirin Ayub is a prospective fifth member mentioned by Basith, not a confirmed joined member; no role or contribution has been invented. The public URL is the existing address from submission/public-links.txt. No new deployment, upload or competition submission occurred.</a:t>
            </a:r>
          </a:p>
          <a:p xmlns:a="http://schemas.openxmlformats.org/drawingml/2006/main">
            <a:r>
              <a:t/>
            </a:r>
          </a:p>
          <a:p xmlns:a="http://schemas.openxmlformats.org/drawingml/2006/main">
            <a:r>
              <a:t>Sources</a:t>
            </a:r>
          </a:p>
          <a:p xmlns:a="http://schemas.openxmlformats.org/drawingml/2006/main">
            <a:r>
              <a:t>form.md, user-supplied team page and membership update</a:t>
            </a:r>
          </a:p>
          <a:p xmlns:a="http://schemas.openxmlformats.org/drawingml/2006/main">
            <a:r>
              <a:t>submission/public-links.txt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9678cbd2af47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ed167fe95e492b" /><Relationship Type="http://schemas.openxmlformats.org/officeDocument/2006/relationships/slideLayout" Target="/ppt/slideLayouts/slideLayout1.xml" Id="Rf4fb47e2b39c40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fb47e2b39c40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90e9429b1f4cd4" /><Relationship Type="http://schemas.openxmlformats.org/officeDocument/2006/relationships/image" Target="/ppt/media/image.png" Id="Rf3ded154e492442d" /><Relationship Type="http://schemas.openxmlformats.org/officeDocument/2006/relationships/notesSlide" Target="/ppt/notesSlides/notesSlide1.xml" Id="R363a79e2c7ba49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112dc2ef6f441e" /><Relationship Type="http://schemas.openxmlformats.org/officeDocument/2006/relationships/notesSlide" Target="/ppt/notesSlides/notesSlide2.xml" Id="Rafcceefff2724f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16db01c9b8416b" /><Relationship Type="http://schemas.openxmlformats.org/officeDocument/2006/relationships/image" Target="/ppt/media/image2.png" Id="R8a7212ff8a274f31" /><Relationship Type="http://schemas.openxmlformats.org/officeDocument/2006/relationships/notesSlide" Target="/ppt/notesSlides/notesSlide3.xml" Id="R0eae577d41974f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fc18a842614453" /><Relationship Type="http://schemas.openxmlformats.org/officeDocument/2006/relationships/image" Target="/ppt/media/image.jpeg" Id="Rc5fc3870e1d9474e" /><Relationship Type="http://schemas.openxmlformats.org/officeDocument/2006/relationships/notesSlide" Target="/ppt/notesSlides/notesSlide4.xml" Id="R5dd548aecdc440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408013f0dc4210" /><Relationship Type="http://schemas.openxmlformats.org/officeDocument/2006/relationships/image" Target="/ppt/media/image2.jpeg" Id="R986d65ed3407416c" /><Relationship Type="http://schemas.openxmlformats.org/officeDocument/2006/relationships/notesSlide" Target="/ppt/notesSlides/notesSlide5.xml" Id="Rf3e521f1f9584a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11e8c8eb5b426b" /><Relationship Type="http://schemas.openxmlformats.org/officeDocument/2006/relationships/notesSlide" Target="/ppt/notesSlides/notesSlide6.xml" Id="R906a953081b847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dce6059da44d14" /><Relationship Type="http://schemas.openxmlformats.org/officeDocument/2006/relationships/notesSlide" Target="/ppt/notesSlides/notesSlide7.xml" Id="Rcef62d4ce17244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f5dac499e04886" /><Relationship Type="http://schemas.openxmlformats.org/officeDocument/2006/relationships/notesSlide" Target="/ppt/notesSlides/notesSlide8.xml" Id="R55640c0aa8e243ad" /></Relationships>
</file>

<file path=ppt/slides/slide1.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12EDE5-E1AF-4EFF-969C-62A93A2EADB1}"/>
              </a:ext>
            </a:extLst>
          </p:cNvPr>
          <p:cNvSpPr>
            <a:spLocks xmlns:a="http://schemas.openxmlformats.org/drawingml/2006/main" noGrp="1"/>
          </p:cNvSpPr>
          <p:nvPr/>
        </p:nvSpPr>
        <p:spPr>
          <a:xfrm xmlns:a="http://schemas.openxmlformats.org/drawingml/2006/main">
            <a:off x="533400" y="1485900"/>
            <a:ext cx="5524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Saanthvana</a:t>
            </a:r>
          </a:p>
        </p:txBody>
      </p:sp>
      <p:sp>
        <p:nvSpPr>
          <p:cNvPr id="2" name="">
            <a:extLst xmlns:a="http://schemas.openxmlformats.org/drawingml/2006/main">
              <a:ext uri="{FF2B5EF4-FFF2-40B4-BE49-F238E27FC236}">
                <a16:creationId xmlns:a16="http://schemas.microsoft.com/office/drawing/2014/main" id="{FD961976-B99C-4201-ADE5-7A2CDEE65CF3}"/>
              </a:ext>
            </a:extLst>
          </p:cNvPr>
          <p:cNvSpPr>
            <a:spLocks xmlns:a="http://schemas.openxmlformats.org/drawingml/2006/main" noGrp="1"/>
          </p:cNvSpPr>
          <p:nvPr/>
        </p:nvSpPr>
        <p:spPr>
          <a:xfrm xmlns:a="http://schemas.openxmlformats.org/drawingml/2006/main">
            <a:off x="552450" y="2762250"/>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DBEBC5"/>
                </a:solidFill>
                <a:latin typeface="Arial"/>
                <a:ea typeface="Arial"/>
                <a:cs typeface="Arial"/>
              </a:defRPr>
            </a:pPr>
            <a:r>
              <a:rPr sz="3450" b="1">
                <a:solidFill>
                  <a:srgbClr val="DBEBC5"/>
                </a:solidFill>
                <a:latin typeface="Arial"/>
                <a:ea typeface="Arial"/>
                <a:cs typeface="Arial"/>
              </a:rPr>
              <a:t>Goals-of-care</a:t>
            </a:r>
          </a:p>
          <a:p xmlns:a="http://schemas.openxmlformats.org/drawingml/2006/main">
            <a:pPr>
              <a:defRPr sz="3450" b="1">
                <a:solidFill>
                  <a:srgbClr val="DBEBC5"/>
                </a:solidFill>
                <a:latin typeface="Arial"/>
                <a:ea typeface="Arial"/>
                <a:cs typeface="Arial"/>
              </a:defRPr>
            </a:pPr>
            <a:r>
              <a:rPr sz="3450" b="1">
                <a:solidFill>
                  <a:srgbClr val="DBEBC5"/>
                </a:solidFill>
                <a:latin typeface="Arial"/>
                <a:ea typeface="Arial"/>
                <a:cs typeface="Arial"/>
              </a:rPr>
              <a:t>conversations</a:t>
            </a:r>
          </a:p>
        </p:txBody>
      </p:sp>
      <p:sp>
        <p:nvSpPr>
          <p:cNvPr id="3" name="">
            <a:extLst xmlns:a="http://schemas.openxmlformats.org/drawingml/2006/main">
              <a:ext uri="{FF2B5EF4-FFF2-40B4-BE49-F238E27FC236}">
                <a16:creationId xmlns:a16="http://schemas.microsoft.com/office/drawing/2014/main" id="{75570D60-F4A2-4CA9-A14E-5816C89D52DB}"/>
              </a:ext>
            </a:extLst>
          </p:cNvPr>
          <p:cNvSpPr>
            <a:spLocks xmlns:a="http://schemas.openxmlformats.org/drawingml/2006/main" noGrp="1"/>
          </p:cNvSpPr>
          <p:nvPr/>
        </p:nvSpPr>
        <p:spPr>
          <a:xfrm xmlns:a="http://schemas.openxmlformats.org/drawingml/2006/main">
            <a:off x="552450" y="4419600"/>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For people with cancer</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and their families</a:t>
            </a:r>
          </a:p>
        </p:txBody>
      </p:sp>
      <p:sp>
        <p:nvSpPr>
          <p:cNvPr id="4" name="">
            <a:extLst xmlns:a="http://schemas.openxmlformats.org/drawingml/2006/main">
              <a:ext uri="{FF2B5EF4-FFF2-40B4-BE49-F238E27FC236}">
                <a16:creationId xmlns:a16="http://schemas.microsoft.com/office/drawing/2014/main" id="{A07A02B1-10C4-4777-86D4-91F7A00D7C43}"/>
              </a:ext>
            </a:extLst>
          </p:cNvPr>
          <p:cNvSpPr>
            <a:spLocks xmlns:a="http://schemas.openxmlformats.org/drawingml/2006/main" noGrp="1"/>
          </p:cNvSpPr>
          <p:nvPr/>
        </p:nvSpPr>
        <p:spPr>
          <a:xfrm xmlns:a="http://schemas.openxmlformats.org/drawingml/2006/main">
            <a:off x="552450" y="5810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DBEBC5"/>
                </a:solidFill>
                <a:latin typeface="Arial"/>
                <a:ea typeface="Arial"/>
                <a:cs typeface="Arial"/>
              </a:defRPr>
            </a:pPr>
            <a:r>
              <a:rPr sz="1575" b="0">
                <a:solidFill>
                  <a:srgbClr val="DBEBC5"/>
                </a:solidFill>
                <a:latin typeface="Arial"/>
                <a:ea typeface="Arial"/>
                <a:cs typeface="Arial"/>
              </a:rPr>
              <a:t>Zeros and Ones</a:t>
            </a:r>
          </a:p>
          <a:p xmlns:a="http://schemas.openxmlformats.org/drawingml/2006/main">
            <a:pPr>
              <a:defRPr sz="1575" b="0">
                <a:solidFill>
                  <a:srgbClr val="DBEBC5"/>
                </a:solidFill>
                <a:latin typeface="Arial"/>
                <a:ea typeface="Arial"/>
                <a:cs typeface="Arial"/>
              </a:defRPr>
            </a:pPr>
            <a:r>
              <a:rPr sz="1575" b="0">
                <a:solidFill>
                  <a:srgbClr val="DBEBC5"/>
                </a:solidFill>
                <a:latin typeface="Arial"/>
                <a:ea typeface="Arial"/>
                <a:cs typeface="Arial"/>
              </a:rPr>
              <a:t>Health-a-thon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ded154e492442d"/>
          <a:srcRect xmlns:a="http://schemas.openxmlformats.org/drawingml/2006/main" l="21852" t="0" r="21852" b="0"/>
          <a:stretch xmlns:a="http://schemas.openxmlformats.org/drawingml/2006/main">
            <a:fillRect l="0" t="0" r="0" b="0"/>
          </a:stretch>
        </p:blipFill>
        <p:spPr>
          <a:xfrm xmlns:a="http://schemas.openxmlformats.org/drawingml/2006/main">
            <a:off x="6400800" y="0"/>
            <a:ext cx="5791200" cy="6858000"/>
          </a:xfrm>
          <a:prstGeom xmlns:a="http://schemas.openxmlformats.org/drawingml/2006/main" prst="rect">
            <a:avLst/>
          </a:prstGeom>
        </p:spPr>
      </p:pic>
    </p:spTree>
    <p:extLst>
      <p:ext uri="{BB962C8B-B14F-4D97-AF65-F5344CB8AC3E}">
        <p14:creationId xmlns:p14="http://schemas.microsoft.com/office/powerpoint/2010/main" val="325207568"/>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8708DD-59B0-435F-9756-BF6A5D483BDD}"/>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Families need the conversation when care changes</a:t>
            </a:r>
          </a:p>
        </p:txBody>
      </p:sp>
      <p:sp>
        <p:nvSpPr>
          <p:cNvPr id="2" name="">
            <a:extLst xmlns:a="http://schemas.openxmlformats.org/drawingml/2006/main">
              <a:ext uri="{FF2B5EF4-FFF2-40B4-BE49-F238E27FC236}">
                <a16:creationId xmlns:a16="http://schemas.microsoft.com/office/drawing/2014/main" id="{CD3BA7DC-023E-4322-91C1-1B2FBA9BAA8E}"/>
              </a:ext>
            </a:extLst>
          </p:cNvPr>
          <p:cNvSpPr>
            <a:spLocks xmlns:a="http://schemas.openxmlformats.org/drawingml/2006/main" noGrp="1"/>
          </p:cNvSpPr>
          <p:nvPr/>
        </p:nvSpPr>
        <p:spPr>
          <a:xfrm xmlns:a="http://schemas.openxmlformats.org/drawingml/2006/main">
            <a:off x="533400" y="1676400"/>
            <a:ext cx="5600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Arial"/>
                <a:ea typeface="Arial"/>
                <a:cs typeface="Arial"/>
              </a:defRPr>
            </a:pPr>
            <a:r>
              <a:rPr sz="2250" b="1">
                <a:solidFill>
                  <a:srgbClr val="123F32"/>
                </a:solidFill>
                <a:latin typeface="Arial"/>
                <a:ea typeface="Arial"/>
                <a:cs typeface="Arial"/>
              </a:rPr>
              <a:t>An urgent decision, missing context</a:t>
            </a:r>
          </a:p>
        </p:txBody>
      </p:sp>
      <p:sp>
        <p:nvSpPr>
          <p:cNvPr id="3" name="">
            <a:extLst xmlns:a="http://schemas.openxmlformats.org/drawingml/2006/main">
              <a:ext uri="{FF2B5EF4-FFF2-40B4-BE49-F238E27FC236}">
                <a16:creationId xmlns:a16="http://schemas.microsoft.com/office/drawing/2014/main" id="{71F16A9B-5BD0-46A0-8FBF-3F1CC78D3AFC}"/>
              </a:ext>
            </a:extLst>
          </p:cNvPr>
          <p:cNvSpPr>
            <a:spLocks xmlns:a="http://schemas.openxmlformats.org/drawingml/2006/main" noGrp="1"/>
          </p:cNvSpPr>
          <p:nvPr/>
        </p:nvSpPr>
        <p:spPr>
          <a:xfrm xmlns:a="http://schemas.openxmlformats.org/drawingml/2006/main">
            <a:off x="533400" y="2628900"/>
            <a:ext cx="54292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23F32"/>
                </a:solidFill>
                <a:latin typeface="Arial"/>
                <a:ea typeface="Arial"/>
                <a:cs typeface="Arial"/>
              </a:defRPr>
            </a:pPr>
            <a:r>
              <a:rPr sz="2175" b="0">
                <a:solidFill>
                  <a:srgbClr val="123F32"/>
                </a:solidFill>
                <a:latin typeface="Arial"/>
                <a:ea typeface="Arial"/>
                <a:cs typeface="Arial"/>
              </a:rPr>
              <a:t>A person with advanced cancer reaches emergency care. The family remembers an earlier discussion, but the receiving team cannot find a written account of the patient’s wishes.</a:t>
            </a:r>
          </a:p>
        </p:txBody>
      </p:sp>
      <p:sp>
        <p:nvSpPr>
          <p:cNvPr id="4" name="">
            <a:extLst xmlns:a="http://schemas.openxmlformats.org/drawingml/2006/main">
              <a:ext uri="{FF2B5EF4-FFF2-40B4-BE49-F238E27FC236}">
                <a16:creationId xmlns:a16="http://schemas.microsoft.com/office/drawing/2014/main" id="{66678095-2B3B-4E50-9E98-0342DC4CC1CE}"/>
              </a:ext>
            </a:extLst>
          </p:cNvPr>
          <p:cNvSpPr>
            <a:spLocks xmlns:a="http://schemas.openxmlformats.org/drawingml/2006/main" noGrp="1"/>
          </p:cNvSpPr>
          <p:nvPr/>
        </p:nvSpPr>
        <p:spPr>
          <a:xfrm xmlns:a="http://schemas.openxmlformats.org/drawingml/2006/main">
            <a:off x="533400" y="4981575"/>
            <a:ext cx="5314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Arial"/>
                <a:ea typeface="Arial"/>
                <a:cs typeface="Arial"/>
              </a:defRPr>
            </a:pPr>
            <a:r>
              <a:rPr sz="2325" b="1">
                <a:solidFill>
                  <a:srgbClr val="123F32"/>
                </a:solidFill>
                <a:latin typeface="Arial"/>
                <a:ea typeface="Arial"/>
                <a:cs typeface="Arial"/>
              </a:rPr>
              <a:t>A reviewed account gives the family and care team a starting point.</a:t>
            </a:r>
          </a:p>
        </p:txBody>
      </p:sp>
      <p:sp>
        <p:nvSpPr>
          <p:cNvPr id="5" name="">
            <a:extLst xmlns:a="http://schemas.openxmlformats.org/drawingml/2006/main">
              <a:ext uri="{FF2B5EF4-FFF2-40B4-BE49-F238E27FC236}">
                <a16:creationId xmlns:a16="http://schemas.microsoft.com/office/drawing/2014/main" id="{BE455058-3D5F-4405-9DDF-2193F626EDB1}"/>
              </a:ext>
            </a:extLst>
          </p:cNvPr>
          <p:cNvSpPr>
            <a:spLocks xmlns:a="http://schemas.openxmlformats.org/drawingml/2006/main" noGrp="1"/>
          </p:cNvSpPr>
          <p:nvPr/>
        </p:nvSpPr>
        <p:spPr>
          <a:xfrm xmlns:a="http://schemas.openxmlformats.org/drawingml/2006/main">
            <a:off x="533400" y="6210300"/>
            <a:ext cx="590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F6357"/>
                </a:solidFill>
                <a:latin typeface="Arial"/>
                <a:ea typeface="Arial"/>
                <a:cs typeface="Arial"/>
              </a:defRPr>
            </a:pPr>
            <a:r>
              <a:rPr sz="1275" b="0">
                <a:solidFill>
                  <a:srgbClr val="4F6357"/>
                </a:solidFill>
                <a:latin typeface="Arial"/>
                <a:ea typeface="Arial"/>
                <a:cs typeface="Arial"/>
              </a:rPr>
              <a:t>Illustrative scenario from the team’s clinical draft.</a:t>
            </a:r>
          </a:p>
        </p:txBody>
      </p:sp>
      <p:sp>
        <p:nvSpPr>
          <p:cNvPr id="6" name="">
            <a:extLst xmlns:a="http://schemas.openxmlformats.org/drawingml/2006/main">
              <a:ext uri="{FF2B5EF4-FFF2-40B4-BE49-F238E27FC236}">
                <a16:creationId xmlns:a16="http://schemas.microsoft.com/office/drawing/2014/main" id="{B22EE27A-6A81-4B12-9793-03E6B3C8F721}"/>
              </a:ext>
            </a:extLst>
          </p:cNvPr>
          <p:cNvSpPr>
            <a:spLocks xmlns:a="http://schemas.openxmlformats.org/drawingml/2006/main" noGrp="1"/>
          </p:cNvSpPr>
          <p:nvPr/>
        </p:nvSpPr>
        <p:spPr>
          <a:xfrm xmlns:a="http://schemas.openxmlformats.org/drawingml/2006/main">
            <a:off x="6762750" y="1704975"/>
            <a:ext cx="4838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123F32"/>
                </a:solidFill>
                <a:latin typeface="Arial"/>
                <a:ea typeface="Arial"/>
                <a:cs typeface="Arial"/>
              </a:defRPr>
            </a:pPr>
            <a:r>
              <a:rPr sz="4500" b="1">
                <a:solidFill>
                  <a:srgbClr val="123F32"/>
                </a:solidFill>
                <a:latin typeface="Arial"/>
                <a:ea typeface="Arial"/>
                <a:cs typeface="Arial"/>
              </a:rPr>
              <a:t>1.56 million</a:t>
            </a:r>
          </a:p>
        </p:txBody>
      </p:sp>
      <p:sp>
        <p:nvSpPr>
          <p:cNvPr id="7" name="">
            <a:extLst xmlns:a="http://schemas.openxmlformats.org/drawingml/2006/main">
              <a:ext uri="{FF2B5EF4-FFF2-40B4-BE49-F238E27FC236}">
                <a16:creationId xmlns:a16="http://schemas.microsoft.com/office/drawing/2014/main" id="{D9C5B2A0-05B1-4AB0-9DC6-AEE9B82DE3C6}"/>
              </a:ext>
            </a:extLst>
          </p:cNvPr>
          <p:cNvSpPr>
            <a:spLocks xmlns:a="http://schemas.openxmlformats.org/drawingml/2006/main" noGrp="1"/>
          </p:cNvSpPr>
          <p:nvPr/>
        </p:nvSpPr>
        <p:spPr>
          <a:xfrm xmlns:a="http://schemas.openxmlformats.org/drawingml/2006/main">
            <a:off x="6800850" y="2590800"/>
            <a:ext cx="4705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32"/>
                </a:solidFill>
                <a:latin typeface="Arial"/>
                <a:ea typeface="Arial"/>
                <a:cs typeface="Arial"/>
              </a:defRPr>
            </a:pPr>
            <a:r>
              <a:rPr sz="2025" b="0">
                <a:solidFill>
                  <a:srgbClr val="123F32"/>
                </a:solidFill>
                <a:latin typeface="Arial"/>
                <a:ea typeface="Arial"/>
                <a:cs typeface="Arial"/>
              </a:rPr>
              <a:t>Estimated new cancer cases in India in 2024</a:t>
            </a:r>
          </a:p>
        </p:txBody>
      </p:sp>
      <p:sp>
        <p:nvSpPr>
          <p:cNvPr id="8" name="">
            <a:extLst xmlns:a="http://schemas.openxmlformats.org/drawingml/2006/main">
              <a:ext uri="{FF2B5EF4-FFF2-40B4-BE49-F238E27FC236}">
                <a16:creationId xmlns:a16="http://schemas.microsoft.com/office/drawing/2014/main" id="{E44625C9-EFB9-4801-9546-A410332AFFA9}"/>
              </a:ext>
            </a:extLst>
          </p:cNvPr>
          <p:cNvSpPr>
            <a:spLocks xmlns:a="http://schemas.openxmlformats.org/drawingml/2006/main" noGrp="1"/>
          </p:cNvSpPr>
          <p:nvPr/>
        </p:nvSpPr>
        <p:spPr>
          <a:xfrm xmlns:a="http://schemas.openxmlformats.org/drawingml/2006/main">
            <a:off x="6762750" y="388620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123F32"/>
                </a:solidFill>
                <a:latin typeface="Arial"/>
                <a:ea typeface="Arial"/>
                <a:cs typeface="Arial"/>
              </a:defRPr>
            </a:pPr>
            <a:r>
              <a:rPr sz="4500" b="1">
                <a:solidFill>
                  <a:srgbClr val="123F32"/>
                </a:solidFill>
                <a:latin typeface="Arial"/>
                <a:ea typeface="Arial"/>
                <a:cs typeface="Arial"/>
              </a:rPr>
              <a:t>0% to 92%</a:t>
            </a:r>
          </a:p>
        </p:txBody>
      </p:sp>
      <p:sp>
        <p:nvSpPr>
          <p:cNvPr id="9" name="">
            <a:extLst xmlns:a="http://schemas.openxmlformats.org/drawingml/2006/main">
              <a:ext uri="{FF2B5EF4-FFF2-40B4-BE49-F238E27FC236}">
                <a16:creationId xmlns:a16="http://schemas.microsoft.com/office/drawing/2014/main" id="{F7A8B223-ACF3-4CA5-A1F7-1450A8A5074F}"/>
              </a:ext>
            </a:extLst>
          </p:cNvPr>
          <p:cNvSpPr>
            <a:spLocks xmlns:a="http://schemas.openxmlformats.org/drawingml/2006/main" noGrp="1"/>
          </p:cNvSpPr>
          <p:nvPr/>
        </p:nvSpPr>
        <p:spPr>
          <a:xfrm xmlns:a="http://schemas.openxmlformats.org/drawingml/2006/main">
            <a:off x="6800850" y="4791075"/>
            <a:ext cx="4638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32"/>
                </a:solidFill>
                <a:latin typeface="Arial"/>
                <a:ea typeface="Arial"/>
                <a:cs typeface="Arial"/>
              </a:defRPr>
            </a:pPr>
            <a:r>
              <a:rPr sz="2025" b="0">
                <a:solidFill>
                  <a:srgbClr val="123F32"/>
                </a:solidFill>
                <a:latin typeface="Arial"/>
                <a:ea typeface="Arial"/>
                <a:cs typeface="Arial"/>
              </a:rPr>
              <a:t>Goals-of-care documentation in one Chennai improvement project</a:t>
            </a:r>
          </a:p>
        </p:txBody>
      </p:sp>
      <p:sp>
        <p:nvSpPr>
          <p:cNvPr id="10" name="">
            <a:extLst xmlns:a="http://schemas.openxmlformats.org/drawingml/2006/main">
              <a:ext uri="{FF2B5EF4-FFF2-40B4-BE49-F238E27FC236}">
                <a16:creationId xmlns:a16="http://schemas.microsoft.com/office/drawing/2014/main" id="{822A5682-3090-4650-B6C7-87DA11709E20}"/>
              </a:ext>
            </a:extLst>
          </p:cNvPr>
          <p:cNvSpPr>
            <a:spLocks xmlns:a="http://schemas.openxmlformats.org/drawingml/2006/main" noGrp="1"/>
          </p:cNvSpPr>
          <p:nvPr/>
        </p:nvSpPr>
        <p:spPr>
          <a:xfrm xmlns:a="http://schemas.openxmlformats.org/drawingml/2006/main">
            <a:off x="6800850" y="59245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4F6357"/>
                </a:solidFill>
                <a:latin typeface="Arial"/>
                <a:ea typeface="Arial"/>
                <a:cs typeface="Arial"/>
              </a:defRPr>
            </a:pPr>
            <a:r>
              <a:rPr sz="1275" b="0">
                <a:solidFill>
                  <a:srgbClr val="4F6357"/>
                </a:solidFill>
                <a:latin typeface="Arial"/>
                <a:ea typeface="Arial"/>
                <a:cs typeface="Arial"/>
              </a:rPr>
              <a:t>Single centre, advanced pancreatic / colorectal cancer.</a:t>
            </a:r>
          </a:p>
          <a:p xmlns:a="http://schemas.openxmlformats.org/drawingml/2006/main">
            <a:pPr>
              <a:defRPr sz="1275" b="0">
                <a:solidFill>
                  <a:srgbClr val="4F6357"/>
                </a:solidFill>
                <a:latin typeface="Arial"/>
                <a:ea typeface="Arial"/>
                <a:cs typeface="Arial"/>
              </a:defRPr>
            </a:pPr>
            <a:r>
              <a:rPr sz="1275" b="0">
                <a:solidFill>
                  <a:srgbClr val="4F6357"/>
                </a:solidFill>
                <a:latin typeface="Arial"/>
                <a:ea typeface="Arial"/>
                <a:cs typeface="Arial"/>
              </a:rPr>
              <a:t>This is not a Saanthvana result.</a:t>
            </a:r>
          </a:p>
        </p:txBody>
      </p:sp>
    </p:spTree>
    <p:extLst>
      <p:ext uri="{BB962C8B-B14F-4D97-AF65-F5344CB8AC3E}">
        <p14:creationId xmlns:p14="http://schemas.microsoft.com/office/powerpoint/2010/main" val="4687860"/>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468241-10A1-45EC-94B0-0AA089DA402A}"/>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A conversation led by the treating doctor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a7212ff8a274f31"/>
          <a:srcRect xmlns:a="http://schemas.openxmlformats.org/drawingml/2006/main" l="5729" t="0" r="5729" b="0"/>
          <a:stretch xmlns:a="http://schemas.openxmlformats.org/drawingml/2006/main">
            <a:fillRect l="0" t="0" r="0" b="0"/>
          </a:stretch>
        </p:blipFill>
        <p:spPr>
          <a:xfrm xmlns:a="http://schemas.openxmlformats.org/drawingml/2006/main">
            <a:off x="533400" y="1704975"/>
            <a:ext cx="5667375" cy="4267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C31663-E0AC-4A7B-8765-A42952A83DBD}"/>
              </a:ext>
            </a:extLst>
          </p:cNvPr>
          <p:cNvSpPr>
            <a:spLocks xmlns:a="http://schemas.openxmlformats.org/drawingml/2006/main" noGrp="1"/>
          </p:cNvSpPr>
          <p:nvPr/>
        </p:nvSpPr>
        <p:spPr>
          <a:xfrm xmlns:a="http://schemas.openxmlformats.org/drawingml/2006/main">
            <a:off x="6734175" y="171450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Arial"/>
                <a:ea typeface="Arial"/>
                <a:cs typeface="Arial"/>
              </a:defRPr>
            </a:pPr>
            <a:r>
              <a:rPr sz="2325" b="1">
                <a:solidFill>
                  <a:srgbClr val="123F32"/>
                </a:solidFill>
                <a:latin typeface="Arial"/>
                <a:ea typeface="Arial"/>
                <a:cs typeface="Arial"/>
              </a:rPr>
              <a:t>Understanding and priorities</a:t>
            </a:r>
          </a:p>
        </p:txBody>
      </p:sp>
      <p:sp>
        <p:nvSpPr>
          <p:cNvPr id="4" name="">
            <a:extLst xmlns:a="http://schemas.openxmlformats.org/drawingml/2006/main">
              <a:ext uri="{FF2B5EF4-FFF2-40B4-BE49-F238E27FC236}">
                <a16:creationId xmlns:a16="http://schemas.microsoft.com/office/drawing/2014/main" id="{BC7A7DD4-15BA-48D7-BD8F-E1B2426B84E5}"/>
              </a:ext>
            </a:extLst>
          </p:cNvPr>
          <p:cNvSpPr>
            <a:spLocks xmlns:a="http://schemas.openxmlformats.org/drawingml/2006/main" noGrp="1"/>
          </p:cNvSpPr>
          <p:nvPr/>
        </p:nvSpPr>
        <p:spPr>
          <a:xfrm xmlns:a="http://schemas.openxmlformats.org/drawingml/2006/main">
            <a:off x="6734175" y="2276475"/>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32"/>
                </a:solidFill>
                <a:latin typeface="Arial"/>
                <a:ea typeface="Arial"/>
                <a:cs typeface="Arial"/>
              </a:defRPr>
            </a:pPr>
            <a:r>
              <a:rPr sz="2025" b="0">
                <a:solidFill>
                  <a:srgbClr val="123F32"/>
                </a:solidFill>
                <a:latin typeface="Arial"/>
                <a:ea typeface="Arial"/>
                <a:cs typeface="Arial"/>
              </a:rPr>
              <a:t>What the patient knows, values and wants to discuss.</a:t>
            </a:r>
          </a:p>
        </p:txBody>
      </p:sp>
      <p:sp>
        <p:nvSpPr>
          <p:cNvPr id="5" name="">
            <a:extLst xmlns:a="http://schemas.openxmlformats.org/drawingml/2006/main">
              <a:ext uri="{FF2B5EF4-FFF2-40B4-BE49-F238E27FC236}">
                <a16:creationId xmlns:a16="http://schemas.microsoft.com/office/drawing/2014/main" id="{90A9F381-AA39-4C6B-BB6E-6A3CA3C6E2EE}"/>
              </a:ext>
            </a:extLst>
          </p:cNvPr>
          <p:cNvSpPr>
            <a:spLocks xmlns:a="http://schemas.openxmlformats.org/drawingml/2006/main" noGrp="1"/>
          </p:cNvSpPr>
          <p:nvPr/>
        </p:nvSpPr>
        <p:spPr>
          <a:xfrm xmlns:a="http://schemas.openxmlformats.org/drawingml/2006/main">
            <a:off x="6734175" y="3381375"/>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Arial"/>
                <a:ea typeface="Arial"/>
                <a:cs typeface="Arial"/>
              </a:defRPr>
            </a:pPr>
            <a:r>
              <a:rPr sz="2325" b="1">
                <a:solidFill>
                  <a:srgbClr val="123F32"/>
                </a:solidFill>
                <a:latin typeface="Arial"/>
                <a:ea typeface="Arial"/>
                <a:cs typeface="Arial"/>
              </a:rPr>
              <a:t>People and care preferences</a:t>
            </a:r>
          </a:p>
        </p:txBody>
      </p:sp>
      <p:sp>
        <p:nvSpPr>
          <p:cNvPr id="6" name="">
            <a:extLst xmlns:a="http://schemas.openxmlformats.org/drawingml/2006/main">
              <a:ext uri="{FF2B5EF4-FFF2-40B4-BE49-F238E27FC236}">
                <a16:creationId xmlns:a16="http://schemas.microsoft.com/office/drawing/2014/main" id="{99C44D5B-C920-4B95-9B7D-7795DE990347}"/>
              </a:ext>
            </a:extLst>
          </p:cNvPr>
          <p:cNvSpPr>
            <a:spLocks xmlns:a="http://schemas.openxmlformats.org/drawingml/2006/main" noGrp="1"/>
          </p:cNvSpPr>
          <p:nvPr/>
        </p:nvSpPr>
        <p:spPr>
          <a:xfrm xmlns:a="http://schemas.openxmlformats.org/drawingml/2006/main">
            <a:off x="6734175" y="3943350"/>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32"/>
                </a:solidFill>
                <a:latin typeface="Arial"/>
                <a:ea typeface="Arial"/>
                <a:cs typeface="Arial"/>
              </a:defRPr>
            </a:pPr>
            <a:r>
              <a:rPr sz="2025" b="0">
                <a:solidFill>
                  <a:srgbClr val="123F32"/>
                </a:solidFill>
                <a:latin typeface="Arial"/>
                <a:ea typeface="Arial"/>
                <a:cs typeface="Arial"/>
              </a:rPr>
              <a:t>Who should join, which choices were discussed, and what remains unclear.</a:t>
            </a:r>
          </a:p>
        </p:txBody>
      </p:sp>
      <p:sp>
        <p:nvSpPr>
          <p:cNvPr id="7" name="">
            <a:extLst xmlns:a="http://schemas.openxmlformats.org/drawingml/2006/main">
              <a:ext uri="{FF2B5EF4-FFF2-40B4-BE49-F238E27FC236}">
                <a16:creationId xmlns:a16="http://schemas.microsoft.com/office/drawing/2014/main" id="{E04183BD-B80B-4C7D-AD27-9BEAF346AF2E}"/>
              </a:ext>
            </a:extLst>
          </p:cNvPr>
          <p:cNvSpPr>
            <a:spLocks xmlns:a="http://schemas.openxmlformats.org/drawingml/2006/main" noGrp="1"/>
          </p:cNvSpPr>
          <p:nvPr/>
        </p:nvSpPr>
        <p:spPr>
          <a:xfrm xmlns:a="http://schemas.openxmlformats.org/drawingml/2006/main">
            <a:off x="6734175" y="5048250"/>
            <a:ext cx="4933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Arial"/>
                <a:ea typeface="Arial"/>
                <a:cs typeface="Arial"/>
              </a:defRPr>
            </a:pPr>
            <a:r>
              <a:rPr sz="2325" b="1">
                <a:solidFill>
                  <a:srgbClr val="123F32"/>
                </a:solidFill>
                <a:latin typeface="Arial"/>
                <a:ea typeface="Arial"/>
                <a:cs typeface="Arial"/>
              </a:rPr>
              <a:t>Review and revisit</a:t>
            </a:r>
          </a:p>
        </p:txBody>
      </p:sp>
      <p:sp>
        <p:nvSpPr>
          <p:cNvPr id="8" name="">
            <a:extLst xmlns:a="http://schemas.openxmlformats.org/drawingml/2006/main">
              <a:ext uri="{FF2B5EF4-FFF2-40B4-BE49-F238E27FC236}">
                <a16:creationId xmlns:a16="http://schemas.microsoft.com/office/drawing/2014/main" id="{28849156-CF81-4E58-A959-4CE51DB39E72}"/>
              </a:ext>
            </a:extLst>
          </p:cNvPr>
          <p:cNvSpPr>
            <a:spLocks xmlns:a="http://schemas.openxmlformats.org/drawingml/2006/main" noGrp="1"/>
          </p:cNvSpPr>
          <p:nvPr/>
        </p:nvSpPr>
        <p:spPr>
          <a:xfrm xmlns:a="http://schemas.openxmlformats.org/drawingml/2006/main">
            <a:off x="6734175" y="5610225"/>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32"/>
                </a:solidFill>
                <a:latin typeface="Arial"/>
                <a:ea typeface="Arial"/>
                <a:cs typeface="Arial"/>
              </a:defRPr>
            </a:pPr>
            <a:r>
              <a:rPr sz="2025" b="0">
                <a:solidFill>
                  <a:srgbClr val="123F32"/>
                </a:solidFill>
                <a:latin typeface="Arial"/>
                <a:ea typeface="Arial"/>
                <a:cs typeface="Arial"/>
              </a:rPr>
              <a:t>The doctor reviews the draft. Changed wishes create a new version.</a:t>
            </a:r>
          </a:p>
        </p:txBody>
      </p:sp>
    </p:spTree>
    <p:extLst>
      <p:ext uri="{BB962C8B-B14F-4D97-AF65-F5344CB8AC3E}">
        <p14:creationId xmlns:p14="http://schemas.microsoft.com/office/powerpoint/2010/main" val="1744562408"/>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2939C7-826F-43C8-B497-6047266C5B23}"/>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Families prepare before the next conversation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5fc3870e1d9474e"/>
          <a:stretch xmlns:a="http://schemas.openxmlformats.org/drawingml/2006/main"/>
        </p:blipFill>
        <p:spPr>
          <a:xfrm xmlns:a="http://schemas.openxmlformats.org/drawingml/2006/main">
            <a:off x="945065" y="1704975"/>
            <a:ext cx="7425320" cy="46386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2C33B8B-7530-41F2-A503-EB36BEDD15E7}"/>
              </a:ext>
            </a:extLst>
          </p:cNvPr>
          <p:cNvSpPr>
            <a:spLocks xmlns:a="http://schemas.openxmlformats.org/drawingml/2006/main" noGrp="1"/>
          </p:cNvSpPr>
          <p:nvPr/>
        </p:nvSpPr>
        <p:spPr>
          <a:xfrm xmlns:a="http://schemas.openxmlformats.org/drawingml/2006/main">
            <a:off x="9115425" y="1847850"/>
            <a:ext cx="2543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Arial"/>
                <a:ea typeface="Arial"/>
                <a:cs typeface="Arial"/>
              </a:defRPr>
            </a:pPr>
            <a:r>
              <a:rPr sz="2250" b="1">
                <a:solidFill>
                  <a:srgbClr val="123F32"/>
                </a:solidFill>
                <a:latin typeface="Arial"/>
                <a:ea typeface="Arial"/>
                <a:cs typeface="Arial"/>
              </a:rPr>
              <a:t>Six prompts</a:t>
            </a:r>
          </a:p>
        </p:txBody>
      </p:sp>
      <p:sp>
        <p:nvSpPr>
          <p:cNvPr id="4" name="">
            <a:extLst xmlns:a="http://schemas.openxmlformats.org/drawingml/2006/main">
              <a:ext uri="{FF2B5EF4-FFF2-40B4-BE49-F238E27FC236}">
                <a16:creationId xmlns:a16="http://schemas.microsoft.com/office/drawing/2014/main" id="{F437E5AD-EF48-4F6F-8E98-53F7AB7A690A}"/>
              </a:ext>
            </a:extLst>
          </p:cNvPr>
          <p:cNvSpPr>
            <a:spLocks xmlns:a="http://schemas.openxmlformats.org/drawingml/2006/main" noGrp="1"/>
          </p:cNvSpPr>
          <p:nvPr/>
        </p:nvSpPr>
        <p:spPr>
          <a:xfrm xmlns:a="http://schemas.openxmlformats.org/drawingml/2006/main">
            <a:off x="9115425" y="2409825"/>
            <a:ext cx="2476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23F32"/>
                </a:solidFill>
                <a:latin typeface="Arial"/>
                <a:ea typeface="Arial"/>
                <a:cs typeface="Arial"/>
              </a:defRPr>
            </a:pPr>
            <a:r>
              <a:rPr sz="1950" b="0">
                <a:solidFill>
                  <a:srgbClr val="123F32"/>
                </a:solidFill>
                <a:latin typeface="Arial"/>
                <a:ea typeface="Arial"/>
                <a:cs typeface="Arial"/>
              </a:rPr>
              <a:t>Understanding, priorities, worries, questions, people and language.</a:t>
            </a:r>
          </a:p>
        </p:txBody>
      </p:sp>
      <p:sp>
        <p:nvSpPr>
          <p:cNvPr id="5" name="">
            <a:extLst xmlns:a="http://schemas.openxmlformats.org/drawingml/2006/main">
              <a:ext uri="{FF2B5EF4-FFF2-40B4-BE49-F238E27FC236}">
                <a16:creationId xmlns:a16="http://schemas.microsoft.com/office/drawing/2014/main" id="{200FAB37-54DA-4B26-9AF4-5902A01A63D7}"/>
              </a:ext>
            </a:extLst>
          </p:cNvPr>
          <p:cNvSpPr>
            <a:spLocks xmlns:a="http://schemas.openxmlformats.org/drawingml/2006/main" noGrp="1"/>
          </p:cNvSpPr>
          <p:nvPr/>
        </p:nvSpPr>
        <p:spPr>
          <a:xfrm xmlns:a="http://schemas.openxmlformats.org/drawingml/2006/main">
            <a:off x="9115425" y="4133850"/>
            <a:ext cx="2543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Arial"/>
                <a:ea typeface="Arial"/>
                <a:cs typeface="Arial"/>
              </a:defRPr>
            </a:pPr>
            <a:r>
              <a:rPr sz="2250" b="1">
                <a:solidFill>
                  <a:srgbClr val="123F32"/>
                </a:solidFill>
                <a:latin typeface="Arial"/>
                <a:ea typeface="Arial"/>
                <a:cs typeface="Arial"/>
              </a:rPr>
              <a:t>A copy to bring</a:t>
            </a:r>
          </a:p>
        </p:txBody>
      </p:sp>
      <p:sp>
        <p:nvSpPr>
          <p:cNvPr id="6" name="">
            <a:extLst xmlns:a="http://schemas.openxmlformats.org/drawingml/2006/main">
              <a:ext uri="{FF2B5EF4-FFF2-40B4-BE49-F238E27FC236}">
                <a16:creationId xmlns:a16="http://schemas.microsoft.com/office/drawing/2014/main" id="{3D355F7C-0054-42B5-9528-73C15ED7D0A1}"/>
              </a:ext>
            </a:extLst>
          </p:cNvPr>
          <p:cNvSpPr>
            <a:spLocks xmlns:a="http://schemas.openxmlformats.org/drawingml/2006/main" noGrp="1"/>
          </p:cNvSpPr>
          <p:nvPr/>
        </p:nvSpPr>
        <p:spPr>
          <a:xfrm xmlns:a="http://schemas.openxmlformats.org/drawingml/2006/main">
            <a:off x="9115425" y="4695825"/>
            <a:ext cx="247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23F32"/>
                </a:solidFill>
                <a:latin typeface="Arial"/>
                <a:ea typeface="Arial"/>
                <a:cs typeface="Arial"/>
              </a:defRPr>
            </a:pPr>
            <a:r>
              <a:rPr sz="1950" b="0">
                <a:solidFill>
                  <a:srgbClr val="123F32"/>
                </a:solidFill>
                <a:latin typeface="Arial"/>
                <a:ea typeface="Arial"/>
                <a:cs typeface="Arial"/>
              </a:rPr>
              <a:t>Download personal notes for the doctor. The reviewed summary stays unchanged.</a:t>
            </a:r>
          </a:p>
        </p:txBody>
      </p:sp>
    </p:spTree>
    <p:extLst>
      <p:ext uri="{BB962C8B-B14F-4D97-AF65-F5344CB8AC3E}">
        <p14:creationId xmlns:p14="http://schemas.microsoft.com/office/powerpoint/2010/main" val="1501826171"/>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541EAD-C9D7-47A3-A3AF-9CFD2F7B6E4F}"/>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Palliative care contacts are easier to find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86d65ed3407416c"/>
          <a:stretch xmlns:a="http://schemas.openxmlformats.org/drawingml/2006/main"/>
        </p:blipFill>
        <p:spPr>
          <a:xfrm xmlns:a="http://schemas.openxmlformats.org/drawingml/2006/main">
            <a:off x="948347" y="1704975"/>
            <a:ext cx="7418756" cy="46386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B36EA0-FA8D-4CDA-8D01-C57086D8A1E7}"/>
              </a:ext>
            </a:extLst>
          </p:cNvPr>
          <p:cNvSpPr>
            <a:spLocks xmlns:a="http://schemas.openxmlformats.org/drawingml/2006/main" noGrp="1"/>
          </p:cNvSpPr>
          <p:nvPr/>
        </p:nvSpPr>
        <p:spPr>
          <a:xfrm xmlns:a="http://schemas.openxmlformats.org/drawingml/2006/main">
            <a:off x="9115425" y="1847850"/>
            <a:ext cx="25527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Arial"/>
                <a:ea typeface="Arial"/>
                <a:cs typeface="Arial"/>
              </a:defRPr>
            </a:pPr>
            <a:r>
              <a:rPr sz="2250" b="1">
                <a:solidFill>
                  <a:srgbClr val="123F32"/>
                </a:solidFill>
                <a:latin typeface="Arial"/>
                <a:ea typeface="Arial"/>
                <a:cs typeface="Arial"/>
              </a:rPr>
              <a:t>12 selected centres</a:t>
            </a:r>
          </a:p>
        </p:txBody>
      </p:sp>
      <p:sp>
        <p:nvSpPr>
          <p:cNvPr id="4" name="">
            <a:extLst xmlns:a="http://schemas.openxmlformats.org/drawingml/2006/main">
              <a:ext uri="{FF2B5EF4-FFF2-40B4-BE49-F238E27FC236}">
                <a16:creationId xmlns:a16="http://schemas.microsoft.com/office/drawing/2014/main" id="{3D8F2EE8-B04C-4464-B794-91AC68D50AB4}"/>
              </a:ext>
            </a:extLst>
          </p:cNvPr>
          <p:cNvSpPr>
            <a:spLocks xmlns:a="http://schemas.openxmlformats.org/drawingml/2006/main" noGrp="1"/>
          </p:cNvSpPr>
          <p:nvPr/>
        </p:nvSpPr>
        <p:spPr>
          <a:xfrm xmlns:a="http://schemas.openxmlformats.org/drawingml/2006/main">
            <a:off x="9115425" y="2828925"/>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23F32"/>
                </a:solidFill>
                <a:latin typeface="Arial"/>
                <a:ea typeface="Arial"/>
                <a:cs typeface="Arial"/>
              </a:defRPr>
            </a:pPr>
            <a:r>
              <a:rPr sz="1950" b="0">
                <a:solidFill>
                  <a:srgbClr val="123F32"/>
                </a:solidFill>
                <a:latin typeface="Arial"/>
                <a:ea typeface="Arial"/>
                <a:cs typeface="Arial"/>
              </a:rPr>
              <a:t>Karnataka, Telangana and Andhra Pradesh.</a:t>
            </a:r>
          </a:p>
        </p:txBody>
      </p:sp>
      <p:sp>
        <p:nvSpPr>
          <p:cNvPr id="5" name="">
            <a:extLst xmlns:a="http://schemas.openxmlformats.org/drawingml/2006/main">
              <a:ext uri="{FF2B5EF4-FFF2-40B4-BE49-F238E27FC236}">
                <a16:creationId xmlns:a16="http://schemas.microsoft.com/office/drawing/2014/main" id="{7CC9D72F-B198-46A9-BE81-0EA4B8927314}"/>
              </a:ext>
            </a:extLst>
          </p:cNvPr>
          <p:cNvSpPr>
            <a:spLocks xmlns:a="http://schemas.openxmlformats.org/drawingml/2006/main" noGrp="1"/>
          </p:cNvSpPr>
          <p:nvPr/>
        </p:nvSpPr>
        <p:spPr>
          <a:xfrm xmlns:a="http://schemas.openxmlformats.org/drawingml/2006/main">
            <a:off x="9115425" y="4133850"/>
            <a:ext cx="2571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Arial"/>
                <a:ea typeface="Arial"/>
                <a:cs typeface="Arial"/>
              </a:defRPr>
            </a:pPr>
            <a:r>
              <a:rPr sz="2250" b="1">
                <a:solidFill>
                  <a:srgbClr val="123F32"/>
                </a:solidFill>
                <a:latin typeface="Arial"/>
                <a:ea typeface="Arial"/>
                <a:cs typeface="Arial"/>
              </a:rPr>
              <a:t>Search and contact</a:t>
            </a:r>
          </a:p>
        </p:txBody>
      </p:sp>
      <p:sp>
        <p:nvSpPr>
          <p:cNvPr id="6" name="">
            <a:extLst xmlns:a="http://schemas.openxmlformats.org/drawingml/2006/main">
              <a:ext uri="{FF2B5EF4-FFF2-40B4-BE49-F238E27FC236}">
                <a16:creationId xmlns:a16="http://schemas.microsoft.com/office/drawing/2014/main" id="{BD33C220-7BC2-47E0-836C-C71E75CAE091}"/>
              </a:ext>
            </a:extLst>
          </p:cNvPr>
          <p:cNvSpPr>
            <a:spLocks xmlns:a="http://schemas.openxmlformats.org/drawingml/2006/main" noGrp="1"/>
          </p:cNvSpPr>
          <p:nvPr/>
        </p:nvSpPr>
        <p:spPr>
          <a:xfrm xmlns:a="http://schemas.openxmlformats.org/drawingml/2006/main">
            <a:off x="9115425" y="5076825"/>
            <a:ext cx="2476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23F32"/>
                </a:solidFill>
                <a:latin typeface="Arial"/>
                <a:ea typeface="Arial"/>
                <a:cs typeface="Arial"/>
              </a:defRPr>
            </a:pPr>
            <a:r>
              <a:rPr sz="1950" b="0">
                <a:solidFill>
                  <a:srgbClr val="123F32"/>
                </a:solidFill>
                <a:latin typeface="Arial"/>
                <a:ea typeface="Arial"/>
                <a:cs typeface="Arial"/>
              </a:rPr>
              <a:t>Filter by service, call the centre or open directions.</a:t>
            </a:r>
          </a:p>
        </p:txBody>
      </p:sp>
    </p:spTree>
    <p:extLst>
      <p:ext uri="{BB962C8B-B14F-4D97-AF65-F5344CB8AC3E}">
        <p14:creationId xmlns:p14="http://schemas.microsoft.com/office/powerpoint/2010/main" val="827073822"/>
      </p:ext>
    </p:extLst>
  </p:cSld>
</p:sld>
</file>

<file path=ppt/slides/slide6.xml><?xml version="1.0" encoding="utf-8"?>
<p:sld xmlns:p="http://schemas.openxmlformats.org/presentationml/2006/main">
  <p:cSld>
    <p:bg>
      <p:bgPr>
        <a:solidFill xmlns:a="http://schemas.openxmlformats.org/drawingml/2006/main">
          <a:srgbClr val="DBEBC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B0483F-17E1-4993-9D67-40266BE7F5A5}"/>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AI assistance with a required human review</a:t>
            </a:r>
          </a:p>
        </p:txBody>
      </p:sp>
      <p:sp>
        <p:nvSpPr>
          <p:cNvPr id="2" name="">
            <a:extLst xmlns:a="http://schemas.openxmlformats.org/drawingml/2006/main">
              <a:ext uri="{FF2B5EF4-FFF2-40B4-BE49-F238E27FC236}">
                <a16:creationId xmlns:a16="http://schemas.microsoft.com/office/drawing/2014/main" id="{A485051E-3564-492F-9F4E-47A5EFE74260}"/>
              </a:ext>
            </a:extLst>
          </p:cNvPr>
          <p:cNvSpPr>
            <a:spLocks xmlns:a="http://schemas.openxmlformats.org/drawingml/2006/main" noGrp="1"/>
          </p:cNvSpPr>
          <p:nvPr/>
        </p:nvSpPr>
        <p:spPr>
          <a:xfrm xmlns:a="http://schemas.openxmlformats.org/drawingml/2006/main">
            <a:off x="533400" y="1714500"/>
            <a:ext cx="3990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3F32"/>
                </a:solidFill>
                <a:latin typeface="Arial"/>
                <a:ea typeface="Arial"/>
                <a:cs typeface="Arial"/>
              </a:defRPr>
            </a:pPr>
            <a:r>
              <a:rPr sz="2175" b="1">
                <a:solidFill>
                  <a:srgbClr val="123F32"/>
                </a:solidFill>
                <a:latin typeface="Arial"/>
                <a:ea typeface="Arial"/>
                <a:cs typeface="Arial"/>
              </a:rPr>
              <a:t>Capture with consent</a:t>
            </a:r>
          </a:p>
        </p:txBody>
      </p:sp>
      <p:sp>
        <p:nvSpPr>
          <p:cNvPr id="3" name="">
            <a:extLst xmlns:a="http://schemas.openxmlformats.org/drawingml/2006/main">
              <a:ext uri="{FF2B5EF4-FFF2-40B4-BE49-F238E27FC236}">
                <a16:creationId xmlns:a16="http://schemas.microsoft.com/office/drawing/2014/main" id="{C98E22CE-60B1-4FC5-BE57-D830D498DEF2}"/>
              </a:ext>
            </a:extLst>
          </p:cNvPr>
          <p:cNvSpPr>
            <a:spLocks xmlns:a="http://schemas.openxmlformats.org/drawingml/2006/main" noGrp="1"/>
          </p:cNvSpPr>
          <p:nvPr/>
        </p:nvSpPr>
        <p:spPr>
          <a:xfrm xmlns:a="http://schemas.openxmlformats.org/drawingml/2006/main">
            <a:off x="4800600" y="171450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Record or type the clinician-led discussion in the preferred language.</a:t>
            </a:r>
          </a:p>
        </p:txBody>
      </p:sp>
      <p:sp>
        <p:nvSpPr>
          <p:cNvPr id="4" name="">
            <a:extLst xmlns:a="http://schemas.openxmlformats.org/drawingml/2006/main">
              <a:ext uri="{FF2B5EF4-FFF2-40B4-BE49-F238E27FC236}">
                <a16:creationId xmlns:a16="http://schemas.microsoft.com/office/drawing/2014/main" id="{858F5682-0C3A-4736-A8E0-7DC911F581E4}"/>
              </a:ext>
            </a:extLst>
          </p:cNvPr>
          <p:cNvSpPr>
            <a:spLocks xmlns:a="http://schemas.openxmlformats.org/drawingml/2006/main" noGrp="1"/>
          </p:cNvSpPr>
          <p:nvPr/>
        </p:nvSpPr>
        <p:spPr>
          <a:xfrm xmlns:a="http://schemas.openxmlformats.org/drawingml/2006/main">
            <a:off x="533400" y="2762250"/>
            <a:ext cx="3990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3F32"/>
                </a:solidFill>
                <a:latin typeface="Arial"/>
                <a:ea typeface="Arial"/>
                <a:cs typeface="Arial"/>
              </a:defRPr>
            </a:pPr>
            <a:r>
              <a:rPr sz="2175" b="1">
                <a:solidFill>
                  <a:srgbClr val="123F32"/>
                </a:solidFill>
                <a:latin typeface="Arial"/>
                <a:ea typeface="Arial"/>
                <a:cs typeface="Arial"/>
              </a:rPr>
              <a:t>Draft from the conversation</a:t>
            </a:r>
          </a:p>
        </p:txBody>
      </p:sp>
      <p:sp>
        <p:nvSpPr>
          <p:cNvPr id="5" name="">
            <a:extLst xmlns:a="http://schemas.openxmlformats.org/drawingml/2006/main">
              <a:ext uri="{FF2B5EF4-FFF2-40B4-BE49-F238E27FC236}">
                <a16:creationId xmlns:a16="http://schemas.microsoft.com/office/drawing/2014/main" id="{3E7E99A0-55CC-44C0-99A7-41282FFE358F}"/>
              </a:ext>
            </a:extLst>
          </p:cNvPr>
          <p:cNvSpPr>
            <a:spLocks xmlns:a="http://schemas.openxmlformats.org/drawingml/2006/main" noGrp="1"/>
          </p:cNvSpPr>
          <p:nvPr/>
        </p:nvSpPr>
        <p:spPr>
          <a:xfrm xmlns:a="http://schemas.openxmlformats.org/drawingml/2006/main">
            <a:off x="4800600" y="276225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Transcribe and organise stated information, keeping source passages visible.</a:t>
            </a:r>
          </a:p>
        </p:txBody>
      </p:sp>
      <p:sp>
        <p:nvSpPr>
          <p:cNvPr id="6" name="">
            <a:extLst xmlns:a="http://schemas.openxmlformats.org/drawingml/2006/main">
              <a:ext uri="{FF2B5EF4-FFF2-40B4-BE49-F238E27FC236}">
                <a16:creationId xmlns:a16="http://schemas.microsoft.com/office/drawing/2014/main" id="{5AC415D8-B24A-4757-9CE2-6B1C9FED046B}"/>
              </a:ext>
            </a:extLst>
          </p:cNvPr>
          <p:cNvSpPr>
            <a:spLocks xmlns:a="http://schemas.openxmlformats.org/drawingml/2006/main" noGrp="1"/>
          </p:cNvSpPr>
          <p:nvPr/>
        </p:nvSpPr>
        <p:spPr>
          <a:xfrm xmlns:a="http://schemas.openxmlformats.org/drawingml/2006/main">
            <a:off x="533400" y="3810000"/>
            <a:ext cx="3990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3F32"/>
                </a:solidFill>
                <a:latin typeface="Arial"/>
                <a:ea typeface="Arial"/>
                <a:cs typeface="Arial"/>
              </a:defRPr>
            </a:pPr>
            <a:r>
              <a:rPr sz="2175" b="1">
                <a:solidFill>
                  <a:srgbClr val="123F32"/>
                </a:solidFill>
                <a:latin typeface="Arial"/>
                <a:ea typeface="Arial"/>
                <a:cs typeface="Arial"/>
              </a:rPr>
              <a:t>Resolve before release</a:t>
            </a:r>
          </a:p>
        </p:txBody>
      </p:sp>
      <p:sp>
        <p:nvSpPr>
          <p:cNvPr id="7" name="">
            <a:extLst xmlns:a="http://schemas.openxmlformats.org/drawingml/2006/main">
              <a:ext uri="{FF2B5EF4-FFF2-40B4-BE49-F238E27FC236}">
                <a16:creationId xmlns:a16="http://schemas.microsoft.com/office/drawing/2014/main" id="{BFA54CDC-7CE3-4CE2-9342-8F2540554340}"/>
              </a:ext>
            </a:extLst>
          </p:cNvPr>
          <p:cNvSpPr>
            <a:spLocks xmlns:a="http://schemas.openxmlformats.org/drawingml/2006/main" noGrp="1"/>
          </p:cNvSpPr>
          <p:nvPr/>
        </p:nvSpPr>
        <p:spPr>
          <a:xfrm xmlns:a="http://schemas.openxmlformats.org/drawingml/2006/main">
            <a:off x="4800600" y="381000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The doctor checks missing or unclear details and approves the written summary.</a:t>
            </a:r>
          </a:p>
        </p:txBody>
      </p:sp>
      <p:sp>
        <p:nvSpPr>
          <p:cNvPr id="8" name="">
            <a:extLst xmlns:a="http://schemas.openxmlformats.org/drawingml/2006/main">
              <a:ext uri="{FF2B5EF4-FFF2-40B4-BE49-F238E27FC236}">
                <a16:creationId xmlns:a16="http://schemas.microsoft.com/office/drawing/2014/main" id="{293E2EDF-95F5-47E8-B645-68348AEC45F0}"/>
              </a:ext>
            </a:extLst>
          </p:cNvPr>
          <p:cNvSpPr>
            <a:spLocks xmlns:a="http://schemas.openxmlformats.org/drawingml/2006/main" noGrp="1"/>
          </p:cNvSpPr>
          <p:nvPr/>
        </p:nvSpPr>
        <p:spPr>
          <a:xfrm xmlns:a="http://schemas.openxmlformats.org/drawingml/2006/main">
            <a:off x="533400" y="4857750"/>
            <a:ext cx="3990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3F32"/>
                </a:solidFill>
                <a:latin typeface="Arial"/>
                <a:ea typeface="Arial"/>
                <a:cs typeface="Arial"/>
              </a:defRPr>
            </a:pPr>
            <a:r>
              <a:rPr sz="2175" b="1">
                <a:solidFill>
                  <a:srgbClr val="123F32"/>
                </a:solidFill>
                <a:latin typeface="Arial"/>
                <a:ea typeface="Arial"/>
                <a:cs typeface="Arial"/>
              </a:rPr>
              <a:t>Keep a reviewed copy</a:t>
            </a:r>
          </a:p>
        </p:txBody>
      </p:sp>
      <p:sp>
        <p:nvSpPr>
          <p:cNvPr id="9" name="">
            <a:extLst xmlns:a="http://schemas.openxmlformats.org/drawingml/2006/main">
              <a:ext uri="{FF2B5EF4-FFF2-40B4-BE49-F238E27FC236}">
                <a16:creationId xmlns:a16="http://schemas.microsoft.com/office/drawing/2014/main" id="{9D8E9000-DB18-4D1A-8A28-F6EF07BFFC17}"/>
              </a:ext>
            </a:extLst>
          </p:cNvPr>
          <p:cNvSpPr>
            <a:spLocks xmlns:a="http://schemas.openxmlformats.org/drawingml/2006/main" noGrp="1"/>
          </p:cNvSpPr>
          <p:nvPr/>
        </p:nvSpPr>
        <p:spPr>
          <a:xfrm xmlns:a="http://schemas.openxmlformats.org/drawingml/2006/main">
            <a:off x="4800600" y="485775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The patient and authorised family can retrieve the latest released version.</a:t>
            </a:r>
          </a:p>
        </p:txBody>
      </p:sp>
      <p:sp>
        <p:nvSpPr>
          <p:cNvPr id="10" name="">
            <a:extLst xmlns:a="http://schemas.openxmlformats.org/drawingml/2006/main">
              <a:ext uri="{FF2B5EF4-FFF2-40B4-BE49-F238E27FC236}">
                <a16:creationId xmlns:a16="http://schemas.microsoft.com/office/drawing/2014/main" id="{14C1402F-8820-4F5F-BA98-2047FA97E863}"/>
              </a:ext>
            </a:extLst>
          </p:cNvPr>
          <p:cNvSpPr>
            <a:spLocks xmlns:a="http://schemas.openxmlformats.org/drawingml/2006/main" noGrp="1"/>
          </p:cNvSpPr>
          <p:nvPr/>
        </p:nvSpPr>
        <p:spPr>
          <a:xfrm xmlns:a="http://schemas.openxmlformats.org/drawingml/2006/main">
            <a:off x="533400" y="62293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23F32"/>
                </a:solidFill>
                <a:latin typeface="Arial"/>
                <a:ea typeface="Arial"/>
                <a:cs typeface="Arial"/>
              </a:defRPr>
            </a:pPr>
            <a:r>
              <a:rPr sz="1425" b="0">
                <a:solidFill>
                  <a:srgbClr val="123F32"/>
                </a:solidFill>
                <a:latin typeface="Arial"/>
                <a:ea typeface="Arial"/>
                <a:cs typeface="Arial"/>
              </a:rPr>
              <a:t>Planned integration. The current prototype uses sample conversation text and no live AI model.</a:t>
            </a:r>
          </a:p>
        </p:txBody>
      </p:sp>
    </p:spTree>
    <p:extLst>
      <p:ext uri="{BB962C8B-B14F-4D97-AF65-F5344CB8AC3E}">
        <p14:creationId xmlns:p14="http://schemas.microsoft.com/office/powerpoint/2010/main" val="1999476030"/>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038423-1843-4EA0-AE43-B3607B0C8217}"/>
              </a:ext>
            </a:extLst>
          </p:cNvPr>
          <p:cNvSpPr>
            <a:spLocks xmlns:a="http://schemas.openxmlformats.org/drawingml/2006/main" noGrp="1"/>
          </p:cNvSpPr>
          <p:nvPr/>
        </p:nvSpPr>
        <p:spPr>
          <a:xfrm xmlns:a="http://schemas.openxmlformats.org/drawingml/2006/main">
            <a:off x="533400" y="428625"/>
            <a:ext cx="1112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23F32"/>
                </a:solidFill>
                <a:latin typeface="Arial"/>
                <a:ea typeface="Arial"/>
                <a:cs typeface="Arial"/>
              </a:defRPr>
            </a:pPr>
            <a:r>
              <a:rPr sz="3450" b="1">
                <a:solidFill>
                  <a:srgbClr val="123F32"/>
                </a:solidFill>
                <a:latin typeface="Arial"/>
                <a:ea typeface="Arial"/>
                <a:cs typeface="Arial"/>
              </a:rPr>
              <a:t>A focused build and clinician review</a:t>
            </a:r>
          </a:p>
        </p:txBody>
      </p:sp>
      <p:sp>
        <p:nvSpPr>
          <p:cNvPr id="2" name="">
            <a:extLst xmlns:a="http://schemas.openxmlformats.org/drawingml/2006/main">
              <a:ext uri="{FF2B5EF4-FFF2-40B4-BE49-F238E27FC236}">
                <a16:creationId xmlns:a16="http://schemas.microsoft.com/office/drawing/2014/main" id="{66D148AC-3395-43E6-971E-8FE9DDC9144B}"/>
              </a:ext>
            </a:extLst>
          </p:cNvPr>
          <p:cNvSpPr>
            <a:spLocks xmlns:a="http://schemas.openxmlformats.org/drawingml/2006/main" noGrp="1"/>
          </p:cNvSpPr>
          <p:nvPr/>
        </p:nvSpPr>
        <p:spPr>
          <a:xfrm xmlns:a="http://schemas.openxmlformats.org/drawingml/2006/main">
            <a:off x="533400" y="17430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23F32"/>
                </a:solidFill>
                <a:latin typeface="Arial"/>
                <a:ea typeface="Arial"/>
                <a:cs typeface="Arial"/>
              </a:defRPr>
            </a:pPr>
            <a:r>
              <a:rPr sz="2400" b="1">
                <a:solidFill>
                  <a:srgbClr val="123F32"/>
                </a:solidFill>
                <a:latin typeface="Arial"/>
                <a:ea typeface="Arial"/>
                <a:cs typeface="Arial"/>
              </a:rPr>
              <a:t>Working locally</a:t>
            </a:r>
          </a:p>
        </p:txBody>
      </p:sp>
      <p:sp>
        <p:nvSpPr>
          <p:cNvPr id="3" name="">
            <a:extLst xmlns:a="http://schemas.openxmlformats.org/drawingml/2006/main">
              <a:ext uri="{FF2B5EF4-FFF2-40B4-BE49-F238E27FC236}">
                <a16:creationId xmlns:a16="http://schemas.microsoft.com/office/drawing/2014/main" id="{1F6672DC-88F5-4D66-93B0-C87A1CA83EF4}"/>
              </a:ext>
            </a:extLst>
          </p:cNvPr>
          <p:cNvSpPr>
            <a:spLocks xmlns:a="http://schemas.openxmlformats.org/drawingml/2006/main" noGrp="1"/>
          </p:cNvSpPr>
          <p:nvPr/>
        </p:nvSpPr>
        <p:spPr>
          <a:xfrm xmlns:a="http://schemas.openxmlformats.org/drawingml/2006/main">
            <a:off x="533400" y="2571750"/>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Guided conversation</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Physician review and versions</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Family preparation</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Care directory and nearby map</a:t>
            </a:r>
          </a:p>
        </p:txBody>
      </p:sp>
      <p:sp>
        <p:nvSpPr>
          <p:cNvPr id="4" name="">
            <a:extLst xmlns:a="http://schemas.openxmlformats.org/drawingml/2006/main">
              <a:ext uri="{FF2B5EF4-FFF2-40B4-BE49-F238E27FC236}">
                <a16:creationId xmlns:a16="http://schemas.microsoft.com/office/drawing/2014/main" id="{8DFA8F0B-3148-4710-A091-D52D6473EA31}"/>
              </a:ext>
            </a:extLst>
          </p:cNvPr>
          <p:cNvSpPr>
            <a:spLocks xmlns:a="http://schemas.openxmlformats.org/drawingml/2006/main" noGrp="1"/>
          </p:cNvSpPr>
          <p:nvPr/>
        </p:nvSpPr>
        <p:spPr>
          <a:xfrm xmlns:a="http://schemas.openxmlformats.org/drawingml/2006/main">
            <a:off x="4352925" y="17430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23F32"/>
                </a:solidFill>
                <a:latin typeface="Arial"/>
                <a:ea typeface="Arial"/>
                <a:cs typeface="Arial"/>
              </a:defRPr>
            </a:pPr>
            <a:r>
              <a:rPr sz="2400" b="1">
                <a:solidFill>
                  <a:srgbClr val="123F32"/>
                </a:solidFill>
                <a:latin typeface="Arial"/>
                <a:ea typeface="Arial"/>
                <a:cs typeface="Arial"/>
              </a:rPr>
              <a:t>Next build</a:t>
            </a:r>
          </a:p>
        </p:txBody>
      </p:sp>
      <p:sp>
        <p:nvSpPr>
          <p:cNvPr id="5" name="">
            <a:extLst xmlns:a="http://schemas.openxmlformats.org/drawingml/2006/main">
              <a:ext uri="{FF2B5EF4-FFF2-40B4-BE49-F238E27FC236}">
                <a16:creationId xmlns:a16="http://schemas.microsoft.com/office/drawing/2014/main" id="{51DB6D29-266B-4881-9F16-A1E8F4C31C40}"/>
              </a:ext>
            </a:extLst>
          </p:cNvPr>
          <p:cNvSpPr>
            <a:spLocks xmlns:a="http://schemas.openxmlformats.org/drawingml/2006/main" noGrp="1"/>
          </p:cNvSpPr>
          <p:nvPr/>
        </p:nvSpPr>
        <p:spPr>
          <a:xfrm xmlns:a="http://schemas.openxmlformats.org/drawingml/2006/main">
            <a:off x="4352925" y="2571750"/>
            <a:ext cx="333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Consented transcription</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Durable access and storage</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Language evaluation</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Restrict the competition demo to the agreed assistive scope</a:t>
            </a:r>
          </a:p>
        </p:txBody>
      </p:sp>
      <p:sp>
        <p:nvSpPr>
          <p:cNvPr id="6" name="">
            <a:extLst xmlns:a="http://schemas.openxmlformats.org/drawingml/2006/main">
              <a:ext uri="{FF2B5EF4-FFF2-40B4-BE49-F238E27FC236}">
                <a16:creationId xmlns:a16="http://schemas.microsoft.com/office/drawing/2014/main" id="{1A495C01-369B-484B-9C22-9D3E6DCDC73C}"/>
              </a:ext>
            </a:extLst>
          </p:cNvPr>
          <p:cNvSpPr>
            <a:spLocks xmlns:a="http://schemas.openxmlformats.org/drawingml/2006/main" noGrp="1"/>
          </p:cNvSpPr>
          <p:nvPr/>
        </p:nvSpPr>
        <p:spPr>
          <a:xfrm xmlns:a="http://schemas.openxmlformats.org/drawingml/2006/main">
            <a:off x="8172450" y="1743075"/>
            <a:ext cx="3505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23F32"/>
                </a:solidFill>
                <a:latin typeface="Arial"/>
                <a:ea typeface="Arial"/>
                <a:cs typeface="Arial"/>
              </a:defRPr>
            </a:pPr>
            <a:r>
              <a:rPr sz="2400" b="1">
                <a:solidFill>
                  <a:srgbClr val="123F32"/>
                </a:solidFill>
                <a:latin typeface="Arial"/>
                <a:ea typeface="Arial"/>
                <a:cs typeface="Arial"/>
              </a:rPr>
              <a:t>Proposed evaluation</a:t>
            </a:r>
          </a:p>
        </p:txBody>
      </p:sp>
      <p:sp>
        <p:nvSpPr>
          <p:cNvPr id="7" name="">
            <a:extLst xmlns:a="http://schemas.openxmlformats.org/drawingml/2006/main">
              <a:ext uri="{FF2B5EF4-FFF2-40B4-BE49-F238E27FC236}">
                <a16:creationId xmlns:a16="http://schemas.microsoft.com/office/drawing/2014/main" id="{4F364F5D-D4F5-446B-976A-43C61DA736D8}"/>
              </a:ext>
            </a:extLst>
          </p:cNvPr>
          <p:cNvSpPr>
            <a:spLocks xmlns:a="http://schemas.openxmlformats.org/drawingml/2006/main" noGrp="1"/>
          </p:cNvSpPr>
          <p:nvPr/>
        </p:nvSpPr>
        <p:spPr>
          <a:xfrm xmlns:a="http://schemas.openxmlformats.org/drawingml/2006/main">
            <a:off x="8172450" y="2714625"/>
            <a:ext cx="3381375"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Compare drafts with source text.</a:t>
            </a:r>
          </a:p>
          <a:p xmlns:a="http://schemas.openxmlformats.org/drawingml/2006/main">
            <a:r>
              <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Measure clinician corrections and retrieval time.</a:t>
            </a:r>
          </a:p>
          <a:p xmlns:a="http://schemas.openxmlformats.org/drawingml/2006/main">
            <a:r>
              <a:t/>
            </a:r>
          </a:p>
          <a:p xmlns:a="http://schemas.openxmlformats.org/drawingml/2006/main">
            <a:pPr>
              <a:defRPr sz="2100" b="0">
                <a:solidFill>
                  <a:srgbClr val="123F32"/>
                </a:solidFill>
                <a:latin typeface="Arial"/>
                <a:ea typeface="Arial"/>
                <a:cs typeface="Arial"/>
              </a:defRPr>
            </a:pPr>
            <a:r>
              <a:rPr sz="2100" b="0">
                <a:solidFill>
                  <a:srgbClr val="123F32"/>
                </a:solidFill>
                <a:latin typeface="Arial"/>
                <a:ea typeface="Arial"/>
                <a:cs typeface="Arial"/>
              </a:rPr>
              <a:t>Ask families whether the summary is clear.</a:t>
            </a:r>
          </a:p>
        </p:txBody>
      </p:sp>
      <p:sp>
        <p:nvSpPr>
          <p:cNvPr id="8" name="">
            <a:extLst xmlns:a="http://schemas.openxmlformats.org/drawingml/2006/main">
              <a:ext uri="{FF2B5EF4-FFF2-40B4-BE49-F238E27FC236}">
                <a16:creationId xmlns:a16="http://schemas.microsoft.com/office/drawing/2014/main" id="{8ABB3169-3F7E-42B1-A932-46FBDCBA9CF9}"/>
              </a:ext>
            </a:extLst>
          </p:cNvPr>
          <p:cNvSpPr>
            <a:spLocks xmlns:a="http://schemas.openxmlformats.org/drawingml/2006/main" noGrp="1"/>
          </p:cNvSpPr>
          <p:nvPr/>
        </p:nvSpPr>
        <p:spPr>
          <a:xfrm xmlns:a="http://schemas.openxmlformats.org/drawingml/2006/main">
            <a:off x="533400" y="61341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F6357"/>
                </a:solidFill>
                <a:latin typeface="Arial"/>
                <a:ea typeface="Arial"/>
                <a:cs typeface="Arial"/>
              </a:defRPr>
            </a:pPr>
            <a:r>
              <a:rPr sz="1650" b="0">
                <a:solidFill>
                  <a:srgbClr val="4F6357"/>
                </a:solidFill>
                <a:latin typeface="Arial"/>
                <a:ea typeface="Arial"/>
                <a:cs typeface="Arial"/>
              </a:rPr>
              <a:t>No clinical outcome improvement or AI accuracy has been established.</a:t>
            </a:r>
          </a:p>
        </p:txBody>
      </p:sp>
    </p:spTree>
    <p:extLst>
      <p:ext uri="{BB962C8B-B14F-4D97-AF65-F5344CB8AC3E}">
        <p14:creationId xmlns:p14="http://schemas.microsoft.com/office/powerpoint/2010/main" val="1306055702"/>
      </p:ext>
    </p:extLst>
  </p:cSld>
</p:sld>
</file>

<file path=ppt/slides/slide8.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5C1CEC-8ED2-4C47-A854-F1A154D05516}"/>
              </a:ext>
            </a:extLst>
          </p:cNvPr>
          <p:cNvSpPr>
            <a:spLocks xmlns:a="http://schemas.openxmlformats.org/drawingml/2006/main" noGrp="1"/>
          </p:cNvSpPr>
          <p:nvPr/>
        </p:nvSpPr>
        <p:spPr>
          <a:xfrm xmlns:a="http://schemas.openxmlformats.org/drawingml/2006/main">
            <a:off x="533400" y="428625"/>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Zeros and Ones</a:t>
            </a:r>
          </a:p>
        </p:txBody>
      </p:sp>
      <p:sp>
        <p:nvSpPr>
          <p:cNvPr id="2" name="">
            <a:extLst xmlns:a="http://schemas.openxmlformats.org/drawingml/2006/main">
              <a:ext uri="{FF2B5EF4-FFF2-40B4-BE49-F238E27FC236}">
                <a16:creationId xmlns:a16="http://schemas.microsoft.com/office/drawing/2014/main" id="{59EC26A8-23BD-406C-BA0A-A0E3846B34B0}"/>
              </a:ext>
            </a:extLst>
          </p:cNvPr>
          <p:cNvSpPr>
            <a:spLocks xmlns:a="http://schemas.openxmlformats.org/drawingml/2006/main" noGrp="1"/>
          </p:cNvSpPr>
          <p:nvPr/>
        </p:nvSpPr>
        <p:spPr>
          <a:xfrm xmlns:a="http://schemas.openxmlformats.org/drawingml/2006/main">
            <a:off x="533400" y="16383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DBEBC5"/>
                </a:solidFill>
                <a:latin typeface="Arial"/>
                <a:ea typeface="Arial"/>
                <a:cs typeface="Arial"/>
              </a:defRPr>
            </a:pPr>
            <a:r>
              <a:rPr sz="2400" b="1">
                <a:solidFill>
                  <a:srgbClr val="DBEBC5"/>
                </a:solidFill>
                <a:latin typeface="Arial"/>
                <a:ea typeface="Arial"/>
                <a:cs typeface="Arial"/>
              </a:rPr>
              <a:t>Clinical collaborators</a:t>
            </a:r>
          </a:p>
        </p:txBody>
      </p:sp>
      <p:sp>
        <p:nvSpPr>
          <p:cNvPr id="3" name="">
            <a:extLst xmlns:a="http://schemas.openxmlformats.org/drawingml/2006/main">
              <a:ext uri="{FF2B5EF4-FFF2-40B4-BE49-F238E27FC236}">
                <a16:creationId xmlns:a16="http://schemas.microsoft.com/office/drawing/2014/main" id="{E09A6BD9-1771-4A5C-BAED-87171BE16B3D}"/>
              </a:ext>
            </a:extLst>
          </p:cNvPr>
          <p:cNvSpPr>
            <a:spLocks xmlns:a="http://schemas.openxmlformats.org/drawingml/2006/main" noGrp="1"/>
          </p:cNvSpPr>
          <p:nvPr/>
        </p:nvSpPr>
        <p:spPr>
          <a:xfrm xmlns:a="http://schemas.openxmlformats.org/drawingml/2006/main">
            <a:off x="533400" y="2266950"/>
            <a:ext cx="52768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Sharada Vinod Kutty</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Sujay Halkur Shankar</a:t>
            </a:r>
          </a:p>
        </p:txBody>
      </p:sp>
      <p:sp>
        <p:nvSpPr>
          <p:cNvPr id="4" name="">
            <a:extLst xmlns:a="http://schemas.openxmlformats.org/drawingml/2006/main">
              <a:ext uri="{FF2B5EF4-FFF2-40B4-BE49-F238E27FC236}">
                <a16:creationId xmlns:a16="http://schemas.microsoft.com/office/drawing/2014/main" id="{65736E87-81D7-4547-8495-1E8000F24560}"/>
              </a:ext>
            </a:extLst>
          </p:cNvPr>
          <p:cNvSpPr>
            <a:spLocks xmlns:a="http://schemas.openxmlformats.org/drawingml/2006/main" noGrp="1"/>
          </p:cNvSpPr>
          <p:nvPr/>
        </p:nvSpPr>
        <p:spPr>
          <a:xfrm xmlns:a="http://schemas.openxmlformats.org/drawingml/2006/main">
            <a:off x="6400800" y="1638300"/>
            <a:ext cx="525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DBEBC5"/>
                </a:solidFill>
                <a:latin typeface="Arial"/>
                <a:ea typeface="Arial"/>
                <a:cs typeface="Arial"/>
              </a:defRPr>
            </a:pPr>
            <a:r>
              <a:rPr sz="2400" b="1">
                <a:solidFill>
                  <a:srgbClr val="DBEBC5"/>
                </a:solidFill>
                <a:latin typeface="Arial"/>
                <a:ea typeface="Arial"/>
                <a:cs typeface="Arial"/>
              </a:rPr>
              <a:t>Product and technology</a:t>
            </a:r>
          </a:p>
        </p:txBody>
      </p:sp>
      <p:sp>
        <p:nvSpPr>
          <p:cNvPr id="5" name="">
            <a:extLst xmlns:a="http://schemas.openxmlformats.org/drawingml/2006/main">
              <a:ext uri="{FF2B5EF4-FFF2-40B4-BE49-F238E27FC236}">
                <a16:creationId xmlns:a16="http://schemas.microsoft.com/office/drawing/2014/main" id="{45A5691D-32D3-4E3A-85B0-F52FDC8C8EEB}"/>
              </a:ext>
            </a:extLst>
          </p:cNvPr>
          <p:cNvSpPr>
            <a:spLocks xmlns:a="http://schemas.openxmlformats.org/drawingml/2006/main" noGrp="1"/>
          </p:cNvSpPr>
          <p:nvPr/>
        </p:nvSpPr>
        <p:spPr>
          <a:xfrm xmlns:a="http://schemas.openxmlformats.org/drawingml/2006/main">
            <a:off x="6400800" y="2266950"/>
            <a:ext cx="5257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Shaik Abdul Basith</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Shaik Muhammad Awaiz</a:t>
            </a:r>
          </a:p>
        </p:txBody>
      </p:sp>
      <p:sp>
        <p:nvSpPr>
          <p:cNvPr id="6" name="">
            <a:extLst xmlns:a="http://schemas.openxmlformats.org/drawingml/2006/main">
              <a:ext uri="{FF2B5EF4-FFF2-40B4-BE49-F238E27FC236}">
                <a16:creationId xmlns:a16="http://schemas.microsoft.com/office/drawing/2014/main" id="{C408C321-DD5E-4054-94B2-5B98E8AE61A8}"/>
              </a:ext>
            </a:extLst>
          </p:cNvPr>
          <p:cNvSpPr>
            <a:spLocks xmlns:a="http://schemas.openxmlformats.org/drawingml/2006/main" noGrp="1"/>
          </p:cNvSpPr>
          <p:nvPr/>
        </p:nvSpPr>
        <p:spPr>
          <a:xfrm xmlns:a="http://schemas.openxmlformats.org/drawingml/2006/main">
            <a:off x="533400" y="358140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DBEBC5"/>
                </a:solidFill>
                <a:latin typeface="Arial"/>
                <a:ea typeface="Arial"/>
                <a:cs typeface="Arial"/>
              </a:defRPr>
            </a:pPr>
            <a:r>
              <a:rPr sz="1725" b="0">
                <a:solidFill>
                  <a:srgbClr val="DBEBC5"/>
                </a:solidFill>
                <a:latin typeface="Arial"/>
                <a:ea typeface="Arial"/>
                <a:cs typeface="Arial"/>
              </a:rPr>
              <a:t>Shirin Ayub plans to join. Her role is still to be confirmed.</a:t>
            </a:r>
          </a:p>
        </p:txBody>
      </p:sp>
      <p:sp>
        <p:nvSpPr>
          <p:cNvPr id="7" name="">
            <a:extLst xmlns:a="http://schemas.openxmlformats.org/drawingml/2006/main">
              <a:ext uri="{FF2B5EF4-FFF2-40B4-BE49-F238E27FC236}">
                <a16:creationId xmlns:a16="http://schemas.microsoft.com/office/drawing/2014/main" id="{C64F40A0-4976-4E69-A40B-23231DCC5C2C}"/>
              </a:ext>
            </a:extLst>
          </p:cNvPr>
          <p:cNvSpPr>
            <a:spLocks xmlns:a="http://schemas.openxmlformats.org/drawingml/2006/main" noGrp="1"/>
          </p:cNvSpPr>
          <p:nvPr/>
        </p:nvSpPr>
        <p:spPr>
          <a:xfrm xmlns:a="http://schemas.openxmlformats.org/drawingml/2006/main">
            <a:off x="533400" y="4448175"/>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DBEBC5"/>
                </a:solidFill>
                <a:latin typeface="Arial"/>
                <a:ea typeface="Arial"/>
                <a:cs typeface="Arial"/>
              </a:defRPr>
            </a:pPr>
            <a:r>
              <a:rPr sz="2250" b="1">
                <a:solidFill>
                  <a:srgbClr val="DBEBC5"/>
                </a:solidFill>
                <a:latin typeface="Arial"/>
                <a:ea typeface="Arial"/>
                <a:cs typeface="Arial"/>
              </a:rPr>
              <a:t>Existing online prototype</a:t>
            </a:r>
          </a:p>
        </p:txBody>
      </p:sp>
      <p:sp>
        <p:nvSpPr>
          <p:cNvPr id="8" name="">
            <a:extLst xmlns:a="http://schemas.openxmlformats.org/drawingml/2006/main">
              <a:ext uri="{FF2B5EF4-FFF2-40B4-BE49-F238E27FC236}">
                <a16:creationId xmlns:a16="http://schemas.microsoft.com/office/drawing/2014/main" id="{6B8253A2-B3A6-4FCA-9213-2AD715297FD4}"/>
              </a:ext>
            </a:extLst>
          </p:cNvPr>
          <p:cNvSpPr>
            <a:spLocks xmlns:a="http://schemas.openxmlformats.org/drawingml/2006/main" noGrp="1"/>
          </p:cNvSpPr>
          <p:nvPr/>
        </p:nvSpPr>
        <p:spPr>
          <a:xfrm xmlns:a="http://schemas.openxmlformats.org/drawingml/2006/main">
            <a:off x="533400" y="50292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https://continuity-loop-healthathon.vercel.app/</a:t>
            </a:r>
          </a:p>
        </p:txBody>
      </p:sp>
      <p:sp>
        <p:nvSpPr>
          <p:cNvPr id="9" name="">
            <a:extLst xmlns:a="http://schemas.openxmlformats.org/drawingml/2006/main">
              <a:ext uri="{FF2B5EF4-FFF2-40B4-BE49-F238E27FC236}">
                <a16:creationId xmlns:a16="http://schemas.microsoft.com/office/drawing/2014/main" id="{0E289EB7-D896-40F0-9FB5-4C415A12D050}"/>
              </a:ext>
            </a:extLst>
          </p:cNvPr>
          <p:cNvSpPr>
            <a:spLocks xmlns:a="http://schemas.openxmlformats.org/drawingml/2006/main" noGrp="1"/>
          </p:cNvSpPr>
          <p:nvPr/>
        </p:nvSpPr>
        <p:spPr>
          <a:xfrm xmlns:a="http://schemas.openxmlformats.org/drawingml/2006/main">
            <a:off x="533400" y="5924550"/>
            <a:ext cx="10848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This link opens the earlier build. The Saanthvana updates shown here are local and await deployment.</a:t>
            </a:r>
          </a:p>
        </p:txBody>
      </p:sp>
    </p:spTree>
    <p:extLst>
      <p:ext uri="{BB962C8B-B14F-4D97-AF65-F5344CB8AC3E}">
        <p14:creationId xmlns:p14="http://schemas.microsoft.com/office/powerpoint/2010/main" val="1613593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2026-09-20T09:53:39.6380000Z</dcterms:created>
  <dcterms:modified xsi:type="dcterms:W3CDTF">2026-09-20T09:53:39.6390000Z</dcterms:modified>
</coreProperties>
</file>