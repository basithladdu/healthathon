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8e72c9ef6b744f2" /><Relationship Type="http://schemas.openxmlformats.org/officeDocument/2006/relationships/extended-properties" Target="/docProps/app.xml" Id="R047093dc1d96486d" /><Relationship Type="http://schemas.openxmlformats.org/officeDocument/2006/relationships/officeDocument" Target="/ppt/presentation.xml" Id="R830fe0b9a1e0420d" /></Relationships>
</file>

<file path=ppt/presentation.xml><?xml version="1.0" encoding="utf-8"?>
<p:presentation xmlns:p="http://schemas.openxmlformats.org/presentationml/2006/main">
  <p:sldMasterIdLst>
    <p:sldMasterId xmlns:r="http://schemas.openxmlformats.org/officeDocument/2006/relationships" id="2147483648" r:id="R179ae768ea0b400c"/>
  </p:sldMasterIdLst>
  <p:notesMasterIdLst>
    <p:notesMasterId xmlns:r="http://schemas.openxmlformats.org/officeDocument/2006/relationships" r:id="Rf79ebac7195e44aa"/>
  </p:notesMasterIdLst>
  <p:sldIdLst>
    <p:sldId xmlns:r="http://schemas.openxmlformats.org/officeDocument/2006/relationships" id="256" r:id="R4a7c2b4e74d745e7"/>
    <p:sldId xmlns:r="http://schemas.openxmlformats.org/officeDocument/2006/relationships" id="257" r:id="R7bc417c98a524080"/>
    <p:sldId xmlns:r="http://schemas.openxmlformats.org/officeDocument/2006/relationships" id="258" r:id="Rabe58e0939444e20"/>
    <p:sldId xmlns:r="http://schemas.openxmlformats.org/officeDocument/2006/relationships" id="259" r:id="Rbc25a46361824dd6"/>
    <p:sldId xmlns:r="http://schemas.openxmlformats.org/officeDocument/2006/relationships" id="260" r:id="R438f337bda9a4eed"/>
    <p:sldId xmlns:r="http://schemas.openxmlformats.org/officeDocument/2006/relationships" id="261" r:id="R8c5ef62f1387490d"/>
    <p:sldId xmlns:r="http://schemas.openxmlformats.org/officeDocument/2006/relationships" id="262" r:id="R1d9a479dcac441e6"/>
    <p:sldId xmlns:r="http://schemas.openxmlformats.org/officeDocument/2006/relationships" id="263" r:id="Rcec1c45489b042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74af2e62c0d4856" /><Relationship Type="http://schemas.openxmlformats.org/officeDocument/2006/relationships/slideMaster" Target="/ppt/slideMasters/slideMaster1.xml" Id="R179ae768ea0b400c" /><Relationship Type="http://schemas.openxmlformats.org/officeDocument/2006/relationships/notesMaster" Target="/ppt/notesMasters/notesMaster1.xml" Id="Rf79ebac7195e44aa" /><Relationship Type="http://schemas.openxmlformats.org/officeDocument/2006/relationships/presProps" Target="/ppt/presProps.xml" Id="R147309f97bf14224" /><Relationship Type="http://schemas.openxmlformats.org/officeDocument/2006/relationships/tableStyles" Target="/ppt/tableStyles.xml" Id="R89b7af37a2e14e9b" /><Relationship Type="http://schemas.openxmlformats.org/officeDocument/2006/relationships/slide" Target="/ppt/slides/slide1.xml" Id="R4a7c2b4e74d745e7" /><Relationship Type="http://schemas.openxmlformats.org/officeDocument/2006/relationships/slide" Target="/ppt/slides/slide2.xml" Id="R7bc417c98a524080" /><Relationship Type="http://schemas.openxmlformats.org/officeDocument/2006/relationships/slide" Target="/ppt/slides/slide3.xml" Id="Rabe58e0939444e20" /><Relationship Type="http://schemas.openxmlformats.org/officeDocument/2006/relationships/slide" Target="/ppt/slides/slide4.xml" Id="Rbc25a46361824dd6" /><Relationship Type="http://schemas.openxmlformats.org/officeDocument/2006/relationships/slide" Target="/ppt/slides/slide5.xml" Id="R438f337bda9a4eed" /><Relationship Type="http://schemas.openxmlformats.org/officeDocument/2006/relationships/slide" Target="/ppt/slides/slide6.xml" Id="R8c5ef62f1387490d" /><Relationship Type="http://schemas.openxmlformats.org/officeDocument/2006/relationships/slide" Target="/ppt/slides/slide7.xml" Id="R1d9a479dcac441e6" /><Relationship Type="http://schemas.openxmlformats.org/officeDocument/2006/relationships/slide" Target="/ppt/slides/slide8.xml" Id="Rcec1c45489b042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55cce6266044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000fabb5d443d2" /><Relationship Type="http://schemas.openxmlformats.org/officeDocument/2006/relationships/notesMaster" Target="/ppt/notesMasters/notesMaster1.xml" Id="Ra75d73d0fc6940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af4e4db5e74878" /><Relationship Type="http://schemas.openxmlformats.org/officeDocument/2006/relationships/notesMaster" Target="/ppt/notesMasters/notesMaster1.xml" Id="R6c4b2ed972c048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5b3ba063564f4f" /><Relationship Type="http://schemas.openxmlformats.org/officeDocument/2006/relationships/notesMaster" Target="/ppt/notesMasters/notesMaster1.xml" Id="R57685edc7b4f42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84797759534d16" /><Relationship Type="http://schemas.openxmlformats.org/officeDocument/2006/relationships/notesMaster" Target="/ppt/notesMasters/notesMaster1.xml" Id="R9700a74b84614d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b080b8e76440c4" /><Relationship Type="http://schemas.openxmlformats.org/officeDocument/2006/relationships/notesMaster" Target="/ppt/notesMasters/notesMaster1.xml" Id="R398a26bbac7140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6115b87a9945fe" /><Relationship Type="http://schemas.openxmlformats.org/officeDocument/2006/relationships/notesMaster" Target="/ppt/notesMasters/notesMaster1.xml" Id="Re364bff51abe42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f7dc612430b4fd7" /><Relationship Type="http://schemas.openxmlformats.org/officeDocument/2006/relationships/notesMaster" Target="/ppt/notesMasters/notesMaster1.xml" Id="Rab260d0618b34a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a425639a6d4d3e" /><Relationship Type="http://schemas.openxmlformats.org/officeDocument/2006/relationships/notesMaster" Target="/ppt/notesMasters/notesMaster1.xml" Id="Rfb6dc2e0f6f747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Screenshot is a fresh real Chrome capture at https://saathi.wedevit.in/doctor/review on 24 September, saved to output/playwright/2026-09-24-saathi-doctor-review.png. The seeded Meera text was prepared using the normal app controls and a faithful wording edit; the draft remains unsigned and is not an actual clinical record.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images are actual Chrome captures of https://saathi.wedevit.in/home for this revision, saved as output/playwright/2026-09-24-saathi-patient-home.png and output/playwright/2026-09-24-saathi-three-role-login.png. The sign-in image is cropped inside PowerPoint to the original form; no UI has been redrawn. The patient image includes the complete home page, showing the latest Care Note, documents, Find support, My space, Calendar, the upcoming visit and medicine and family-help shortcuts. Meera and the other stored records are fictional. The three current role choices are Patient, Family and Doctor. Patient sign-in was exercised with a different arbitrary 14-digit value and opened the existing patient home. This checks the present format-only entry flow, not real ABHA authentication or permission to open another person's medical records. Verified accounts and sharing between phones remain to connect. This is the broader intended family-support workflow, not a claim of completed rides, guaranteed stock, payments or a deployed financial-assistance system. Patients and families can keep questions, records, confirmed treatment dates, medicine and appointment plans, named tasks, journal entries and support contacts together. Receipts, financial-help paperwork and caregiver-training handoffs remain proposed supporting work. The doctor reviews and signs first; the patient reviews and signs the same version. Directory: Pallium India, https://palliumindia.org/clinics/telangana, lists home/inpatient/outpatient services and medicine availability. The family must call to confirm the prescribed medicine and service; a listing does not establish today's stock, oral formulation or a booked appointment. Caregiver support evidence: https://journals.plos.org/plosone/article?id=10.1371/journal.pone.0274770 supports information, training, practical and emotional support needs. Additional sources: both meeting transcripts and the user's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dd29cb2324e47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41d24e875d4de1" /><Relationship Type="http://schemas.openxmlformats.org/officeDocument/2006/relationships/slideLayout" Target="/ppt/slideLayouts/slideLayout1.xml" Id="R0cca68611fc445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ca68611fc445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f41e16498db4e2f" /><Relationship Type="http://schemas.openxmlformats.org/officeDocument/2006/relationships/image" Target="/ppt/media/image.png" Id="Rbe1355cc630d4eab" /><Relationship Type="http://schemas.openxmlformats.org/officeDocument/2006/relationships/image" Target="/ppt/media/image.svg" Id="R90e67966794544d0" /><Relationship Type="http://schemas.openxmlformats.org/officeDocument/2006/relationships/image" Target="/ppt/media/image2.png" Id="R7d6a6ec7559c4fa9" /><Relationship Type="http://schemas.openxmlformats.org/officeDocument/2006/relationships/hyperlink" Target="https://saathi.wedevit.in/" TargetMode="External" Id="R7e13c9f304114f98" /><Relationship Type="http://schemas.openxmlformats.org/officeDocument/2006/relationships/image" Target="/ppt/media/image3.png" Id="Re20caa07df4b49be" /><Relationship Type="http://schemas.openxmlformats.org/officeDocument/2006/relationships/image" Target="/ppt/media/image2.svg" Id="Re67fc7e3e47e46c0" /><Relationship Type="http://schemas.openxmlformats.org/officeDocument/2006/relationships/hyperlink" Target="https://github.com/basithladdu/healthathon" TargetMode="External" Id="R9f82135b221c4ede" /><Relationship Type="http://schemas.openxmlformats.org/officeDocument/2006/relationships/image" Target="/ppt/media/image4.png" Id="R03ae1f2f2e934d6e" /><Relationship Type="http://schemas.openxmlformats.org/officeDocument/2006/relationships/image" Target="/ppt/media/image3.svg" Id="R06c2c2e5a6604ea8" /><Relationship Type="http://schemas.openxmlformats.org/officeDocument/2006/relationships/hyperlink" Target="https://wa.me/919553321211" TargetMode="External" Id="R328d3167ee3e4ffe" /><Relationship Type="http://schemas.openxmlformats.org/officeDocument/2006/relationships/hyperlink" Target="https://wa.me/919553321211" TargetMode="External" Id="R83575541d5b94ba4" /><Relationship Type="http://schemas.openxmlformats.org/officeDocument/2006/relationships/image" Target="/ppt/media/image.jpeg" Id="R58f0fe82ae5c484d" /><Relationship Type="http://schemas.openxmlformats.org/officeDocument/2006/relationships/image" Target="/ppt/media/image2.jpeg" Id="R41c6c715c08546d4" /><Relationship Type="http://schemas.openxmlformats.org/officeDocument/2006/relationships/notesSlide" Target="/ppt/notesSlides/notesSlide1.xml" Id="R087f3080f7654e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72c3876b544700" /><Relationship Type="http://schemas.openxmlformats.org/officeDocument/2006/relationships/image" Target="/ppt/media/image3.jpeg" Id="Rd3e67d9399bd4b63" /><Relationship Type="http://schemas.openxmlformats.org/officeDocument/2006/relationships/image" Target="/ppt/media/image5.png" Id="R34e802462b4e421e" /><Relationship Type="http://schemas.openxmlformats.org/officeDocument/2006/relationships/image" Target="/ppt/media/image4.svg" Id="R06c0e1248169463b" /><Relationship Type="http://schemas.openxmlformats.org/officeDocument/2006/relationships/image" Target="/ppt/media/image6.png" Id="R6e749abb67784109" /><Relationship Type="http://schemas.openxmlformats.org/officeDocument/2006/relationships/image" Target="/ppt/media/image5.svg" Id="Rcef25f6aed5246bb" /><Relationship Type="http://schemas.openxmlformats.org/officeDocument/2006/relationships/image" Target="/ppt/media/image7.png" Id="Rd7ef592b79e54ef3" /><Relationship Type="http://schemas.openxmlformats.org/officeDocument/2006/relationships/image" Target="/ppt/media/image6.svg" Id="R5bdb02f6d5c5482b" /><Relationship Type="http://schemas.openxmlformats.org/officeDocument/2006/relationships/notesSlide" Target="/ppt/notesSlides/notesSlide2.xml" Id="Rfc60fb061f5e4f0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b2481222874d80" /><Relationship Type="http://schemas.openxmlformats.org/officeDocument/2006/relationships/chart" Target="/ppt/slides/charts/chart1.xml" Id="R913b9c9b099a4fb8" /><Relationship Type="http://schemas.openxmlformats.org/officeDocument/2006/relationships/image" Target="/ppt/media/image8.png" Id="R920f763b925442ba" /><Relationship Type="http://schemas.openxmlformats.org/officeDocument/2006/relationships/image" Target="/ppt/media/image7.svg" Id="R79f0a532ba84428e" /><Relationship Type="http://schemas.openxmlformats.org/officeDocument/2006/relationships/hyperlink" Target="https://gco.iarc.who.int/media/globocan/factsheets/populations/356-india-fact-sheet.pdf" TargetMode="External" Id="Rab4c578e80334357" /><Relationship Type="http://schemas.openxmlformats.org/officeDocument/2006/relationships/image" Target="/ppt/media/image9.png" Id="R4bff11e25d7d4488" /><Relationship Type="http://schemas.openxmlformats.org/officeDocument/2006/relationships/image" Target="/ppt/media/image8.svg" Id="R4cf26de1dd9f4ec4" /><Relationship Type="http://schemas.openxmlformats.org/officeDocument/2006/relationships/hyperlink" Target="https://doi.org/10.1136/spcare-2024-004978" TargetMode="External" Id="Rd799c1bf899c4352" /><Relationship Type="http://schemas.openxmlformats.org/officeDocument/2006/relationships/image" Target="/ppt/media/image10.png" Id="Rcc55cf1aedb44bb6" /><Relationship Type="http://schemas.openxmlformats.org/officeDocument/2006/relationships/image" Target="/ppt/media/image9.svg" Id="Rf12737ff2b1443c1" /><Relationship Type="http://schemas.openxmlformats.org/officeDocument/2006/relationships/hyperlink" Target="https://scroll.in/article/925875/73-urban-indians-do-not-know-about-their-right-to-make-a-living-will-finds-a-survey" TargetMode="External" Id="R5089ef7c1d744f08" /><Relationship Type="http://schemas.openxmlformats.org/officeDocument/2006/relationships/image" Target="/ppt/media/image11.png" Id="Rddbd7cb823314ba5" /><Relationship Type="http://schemas.openxmlformats.org/officeDocument/2006/relationships/image" Target="/ppt/media/image10.svg" Id="R9fc2583e67574187" /><Relationship Type="http://schemas.openxmlformats.org/officeDocument/2006/relationships/hyperlink" Target="https://doi.org/10.25259/NMJI_817_2023" TargetMode="External" Id="Rb053a137070f4f44" /><Relationship Type="http://schemas.openxmlformats.org/officeDocument/2006/relationships/image" Target="/ppt/media/image12.png" Id="R1f9e082886864a11" /><Relationship Type="http://schemas.openxmlformats.org/officeDocument/2006/relationships/image" Target="/ppt/media/image11.svg" Id="Rc9bae1b679b64aa3" /><Relationship Type="http://schemas.openxmlformats.org/officeDocument/2006/relationships/hyperlink" Target="https://doi.org/10.1177/26892820251392545" TargetMode="External" Id="R444c0cc6359745f8" /><Relationship Type="http://schemas.openxmlformats.org/officeDocument/2006/relationships/notesSlide" Target="/ppt/notesSlides/notesSlide3.xml" Id="Rb26aa06433d64d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1e510c6b6d449ee" /><Relationship Type="http://schemas.openxmlformats.org/officeDocument/2006/relationships/image" Target="/ppt/media/image4.jpeg" Id="R42288b82276e45d2" /><Relationship Type="http://schemas.openxmlformats.org/officeDocument/2006/relationships/hyperlink" Target="https://docs.sarvam.ai/api/getting-started/building-for-india" TargetMode="External" Id="R2ee9c6937c7046b1" /><Relationship Type="http://schemas.openxmlformats.org/officeDocument/2006/relationships/notesSlide" Target="/ppt/notesSlides/notesSlide4.xml" Id="R5a68132ea0c94f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3d3fe6495a498c" /><Relationship Type="http://schemas.openxmlformats.org/officeDocument/2006/relationships/image" Target="/ppt/media/image5.jpeg" Id="R8ad2fb7eeeaa49a0" /><Relationship Type="http://schemas.openxmlformats.org/officeDocument/2006/relationships/notesSlide" Target="/ppt/notesSlides/notesSlide5.xml" Id="Rdb86e9879c6f44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f3d51bf529462c" /><Relationship Type="http://schemas.openxmlformats.org/officeDocument/2006/relationships/image" Target="/ppt/media/image6.jpeg" Id="R857bef5b39344b3e" /><Relationship Type="http://schemas.openxmlformats.org/officeDocument/2006/relationships/image" Target="/ppt/media/image7.jpeg" Id="R4f7d4c11c4d24583" /><Relationship Type="http://schemas.openxmlformats.org/officeDocument/2006/relationships/hyperlink" Target="https://palliumindia.org/clinics/telangana" TargetMode="External" Id="Rc8c6314cc1124592" /><Relationship Type="http://schemas.openxmlformats.org/officeDocument/2006/relationships/notesSlide" Target="/ppt/notesSlides/notesSlide6.xml" Id="Rdff8c06613474f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fc0f0a67edc417e" /><Relationship Type="http://schemas.openxmlformats.org/officeDocument/2006/relationships/notesSlide" Target="/ppt/notesSlides/notesSlide7.xml" Id="R9f656ffa977b486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aa71495603b4912" /><Relationship Type="http://schemas.openxmlformats.org/officeDocument/2006/relationships/hyperlink" Target="https://gco.iarc.who.int/media/globocan/factsheets/populations/356-india-fact-sheet.pdf" TargetMode="External" Id="Rafa12fa26a604caa" /><Relationship Type="http://schemas.openxmlformats.org/officeDocument/2006/relationships/hyperlink" Target="https://gco.iarc.who.int/media/globocan/factsheets/populations/356-india-fact-sheet.pdf" TargetMode="External" Id="R1eade76f163a45fc" /><Relationship Type="http://schemas.openxmlformats.org/officeDocument/2006/relationships/hyperlink" Target="https://doi.org/10.1136/spcare-2024-004978" TargetMode="External" Id="R10fe587b7af645e6" /><Relationship Type="http://schemas.openxmlformats.org/officeDocument/2006/relationships/hyperlink" Target="https://doi.org/10.1136/spcare-2024-004978" TargetMode="External" Id="Rd6f82230d975412d" /><Relationship Type="http://schemas.openxmlformats.org/officeDocument/2006/relationships/hyperlink" Target="https://doi.org/10.1016/j.jpainsymman.2024.02.030" TargetMode="External" Id="R6cea0745839b4cba" /><Relationship Type="http://schemas.openxmlformats.org/officeDocument/2006/relationships/hyperlink" Target="https://doi.org/10.1016/j.jpainsymman.2024.02.030" TargetMode="External" Id="R828d5cc75a484ce5" /><Relationship Type="http://schemas.openxmlformats.org/officeDocument/2006/relationships/hyperlink" Target="https://doi.org/10.1177/26892820251392545" TargetMode="External" Id="R8f3cde6e33274fa1" /><Relationship Type="http://schemas.openxmlformats.org/officeDocument/2006/relationships/hyperlink" Target="https://doi.org/10.1177/26892820251392545" TargetMode="External" Id="R8813362111c44402" /><Relationship Type="http://schemas.openxmlformats.org/officeDocument/2006/relationships/hyperlink" Target="https://scroll.in/article/925875/73-urban-indians-do-not-know-about-their-right-to-make-a-living-will-finds-a-survey" TargetMode="External" Id="R9bf04d8b994e47cf" /><Relationship Type="http://schemas.openxmlformats.org/officeDocument/2006/relationships/hyperlink" Target="https://scroll.in/article/925875/73-urban-indians-do-not-know-about-their-right-to-make-a-living-will-finds-a-survey" TargetMode="External" Id="Rddfaae5f40354ab5" /><Relationship Type="http://schemas.openxmlformats.org/officeDocument/2006/relationships/hyperlink" Target="https://doi.org/10.25259/NMJI_817_2023" TargetMode="External" Id="Rf3bbc7d4209e4232" /><Relationship Type="http://schemas.openxmlformats.org/officeDocument/2006/relationships/hyperlink" Target="https://doi.org/10.25259/NMJI_817_2023" TargetMode="External" Id="Re513087f06b14cae" /><Relationship Type="http://schemas.openxmlformats.org/officeDocument/2006/relationships/hyperlink" Target="https://doi.org/10.1101/2025.10.17.25338242" TargetMode="External" Id="R8c24cf8724cb4323" /><Relationship Type="http://schemas.openxmlformats.org/officeDocument/2006/relationships/hyperlink" Target="https://doi.org/10.1101/2025.10.17.25338242" TargetMode="External" Id="Rb395bf2dcfe74b36" /><Relationship Type="http://schemas.openxmlformats.org/officeDocument/2006/relationships/hyperlink" Target="https://doi.org/10.1634/theoncologist.2013-0435" TargetMode="External" Id="Rd3b545c818d14e33" /><Relationship Type="http://schemas.openxmlformats.org/officeDocument/2006/relationships/hyperlink" Target="https://doi.org/10.1634/theoncologist.2013-0435" TargetMode="External" Id="R3782eab2726146fe" /><Relationship Type="http://schemas.openxmlformats.org/officeDocument/2006/relationships/hyperlink" Target="https://doi.org/10.1200/JCO.2012.46.2101" TargetMode="External" Id="R11add638ba134f02" /><Relationship Type="http://schemas.openxmlformats.org/officeDocument/2006/relationships/hyperlink" Target="https://doi.org/10.1200/JCO.2012.46.2101" TargetMode="External" Id="Re3414ef1901c4d2d" /><Relationship Type="http://schemas.openxmlformats.org/officeDocument/2006/relationships/notesSlide" Target="/ppt/notesSlides/notesSlide8.xml" Id="R77123bd9a64341f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e1355cc630d4eab">
            <a:extLst>
              <a:ext uri="{96DAC541-7B7A-43D3-8B79-37D633B846F1}">
                <asvg:svgBlip xmlns:asvg="http://schemas.microsoft.com/office/drawing/2016/SVG/main" r:embed="R90e67966794544d0"/>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E73AC438-A948-47D3-8ECE-4FE9CAC712ED}"/>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EBDA7BAB-F470-4993-B58E-2D96FC44E0D0}"/>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8BC25651-7E7C-45EF-B3BE-DB8BEDD04F81}"/>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29A037D6-D44B-4B2F-B1FE-646FC7AF0822}"/>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7d6a6ec7559c4fa9"/>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703DCBB2-2108-402A-BF11-3889B8ED1E43}"/>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7e13c9f304114f98"/>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e20caa07df4b49be">
            <a:extLst>
              <a:ext uri="{96DAC541-7B7A-43D3-8B79-37D633B846F1}">
                <asvg:svgBlip xmlns:asvg="http://schemas.microsoft.com/office/drawing/2016/SVG/main" r:embed="Re67fc7e3e47e46c0"/>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6DD2182E-ADE2-48E7-97DC-4E761BA3E1B6}"/>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9f82135b221c4ede"/>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03ae1f2f2e934d6e">
            <a:extLst>
              <a:ext uri="{96DAC541-7B7A-43D3-8B79-37D633B846F1}">
                <asvg:svgBlip xmlns:asvg="http://schemas.microsoft.com/office/drawing/2016/SVG/main" r:embed="R06c2c2e5a6604ea8"/>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B1DB5106-7798-4F2F-BE7F-8BAF2639DAC6}"/>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328d3167ee3e4ffe"/>
              </a:rPr>
              <a:t>Questions? Contact us</a:t>
            </a:r>
          </a:p>
        </p:txBody>
      </p:sp>
      <p:sp>
        <p:nvSpPr>
          <p:cNvPr id="12" name="WhatsApp link">
            <a:extLst xmlns:a="http://schemas.openxmlformats.org/drawingml/2006/main">
              <a:ext uri="{FF2B5EF4-FFF2-40B4-BE49-F238E27FC236}">
                <a16:creationId xmlns:a16="http://schemas.microsoft.com/office/drawing/2014/main" id="{08A31515-BF4F-4E13-BEAB-F65C2DFEA956}"/>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83575541d5b94ba4"/>
              </a:rPr>
              <a:t>wa.me/919553321211</a:t>
            </a:r>
          </a:p>
        </p:txBody>
      </p:sp>
      <p:sp>
        <p:nvSpPr>
          <p:cNvPr id="13" name="">
            <a:extLst xmlns:a="http://schemas.openxmlformats.org/drawingml/2006/main">
              <a:ext uri="{FF2B5EF4-FFF2-40B4-BE49-F238E27FC236}">
                <a16:creationId xmlns:a16="http://schemas.microsoft.com/office/drawing/2014/main" id="{5BCD4B02-6011-43A4-B835-C9D6AD09781F}"/>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A63CC1D0-4A80-43A7-91F4-E830EB181814}"/>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58f0fe82ae5c484d"/>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9E046D52-9809-43C5-A1A7-713B9376F9F6}"/>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623B71B1-6774-4684-ABC1-DE607AD6310D}"/>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41c6c715c08546d4"/>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3A0A7ABE-4221-432A-89D4-B9076621ACEA}"/>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82049A53-3C3F-4900-BFF4-2DA8E7099FAA}"/>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BAEBA162-7672-4DB3-BA35-B00D96050C8D}"/>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9D244A0E-43AF-4646-9C02-8E0C1B2F7A2B}"/>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B6E1E55B-B000-4B14-BE6C-94F30931DA09}"/>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E9B2503A-3480-41E9-9624-45740A9F8814}"/>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7DC0589B-A412-473E-9C38-9A88E9D6DCF0}"/>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BD9887F1-1F3B-425C-879D-ACEFD1D7751D}"/>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9363AD9F-C210-44F2-AC01-4B76AA9C86DD}"/>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97BEBD02-30E2-4EED-BC35-BDB5F0087ADE}"/>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2AF2123E-B348-4D46-ACCE-842953A3215A}"/>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11A7A922-F1DC-48F3-B637-1867F975709A}"/>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3e67d9399bd4b63"/>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FF84EE67-B0A8-47A5-A76F-D136AA8C5719}"/>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FFE651C5-6BA3-441C-9F8A-4FE649E09182}"/>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4e802462b4e421e">
            <a:extLst>
              <a:ext uri="{96DAC541-7B7A-43D3-8B79-37D633B846F1}">
                <asvg:svgBlip xmlns:asvg="http://schemas.microsoft.com/office/drawing/2016/SVG/main" r:embed="R06c0e1248169463b"/>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83C5805E-3630-4AE8-A807-A5C9372295BC}"/>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A8FB3A5C-9FDE-404E-85FA-9346637A3832}"/>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e749abb67784109">
            <a:extLst>
              <a:ext uri="{96DAC541-7B7A-43D3-8B79-37D633B846F1}">
                <asvg:svgBlip xmlns:asvg="http://schemas.microsoft.com/office/drawing/2016/SVG/main" r:embed="Rcef25f6aed5246bb"/>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454958A1-80F4-4493-9ED3-9054DA7FEE25}"/>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84A65D98-213D-481C-9842-ACD70A993A00}"/>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7ef592b79e54ef3">
            <a:extLst>
              <a:ext uri="{96DAC541-7B7A-43D3-8B79-37D633B846F1}">
                <asvg:svgBlip xmlns:asvg="http://schemas.microsoft.com/office/drawing/2016/SVG/main" r:embed="R5bdb02f6d5c5482b"/>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7406C37D-AAC2-45E2-B7A9-088505B35A40}"/>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320123CA-D13C-4D96-A0C8-F60A9B055BF8}"/>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426C2484-F0D3-418D-9610-1149DE985AAB}"/>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F6E39BE8-1A03-4D7A-A977-A56176F96D9D}"/>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913b9c9b099a4fb8"/>
          </a:graphicData>
        </a:graphic>
      </p:graphicFrame>
      <p:sp>
        <p:nvSpPr>
          <p:cNvPr id="15" name="Slide title">
            <a:extLst xmlns:a="http://schemas.openxmlformats.org/drawingml/2006/main">
              <a:ext uri="{FF2B5EF4-FFF2-40B4-BE49-F238E27FC236}">
                <a16:creationId xmlns:a16="http://schemas.microsoft.com/office/drawing/2014/main" id="{13947CDC-EFDB-4353-8E23-BC88C17E9A67}"/>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DF20DB2A-5E27-40F8-8436-CB14D473A66F}"/>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44D3BBAE-949D-4EF9-9373-AC2683D5018F}"/>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920f763b925442ba">
            <a:extLst>
              <a:ext uri="{96DAC541-7B7A-43D3-8B79-37D633B846F1}">
                <asvg:svgBlip xmlns:asvg="http://schemas.microsoft.com/office/drawing/2016/SVG/main" r:embed="R79f0a532ba84428e"/>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1E0D3F00-149C-4E3B-A160-745E4FF732EA}"/>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6CDEA900-F524-4372-ACB9-F53F91FC444A}"/>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E7D3F050-0B7E-45BF-96C4-6D7AEC175C84}"/>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b4c578e80334357"/>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4bff11e25d7d4488">
            <a:extLst>
              <a:ext uri="{96DAC541-7B7A-43D3-8B79-37D633B846F1}">
                <asvg:svgBlip xmlns:asvg="http://schemas.microsoft.com/office/drawing/2016/SVG/main" r:embed="R4cf26de1dd9f4ec4"/>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6CE93032-0102-4554-A8C8-5FD06036B029}"/>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32B58A39-88D9-42C5-B9F3-5BE22F46425F}"/>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CA977751-1DB2-4171-9168-1158C8ADD222}"/>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799c1bf899c4352"/>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cc55cf1aedb44bb6">
            <a:extLst>
              <a:ext uri="{96DAC541-7B7A-43D3-8B79-37D633B846F1}">
                <asvg:svgBlip xmlns:asvg="http://schemas.microsoft.com/office/drawing/2016/SVG/main" r:embed="Rf12737ff2b1443c1"/>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4E9CD7F5-B611-453D-8179-7B5DAF869144}"/>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6EC8E998-40F4-41E4-848A-E657D591F75C}"/>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0B6494A8-2AAC-4AB9-8BB8-E42E05550CAE}"/>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089ef7c1d744f08"/>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ddbd7cb823314ba5">
            <a:extLst>
              <a:ext uri="{96DAC541-7B7A-43D3-8B79-37D633B846F1}">
                <asvg:svgBlip xmlns:asvg="http://schemas.microsoft.com/office/drawing/2016/SVG/main" r:embed="R9fc2583e67574187"/>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514AB0BC-89CD-4642-9E56-8FFD985B36A8}"/>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FD6D0EED-41EF-4DB9-8280-2C878C0E01B4}"/>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9B8E6C53-3906-4A0A-8CFE-8E7F2EE6B42F}"/>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b053a137070f4f44"/>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1f9e082886864a11">
            <a:extLst>
              <a:ext uri="{96DAC541-7B7A-43D3-8B79-37D633B846F1}">
                <asvg:svgBlip xmlns:asvg="http://schemas.microsoft.com/office/drawing/2016/SVG/main" r:embed="Rc9bae1b679b64aa3"/>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E4494B7E-9A16-4DBC-B6A4-FCDB9CB609E3}"/>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E71F5A69-FC3A-48C3-BCBC-CB252287AB3F}"/>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93D39431-A01C-4349-8221-3A0CF1CD05D3}"/>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C23E94AB-CFED-4A30-B468-1C1DA1A42A56}"/>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444c0cc6359745f8"/>
              </a:rPr>
              <a:t>Thangasamy et al., 2025</a:t>
            </a:r>
          </a:p>
        </p:txBody>
      </p:sp>
      <p:sp>
        <p:nvSpPr>
          <p:cNvPr id="39" name="Evidence boundary">
            <a:extLst xmlns:a="http://schemas.openxmlformats.org/drawingml/2006/main">
              <a:ext uri="{FF2B5EF4-FFF2-40B4-BE49-F238E27FC236}">
                <a16:creationId xmlns:a16="http://schemas.microsoft.com/office/drawing/2014/main" id="{6ED18324-044A-463B-BCFF-492C9AFFDEFF}"/>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7A2E1FB1-0E42-4360-ACD8-FB011EEFE95F}"/>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984C3DBF-75F1-4D9A-9A72-C3DD39288085}"/>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2288b82276e45d2"/>
          <a:stretch xmlns:a="http://schemas.openxmlformats.org/drawingml/2006/main"/>
        </p:blipFill>
        <p:spPr>
          <a:xfrm xmlns:a="http://schemas.openxmlformats.org/drawingml/2006/main">
            <a:off x="400050" y="1847953"/>
            <a:ext cx="8286750" cy="3933618"/>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F08467FF-51A5-4489-8B8F-45BDD55A1746}"/>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7A759568-FC1C-4D90-B802-CE2B6514E9F4}"/>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2ee9c6937c7046b1"/>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8825B2B9-ABB2-4B77-94C8-354A81DE411C}"/>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5FE7B7F3-F5AA-49F3-8522-D6007326250D}"/>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0582A7B6-AE3E-492A-A4B2-B8C622484F40}"/>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B61D7E8E-4D5A-4C0E-8FE3-498F0C4082A6}"/>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B7916987-8A88-42A7-A4FD-5DB0AE154E94}"/>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BA743D06-0EDC-4B2E-987C-0FDE1068CC79}"/>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7826E4A5-4B60-46C5-9D34-AA009BD8001A}"/>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28B90533-8EC2-4453-9390-E202F350E4AB}"/>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5.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5BF878A1-D41B-44B5-BDEA-2AAD4275F6E2}"/>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the family use its own records.</a:t>
            </a:r>
          </a:p>
        </p:txBody>
      </p:sp>
      <p:sp>
        <p:nvSpPr>
          <p:cNvPr id="2" name="Records assistant purpose">
            <a:extLst xmlns:a="http://schemas.openxmlformats.org/drawingml/2006/main">
              <a:ext uri="{FF2B5EF4-FFF2-40B4-BE49-F238E27FC236}">
                <a16:creationId xmlns:a16="http://schemas.microsoft.com/office/drawing/2014/main" id="{90CAD21E-62E0-4A5D-92D0-098B5B5DE82F}"/>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Ask about your own reports. See the original passage with the answer.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8ad2fb7eeeaa49a0"/>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37F61E7F-1860-438D-B8A5-3E3A9F3C9E6B}"/>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6E651E4A-D000-4F47-9C1E-0412BAA346AA}"/>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7234EE46-0F1F-46A4-8F99-6C246351C487}"/>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725DCB49-04B8-4316-920A-D17644CF8B7B}"/>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5EB1CBA9-B72A-4B0C-B81F-56337BA6F580}"/>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D9C8CBD6-3FF0-447A-B77C-F845EDDCC1BC}"/>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3553AE5D-CC73-4940-AC25-9A4E69F63497}"/>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6.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10" name="Slide title">
            <a:extLst xmlns:a="http://schemas.openxmlformats.org/drawingml/2006/main">
              <a:ext uri="{FF2B5EF4-FFF2-40B4-BE49-F238E27FC236}">
                <a16:creationId xmlns:a16="http://schemas.microsoft.com/office/drawing/2014/main" id="{1E9EF11D-75C8-4F85-8EFA-7827D85A75A8}"/>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Your care, medicines and help in one place.</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57bef5b39344b3e"/>
          <a:stretch xmlns:a="http://schemas.openxmlformats.org/drawingml/2006/main"/>
        </p:blipFill>
        <p:spPr>
          <a:xfrm xmlns:a="http://schemas.openxmlformats.org/drawingml/2006/main">
            <a:off x="273222" y="1066800"/>
            <a:ext cx="8673757" cy="5067300"/>
          </a:xfrm>
          <a:prstGeom xmlns:a="http://schemas.openxmlformats.org/drawingml/2006/main" prst="rect">
            <a:avLst/>
          </a:prstGeom>
        </p:spPr>
      </p:pic>
      <p:sp>
        <p:nvSpPr>
          <p:cNvPr id="3" name="Three sign-ins">
            <a:extLst xmlns:a="http://schemas.openxmlformats.org/drawingml/2006/main">
              <a:ext uri="{FF2B5EF4-FFF2-40B4-BE49-F238E27FC236}">
                <a16:creationId xmlns:a16="http://schemas.microsoft.com/office/drawing/2014/main" id="{DE10829C-98BB-4B12-88B6-6339E26E3E93}"/>
              </a:ext>
            </a:extLst>
          </p:cNvPr>
          <p:cNvSpPr>
            <a:spLocks xmlns:a="http://schemas.openxmlformats.org/drawingml/2006/main" noGrp="1"/>
          </p:cNvSpPr>
          <p:nvPr/>
        </p:nvSpPr>
        <p:spPr>
          <a:xfrm xmlns:a="http://schemas.openxmlformats.org/drawingml/2006/main">
            <a:off x="9296400" y="10763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4f7d4c11c4d24583"/>
          <a:stretch xmlns:a="http://schemas.openxmlformats.org/drawingml/2006/main"/>
        </p:blipFill>
        <p:spPr>
          <a:xfrm xmlns:a="http://schemas.openxmlformats.org/drawingml/2006/main">
            <a:off x="9144000" y="1498066"/>
            <a:ext cx="2514600" cy="2690293"/>
          </a:xfrm>
          <a:prstGeom xmlns:a="http://schemas.openxmlformats.org/drawingml/2006/main" prst="rect">
            <a:avLst/>
          </a:prstGeom>
        </p:spPr>
      </p:pic>
      <p:sp>
        <p:nvSpPr>
          <p:cNvPr id="5" name="Patient role">
            <a:extLst xmlns:a="http://schemas.openxmlformats.org/drawingml/2006/main">
              <a:ext uri="{FF2B5EF4-FFF2-40B4-BE49-F238E27FC236}">
                <a16:creationId xmlns:a16="http://schemas.microsoft.com/office/drawing/2014/main" id="{8689E2EB-57A0-42F3-8F44-F5E4AE2E9FFE}"/>
              </a:ext>
            </a:extLst>
          </p:cNvPr>
          <p:cNvSpPr>
            <a:spLocks xmlns:a="http://schemas.openxmlformats.org/drawingml/2006/main" noGrp="1"/>
          </p:cNvSpPr>
          <p:nvPr/>
        </p:nvSpPr>
        <p:spPr>
          <a:xfrm xmlns:a="http://schemas.openxmlformats.org/drawingml/2006/main">
            <a:off x="9296400" y="436245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57B68"/>
                </a:solidFill>
                <a:latin typeface="Arial"/>
                <a:ea typeface="Arial"/>
                <a:cs typeface="Arial"/>
              </a:defRPr>
            </a:pPr>
            <a:r>
              <a:rPr sz="1575" b="1">
                <a:solidFill>
                  <a:srgbClr val="157B68"/>
                </a:solidFill>
                <a:latin typeface="Arial"/>
                <a:ea typeface="Arial"/>
                <a:cs typeface="Arial"/>
              </a:rPr>
              <a:t>Patients see their care.</a:t>
            </a:r>
          </a:p>
        </p:txBody>
      </p:sp>
      <p:sp>
        <p:nvSpPr>
          <p:cNvPr id="6" name="Family role">
            <a:extLst xmlns:a="http://schemas.openxmlformats.org/drawingml/2006/main">
              <a:ext uri="{FF2B5EF4-FFF2-40B4-BE49-F238E27FC236}">
                <a16:creationId xmlns:a16="http://schemas.microsoft.com/office/drawing/2014/main" id="{777085A5-A05C-4320-B5E8-D2CBF79CF575}"/>
              </a:ext>
            </a:extLst>
          </p:cNvPr>
          <p:cNvSpPr>
            <a:spLocks xmlns:a="http://schemas.openxmlformats.org/drawingml/2006/main" noGrp="1"/>
          </p:cNvSpPr>
          <p:nvPr/>
        </p:nvSpPr>
        <p:spPr>
          <a:xfrm xmlns:a="http://schemas.openxmlformats.org/drawingml/2006/main">
            <a:off x="9296400" y="4714875"/>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7353AC"/>
                </a:solidFill>
                <a:latin typeface="Arial"/>
                <a:ea typeface="Arial"/>
                <a:cs typeface="Arial"/>
              </a:defRPr>
            </a:pPr>
            <a:r>
              <a:rPr sz="1575" b="1">
                <a:solidFill>
                  <a:srgbClr val="7353AC"/>
                </a:solidFill>
                <a:latin typeface="Arial"/>
                <a:ea typeface="Arial"/>
                <a:cs typeface="Arial"/>
              </a:rPr>
              <a:t>Families organise help.</a:t>
            </a:r>
          </a:p>
        </p:txBody>
      </p:sp>
      <p:sp>
        <p:nvSpPr>
          <p:cNvPr id="7" name="Doctor role">
            <a:extLst xmlns:a="http://schemas.openxmlformats.org/drawingml/2006/main">
              <a:ext uri="{FF2B5EF4-FFF2-40B4-BE49-F238E27FC236}">
                <a16:creationId xmlns:a16="http://schemas.microsoft.com/office/drawing/2014/main" id="{F7E42846-4F2F-489D-B612-6330DB0FD1E2}"/>
              </a:ext>
            </a:extLst>
          </p:cNvPr>
          <p:cNvSpPr>
            <a:spLocks xmlns:a="http://schemas.openxmlformats.org/drawingml/2006/main" noGrp="1"/>
          </p:cNvSpPr>
          <p:nvPr/>
        </p:nvSpPr>
        <p:spPr>
          <a:xfrm xmlns:a="http://schemas.openxmlformats.org/drawingml/2006/main">
            <a:off x="9296400" y="506730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374"/>
          </a:bodyPr>
          <a:lstStyle xmlns:a="http://schemas.openxmlformats.org/drawingml/2006/main"/>
          <a:p xmlns:a="http://schemas.openxmlformats.org/drawingml/2006/main">
            <a:pPr>
              <a:defRPr sz="1575" b="1">
                <a:solidFill>
                  <a:srgbClr val="B75E43"/>
                </a:solidFill>
                <a:latin typeface="Arial"/>
                <a:ea typeface="Arial"/>
                <a:cs typeface="Arial"/>
              </a:defRPr>
            </a:pPr>
            <a:r>
              <a:rPr sz="1575" b="1">
                <a:solidFill>
                  <a:srgbClr val="B75E43"/>
                </a:solidFill>
                <a:latin typeface="Arial"/>
                <a:ea typeface="Arial"/>
                <a:cs typeface="Arial"/>
              </a:rPr>
              <a:t>Doctors review and sign.</a:t>
            </a:r>
          </a:p>
        </p:txBody>
      </p:sp>
      <p:sp>
        <p:nvSpPr>
          <p:cNvPr id="8" name="Practical family support">
            <a:extLst xmlns:a="http://schemas.openxmlformats.org/drawingml/2006/main">
              <a:ext uri="{FF2B5EF4-FFF2-40B4-BE49-F238E27FC236}">
                <a16:creationId xmlns:a16="http://schemas.microsoft.com/office/drawing/2014/main" id="{69033310-A3F1-4208-8E63-F24E6B178FA9}"/>
              </a:ext>
            </a:extLst>
          </p:cNvPr>
          <p:cNvSpPr>
            <a:spLocks xmlns:a="http://schemas.openxmlformats.org/drawingml/2006/main" noGrp="1"/>
          </p:cNvSpPr>
          <p:nvPr/>
        </p:nvSpPr>
        <p:spPr>
          <a:xfrm xmlns:a="http://schemas.openxmlformats.org/drawingml/2006/main">
            <a:off x="9296400" y="5486400"/>
            <a:ext cx="2362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88" b="0">
                <a:solidFill>
                  <a:srgbClr val="173F33"/>
                </a:solidFill>
                <a:latin typeface="Arial"/>
                <a:ea typeface="Arial"/>
                <a:cs typeface="Arial"/>
              </a:defRPr>
            </a:pPr>
            <a:r>
              <a:rPr sz="1388" b="0">
                <a:solidFill>
                  <a:srgbClr val="173F33"/>
                </a:solidFill>
                <a:latin typeface="Arial"/>
                <a:ea typeface="Arial"/>
                <a:cs typeface="Arial"/>
              </a:rPr>
              <a:t>Plan rides and home support. Keep medicine calls, costs, paperwork and emotional support together.</a:t>
            </a:r>
          </a:p>
        </p:txBody>
      </p:sp>
      <p:sp>
        <p:nvSpPr>
          <p:cNvPr id="9" name="Support directory">
            <a:extLst xmlns:a="http://schemas.openxmlformats.org/drawingml/2006/main">
              <a:ext uri="{FF2B5EF4-FFF2-40B4-BE49-F238E27FC236}">
                <a16:creationId xmlns:a16="http://schemas.microsoft.com/office/drawing/2014/main" id="{636DCA4F-38D1-496B-8FEC-377B0A9683BB}"/>
              </a:ext>
            </a:extLst>
          </p:cNvPr>
          <p:cNvSpPr>
            <a:spLocks xmlns:a="http://schemas.openxmlformats.org/drawingml/2006/main" noGrp="1"/>
          </p:cNvSpPr>
          <p:nvPr/>
        </p:nvSpPr>
        <p:spPr>
          <a:xfrm xmlns:a="http://schemas.openxmlformats.org/drawingml/2006/main">
            <a:off x="533400" y="6505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c8c6314cc1124592"/>
              </a:rPr>
              <a:t>Find a centre → call to confirm → keep the contact and visit plan.</a:t>
            </a:r>
          </a:p>
        </p:txBody>
      </p:sp>
    </p:spTree>
    <p:extLst>
      <p:ext uri="{BB962C8B-B14F-4D97-AF65-F5344CB8AC3E}">
        <p14:creationId xmlns:p14="http://schemas.microsoft.com/office/powerpoint/2010/main" val="221085739"/>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9F300948-0F6C-46DA-93EF-8875DD1333F8}"/>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6DECE32F-0F87-4BAD-BD3A-6A7E5F8A5F97}"/>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73901517-188E-484C-961A-EC921A20EC5E}"/>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EB61BFDB-357C-47D6-8CFD-0ACD2D7FF034}"/>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14FAAB55-52B5-496B-A355-E057DEDD0936}"/>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3FA06113-238F-4509-BDB5-30BD6D93D36C}"/>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ADA60C8C-33DD-499A-B9FB-00B21A534308}"/>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BC1228A3-5843-424E-A1F3-E676EFDCA198}"/>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BA670816-D678-4166-8007-5482C5C0A491}"/>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88CFEFDB-9923-4112-B129-07466B8B74CD}"/>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82DF7373-0174-4F6E-9EF0-A34769D453C2}"/>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158E78D2-CD01-4DF7-B6C2-78B170EBAEDE}"/>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3ED110BE-FC3E-49C3-AE74-C01E7F2096E6}"/>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0738B670-43D6-4F92-998C-D8641C3CA9B7}"/>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B1FBFF19-AAED-4C1C-BF16-145DE03CD865}"/>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241FA1F6-6B42-42CA-9B84-F651CB10A166}"/>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A9176D11-52DA-42F5-A861-10FCF18848FF}"/>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0F9DCD40-DC9E-47A1-B712-95A8080C1412}"/>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fa12fa26a604caa"/>
              </a:rPr>
              <a:t>India: GLOBOCAN 2024 Fact Sheet</a:t>
            </a:r>
          </a:p>
        </p:txBody>
      </p:sp>
      <p:sp>
        <p:nvSpPr>
          <p:cNvPr id="6" name="Reference 1 link">
            <a:extLst xmlns:a="http://schemas.openxmlformats.org/drawingml/2006/main">
              <a:ext uri="{FF2B5EF4-FFF2-40B4-BE49-F238E27FC236}">
                <a16:creationId xmlns:a16="http://schemas.microsoft.com/office/drawing/2014/main" id="{60AAA8B2-C251-41D6-B543-96A650440675}"/>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1eade76f163a45fc"/>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4F5BF9B8-6EB2-434E-8BFB-BAD9DDDE8758}"/>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AFCEB877-B6FC-47EE-B0F6-4C2D152BCF27}"/>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10fe587b7af645e6"/>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E5B97C81-8914-4316-A18B-5CC918703A6B}"/>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6f82230d975412d"/>
              </a:rPr>
              <a:t>https://doi.org/10.1136/spcare-2024-004978</a:t>
            </a:r>
          </a:p>
        </p:txBody>
      </p:sp>
      <p:sp>
        <p:nvSpPr>
          <p:cNvPr id="10" name="Reference 3 author">
            <a:extLst xmlns:a="http://schemas.openxmlformats.org/drawingml/2006/main">
              <a:ext uri="{FF2B5EF4-FFF2-40B4-BE49-F238E27FC236}">
                <a16:creationId xmlns:a16="http://schemas.microsoft.com/office/drawing/2014/main" id="{F782BC5B-FB03-48AF-9BCF-15CDEBD6EA36}"/>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53EE8E24-F19F-4FDC-92F3-264C2289658C}"/>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6cea0745839b4cba"/>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C7F86AB5-0D78-4B7A-AB06-DE2231E298CF}"/>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28d5cc75a484ce5"/>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170720D0-E769-46B4-9D55-22A9EC224C05}"/>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0B0C3A09-E5B9-4A9F-8106-928D49583A33}"/>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8f3cde6e33274fa1"/>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72252E1C-EB71-4D9B-B085-83D284771A3F}"/>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813362111c44402"/>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04AC6D2E-3015-4672-BD13-FB829A8B7E06}"/>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D8E08E73-BA82-49B3-9CC1-96D43EF88436}"/>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9bf04d8b994e47cf"/>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2F9D331E-1BD7-4ADB-A1A9-3FEEEC0C95B0}"/>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ddfaae5f40354ab5"/>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7E7215C9-49C4-4012-9F4A-776105AEB539}"/>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610A748E-29D3-4454-A139-807409D56F92}"/>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3bbc7d4209e4232"/>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8579756C-FE58-4EFA-94AF-2A3706E11298}"/>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513087f06b14cae"/>
              </a:rPr>
              <a:t>https://doi.org/10.25259/NMJI_817_2023</a:t>
            </a:r>
          </a:p>
        </p:txBody>
      </p:sp>
      <p:sp>
        <p:nvSpPr>
          <p:cNvPr id="22" name="Reference 7 author">
            <a:extLst xmlns:a="http://schemas.openxmlformats.org/drawingml/2006/main">
              <a:ext uri="{FF2B5EF4-FFF2-40B4-BE49-F238E27FC236}">
                <a16:creationId xmlns:a16="http://schemas.microsoft.com/office/drawing/2014/main" id="{877BE95D-5BA1-4273-B3F9-4B83D9B2C292}"/>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07F7C807-B4BA-45CB-B110-5B91C9103B65}"/>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8c24cf8724cb4323"/>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89FFC083-413F-49FE-8634-C7153D3CE170}"/>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b395bf2dcfe74b36"/>
              </a:rPr>
              <a:t>https://doi.org/10.1101/2025.10.17.25338242</a:t>
            </a:r>
          </a:p>
        </p:txBody>
      </p:sp>
      <p:sp>
        <p:nvSpPr>
          <p:cNvPr id="25" name="Reference 8 author">
            <a:extLst xmlns:a="http://schemas.openxmlformats.org/drawingml/2006/main">
              <a:ext uri="{FF2B5EF4-FFF2-40B4-BE49-F238E27FC236}">
                <a16:creationId xmlns:a16="http://schemas.microsoft.com/office/drawing/2014/main" id="{695528D8-0797-482D-818D-E9057525D24D}"/>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C5C639F9-0794-4F4A-8AED-E513815E0C9D}"/>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3b545c818d14e33"/>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164CA88E-8043-4FB7-B80C-596B93B9DA81}"/>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3782eab2726146fe"/>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CB6B38E1-D2F0-42A0-9C78-2ABFA26E6949}"/>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3E08A552-CB42-49AB-BEAF-45029894E647}"/>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11add638ba134f02"/>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D6154259-A463-4C9E-81DC-A107E41CA500}"/>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3414ef1901c4d2d"/>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2026-09-24T10:31:24.2890000Z</dcterms:created>
  <dcterms:modified xsi:type="dcterms:W3CDTF">2026-09-24T10:31:24.2890000Z</dcterms:modified>
</coreProperties>
</file>