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37abe0105a4479b" /><Relationship Type="http://schemas.openxmlformats.org/officeDocument/2006/relationships/extended-properties" Target="/docProps/app.xml" Id="R11ab58d183264b41" /><Relationship Type="http://schemas.openxmlformats.org/officeDocument/2006/relationships/officeDocument" Target="/ppt/presentation.xml" Id="R5ef019f5b00a4f5e" /></Relationships>
</file>

<file path=ppt/presentation.xml><?xml version="1.0" encoding="utf-8"?>
<p:presentation xmlns:p="http://schemas.openxmlformats.org/presentationml/2006/main">
  <p:sldMasterIdLst>
    <p:sldMasterId xmlns:r="http://schemas.openxmlformats.org/officeDocument/2006/relationships" id="2147483648" r:id="R5c021d7ac7ed4138"/>
  </p:sldMasterIdLst>
  <p:notesMasterIdLst>
    <p:notesMasterId xmlns:r="http://schemas.openxmlformats.org/officeDocument/2006/relationships" r:id="R0467c62d045a436a"/>
  </p:notesMasterIdLst>
  <p:sldIdLst>
    <p:sldId xmlns:r="http://schemas.openxmlformats.org/officeDocument/2006/relationships" id="256" r:id="Rb021a9bf3da74235"/>
    <p:sldId xmlns:r="http://schemas.openxmlformats.org/officeDocument/2006/relationships" id="257" r:id="Rdba73b3d1cb3443a"/>
    <p:sldId xmlns:r="http://schemas.openxmlformats.org/officeDocument/2006/relationships" id="258" r:id="R6ca15f81af0447b4"/>
    <p:sldId xmlns:r="http://schemas.openxmlformats.org/officeDocument/2006/relationships" id="259" r:id="R58268324123e48d7"/>
    <p:sldId xmlns:r="http://schemas.openxmlformats.org/officeDocument/2006/relationships" id="260" r:id="R2cb5cf818c34460b"/>
    <p:sldId xmlns:r="http://schemas.openxmlformats.org/officeDocument/2006/relationships" id="261" r:id="Rfdbd75c6f89e4a36"/>
    <p:sldId xmlns:r="http://schemas.openxmlformats.org/officeDocument/2006/relationships" id="262" r:id="R4478fc39652c46b5"/>
    <p:sldId xmlns:r="http://schemas.openxmlformats.org/officeDocument/2006/relationships" id="263" r:id="Rdb32db8469cf41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cb30c2d67cc4605" /><Relationship Type="http://schemas.openxmlformats.org/officeDocument/2006/relationships/slideMaster" Target="/ppt/slideMasters/slideMaster1.xml" Id="R5c021d7ac7ed4138" /><Relationship Type="http://schemas.openxmlformats.org/officeDocument/2006/relationships/notesMaster" Target="/ppt/notesMasters/notesMaster1.xml" Id="R0467c62d045a436a" /><Relationship Type="http://schemas.openxmlformats.org/officeDocument/2006/relationships/presProps" Target="/ppt/presProps.xml" Id="R717d9a4e313c4071" /><Relationship Type="http://schemas.openxmlformats.org/officeDocument/2006/relationships/tableStyles" Target="/ppt/tableStyles.xml" Id="Ra8be9ad9a2b74429" /><Relationship Type="http://schemas.openxmlformats.org/officeDocument/2006/relationships/slide" Target="/ppt/slides/slide1.xml" Id="Rb021a9bf3da74235" /><Relationship Type="http://schemas.openxmlformats.org/officeDocument/2006/relationships/slide" Target="/ppt/slides/slide2.xml" Id="Rdba73b3d1cb3443a" /><Relationship Type="http://schemas.openxmlformats.org/officeDocument/2006/relationships/slide" Target="/ppt/slides/slide3.xml" Id="R6ca15f81af0447b4" /><Relationship Type="http://schemas.openxmlformats.org/officeDocument/2006/relationships/slide" Target="/ppt/slides/slide4.xml" Id="R58268324123e48d7" /><Relationship Type="http://schemas.openxmlformats.org/officeDocument/2006/relationships/slide" Target="/ppt/slides/slide5.xml" Id="R2cb5cf818c34460b" /><Relationship Type="http://schemas.openxmlformats.org/officeDocument/2006/relationships/slide" Target="/ppt/slides/slide6.xml" Id="Rfdbd75c6f89e4a36" /><Relationship Type="http://schemas.openxmlformats.org/officeDocument/2006/relationships/slide" Target="/ppt/slides/slide7.xml" Id="R4478fc39652c46b5" /><Relationship Type="http://schemas.openxmlformats.org/officeDocument/2006/relationships/slide" Target="/ppt/slides/slide8.xml" Id="Rdb32db8469cf41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f33c7a4e1e4b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21b841423224da9" /><Relationship Type="http://schemas.openxmlformats.org/officeDocument/2006/relationships/notesMaster" Target="/ppt/notesMasters/notesMaster1.xml" Id="Re4461db5ebce4b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dce10db7d24430" /><Relationship Type="http://schemas.openxmlformats.org/officeDocument/2006/relationships/notesMaster" Target="/ppt/notesMasters/notesMaster1.xml" Id="R00598811df8d4f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ae04fbb8c0487d" /><Relationship Type="http://schemas.openxmlformats.org/officeDocument/2006/relationships/notesMaster" Target="/ppt/notesMasters/notesMaster1.xml" Id="R28f5451931ba4a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f02ec561fae4f7b" /><Relationship Type="http://schemas.openxmlformats.org/officeDocument/2006/relationships/notesMaster" Target="/ppt/notesMasters/notesMaster1.xml" Id="R2d072a59eb4846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e1d35e44ca464e" /><Relationship Type="http://schemas.openxmlformats.org/officeDocument/2006/relationships/notesMaster" Target="/ppt/notesMasters/notesMaster1.xml" Id="R503c6e50ba5c4b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4bbef1c894f47e9" /><Relationship Type="http://schemas.openxmlformats.org/officeDocument/2006/relationships/notesMaster" Target="/ppt/notesMasters/notesMaster1.xml" Id="Rbd6f2e4b8af547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fd73b5c246541bd" /><Relationship Type="http://schemas.openxmlformats.org/officeDocument/2006/relationships/notesMaster" Target="/ppt/notesMasters/notesMaster1.xml" Id="Rb43d9dc59aab45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c2e39b5eab4bdd" /><Relationship Type="http://schemas.openxmlformats.org/officeDocument/2006/relationships/notesMaster" Target="/ppt/notesMasters/notesMaster1.xml" Id="R0b289d4b8b1144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Screenshot is a fresh real Chrome capture at https://saathi.wedevit.in/doctor/review on 24 September, saved to output/playwright/2026-09-24-saathi-doctor-review.png. The seeded Meera text was prepared using the normal app controls and a faithful wording edit; the draft remains unsigned and is not an actual clinical record. Sources: 21 September transcript lines 251–303 and 1097–1155; 23 September meeting and chat; Sujay's 24 September feedback; supplied clinical 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screenshot is a fresh real Chrome capture of the live Saathi app on 24 September, showing literal retrieval from a fictional stored record, neutral saved-text provenance, Add treatment date and View original. It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family journey; Priya and Arjun are fictional names that make each handoff concrete. This is the broader intended family-support workflow, not a claim of completed rides, guaranteed stock, payments or a deployed financial-assistance system. Current browser features include the latest signed Care Note and patient/version QR, earlier versions, document passages, confirmed treatment dates, medicine and appointment plans, named family tasks, journaling and support discovery. Receipts, financial-help paperwork and caregiver-training handoffs are proposed supporting work, not connected financial services. Doctor reviews and signs first; patient reviews and signs the same version. The cover QR opens the app. Three current role choices are Patient, Family and Doctor; verified accounts and phone sharing remain to connect. Directory: Pallium India, https://palliumindia.org/clinics/telangana, lists home/inpatient/outpatient services and medicine availability, but a listing does not establish today's stock, oral formulation or a confirmed appointment. The family must call to confirm the prescribed medicine and service; no autonomous booking or treatment recommendation is shown. Caregiver support evidence: https://journals.plos.org/plosone/article?id=10.1371/journal.pone.0274770 supports information, training, practical and emotional support needs. Additional sources: both meeting transcripts and the user's 24 September feedback. Icons: Lucide https://lucide.dev/license, ISC/MIT, SVGs recoloured with unchanged paths; full license in submission/assets/2026-09-24-family/Lucide-LICENSE.txt.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ed12dfa57241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6772304a3444a9" /><Relationship Type="http://schemas.openxmlformats.org/officeDocument/2006/relationships/slideLayout" Target="/ppt/slideLayouts/slideLayout1.xml" Id="R1628223642c44f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28223642c44f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cca3e98caae4a8a" /><Relationship Type="http://schemas.openxmlformats.org/officeDocument/2006/relationships/image" Target="/ppt/media/image.png" Id="R5b490bff0d9b48f8" /><Relationship Type="http://schemas.openxmlformats.org/officeDocument/2006/relationships/image" Target="/ppt/media/image.svg" Id="R3c3ebbaa99104f0b" /><Relationship Type="http://schemas.openxmlformats.org/officeDocument/2006/relationships/image" Target="/ppt/media/image2.png" Id="R3f16925b3c144c75" /><Relationship Type="http://schemas.openxmlformats.org/officeDocument/2006/relationships/hyperlink" Target="https://saathi.wedevit.in/" TargetMode="External" Id="R54567f05cac74a86" /><Relationship Type="http://schemas.openxmlformats.org/officeDocument/2006/relationships/image" Target="/ppt/media/image3.png" Id="Ra50da29dd24a4f66" /><Relationship Type="http://schemas.openxmlformats.org/officeDocument/2006/relationships/image" Target="/ppt/media/image2.svg" Id="R8090e3e534424d46" /><Relationship Type="http://schemas.openxmlformats.org/officeDocument/2006/relationships/hyperlink" Target="https://github.com/basithladdu/healthathon" TargetMode="External" Id="Re2be1f9303c64731" /><Relationship Type="http://schemas.openxmlformats.org/officeDocument/2006/relationships/image" Target="/ppt/media/image4.png" Id="Rd0781b761b2a40be" /><Relationship Type="http://schemas.openxmlformats.org/officeDocument/2006/relationships/image" Target="/ppt/media/image3.svg" Id="Rd72eee54adff4ad8" /><Relationship Type="http://schemas.openxmlformats.org/officeDocument/2006/relationships/hyperlink" Target="https://wa.me/919553321211" TargetMode="External" Id="R6a7e66fd098c4cab" /><Relationship Type="http://schemas.openxmlformats.org/officeDocument/2006/relationships/hyperlink" Target="https://wa.me/919553321211" TargetMode="External" Id="Rca0ab13d560e4b5c" /><Relationship Type="http://schemas.openxmlformats.org/officeDocument/2006/relationships/image" Target="/ppt/media/image.jpeg" Id="R1cd2c85d55f24931" /><Relationship Type="http://schemas.openxmlformats.org/officeDocument/2006/relationships/image" Target="/ppt/media/image2.jpeg" Id="R8a84433637664990" /><Relationship Type="http://schemas.openxmlformats.org/officeDocument/2006/relationships/notesSlide" Target="/ppt/notesSlides/notesSlide1.xml" Id="R8b88037a95764ad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20c76c6a06840ac" /><Relationship Type="http://schemas.openxmlformats.org/officeDocument/2006/relationships/image" Target="/ppt/media/image3.jpeg" Id="R28e8f278421448cb" /><Relationship Type="http://schemas.openxmlformats.org/officeDocument/2006/relationships/image" Target="/ppt/media/image5.png" Id="Rda648d5654a74522" /><Relationship Type="http://schemas.openxmlformats.org/officeDocument/2006/relationships/image" Target="/ppt/media/image4.svg" Id="R23e1a9c8044d4c34" /><Relationship Type="http://schemas.openxmlformats.org/officeDocument/2006/relationships/image" Target="/ppt/media/image6.png" Id="Rdd139076a0ae47d6" /><Relationship Type="http://schemas.openxmlformats.org/officeDocument/2006/relationships/image" Target="/ppt/media/image5.svg" Id="R20568b23f9234937" /><Relationship Type="http://schemas.openxmlformats.org/officeDocument/2006/relationships/image" Target="/ppt/media/image7.png" Id="Rcf6890d0fdc7442c" /><Relationship Type="http://schemas.openxmlformats.org/officeDocument/2006/relationships/image" Target="/ppt/media/image6.svg" Id="R6c9ad840427644c9" /><Relationship Type="http://schemas.openxmlformats.org/officeDocument/2006/relationships/notesSlide" Target="/ppt/notesSlides/notesSlide2.xml" Id="Racdbbee37bf9431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682ab42cd02406f" /><Relationship Type="http://schemas.openxmlformats.org/officeDocument/2006/relationships/chart" Target="/ppt/slides/charts/chart1.xml" Id="Rd97d2cd416f64b1b" /><Relationship Type="http://schemas.openxmlformats.org/officeDocument/2006/relationships/image" Target="/ppt/media/image8.png" Id="Ra5051a3fa9d348b7" /><Relationship Type="http://schemas.openxmlformats.org/officeDocument/2006/relationships/image" Target="/ppt/media/image7.svg" Id="R8dae656f18c14d0f" /><Relationship Type="http://schemas.openxmlformats.org/officeDocument/2006/relationships/hyperlink" Target="https://gco.iarc.who.int/media/globocan/factsheets/populations/356-india-fact-sheet.pdf" TargetMode="External" Id="Ra9c5d9a018e94b89" /><Relationship Type="http://schemas.openxmlformats.org/officeDocument/2006/relationships/image" Target="/ppt/media/image9.png" Id="R271b41cc77ef4fa8" /><Relationship Type="http://schemas.openxmlformats.org/officeDocument/2006/relationships/image" Target="/ppt/media/image8.svg" Id="Rb4edef06c91e47ab" /><Relationship Type="http://schemas.openxmlformats.org/officeDocument/2006/relationships/hyperlink" Target="https://doi.org/10.1136/spcare-2024-004978" TargetMode="External" Id="Rcda746b78fc4414a" /><Relationship Type="http://schemas.openxmlformats.org/officeDocument/2006/relationships/image" Target="/ppt/media/image10.png" Id="R00f25e175c4145d1" /><Relationship Type="http://schemas.openxmlformats.org/officeDocument/2006/relationships/image" Target="/ppt/media/image9.svg" Id="Rd80f3aa991f94769" /><Relationship Type="http://schemas.openxmlformats.org/officeDocument/2006/relationships/hyperlink" Target="https://scroll.in/article/925875/73-urban-indians-do-not-know-about-their-right-to-make-a-living-will-finds-a-survey" TargetMode="External" Id="R966a61598b434368" /><Relationship Type="http://schemas.openxmlformats.org/officeDocument/2006/relationships/image" Target="/ppt/media/image11.png" Id="R30939e948be1435b" /><Relationship Type="http://schemas.openxmlformats.org/officeDocument/2006/relationships/image" Target="/ppt/media/image10.svg" Id="Rbd9faffc2ed84d40" /><Relationship Type="http://schemas.openxmlformats.org/officeDocument/2006/relationships/hyperlink" Target="https://doi.org/10.25259/NMJI_817_2023" TargetMode="External" Id="R8411467bcc6b43ae" /><Relationship Type="http://schemas.openxmlformats.org/officeDocument/2006/relationships/image" Target="/ppt/media/image12.png" Id="Rcf2ba937c795462e" /><Relationship Type="http://schemas.openxmlformats.org/officeDocument/2006/relationships/image" Target="/ppt/media/image11.svg" Id="Re22df041d0754d0a" /><Relationship Type="http://schemas.openxmlformats.org/officeDocument/2006/relationships/hyperlink" Target="https://doi.org/10.1177/26892820251392545" TargetMode="External" Id="Rc2f2862c8f6b4886" /><Relationship Type="http://schemas.openxmlformats.org/officeDocument/2006/relationships/notesSlide" Target="/ppt/notesSlides/notesSlide3.xml" Id="R3800c3ee0f2e4c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7a8ea683e96434a" /><Relationship Type="http://schemas.openxmlformats.org/officeDocument/2006/relationships/image" Target="/ppt/media/image4.jpeg" Id="R92499889206a4ff1" /><Relationship Type="http://schemas.openxmlformats.org/officeDocument/2006/relationships/hyperlink" Target="https://docs.sarvam.ai/api/getting-started/building-for-india" TargetMode="External" Id="R4bfbad673ad24c48" /><Relationship Type="http://schemas.openxmlformats.org/officeDocument/2006/relationships/notesSlide" Target="/ppt/notesSlides/notesSlide4.xml" Id="R9176391b8549451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c3cb27f717a4337" /><Relationship Type="http://schemas.openxmlformats.org/officeDocument/2006/relationships/image" Target="/ppt/media/image5.jpeg" Id="R611ffb97cae14403" /><Relationship Type="http://schemas.openxmlformats.org/officeDocument/2006/relationships/notesSlide" Target="/ppt/notesSlides/notesSlide5.xml" Id="R5225a975aa3849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113ae5ca1c424c" /><Relationship Type="http://schemas.openxmlformats.org/officeDocument/2006/relationships/image" Target="/ppt/media/image13.png" Id="Rb0c129a9f4e14e64" /><Relationship Type="http://schemas.openxmlformats.org/officeDocument/2006/relationships/image" Target="/ppt/media/image12.svg" Id="R8eff60f5fb184c11" /><Relationship Type="http://schemas.openxmlformats.org/officeDocument/2006/relationships/image" Target="/ppt/media/image14.png" Id="R16947568142c44cc" /><Relationship Type="http://schemas.openxmlformats.org/officeDocument/2006/relationships/image" Target="/ppt/media/image13.svg" Id="R9d70a41c5352417d" /><Relationship Type="http://schemas.openxmlformats.org/officeDocument/2006/relationships/image" Target="/ppt/media/image15.png" Id="R7191a9ca12374df3" /><Relationship Type="http://schemas.openxmlformats.org/officeDocument/2006/relationships/image" Target="/ppt/media/image14.svg" Id="Ree727492da4a45a2" /><Relationship Type="http://schemas.openxmlformats.org/officeDocument/2006/relationships/image" Target="/ppt/media/image16.png" Id="R67157b6d34e04ad2" /><Relationship Type="http://schemas.openxmlformats.org/officeDocument/2006/relationships/image" Target="/ppt/media/image15.svg" Id="Rfb0c703e99fa4b60" /><Relationship Type="http://schemas.openxmlformats.org/officeDocument/2006/relationships/image" Target="/ppt/media/image17.png" Id="Rd55ed1559ba14a68" /><Relationship Type="http://schemas.openxmlformats.org/officeDocument/2006/relationships/image" Target="/ppt/media/image16.svg" Id="Rb2cd7dc900df482b" /><Relationship Type="http://schemas.openxmlformats.org/officeDocument/2006/relationships/image" Target="/ppt/media/image18.png" Id="Ra093c691bc3f4d45" /><Relationship Type="http://schemas.openxmlformats.org/officeDocument/2006/relationships/image" Target="/ppt/media/image17.svg" Id="R6f4a3d29e6834636" /><Relationship Type="http://schemas.openxmlformats.org/officeDocument/2006/relationships/image" Target="/ppt/media/image19.png" Id="Rd67f713aa46a4431" /><Relationship Type="http://schemas.openxmlformats.org/officeDocument/2006/relationships/image" Target="/ppt/media/image18.svg" Id="R79f0017b48334939" /><Relationship Type="http://schemas.openxmlformats.org/officeDocument/2006/relationships/image" Target="/ppt/media/image20.png" Id="Ra8783d94b7e240b0" /><Relationship Type="http://schemas.openxmlformats.org/officeDocument/2006/relationships/image" Target="/ppt/media/image19.svg" Id="Rda212c2ce7a3459b" /><Relationship Type="http://schemas.openxmlformats.org/officeDocument/2006/relationships/image" Target="/ppt/media/image21.png" Id="Rc257465ac24646fd" /><Relationship Type="http://schemas.openxmlformats.org/officeDocument/2006/relationships/image" Target="/ppt/media/image20.svg" Id="Rd4f345d5783048af" /><Relationship Type="http://schemas.openxmlformats.org/officeDocument/2006/relationships/image" Target="/ppt/media/image22.png" Id="R72dcba8b3b4248b8" /><Relationship Type="http://schemas.openxmlformats.org/officeDocument/2006/relationships/image" Target="/ppt/media/image21.svg" Id="R0f75c5f2240b4522" /><Relationship Type="http://schemas.openxmlformats.org/officeDocument/2006/relationships/hyperlink" Target="https://palliumindia.org/clinics/telangana" TargetMode="External" Id="R366d6397a71945e0" /><Relationship Type="http://schemas.openxmlformats.org/officeDocument/2006/relationships/notesSlide" Target="/ppt/notesSlides/notesSlide6.xml" Id="Rfe417f30bf6446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0aa99342224834" /><Relationship Type="http://schemas.openxmlformats.org/officeDocument/2006/relationships/notesSlide" Target="/ppt/notesSlides/notesSlide7.xml" Id="Rf5b0dac3954844e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6ab4d7814094633" /><Relationship Type="http://schemas.openxmlformats.org/officeDocument/2006/relationships/hyperlink" Target="https://gco.iarc.who.int/media/globocan/factsheets/populations/356-india-fact-sheet.pdf" TargetMode="External" Id="Rffcd7518ebb740c0" /><Relationship Type="http://schemas.openxmlformats.org/officeDocument/2006/relationships/hyperlink" Target="https://gco.iarc.who.int/media/globocan/factsheets/populations/356-india-fact-sheet.pdf" TargetMode="External" Id="Ra9c94895c00d46fd" /><Relationship Type="http://schemas.openxmlformats.org/officeDocument/2006/relationships/hyperlink" Target="https://doi.org/10.1136/spcare-2024-004978" TargetMode="External" Id="R3dcc1e077ce84ccd" /><Relationship Type="http://schemas.openxmlformats.org/officeDocument/2006/relationships/hyperlink" Target="https://doi.org/10.1136/spcare-2024-004978" TargetMode="External" Id="Re8e2256362204fb6" /><Relationship Type="http://schemas.openxmlformats.org/officeDocument/2006/relationships/hyperlink" Target="https://doi.org/10.1016/j.jpainsymman.2024.02.030" TargetMode="External" Id="R42acd986712a4cc0" /><Relationship Type="http://schemas.openxmlformats.org/officeDocument/2006/relationships/hyperlink" Target="https://doi.org/10.1016/j.jpainsymman.2024.02.030" TargetMode="External" Id="R3218ab4ff1b94c6b" /><Relationship Type="http://schemas.openxmlformats.org/officeDocument/2006/relationships/hyperlink" Target="https://doi.org/10.1177/26892820251392545" TargetMode="External" Id="Rf4d9beb853d24dca" /><Relationship Type="http://schemas.openxmlformats.org/officeDocument/2006/relationships/hyperlink" Target="https://doi.org/10.1177/26892820251392545" TargetMode="External" Id="R676e162e9eb44b8e" /><Relationship Type="http://schemas.openxmlformats.org/officeDocument/2006/relationships/hyperlink" Target="https://scroll.in/article/925875/73-urban-indians-do-not-know-about-their-right-to-make-a-living-will-finds-a-survey" TargetMode="External" Id="Reaab94f642424e24" /><Relationship Type="http://schemas.openxmlformats.org/officeDocument/2006/relationships/hyperlink" Target="https://scroll.in/article/925875/73-urban-indians-do-not-know-about-their-right-to-make-a-living-will-finds-a-survey" TargetMode="External" Id="Rece69212f56f438c" /><Relationship Type="http://schemas.openxmlformats.org/officeDocument/2006/relationships/hyperlink" Target="https://doi.org/10.25259/NMJI_817_2023" TargetMode="External" Id="R84a16defcae842db" /><Relationship Type="http://schemas.openxmlformats.org/officeDocument/2006/relationships/hyperlink" Target="https://doi.org/10.25259/NMJI_817_2023" TargetMode="External" Id="R464aca1bf1b8485e" /><Relationship Type="http://schemas.openxmlformats.org/officeDocument/2006/relationships/hyperlink" Target="https://doi.org/10.1101/2025.10.17.25338242" TargetMode="External" Id="R22fceacadbdb44ab" /><Relationship Type="http://schemas.openxmlformats.org/officeDocument/2006/relationships/hyperlink" Target="https://doi.org/10.1101/2025.10.17.25338242" TargetMode="External" Id="Rb793612e06774f3b" /><Relationship Type="http://schemas.openxmlformats.org/officeDocument/2006/relationships/hyperlink" Target="https://doi.org/10.1634/theoncologist.2013-0435" TargetMode="External" Id="R6836bb6dfd5a42b6" /><Relationship Type="http://schemas.openxmlformats.org/officeDocument/2006/relationships/hyperlink" Target="https://doi.org/10.1634/theoncologist.2013-0435" TargetMode="External" Id="R86ec70da02854d3a" /><Relationship Type="http://schemas.openxmlformats.org/officeDocument/2006/relationships/hyperlink" Target="https://doi.org/10.1200/JCO.2012.46.2101" TargetMode="External" Id="Rdd7a78ca03904605" /><Relationship Type="http://schemas.openxmlformats.org/officeDocument/2006/relationships/hyperlink" Target="https://doi.org/10.1200/JCO.2012.46.2101" TargetMode="External" Id="R6fd4a1f57c6c4f5e" /><Relationship Type="http://schemas.openxmlformats.org/officeDocument/2006/relationships/notesSlide" Target="/ppt/notesSlides/notesSlide8.xml" Id="R1b4a8b89739348e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b490bff0d9b48f8">
            <a:extLst>
              <a:ext uri="{96DAC541-7B7A-43D3-8B79-37D633B846F1}">
                <asvg:svgBlip xmlns:asvg="http://schemas.microsoft.com/office/drawing/2016/SVG/main" r:embed="R3c3ebbaa99104f0b"/>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C31D7F54-D3EF-47F8-B4DA-52CEE69A20F7}"/>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29CF915D-952B-4425-AAC4-F8DBA7FADEB0}"/>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EBF7EBF9-5071-4508-8F78-34855D44D198}"/>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9B0A2F93-7680-4BF6-8E57-21A620006EC4}"/>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3f16925b3c144c75"/>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BC631457-021E-46F5-8DD1-A23E25AA4273}"/>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54567f05cac74a86"/>
              </a:rPr>
              <a:t>OPEN THE WEBSITE</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a50da29dd24a4f66">
            <a:extLst>
              <a:ext uri="{96DAC541-7B7A-43D3-8B79-37D633B846F1}">
                <asvg:svgBlip xmlns:asvg="http://schemas.microsoft.com/office/drawing/2016/SVG/main" r:embed="R8090e3e534424d46"/>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E46DBE2B-CD5C-47AC-B6A2-6116A73565BC}"/>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e2be1f9303c64731"/>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d0781b761b2a40be">
            <a:extLst>
              <a:ext uri="{96DAC541-7B7A-43D3-8B79-37D633B846F1}">
                <asvg:svgBlip xmlns:asvg="http://schemas.microsoft.com/office/drawing/2016/SVG/main" r:embed="Rd72eee54adff4ad8"/>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2BDC8508-A84B-46C2-8497-CAF829D53DD3}"/>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6a7e66fd098c4cab"/>
              </a:rPr>
              <a:t>Questions? Contact us</a:t>
            </a:r>
          </a:p>
        </p:txBody>
      </p:sp>
      <p:sp>
        <p:nvSpPr>
          <p:cNvPr id="12" name="WhatsApp link">
            <a:extLst xmlns:a="http://schemas.openxmlformats.org/drawingml/2006/main">
              <a:ext uri="{FF2B5EF4-FFF2-40B4-BE49-F238E27FC236}">
                <a16:creationId xmlns:a16="http://schemas.microsoft.com/office/drawing/2014/main" id="{FA624447-35D2-46F1-82CC-AA9AA2D6A2A9}"/>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ca0ab13d560e4b5c"/>
              </a:rPr>
              <a:t>wa.me/919553321211</a:t>
            </a:r>
          </a:p>
        </p:txBody>
      </p:sp>
      <p:sp>
        <p:nvSpPr>
          <p:cNvPr id="13" name="">
            <a:extLst xmlns:a="http://schemas.openxmlformats.org/drawingml/2006/main">
              <a:ext uri="{FF2B5EF4-FFF2-40B4-BE49-F238E27FC236}">
                <a16:creationId xmlns:a16="http://schemas.microsoft.com/office/drawing/2014/main" id="{BF366E9D-99EA-4E09-A0CE-362198D6A47A}"/>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C7030D11-D61E-4EE4-BDCB-A28C7597B671}"/>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1cd2c85d55f24931"/>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A38F6026-C9C5-495F-A818-1C9AA6CF4287}"/>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0CECE9EA-DC2F-42C0-A27F-51DF53719D2A}"/>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8a84433637664990"/>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16C892BF-43C0-4D09-A18C-793728292246}"/>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063FFA23-880E-44CC-90B2-9314B9AA4065}"/>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7E11D085-0DB9-411F-BBEA-4AD9492A8225}"/>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BA2FE28A-1893-438A-B845-6B651A3C7E38}"/>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E2CC72D4-1922-44CA-81BC-797A03E40E8E}"/>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488359CA-AFDA-4647-8729-98E9C7097028}"/>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B9ED00B3-049A-47C6-BB1A-A47EDFDC5539}"/>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68DB929E-E139-437A-8981-02FC2112F7E7}"/>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30019454-EDD1-4B92-8B2F-ECACBD47D4C9}"/>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8D2ECF42-0331-4D73-97BD-27FECBC43240}"/>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E047ED57-8154-4C96-A4A0-FFE04538F18B}"/>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F7F3E9"/>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F0024F24-80EB-4F5D-8A85-57F160BB6DAB}"/>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8e8f278421448cb"/>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6F8F33A5-185C-4ADA-8BF0-922D888B1226}"/>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53655C"/>
                </a:solidFill>
                <a:latin typeface="Arial"/>
                <a:ea typeface="Arial"/>
                <a:cs typeface="Arial"/>
              </a:defRPr>
            </a:pPr>
            <a:r>
              <a:rPr sz="1163" b="0">
                <a:solidFill>
                  <a:srgbClr val="53655C"/>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AE396AA4-5EBC-4032-8884-C85405B93D66}"/>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a648d5654a74522">
            <a:extLst>
              <a:ext uri="{96DAC541-7B7A-43D3-8B79-37D633B846F1}">
                <asvg:svgBlip xmlns:asvg="http://schemas.microsoft.com/office/drawing/2016/SVG/main" r:embed="R23e1a9c8044d4c34"/>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C36097D6-105A-47EE-B68E-C1EFD35A0C6C}"/>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157B68"/>
                </a:solidFill>
                <a:latin typeface="Arial"/>
                <a:ea typeface="Arial"/>
                <a:cs typeface="Arial"/>
              </a:defRPr>
            </a:pPr>
            <a:r>
              <a:rPr sz="2100" b="1">
                <a:solidFill>
                  <a:srgbClr val="157B68"/>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B5E00D25-D03D-493B-B028-1AEBEC9E84B4}"/>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dd139076a0ae47d6">
            <a:extLst>
              <a:ext uri="{96DAC541-7B7A-43D3-8B79-37D633B846F1}">
                <asvg:svgBlip xmlns:asvg="http://schemas.microsoft.com/office/drawing/2016/SVG/main" r:embed="R20568b23f9234937"/>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2A6F448C-686B-41D3-866F-1F999B89DEC3}"/>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7353AC"/>
                </a:solidFill>
                <a:latin typeface="Arial"/>
                <a:ea typeface="Arial"/>
                <a:cs typeface="Arial"/>
              </a:defRPr>
            </a:pPr>
            <a:r>
              <a:rPr sz="2100" b="1">
                <a:solidFill>
                  <a:srgbClr val="7353AC"/>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D0A1F776-88BF-4935-AA1A-0CF11F419E03}"/>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f6890d0fdc7442c">
            <a:extLst>
              <a:ext uri="{96DAC541-7B7A-43D3-8B79-37D633B846F1}">
                <asvg:svgBlip xmlns:asvg="http://schemas.microsoft.com/office/drawing/2016/SVG/main" r:embed="R6c9ad840427644c9"/>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3099788C-76B2-4981-9AF8-BD24A1730149}"/>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B75E43"/>
                </a:solidFill>
                <a:latin typeface="Arial"/>
                <a:ea typeface="Arial"/>
                <a:cs typeface="Arial"/>
              </a:defRPr>
            </a:pPr>
            <a:r>
              <a:rPr sz="2100" b="1">
                <a:solidFill>
                  <a:srgbClr val="B75E43"/>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4CF9E17F-5A47-4567-9572-00FD9D13226B}"/>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015BF1FE-3A66-494D-BE6B-559497D979E9}"/>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173F33"/>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9B253523-5302-4AE5-A4E3-2337A38FC930}"/>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A checked Care Note gives the family the same starting point.</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d97d2cd416f64b1b"/>
          </a:graphicData>
        </a:graphic>
      </p:graphicFrame>
      <p:sp>
        <p:nvSpPr>
          <p:cNvPr id="15" name="Slide title">
            <a:extLst xmlns:a="http://schemas.openxmlformats.org/drawingml/2006/main">
              <a:ext uri="{FF2B5EF4-FFF2-40B4-BE49-F238E27FC236}">
                <a16:creationId xmlns:a16="http://schemas.microsoft.com/office/drawing/2014/main" id="{5EEA2545-07E2-4091-9061-35AAD6174DEA}"/>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04C6086E-33FC-490C-A8C5-B97327EE5E6E}"/>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D9EEE6"/>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95A770CF-8107-4464-8D2D-14D6EE7C4716}"/>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D9EEE6"/>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a5051a3fa9d348b7">
            <a:extLst>
              <a:ext uri="{96DAC541-7B7A-43D3-8B79-37D633B846F1}">
                <asvg:svgBlip xmlns:asvg="http://schemas.microsoft.com/office/drawing/2016/SVG/main" r:embed="R8dae656f18c14d0f"/>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3002F088-D0F9-4334-9BDA-D31CA2919589}"/>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CC44C490-55DF-4495-8E15-59242DA352E6}"/>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2EA8C87D-62A0-4BE4-BBDB-A6520D062742}"/>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9c5d9a018e94b89"/>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271b41cc77ef4fa8">
            <a:extLst>
              <a:ext uri="{96DAC541-7B7A-43D3-8B79-37D633B846F1}">
                <asvg:svgBlip xmlns:asvg="http://schemas.microsoft.com/office/drawing/2016/SVG/main" r:embed="Rb4edef06c91e47ab"/>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9277D3AA-D920-4C53-AF60-C5022F2AAB8F}"/>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C9791D0D-E073-454E-8AB0-C395690C2289}"/>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40CD45B3-BD7F-4000-A378-873A1073B9BA}"/>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cda746b78fc4414a"/>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00f25e175c4145d1">
            <a:extLst>
              <a:ext uri="{96DAC541-7B7A-43D3-8B79-37D633B846F1}">
                <asvg:svgBlip xmlns:asvg="http://schemas.microsoft.com/office/drawing/2016/SVG/main" r:embed="Rd80f3aa991f94769"/>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9AFE624A-349D-4C0F-ABCB-50148CE952B2}"/>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3C2B563D-1143-453D-90F0-55D6BA2BBAD7}"/>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8BCEF41D-F109-4EDF-965A-EF5BA7F010E8}"/>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66a61598b434368"/>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30939e948be1435b">
            <a:extLst>
              <a:ext uri="{96DAC541-7B7A-43D3-8B79-37D633B846F1}">
                <asvg:svgBlip xmlns:asvg="http://schemas.microsoft.com/office/drawing/2016/SVG/main" r:embed="Rbd9faffc2ed84d40"/>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7AA94205-0F8F-4DF8-9B77-F8EE1F22B573}"/>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BA746BCE-8CD6-49C2-BE3E-CA0871C275FB}"/>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58B3812E-B623-4C68-95D3-D9892DAA68B9}"/>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411467bcc6b43ae"/>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cf2ba937c795462e">
            <a:extLst>
              <a:ext uri="{96DAC541-7B7A-43D3-8B79-37D633B846F1}">
                <asvg:svgBlip xmlns:asvg="http://schemas.microsoft.com/office/drawing/2016/SVG/main" r:embed="Re22df041d0754d0a"/>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CE67983B-E7A7-41CA-A6D1-13F85849AD63}"/>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198CC26E-9B3B-44F9-857D-29EF847577C9}"/>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6BA89AF6-FD3F-4B80-B35A-E158C07D6384}"/>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A510FBFA-D30C-4D48-B1B5-AB275F2B7623}"/>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c2f2862c8f6b4886"/>
              </a:rPr>
              <a:t>Thangasamy et al., 2025</a:t>
            </a:r>
          </a:p>
        </p:txBody>
      </p:sp>
      <p:sp>
        <p:nvSpPr>
          <p:cNvPr id="39" name="Evidence boundary">
            <a:extLst xmlns:a="http://schemas.openxmlformats.org/drawingml/2006/main">
              <a:ext uri="{FF2B5EF4-FFF2-40B4-BE49-F238E27FC236}">
                <a16:creationId xmlns:a16="http://schemas.microsoft.com/office/drawing/2014/main" id="{31384E8A-EA7B-42B9-B32E-4B04A153CAB6}"/>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4.xml><?xml version="1.0" encoding="utf-8"?>
<p:sld xmlns:p="http://schemas.openxmlformats.org/presentationml/2006/main">
  <p:cSld>
    <p:bg>
      <p:bgPr>
        <a:solidFill xmlns:a="http://schemas.openxmlformats.org/drawingml/2006/main">
          <a:srgbClr val="FFC799"/>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DB0A71C5-8968-4792-9D2B-35E5DE2DBC1F}"/>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Human review">
            <a:extLst xmlns:a="http://schemas.openxmlformats.org/drawingml/2006/main">
              <a:ext uri="{FF2B5EF4-FFF2-40B4-BE49-F238E27FC236}">
                <a16:creationId xmlns:a16="http://schemas.microsoft.com/office/drawing/2014/main" id="{AFD7557B-D0BC-4539-A1CD-B67BEA487A35}"/>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The doctor signs first. The patient then reviews and signs that version.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92499889206a4ff1"/>
          <a:stretch xmlns:a="http://schemas.openxmlformats.org/drawingml/2006/main"/>
        </p:blipFill>
        <p:spPr>
          <a:xfrm xmlns:a="http://schemas.openxmlformats.org/drawingml/2006/main">
            <a:off x="400050" y="1847953"/>
            <a:ext cx="8286750" cy="3933618"/>
          </a:xfrm>
          <a:prstGeom xmlns:a="http://schemas.openxmlformats.org/drawingml/2006/main" prst="rect">
            <a:avLst/>
          </a:prstGeom>
        </p:spPr>
      </p:pic>
      <p:sp>
        <p:nvSpPr>
          <p:cNvPr id="4" name="Source traceability">
            <a:extLst xmlns:a="http://schemas.openxmlformats.org/drawingml/2006/main">
              <a:ext uri="{FF2B5EF4-FFF2-40B4-BE49-F238E27FC236}">
                <a16:creationId xmlns:a16="http://schemas.microsoft.com/office/drawing/2014/main" id="{ED58B33B-0F2B-45F1-B24A-FA4F77A3B995}"/>
              </a:ext>
            </a:extLst>
          </p:cNvPr>
          <p:cNvSpPr>
            <a:spLocks xmlns:a="http://schemas.openxmlformats.org/drawingml/2006/main" noGrp="1"/>
          </p:cNvSpPr>
          <p:nvPr/>
        </p:nvSpPr>
        <p:spPr>
          <a:xfrm xmlns:a="http://schemas.openxmlformats.org/drawingml/2006/main">
            <a:off x="533400" y="5991225"/>
            <a:ext cx="800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Keep the source words and every signed version for the next conversation.</a:t>
            </a:r>
          </a:p>
        </p:txBody>
      </p:sp>
      <p:sp>
        <p:nvSpPr>
          <p:cNvPr id="5" name="Proposed voice provider">
            <a:extLst xmlns:a="http://schemas.openxmlformats.org/drawingml/2006/main">
              <a:ext uri="{FF2B5EF4-FFF2-40B4-BE49-F238E27FC236}">
                <a16:creationId xmlns:a16="http://schemas.microsoft.com/office/drawing/2014/main" id="{A164A3D8-FBFB-4DDE-8A0A-23D351F03D43}"/>
              </a:ext>
            </a:extLst>
          </p:cNvPr>
          <p:cNvSpPr>
            <a:spLocks xmlns:a="http://schemas.openxmlformats.org/drawingml/2006/main" noGrp="1"/>
          </p:cNvSpPr>
          <p:nvPr/>
        </p:nvSpPr>
        <p:spPr>
          <a:xfrm xmlns:a="http://schemas.openxmlformats.org/drawingml/2006/main">
            <a:off x="533400" y="6543675"/>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0">
                <a:solidFill>
                  <a:srgbClr val="145AC6"/>
                </a:solidFill>
                <a:latin typeface="Arial"/>
                <a:ea typeface="Arial"/>
                <a:cs typeface="Arial"/>
              </a:defRPr>
            </a:pPr>
            <a:r>
              <a:rPr sz="1313" b="0" u="sng">
                <a:solidFill>
                  <a:srgbClr val="145AC6"/>
                </a:solidFill>
                <a:latin typeface="Arial"/>
                <a:ea typeface="Arial"/>
                <a:cs typeface="Arial"/>
                <a:hlinkClick xmlns:r="http://schemas.openxmlformats.org/officeDocument/2006/relationships" r:id="R4bfbad673ad24c48"/>
              </a:rPr>
              <a:t>Planned with Sarvam AI: Indian-language speech, translation and read-aloud.</a:t>
            </a:r>
          </a:p>
        </p:txBody>
      </p:sp>
      <p:sp>
        <p:nvSpPr>
          <p:cNvPr id="6" name="AI step 1">
            <a:extLst xmlns:a="http://schemas.openxmlformats.org/drawingml/2006/main">
              <a:ext uri="{FF2B5EF4-FFF2-40B4-BE49-F238E27FC236}">
                <a16:creationId xmlns:a16="http://schemas.microsoft.com/office/drawing/2014/main" id="{EE94EB4D-DEBB-43AE-9590-ADF081D0215F}"/>
              </a:ext>
            </a:extLst>
          </p:cNvPr>
          <p:cNvSpPr>
            <a:spLocks xmlns:a="http://schemas.openxmlformats.org/drawingml/2006/main" noGrp="1"/>
          </p:cNvSpPr>
          <p:nvPr/>
        </p:nvSpPr>
        <p:spPr>
          <a:xfrm xmlns:a="http://schemas.openxmlformats.org/drawingml/2006/main">
            <a:off x="9001125" y="16764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1. Record with permission.</a:t>
            </a:r>
          </a:p>
        </p:txBody>
      </p:sp>
      <p:sp>
        <p:nvSpPr>
          <p:cNvPr id="7" name="AI step 1 detail">
            <a:extLst xmlns:a="http://schemas.openxmlformats.org/drawingml/2006/main">
              <a:ext uri="{FF2B5EF4-FFF2-40B4-BE49-F238E27FC236}">
                <a16:creationId xmlns:a16="http://schemas.microsoft.com/office/drawing/2014/main" id="{ACAA817E-7528-43DF-8A9F-A3996D962D45}"/>
              </a:ext>
            </a:extLst>
          </p:cNvPr>
          <p:cNvSpPr>
            <a:spLocks xmlns:a="http://schemas.openxmlformats.org/drawingml/2006/main" noGrp="1"/>
          </p:cNvSpPr>
          <p:nvPr/>
        </p:nvSpPr>
        <p:spPr>
          <a:xfrm xmlns:a="http://schemas.openxmlformats.org/drawingml/2006/main">
            <a:off x="9001125" y="22479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Keep who said what in the conversation.</a:t>
            </a:r>
          </a:p>
        </p:txBody>
      </p:sp>
      <p:sp>
        <p:nvSpPr>
          <p:cNvPr id="8" name="AI step 2">
            <a:extLst xmlns:a="http://schemas.openxmlformats.org/drawingml/2006/main">
              <a:ext uri="{FF2B5EF4-FFF2-40B4-BE49-F238E27FC236}">
                <a16:creationId xmlns:a16="http://schemas.microsoft.com/office/drawing/2014/main" id="{A280D7FD-D147-4A8E-A6B1-73EDB7745067}"/>
              </a:ext>
            </a:extLst>
          </p:cNvPr>
          <p:cNvSpPr>
            <a:spLocks xmlns:a="http://schemas.openxmlformats.org/drawingml/2006/main" noGrp="1"/>
          </p:cNvSpPr>
          <p:nvPr/>
        </p:nvSpPr>
        <p:spPr>
          <a:xfrm xmlns:a="http://schemas.openxmlformats.org/drawingml/2006/main">
            <a:off x="9001125" y="28384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2. AI prepares a draft.</a:t>
            </a:r>
          </a:p>
        </p:txBody>
      </p:sp>
      <p:sp>
        <p:nvSpPr>
          <p:cNvPr id="9" name="AI step 2 detail">
            <a:extLst xmlns:a="http://schemas.openxmlformats.org/drawingml/2006/main">
              <a:ext uri="{FF2B5EF4-FFF2-40B4-BE49-F238E27FC236}">
                <a16:creationId xmlns:a16="http://schemas.microsoft.com/office/drawing/2014/main" id="{14BA0C46-F02D-49CB-A0DB-5A1AF54E584B}"/>
              </a:ext>
            </a:extLst>
          </p:cNvPr>
          <p:cNvSpPr>
            <a:spLocks xmlns:a="http://schemas.openxmlformats.org/drawingml/2006/main" noGrp="1"/>
          </p:cNvSpPr>
          <p:nvPr/>
        </p:nvSpPr>
        <p:spPr>
          <a:xfrm xmlns:a="http://schemas.openxmlformats.org/drawingml/2006/main">
            <a:off x="9001125" y="34099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Separate agreed points from unanswered questions.</a:t>
            </a:r>
          </a:p>
        </p:txBody>
      </p:sp>
      <p:sp>
        <p:nvSpPr>
          <p:cNvPr id="10" name="AI step 3">
            <a:extLst xmlns:a="http://schemas.openxmlformats.org/drawingml/2006/main">
              <a:ext uri="{FF2B5EF4-FFF2-40B4-BE49-F238E27FC236}">
                <a16:creationId xmlns:a16="http://schemas.microsoft.com/office/drawing/2014/main" id="{9FA69D5A-8CC4-442E-BF9A-E2AE4D48FD71}"/>
              </a:ext>
            </a:extLst>
          </p:cNvPr>
          <p:cNvSpPr>
            <a:spLocks xmlns:a="http://schemas.openxmlformats.org/drawingml/2006/main" noGrp="1"/>
          </p:cNvSpPr>
          <p:nvPr/>
        </p:nvSpPr>
        <p:spPr>
          <a:xfrm xmlns:a="http://schemas.openxmlformats.org/drawingml/2006/main">
            <a:off x="9001125" y="40005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3. The doctor checks and signs.</a:t>
            </a:r>
          </a:p>
        </p:txBody>
      </p:sp>
      <p:sp>
        <p:nvSpPr>
          <p:cNvPr id="11" name="AI step 3 detail">
            <a:extLst xmlns:a="http://schemas.openxmlformats.org/drawingml/2006/main">
              <a:ext uri="{FF2B5EF4-FFF2-40B4-BE49-F238E27FC236}">
                <a16:creationId xmlns:a16="http://schemas.microsoft.com/office/drawing/2014/main" id="{BF6F6A33-B9B5-44CC-871D-6F99C6B3D3AC}"/>
              </a:ext>
            </a:extLst>
          </p:cNvPr>
          <p:cNvSpPr>
            <a:spLocks xmlns:a="http://schemas.openxmlformats.org/drawingml/2006/main" noGrp="1"/>
          </p:cNvSpPr>
          <p:nvPr/>
        </p:nvSpPr>
        <p:spPr>
          <a:xfrm xmlns:a="http://schemas.openxmlformats.org/drawingml/2006/main">
            <a:off x="9001125" y="45720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Correct the note and record clinical choices.</a:t>
            </a:r>
          </a:p>
        </p:txBody>
      </p:sp>
      <p:sp>
        <p:nvSpPr>
          <p:cNvPr id="12" name="AI step 4">
            <a:extLst xmlns:a="http://schemas.openxmlformats.org/drawingml/2006/main">
              <a:ext uri="{FF2B5EF4-FFF2-40B4-BE49-F238E27FC236}">
                <a16:creationId xmlns:a16="http://schemas.microsoft.com/office/drawing/2014/main" id="{FF107825-282F-4E38-94E7-E76FB050C094}"/>
              </a:ext>
            </a:extLst>
          </p:cNvPr>
          <p:cNvSpPr>
            <a:spLocks xmlns:a="http://schemas.openxmlformats.org/drawingml/2006/main" noGrp="1"/>
          </p:cNvSpPr>
          <p:nvPr/>
        </p:nvSpPr>
        <p:spPr>
          <a:xfrm xmlns:a="http://schemas.openxmlformats.org/drawingml/2006/main">
            <a:off x="9001125" y="51625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4. The patient signs that version.</a:t>
            </a:r>
          </a:p>
        </p:txBody>
      </p:sp>
      <p:sp>
        <p:nvSpPr>
          <p:cNvPr id="13" name="AI step 4 detail">
            <a:extLst xmlns:a="http://schemas.openxmlformats.org/drawingml/2006/main">
              <a:ext uri="{FF2B5EF4-FFF2-40B4-BE49-F238E27FC236}">
                <a16:creationId xmlns:a16="http://schemas.microsoft.com/office/drawing/2014/main" id="{F1D8909E-E9D8-4BB0-920D-31C9D0B974EF}"/>
              </a:ext>
            </a:extLst>
          </p:cNvPr>
          <p:cNvSpPr>
            <a:spLocks xmlns:a="http://schemas.openxmlformats.org/drawingml/2006/main" noGrp="1"/>
          </p:cNvSpPr>
          <p:nvPr/>
        </p:nvSpPr>
        <p:spPr>
          <a:xfrm xmlns:a="http://schemas.openxmlformats.org/drawingml/2006/main">
            <a:off x="9001125" y="57340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Review the exact version. Keep earlier notes.</a:t>
            </a:r>
          </a:p>
        </p:txBody>
      </p:sp>
    </p:spTree>
    <p:extLst>
      <p:ext uri="{BB962C8B-B14F-4D97-AF65-F5344CB8AC3E}">
        <p14:creationId xmlns:p14="http://schemas.microsoft.com/office/powerpoint/2010/main" val="1779657811"/>
      </p:ext>
    </p:extLst>
  </p:cSld>
</p:sld>
</file>

<file path=ppt/slides/slide5.xml><?xml version="1.0" encoding="utf-8"?>
<p:sld xmlns:p="http://schemas.openxmlformats.org/presentationml/2006/main">
  <p:cSld>
    <p:bg>
      <p:bgPr>
        <a:solidFill xmlns:a="http://schemas.openxmlformats.org/drawingml/2006/main">
          <a:srgbClr val="E8F4F0"/>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4504641A-06E2-4466-930F-3C999D4E45F5}"/>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AI helps the family use its own records.</a:t>
            </a:r>
          </a:p>
        </p:txBody>
      </p:sp>
      <p:sp>
        <p:nvSpPr>
          <p:cNvPr id="2" name="Records assistant purpose">
            <a:extLst xmlns:a="http://schemas.openxmlformats.org/drawingml/2006/main">
              <a:ext uri="{FF2B5EF4-FFF2-40B4-BE49-F238E27FC236}">
                <a16:creationId xmlns:a16="http://schemas.microsoft.com/office/drawing/2014/main" id="{E503F52C-6380-499A-8835-308A1149274B}"/>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53655C"/>
                </a:solidFill>
                <a:latin typeface="Arial"/>
                <a:ea typeface="Arial"/>
                <a:cs typeface="Arial"/>
              </a:defRPr>
            </a:pPr>
            <a:r>
              <a:rPr sz="1800" b="0">
                <a:solidFill>
                  <a:srgbClr val="53655C"/>
                </a:solidFill>
                <a:latin typeface="Arial"/>
                <a:ea typeface="Arial"/>
                <a:cs typeface="Arial"/>
              </a:rPr>
              <a:t>Ask about your own reports. See the original passage with the answer.</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611ffb97cae14403"/>
          <a:stretch xmlns:a="http://schemas.openxmlformats.org/drawingml/2006/main"/>
        </p:blipFill>
        <p:spPr>
          <a:xfrm xmlns:a="http://schemas.openxmlformats.org/drawingml/2006/main">
            <a:off x="400050" y="1792673"/>
            <a:ext cx="8058150" cy="3825105"/>
          </a:xfrm>
          <a:prstGeom xmlns:a="http://schemas.openxmlformats.org/drawingml/2006/main" prst="rect">
            <a:avLst/>
          </a:prstGeom>
        </p:spPr>
      </p:pic>
      <p:sp>
        <p:nvSpPr>
          <p:cNvPr id="4" name="Records assistant 1">
            <a:extLst xmlns:a="http://schemas.openxmlformats.org/drawingml/2006/main">
              <a:ext uri="{FF2B5EF4-FFF2-40B4-BE49-F238E27FC236}">
                <a16:creationId xmlns:a16="http://schemas.microsoft.com/office/drawing/2014/main" id="{68316089-A931-492A-8C80-2577EDC6DA57}"/>
              </a:ext>
            </a:extLst>
          </p:cNvPr>
          <p:cNvSpPr>
            <a:spLocks xmlns:a="http://schemas.openxmlformats.org/drawingml/2006/main" noGrp="1"/>
          </p:cNvSpPr>
          <p:nvPr/>
        </p:nvSpPr>
        <p:spPr>
          <a:xfrm xmlns:a="http://schemas.openxmlformats.org/drawingml/2006/main">
            <a:off x="8763000" y="166687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Find an answer in a report</a:t>
            </a:r>
          </a:p>
        </p:txBody>
      </p:sp>
      <p:sp>
        <p:nvSpPr>
          <p:cNvPr id="5" name="Records assistant 1 detail">
            <a:extLst xmlns:a="http://schemas.openxmlformats.org/drawingml/2006/main">
              <a:ext uri="{FF2B5EF4-FFF2-40B4-BE49-F238E27FC236}">
                <a16:creationId xmlns:a16="http://schemas.microsoft.com/office/drawing/2014/main" id="{51BED6C6-4E3A-4761-B539-7CBED264152E}"/>
              </a:ext>
            </a:extLst>
          </p:cNvPr>
          <p:cNvSpPr>
            <a:spLocks xmlns:a="http://schemas.openxmlformats.org/drawingml/2006/main" noGrp="1"/>
          </p:cNvSpPr>
          <p:nvPr/>
        </p:nvSpPr>
        <p:spPr>
          <a:xfrm xmlns:a="http://schemas.openxmlformats.org/drawingml/2006/main">
            <a:off x="8763000" y="224790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Ask a question. See the exact part of the report the answer came from. Say when it cannot be found.</a:t>
            </a:r>
          </a:p>
        </p:txBody>
      </p:sp>
      <p:sp>
        <p:nvSpPr>
          <p:cNvPr id="6" name="Records assistant 2">
            <a:extLst xmlns:a="http://schemas.openxmlformats.org/drawingml/2006/main">
              <a:ext uri="{FF2B5EF4-FFF2-40B4-BE49-F238E27FC236}">
                <a16:creationId xmlns:a16="http://schemas.microsoft.com/office/drawing/2014/main" id="{5898EC28-F39E-40AA-BEBB-B99E32CDD7BA}"/>
              </a:ext>
            </a:extLst>
          </p:cNvPr>
          <p:cNvSpPr>
            <a:spLocks xmlns:a="http://schemas.openxmlformats.org/drawingml/2006/main" noGrp="1"/>
          </p:cNvSpPr>
          <p:nvPr/>
        </p:nvSpPr>
        <p:spPr>
          <a:xfrm xmlns:a="http://schemas.openxmlformats.org/drawingml/2006/main">
            <a:off x="8763000" y="3276600"/>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See what happened when</a:t>
            </a:r>
          </a:p>
        </p:txBody>
      </p:sp>
      <p:sp>
        <p:nvSpPr>
          <p:cNvPr id="7" name="Records assistant 2 detail">
            <a:extLst xmlns:a="http://schemas.openxmlformats.org/drawingml/2006/main">
              <a:ext uri="{FF2B5EF4-FFF2-40B4-BE49-F238E27FC236}">
                <a16:creationId xmlns:a16="http://schemas.microsoft.com/office/drawing/2014/main" id="{0BD84060-C816-4E9D-A203-0CC3F2E78AD8}"/>
              </a:ext>
            </a:extLst>
          </p:cNvPr>
          <p:cNvSpPr>
            <a:spLocks xmlns:a="http://schemas.openxmlformats.org/drawingml/2006/main" noGrp="1"/>
          </p:cNvSpPr>
          <p:nvPr/>
        </p:nvSpPr>
        <p:spPr>
          <a:xfrm xmlns:a="http://schemas.openxmlformats.org/drawingml/2006/main">
            <a:off x="8763000" y="3857625"/>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Confirm that treatment happened and enter its date. Keep the quoted record beside it.</a:t>
            </a:r>
          </a:p>
        </p:txBody>
      </p:sp>
      <p:sp>
        <p:nvSpPr>
          <p:cNvPr id="8" name="Records assistant 3">
            <a:extLst xmlns:a="http://schemas.openxmlformats.org/drawingml/2006/main">
              <a:ext uri="{FF2B5EF4-FFF2-40B4-BE49-F238E27FC236}">
                <a16:creationId xmlns:a16="http://schemas.microsoft.com/office/drawing/2014/main" id="{A265BAB1-8609-428B-886E-8C38A5340526}"/>
              </a:ext>
            </a:extLst>
          </p:cNvPr>
          <p:cNvSpPr>
            <a:spLocks xmlns:a="http://schemas.openxmlformats.org/drawingml/2006/main" noGrp="1"/>
          </p:cNvSpPr>
          <p:nvPr/>
        </p:nvSpPr>
        <p:spPr>
          <a:xfrm xmlns:a="http://schemas.openxmlformats.org/drawingml/2006/main">
            <a:off x="8763000" y="488632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Add medicine reminders</a:t>
            </a:r>
          </a:p>
        </p:txBody>
      </p:sp>
      <p:sp>
        <p:nvSpPr>
          <p:cNvPr id="9" name="Records assistant 3 detail">
            <a:extLst xmlns:a="http://schemas.openxmlformats.org/drawingml/2006/main">
              <a:ext uri="{FF2B5EF4-FFF2-40B4-BE49-F238E27FC236}">
                <a16:creationId xmlns:a16="http://schemas.microsoft.com/office/drawing/2014/main" id="{6035E60C-72D7-474F-8269-DB728849E311}"/>
              </a:ext>
            </a:extLst>
          </p:cNvPr>
          <p:cNvSpPr>
            <a:spLocks xmlns:a="http://schemas.openxmlformats.org/drawingml/2006/main" noGrp="1"/>
          </p:cNvSpPr>
          <p:nvPr/>
        </p:nvSpPr>
        <p:spPr>
          <a:xfrm xmlns:a="http://schemas.openxmlformats.org/drawingml/2006/main">
            <a:off x="8763000" y="546735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Read the names and times from a printed prescription. Let a person check them before adding reminders.</a:t>
            </a:r>
          </a:p>
        </p:txBody>
      </p:sp>
      <p:sp>
        <p:nvSpPr>
          <p:cNvPr id="10" name="Clinical scope">
            <a:extLst xmlns:a="http://schemas.openxmlformats.org/drawingml/2006/main">
              <a:ext uri="{FF2B5EF4-FFF2-40B4-BE49-F238E27FC236}">
                <a16:creationId xmlns:a16="http://schemas.microsoft.com/office/drawing/2014/main" id="{3CCE63B7-39A9-46E3-B10D-5D32F7A9C3A9}"/>
              </a:ext>
            </a:extLst>
          </p:cNvPr>
          <p:cNvSpPr>
            <a:spLocks xmlns:a="http://schemas.openxmlformats.org/drawingml/2006/main" noGrp="1"/>
          </p:cNvSpPr>
          <p:nvPr/>
        </p:nvSpPr>
        <p:spPr>
          <a:xfrm xmlns:a="http://schemas.openxmlformats.org/drawingml/2006/main">
            <a:off x="533400" y="5895975"/>
            <a:ext cx="7762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AI organises the records. The care team decides what treatment the patient needs.</a:t>
            </a:r>
          </a:p>
        </p:txBody>
      </p:sp>
    </p:spTree>
    <p:extLst>
      <p:ext uri="{BB962C8B-B14F-4D97-AF65-F5344CB8AC3E}">
        <p14:creationId xmlns:p14="http://schemas.microsoft.com/office/powerpoint/2010/main" val="1405124457"/>
      </p:ext>
    </p:extLst>
  </p:cSld>
</p:sld>
</file>

<file path=ppt/slides/slide6.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40" name="Slide title">
            <a:extLst xmlns:a="http://schemas.openxmlformats.org/drawingml/2006/main">
              <a:ext uri="{FF2B5EF4-FFF2-40B4-BE49-F238E27FC236}">
                <a16:creationId xmlns:a16="http://schemas.microsoft.com/office/drawing/2014/main" id="{78B95B02-7ACE-4965-90A3-988A2A5D4B2B}"/>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Care keeps moving when everyone knows their part.</a:t>
            </a:r>
          </a:p>
        </p:txBody>
      </p:sp>
      <p:sp>
        <p:nvSpPr>
          <p:cNvPr id="2" name="Three sign-ins">
            <a:extLst xmlns:a="http://schemas.openxmlformats.org/drawingml/2006/main">
              <a:ext uri="{FF2B5EF4-FFF2-40B4-BE49-F238E27FC236}">
                <a16:creationId xmlns:a16="http://schemas.microsoft.com/office/drawing/2014/main" id="{DF9000DF-575C-4DC7-B280-E827F61BBF57}"/>
              </a:ext>
            </a:extLst>
          </p:cNvPr>
          <p:cNvSpPr>
            <a:spLocks xmlns:a="http://schemas.openxmlformats.org/drawingml/2006/main" noGrp="1"/>
          </p:cNvSpPr>
          <p:nvPr/>
        </p:nvSpPr>
        <p:spPr>
          <a:xfrm xmlns:a="http://schemas.openxmlformats.org/drawingml/2006/main">
            <a:off x="533400" y="1181100"/>
            <a:ext cx="17811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53655C"/>
                </a:solidFill>
                <a:latin typeface="Arial"/>
                <a:ea typeface="Arial"/>
                <a:cs typeface="Arial"/>
              </a:defRPr>
            </a:pPr>
            <a:r>
              <a:rPr sz="1575" b="1">
                <a:solidFill>
                  <a:srgbClr val="53655C"/>
                </a:solidFill>
                <a:latin typeface="Arial"/>
                <a:ea typeface="Arial"/>
                <a:cs typeface="Arial"/>
              </a:rPr>
              <a:t>Three sign-ins</a:t>
            </a:r>
          </a:p>
        </p:txBody>
      </p:sp>
      <p:sp>
        <p:nvSpPr>
          <p:cNvPr id="3" name="">
            <a:extLst xmlns:a="http://schemas.openxmlformats.org/drawingml/2006/main">
              <a:ext uri="{FF2B5EF4-FFF2-40B4-BE49-F238E27FC236}">
                <a16:creationId xmlns:a16="http://schemas.microsoft.com/office/drawing/2014/main" id="{492E3A45-8EAF-49A8-A9C0-F76593E0974F}"/>
              </a:ext>
            </a:extLst>
          </p:cNvPr>
          <p:cNvSpPr>
            <a:spLocks xmlns:a="http://schemas.openxmlformats.org/drawingml/2006/main" noGrp="1"/>
          </p:cNvSpPr>
          <p:nvPr/>
        </p:nvSpPr>
        <p:spPr>
          <a:xfrm xmlns:a="http://schemas.openxmlformats.org/drawingml/2006/main">
            <a:off x="2447925" y="1143000"/>
            <a:ext cx="1714500" cy="400050"/>
          </a:xfrm>
          <a:prstGeom xmlns:a="http://schemas.openxmlformats.org/drawingml/2006/main" prst="roundRect">
            <a:avLst>
              <a:gd name="adj" fmla="val 19048"/>
            </a:avLst>
          </a:prstGeom>
          <a:solidFill xmlns:a="http://schemas.openxmlformats.org/drawingml/2006/main">
            <a:srgbClr val="E8F4F0"/>
          </a:solidFill>
          <a:ln xmlns:a="http://schemas.openxmlformats.org/drawingml/2006/main" w="0">
            <a:noFill/>
          </a:ln>
        </p:spPr>
      </p:sp>
      <p:sp>
        <p:nvSpPr>
          <p:cNvPr id="4" name="Patient sign-in">
            <a:extLst xmlns:a="http://schemas.openxmlformats.org/drawingml/2006/main">
              <a:ext uri="{FF2B5EF4-FFF2-40B4-BE49-F238E27FC236}">
                <a16:creationId xmlns:a16="http://schemas.microsoft.com/office/drawing/2014/main" id="{2147A091-1B8D-43D0-9363-57874BBDA6FF}"/>
              </a:ext>
            </a:extLst>
          </p:cNvPr>
          <p:cNvSpPr>
            <a:spLocks xmlns:a="http://schemas.openxmlformats.org/drawingml/2006/main" noGrp="1"/>
          </p:cNvSpPr>
          <p:nvPr/>
        </p:nvSpPr>
        <p:spPr>
          <a:xfrm xmlns:a="http://schemas.openxmlformats.org/drawingml/2006/main">
            <a:off x="2619375"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Patient</a:t>
            </a:r>
          </a:p>
        </p:txBody>
      </p:sp>
      <p:sp>
        <p:nvSpPr>
          <p:cNvPr id="5" name="">
            <a:extLst xmlns:a="http://schemas.openxmlformats.org/drawingml/2006/main">
              <a:ext uri="{FF2B5EF4-FFF2-40B4-BE49-F238E27FC236}">
                <a16:creationId xmlns:a16="http://schemas.microsoft.com/office/drawing/2014/main" id="{350AC942-1405-4B82-AD29-7D0DD69B1E73}"/>
              </a:ext>
            </a:extLst>
          </p:cNvPr>
          <p:cNvSpPr>
            <a:spLocks xmlns:a="http://schemas.openxmlformats.org/drawingml/2006/main" noGrp="1"/>
          </p:cNvSpPr>
          <p:nvPr/>
        </p:nvSpPr>
        <p:spPr>
          <a:xfrm xmlns:a="http://schemas.openxmlformats.org/drawingml/2006/main">
            <a:off x="4400550" y="1143000"/>
            <a:ext cx="1714500" cy="400050"/>
          </a:xfrm>
          <a:prstGeom xmlns:a="http://schemas.openxmlformats.org/drawingml/2006/main" prst="roundRect">
            <a:avLst>
              <a:gd name="adj" fmla="val 19048"/>
            </a:avLst>
          </a:prstGeom>
          <a:solidFill xmlns:a="http://schemas.openxmlformats.org/drawingml/2006/main">
            <a:srgbClr val="EEE7FA"/>
          </a:solidFill>
          <a:ln xmlns:a="http://schemas.openxmlformats.org/drawingml/2006/main" w="0">
            <a:noFill/>
          </a:ln>
        </p:spPr>
      </p:sp>
      <p:sp>
        <p:nvSpPr>
          <p:cNvPr id="6" name="Family sign-in">
            <a:extLst xmlns:a="http://schemas.openxmlformats.org/drawingml/2006/main">
              <a:ext uri="{FF2B5EF4-FFF2-40B4-BE49-F238E27FC236}">
                <a16:creationId xmlns:a16="http://schemas.microsoft.com/office/drawing/2014/main" id="{78F8182B-6FB3-417F-B2B5-F67083862536}"/>
              </a:ext>
            </a:extLst>
          </p:cNvPr>
          <p:cNvSpPr>
            <a:spLocks xmlns:a="http://schemas.openxmlformats.org/drawingml/2006/main" noGrp="1"/>
          </p:cNvSpPr>
          <p:nvPr/>
        </p:nvSpPr>
        <p:spPr>
          <a:xfrm xmlns:a="http://schemas.openxmlformats.org/drawingml/2006/main">
            <a:off x="4572000"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Family</a:t>
            </a:r>
          </a:p>
        </p:txBody>
      </p:sp>
      <p:sp>
        <p:nvSpPr>
          <p:cNvPr id="7" name="">
            <a:extLst xmlns:a="http://schemas.openxmlformats.org/drawingml/2006/main">
              <a:ext uri="{FF2B5EF4-FFF2-40B4-BE49-F238E27FC236}">
                <a16:creationId xmlns:a16="http://schemas.microsoft.com/office/drawing/2014/main" id="{7E9B816A-E9B7-44C1-A0E2-2242FC12CD0D}"/>
              </a:ext>
            </a:extLst>
          </p:cNvPr>
          <p:cNvSpPr>
            <a:spLocks xmlns:a="http://schemas.openxmlformats.org/drawingml/2006/main" noGrp="1"/>
          </p:cNvSpPr>
          <p:nvPr/>
        </p:nvSpPr>
        <p:spPr>
          <a:xfrm xmlns:a="http://schemas.openxmlformats.org/drawingml/2006/main">
            <a:off x="6353175" y="1143000"/>
            <a:ext cx="1714500" cy="400050"/>
          </a:xfrm>
          <a:prstGeom xmlns:a="http://schemas.openxmlformats.org/drawingml/2006/main" prst="roundRect">
            <a:avLst>
              <a:gd name="adj" fmla="val 19048"/>
            </a:avLst>
          </a:prstGeom>
          <a:solidFill xmlns:a="http://schemas.openxmlformats.org/drawingml/2006/main">
            <a:srgbClr val="FFF0C6"/>
          </a:solidFill>
          <a:ln xmlns:a="http://schemas.openxmlformats.org/drawingml/2006/main" w="0">
            <a:noFill/>
          </a:ln>
        </p:spPr>
      </p:sp>
      <p:sp>
        <p:nvSpPr>
          <p:cNvPr id="8" name="Doctor sign-in">
            <a:extLst xmlns:a="http://schemas.openxmlformats.org/drawingml/2006/main">
              <a:ext uri="{FF2B5EF4-FFF2-40B4-BE49-F238E27FC236}">
                <a16:creationId xmlns:a16="http://schemas.microsoft.com/office/drawing/2014/main" id="{ABC0ACC1-ADCD-455F-A13C-94F57F164733}"/>
              </a:ext>
            </a:extLst>
          </p:cNvPr>
          <p:cNvSpPr>
            <a:spLocks xmlns:a="http://schemas.openxmlformats.org/drawingml/2006/main" noGrp="1"/>
          </p:cNvSpPr>
          <p:nvPr/>
        </p:nvSpPr>
        <p:spPr>
          <a:xfrm xmlns:a="http://schemas.openxmlformats.org/drawingml/2006/main">
            <a:off x="6524625" y="1209675"/>
            <a:ext cx="1447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73F33"/>
                </a:solidFill>
                <a:latin typeface="Arial"/>
                <a:ea typeface="Arial"/>
                <a:cs typeface="Arial"/>
              </a:defRPr>
            </a:pPr>
            <a:r>
              <a:rPr sz="1575" b="1">
                <a:solidFill>
                  <a:srgbClr val="173F33"/>
                </a:solidFill>
                <a:latin typeface="Arial"/>
                <a:ea typeface="Arial"/>
                <a:cs typeface="Arial"/>
              </a:rPr>
              <a:t>Doctor</a:t>
            </a:r>
          </a:p>
        </p:txBody>
      </p:sp>
      <p:sp>
        <p:nvSpPr>
          <p:cNvPr id="9" name="Before the visit">
            <a:extLst xmlns:a="http://schemas.openxmlformats.org/drawingml/2006/main">
              <a:ext uri="{FF2B5EF4-FFF2-40B4-BE49-F238E27FC236}">
                <a16:creationId xmlns:a16="http://schemas.microsoft.com/office/drawing/2014/main" id="{53C77195-85DE-49D4-9FC3-7737722AE550}"/>
              </a:ext>
            </a:extLst>
          </p:cNvPr>
          <p:cNvSpPr>
            <a:spLocks xmlns:a="http://schemas.openxmlformats.org/drawingml/2006/main" noGrp="1"/>
          </p:cNvSpPr>
          <p:nvPr/>
        </p:nvSpPr>
        <p:spPr>
          <a:xfrm xmlns:a="http://schemas.openxmlformats.org/drawingml/2006/main">
            <a:off x="381000" y="1809750"/>
            <a:ext cx="11430000" cy="209550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10" name="Between visits">
            <a:extLst xmlns:a="http://schemas.openxmlformats.org/drawingml/2006/main">
              <a:ext uri="{FF2B5EF4-FFF2-40B4-BE49-F238E27FC236}">
                <a16:creationId xmlns:a16="http://schemas.microsoft.com/office/drawing/2014/main" id="{7C3E056D-F30F-4442-833A-57D404C480DF}"/>
              </a:ext>
            </a:extLst>
          </p:cNvPr>
          <p:cNvSpPr>
            <a:spLocks xmlns:a="http://schemas.openxmlformats.org/drawingml/2006/main" noGrp="1"/>
          </p:cNvSpPr>
          <p:nvPr/>
        </p:nvSpPr>
        <p:spPr>
          <a:xfrm xmlns:a="http://schemas.openxmlformats.org/drawingml/2006/main">
            <a:off x="381000" y="4219575"/>
            <a:ext cx="11430000" cy="2095500"/>
          </a:xfrm>
          <a:prstGeom xmlns:a="http://schemas.openxmlformats.org/drawingml/2006/main" prst="rect">
            <a:avLst/>
          </a:prstGeom>
          <a:solidFill xmlns:a="http://schemas.openxmlformats.org/drawingml/2006/main">
            <a:srgbClr val="FFF0D8"/>
          </a:solidFill>
          <a:ln xmlns:a="http://schemas.openxmlformats.org/drawingml/2006/main" w="0">
            <a:noFill/>
          </a:ln>
        </p:spPr>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b0c129a9f4e14e64">
            <a:extLst>
              <a:ext uri="{96DAC541-7B7A-43D3-8B79-37D633B846F1}">
                <asvg:svgBlip xmlns:asvg="http://schemas.microsoft.com/office/drawing/2016/SVG/main" r:embed="R8eff60f5fb184c11"/>
              </a:ext>
            </a:extLst>
          </a:blip>
          <a:stretch xmlns:a="http://schemas.openxmlformats.org/drawingml/2006/main"/>
        </p:blipFill>
        <p:spPr>
          <a:xfrm xmlns:a="http://schemas.openxmlformats.org/drawingml/2006/main">
            <a:off x="533400" y="1981200"/>
            <a:ext cx="371475" cy="371475"/>
          </a:xfrm>
          <a:prstGeom xmlns:a="http://schemas.openxmlformats.org/drawingml/2006/main" prst="rect">
            <a:avLst/>
          </a:prstGeom>
        </p:spPr>
      </p:pic>
      <p:sp>
        <p:nvSpPr>
          <p:cNvPr id="12" name="Family journey number 1">
            <a:extLst xmlns:a="http://schemas.openxmlformats.org/drawingml/2006/main">
              <a:ext uri="{FF2B5EF4-FFF2-40B4-BE49-F238E27FC236}">
                <a16:creationId xmlns:a16="http://schemas.microsoft.com/office/drawing/2014/main" id="{D966EF71-4EFE-40B5-9221-C575C35BDB1A}"/>
              </a:ext>
            </a:extLst>
          </p:cNvPr>
          <p:cNvSpPr>
            <a:spLocks xmlns:a="http://schemas.openxmlformats.org/drawingml/2006/main" noGrp="1"/>
          </p:cNvSpPr>
          <p:nvPr/>
        </p:nvSpPr>
        <p:spPr>
          <a:xfrm xmlns:a="http://schemas.openxmlformats.org/drawingml/2006/main">
            <a:off x="102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57B68"/>
                </a:solidFill>
                <a:latin typeface="Arial"/>
                <a:ea typeface="Arial"/>
                <a:cs typeface="Arial"/>
              </a:defRPr>
            </a:pPr>
            <a:r>
              <a:rPr sz="1725" b="1">
                <a:solidFill>
                  <a:srgbClr val="157B68"/>
                </a:solidFill>
                <a:latin typeface="Arial"/>
                <a:ea typeface="Arial"/>
                <a:cs typeface="Arial"/>
              </a:rPr>
              <a:t>01</a:t>
            </a:r>
          </a:p>
        </p:txBody>
      </p:sp>
      <p:sp>
        <p:nvSpPr>
          <p:cNvPr id="13" name="Family journey 1">
            <a:extLst xmlns:a="http://schemas.openxmlformats.org/drawingml/2006/main">
              <a:ext uri="{FF2B5EF4-FFF2-40B4-BE49-F238E27FC236}">
                <a16:creationId xmlns:a16="http://schemas.microsoft.com/office/drawing/2014/main" id="{1BBB2A8D-018D-401E-88BC-22D149AB5AE0}"/>
              </a:ext>
            </a:extLst>
          </p:cNvPr>
          <p:cNvSpPr>
            <a:spLocks xmlns:a="http://schemas.openxmlformats.org/drawingml/2006/main" noGrp="1"/>
          </p:cNvSpPr>
          <p:nvPr/>
        </p:nvSpPr>
        <p:spPr>
          <a:xfrm xmlns:a="http://schemas.openxmlformats.org/drawingml/2006/main">
            <a:off x="53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Keep the conversation together.</a:t>
            </a:r>
          </a:p>
        </p:txBody>
      </p:sp>
      <p:sp>
        <p:nvSpPr>
          <p:cNvPr id="14" name="Family journey 1 detail">
            <a:extLst xmlns:a="http://schemas.openxmlformats.org/drawingml/2006/main">
              <a:ext uri="{FF2B5EF4-FFF2-40B4-BE49-F238E27FC236}">
                <a16:creationId xmlns:a16="http://schemas.microsoft.com/office/drawing/2014/main" id="{24924FF8-78DC-401A-BC49-73ED395EF6C4}"/>
              </a:ext>
            </a:extLst>
          </p:cNvPr>
          <p:cNvSpPr>
            <a:spLocks xmlns:a="http://schemas.openxmlformats.org/drawingml/2006/main" noGrp="1"/>
          </p:cNvSpPr>
          <p:nvPr/>
        </p:nvSpPr>
        <p:spPr>
          <a:xfrm xmlns:a="http://schemas.openxmlformats.org/drawingml/2006/main">
            <a:off x="53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The family opens the latest signed Care Note and keeps questions for the next visit.</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16947568142c44cc">
            <a:extLst>
              <a:ext uri="{96DAC541-7B7A-43D3-8B79-37D633B846F1}">
                <asvg:svgBlip xmlns:asvg="http://schemas.microsoft.com/office/drawing/2016/SVG/main" r:embed="R9d70a41c5352417d"/>
              </a:ext>
            </a:extLst>
          </a:blip>
          <a:stretch xmlns:a="http://schemas.openxmlformats.org/drawingml/2006/main"/>
        </p:blipFill>
        <p:spPr>
          <a:xfrm xmlns:a="http://schemas.openxmlformats.org/drawingml/2006/main">
            <a:off x="3952875" y="2028825"/>
            <a:ext cx="266700" cy="266700"/>
          </a:xfrm>
          <a:prstGeom xmlns:a="http://schemas.openxmlformats.org/drawingml/2006/main" prst="rect">
            <a:avLst/>
          </a:prstGeom>
        </p:spPr>
      </p:pic>
      <p:pic>
        <p:nvPicPr>
          <p:cNvPr id="55" name=""/>
          <p:cNvPicPr>
            <a:picLocks xmlns:a="http://schemas.openxmlformats.org/drawingml/2006/main" noChangeAspect="1"/>
          </p:cNvPicPr>
          <p:nvPr/>
        </p:nvPicPr>
        <p:blipFill>
          <a:blip xmlns:r="http://schemas.openxmlformats.org/officeDocument/2006/relationships" xmlns:a="http://schemas.openxmlformats.org/drawingml/2006/main" r:embed="R7191a9ca12374df3">
            <a:extLst>
              <a:ext uri="{96DAC541-7B7A-43D3-8B79-37D633B846F1}">
                <asvg:svgBlip xmlns:asvg="http://schemas.microsoft.com/office/drawing/2016/SVG/main" r:embed="Ree727492da4a45a2"/>
              </a:ext>
            </a:extLst>
          </a:blip>
          <a:stretch xmlns:a="http://schemas.openxmlformats.org/drawingml/2006/main"/>
        </p:blipFill>
        <p:spPr>
          <a:xfrm xmlns:a="http://schemas.openxmlformats.org/drawingml/2006/main">
            <a:off x="4343400" y="1981200"/>
            <a:ext cx="371475" cy="371475"/>
          </a:xfrm>
          <a:prstGeom xmlns:a="http://schemas.openxmlformats.org/drawingml/2006/main" prst="rect">
            <a:avLst/>
          </a:prstGeom>
        </p:spPr>
      </p:pic>
      <p:sp>
        <p:nvSpPr>
          <p:cNvPr id="17" name="Family journey number 2">
            <a:extLst xmlns:a="http://schemas.openxmlformats.org/drawingml/2006/main">
              <a:ext uri="{FF2B5EF4-FFF2-40B4-BE49-F238E27FC236}">
                <a16:creationId xmlns:a16="http://schemas.microsoft.com/office/drawing/2014/main" id="{3BF274DF-DA28-4D05-B825-2CC9AD2D36C0}"/>
              </a:ext>
            </a:extLst>
          </p:cNvPr>
          <p:cNvSpPr>
            <a:spLocks xmlns:a="http://schemas.openxmlformats.org/drawingml/2006/main" noGrp="1"/>
          </p:cNvSpPr>
          <p:nvPr/>
        </p:nvSpPr>
        <p:spPr>
          <a:xfrm xmlns:a="http://schemas.openxmlformats.org/drawingml/2006/main">
            <a:off x="483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7353AC"/>
                </a:solidFill>
                <a:latin typeface="Arial"/>
                <a:ea typeface="Arial"/>
                <a:cs typeface="Arial"/>
              </a:defRPr>
            </a:pPr>
            <a:r>
              <a:rPr sz="1725" b="1">
                <a:solidFill>
                  <a:srgbClr val="7353AC"/>
                </a:solidFill>
                <a:latin typeface="Arial"/>
                <a:ea typeface="Arial"/>
                <a:cs typeface="Arial"/>
              </a:rPr>
              <a:t>02</a:t>
            </a:r>
          </a:p>
        </p:txBody>
      </p:sp>
      <p:sp>
        <p:nvSpPr>
          <p:cNvPr id="18" name="Family journey 2">
            <a:extLst xmlns:a="http://schemas.openxmlformats.org/drawingml/2006/main">
              <a:ext uri="{FF2B5EF4-FFF2-40B4-BE49-F238E27FC236}">
                <a16:creationId xmlns:a16="http://schemas.microsoft.com/office/drawing/2014/main" id="{0C285198-0AF8-4668-B77E-785E67FF19B9}"/>
              </a:ext>
            </a:extLst>
          </p:cNvPr>
          <p:cNvSpPr>
            <a:spLocks xmlns:a="http://schemas.openxmlformats.org/drawingml/2006/main" noGrp="1"/>
          </p:cNvSpPr>
          <p:nvPr/>
        </p:nvSpPr>
        <p:spPr>
          <a:xfrm xmlns:a="http://schemas.openxmlformats.org/drawingml/2006/main">
            <a:off x="434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Bring the right records.</a:t>
            </a:r>
          </a:p>
        </p:txBody>
      </p:sp>
      <p:sp>
        <p:nvSpPr>
          <p:cNvPr id="19" name="Family journey 2 detail">
            <a:extLst xmlns:a="http://schemas.openxmlformats.org/drawingml/2006/main">
              <a:ext uri="{FF2B5EF4-FFF2-40B4-BE49-F238E27FC236}">
                <a16:creationId xmlns:a16="http://schemas.microsoft.com/office/drawing/2014/main" id="{7435F21D-04E2-4584-B0F2-65C073A1ACAB}"/>
              </a:ext>
            </a:extLst>
          </p:cNvPr>
          <p:cNvSpPr>
            <a:spLocks xmlns:a="http://schemas.openxmlformats.org/drawingml/2006/main" noGrp="1"/>
          </p:cNvSpPr>
          <p:nvPr/>
        </p:nvSpPr>
        <p:spPr>
          <a:xfrm xmlns:a="http://schemas.openxmlformats.org/drawingml/2006/main">
            <a:off x="434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gathers reports and checks the quoted sources and confirmed treatment dates.</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67157b6d34e04ad2">
            <a:extLst>
              <a:ext uri="{96DAC541-7B7A-43D3-8B79-37D633B846F1}">
                <asvg:svgBlip xmlns:asvg="http://schemas.microsoft.com/office/drawing/2016/SVG/main" r:embed="Rfb0c703e99fa4b60"/>
              </a:ext>
            </a:extLst>
          </a:blip>
          <a:stretch xmlns:a="http://schemas.openxmlformats.org/drawingml/2006/main"/>
        </p:blipFill>
        <p:spPr>
          <a:xfrm xmlns:a="http://schemas.openxmlformats.org/drawingml/2006/main">
            <a:off x="7762875" y="2028825"/>
            <a:ext cx="266700" cy="266700"/>
          </a:xfrm>
          <a:prstGeom xmlns:a="http://schemas.openxmlformats.org/drawingml/2006/main" prst="rect">
            <a:avLst/>
          </a:prstGeom>
        </p:spPr>
      </p:pic>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d55ed1559ba14a68">
            <a:extLst>
              <a:ext uri="{96DAC541-7B7A-43D3-8B79-37D633B846F1}">
                <asvg:svgBlip xmlns:asvg="http://schemas.microsoft.com/office/drawing/2016/SVG/main" r:embed="Rb2cd7dc900df482b"/>
              </a:ext>
            </a:extLst>
          </a:blip>
          <a:stretch xmlns:a="http://schemas.openxmlformats.org/drawingml/2006/main"/>
        </p:blipFill>
        <p:spPr>
          <a:xfrm xmlns:a="http://schemas.openxmlformats.org/drawingml/2006/main">
            <a:off x="8153400" y="1981200"/>
            <a:ext cx="371475" cy="371475"/>
          </a:xfrm>
          <a:prstGeom xmlns:a="http://schemas.openxmlformats.org/drawingml/2006/main" prst="rect">
            <a:avLst/>
          </a:prstGeom>
        </p:spPr>
      </p:pic>
      <p:sp>
        <p:nvSpPr>
          <p:cNvPr id="22" name="Family journey number 3">
            <a:extLst xmlns:a="http://schemas.openxmlformats.org/drawingml/2006/main">
              <a:ext uri="{FF2B5EF4-FFF2-40B4-BE49-F238E27FC236}">
                <a16:creationId xmlns:a16="http://schemas.microsoft.com/office/drawing/2014/main" id="{7D5605B5-B6AB-4B4A-B3C9-51C459EB7EE4}"/>
              </a:ext>
            </a:extLst>
          </p:cNvPr>
          <p:cNvSpPr>
            <a:spLocks xmlns:a="http://schemas.openxmlformats.org/drawingml/2006/main" noGrp="1"/>
          </p:cNvSpPr>
          <p:nvPr/>
        </p:nvSpPr>
        <p:spPr>
          <a:xfrm xmlns:a="http://schemas.openxmlformats.org/drawingml/2006/main">
            <a:off x="8648700" y="2019300"/>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03</a:t>
            </a:r>
          </a:p>
        </p:txBody>
      </p:sp>
      <p:sp>
        <p:nvSpPr>
          <p:cNvPr id="23" name="Family journey 3">
            <a:extLst xmlns:a="http://schemas.openxmlformats.org/drawingml/2006/main">
              <a:ext uri="{FF2B5EF4-FFF2-40B4-BE49-F238E27FC236}">
                <a16:creationId xmlns:a16="http://schemas.microsoft.com/office/drawing/2014/main" id="{97905BC4-F583-43A1-AADD-BCA16DFABD64}"/>
              </a:ext>
            </a:extLst>
          </p:cNvPr>
          <p:cNvSpPr>
            <a:spLocks xmlns:a="http://schemas.openxmlformats.org/drawingml/2006/main" noGrp="1"/>
          </p:cNvSpPr>
          <p:nvPr/>
        </p:nvSpPr>
        <p:spPr>
          <a:xfrm xmlns:a="http://schemas.openxmlformats.org/drawingml/2006/main">
            <a:off x="8153400" y="2505075"/>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Plan medicines and visits.</a:t>
            </a:r>
          </a:p>
        </p:txBody>
      </p:sp>
      <p:sp>
        <p:nvSpPr>
          <p:cNvPr id="24" name="Family journey 3 detail">
            <a:extLst xmlns:a="http://schemas.openxmlformats.org/drawingml/2006/main">
              <a:ext uri="{FF2B5EF4-FFF2-40B4-BE49-F238E27FC236}">
                <a16:creationId xmlns:a16="http://schemas.microsoft.com/office/drawing/2014/main" id="{59E2175A-7A43-4583-8ED3-EF472B8E1865}"/>
              </a:ext>
            </a:extLst>
          </p:cNvPr>
          <p:cNvSpPr>
            <a:spLocks xmlns:a="http://schemas.openxmlformats.org/drawingml/2006/main" noGrp="1"/>
          </p:cNvSpPr>
          <p:nvPr/>
        </p:nvSpPr>
        <p:spPr>
          <a:xfrm xmlns:a="http://schemas.openxmlformats.org/drawingml/2006/main">
            <a:off x="8153400" y="310515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Arjun checks reminders against the prescription and adds the next appointment.</a:t>
            </a:r>
          </a:p>
        </p:txBody>
      </p:sp>
      <p:pic>
        <p:nvPicPr>
          <p:cNvPr id="64" name=""/>
          <p:cNvPicPr>
            <a:picLocks xmlns:a="http://schemas.openxmlformats.org/drawingml/2006/main" noChangeAspect="1"/>
          </p:cNvPicPr>
          <p:nvPr/>
        </p:nvPicPr>
        <p:blipFill>
          <a:blip xmlns:r="http://schemas.openxmlformats.org/officeDocument/2006/relationships" xmlns:a="http://schemas.openxmlformats.org/drawingml/2006/main" r:embed="Ra093c691bc3f4d45">
            <a:extLst>
              <a:ext uri="{96DAC541-7B7A-43D3-8B79-37D633B846F1}">
                <asvg:svgBlip xmlns:asvg="http://schemas.microsoft.com/office/drawing/2016/SVG/main" r:embed="R6f4a3d29e6834636"/>
              </a:ext>
            </a:extLst>
          </a:blip>
          <a:stretch xmlns:a="http://schemas.openxmlformats.org/drawingml/2006/main"/>
        </p:blipFill>
        <p:spPr>
          <a:xfrm xmlns:a="http://schemas.openxmlformats.org/drawingml/2006/main">
            <a:off x="533400" y="4391025"/>
            <a:ext cx="371475" cy="371475"/>
          </a:xfrm>
          <a:prstGeom xmlns:a="http://schemas.openxmlformats.org/drawingml/2006/main" prst="rect">
            <a:avLst/>
          </a:prstGeom>
        </p:spPr>
      </p:pic>
      <p:sp>
        <p:nvSpPr>
          <p:cNvPr id="26" name="Family journey number 4">
            <a:extLst xmlns:a="http://schemas.openxmlformats.org/drawingml/2006/main">
              <a:ext uri="{FF2B5EF4-FFF2-40B4-BE49-F238E27FC236}">
                <a16:creationId xmlns:a16="http://schemas.microsoft.com/office/drawing/2014/main" id="{DED9AFA5-E45A-46D9-8F91-186AF690EDC7}"/>
              </a:ext>
            </a:extLst>
          </p:cNvPr>
          <p:cNvSpPr>
            <a:spLocks xmlns:a="http://schemas.openxmlformats.org/drawingml/2006/main" noGrp="1"/>
          </p:cNvSpPr>
          <p:nvPr/>
        </p:nvSpPr>
        <p:spPr>
          <a:xfrm xmlns:a="http://schemas.openxmlformats.org/drawingml/2006/main">
            <a:off x="102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04</a:t>
            </a:r>
          </a:p>
        </p:txBody>
      </p:sp>
      <p:sp>
        <p:nvSpPr>
          <p:cNvPr id="27" name="Family journey 4">
            <a:extLst xmlns:a="http://schemas.openxmlformats.org/drawingml/2006/main">
              <a:ext uri="{FF2B5EF4-FFF2-40B4-BE49-F238E27FC236}">
                <a16:creationId xmlns:a16="http://schemas.microsoft.com/office/drawing/2014/main" id="{6BFAC181-59DE-4A55-A0CC-5F350F8E622B}"/>
              </a:ext>
            </a:extLst>
          </p:cNvPr>
          <p:cNvSpPr>
            <a:spLocks xmlns:a="http://schemas.openxmlformats.org/drawingml/2006/main" noGrp="1"/>
          </p:cNvSpPr>
          <p:nvPr/>
        </p:nvSpPr>
        <p:spPr>
          <a:xfrm xmlns:a="http://schemas.openxmlformats.org/drawingml/2006/main">
            <a:off x="53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Arrange help before leaving.</a:t>
            </a:r>
          </a:p>
        </p:txBody>
      </p:sp>
      <p:sp>
        <p:nvSpPr>
          <p:cNvPr id="28" name="Family journey 4 detail">
            <a:extLst xmlns:a="http://schemas.openxmlformats.org/drawingml/2006/main">
              <a:ext uri="{FF2B5EF4-FFF2-40B4-BE49-F238E27FC236}">
                <a16:creationId xmlns:a16="http://schemas.microsoft.com/office/drawing/2014/main" id="{03EBCAD6-121B-4BC2-9D1A-2BE07DA15769}"/>
              </a:ext>
            </a:extLst>
          </p:cNvPr>
          <p:cNvSpPr>
            <a:spLocks xmlns:a="http://schemas.openxmlformats.org/drawingml/2006/main" noGrp="1"/>
          </p:cNvSpPr>
          <p:nvPr/>
        </p:nvSpPr>
        <p:spPr>
          <a:xfrm xmlns:a="http://schemas.openxmlformats.org/drawingml/2006/main">
            <a:off x="53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arranges a ride. Arjun calls to confirm home-care support and prescribed medicine availability.</a:t>
            </a:r>
          </a:p>
        </p:txBody>
      </p:sp>
      <p:pic>
        <p:nvPicPr>
          <p:cNvPr id="68" name=""/>
          <p:cNvPicPr>
            <a:picLocks xmlns:a="http://schemas.openxmlformats.org/drawingml/2006/main" noChangeAspect="1"/>
          </p:cNvPicPr>
          <p:nvPr/>
        </p:nvPicPr>
        <p:blipFill>
          <a:blip xmlns:r="http://schemas.openxmlformats.org/officeDocument/2006/relationships" xmlns:a="http://schemas.openxmlformats.org/drawingml/2006/main" r:embed="Rd67f713aa46a4431">
            <a:extLst>
              <a:ext uri="{96DAC541-7B7A-43D3-8B79-37D633B846F1}">
                <asvg:svgBlip xmlns:asvg="http://schemas.microsoft.com/office/drawing/2016/SVG/main" r:embed="R79f0017b48334939"/>
              </a:ext>
            </a:extLst>
          </a:blip>
          <a:stretch xmlns:a="http://schemas.openxmlformats.org/drawingml/2006/main"/>
        </p:blipFill>
        <p:spPr>
          <a:xfrm xmlns:a="http://schemas.openxmlformats.org/drawingml/2006/main">
            <a:off x="3952875" y="4438650"/>
            <a:ext cx="266700" cy="266700"/>
          </a:xfrm>
          <a:prstGeom xmlns:a="http://schemas.openxmlformats.org/drawingml/2006/main" prst="rect">
            <a:avLst/>
          </a:prstGeom>
        </p:spPr>
      </p:pic>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a8783d94b7e240b0">
            <a:extLst>
              <a:ext uri="{96DAC541-7B7A-43D3-8B79-37D633B846F1}">
                <asvg:svgBlip xmlns:asvg="http://schemas.microsoft.com/office/drawing/2016/SVG/main" r:embed="Rda212c2ce7a3459b"/>
              </a:ext>
            </a:extLst>
          </a:blip>
          <a:stretch xmlns:a="http://schemas.openxmlformats.org/drawingml/2006/main"/>
        </p:blipFill>
        <p:spPr>
          <a:xfrm xmlns:a="http://schemas.openxmlformats.org/drawingml/2006/main">
            <a:off x="4343400" y="4391025"/>
            <a:ext cx="371475" cy="371475"/>
          </a:xfrm>
          <a:prstGeom xmlns:a="http://schemas.openxmlformats.org/drawingml/2006/main" prst="rect">
            <a:avLst/>
          </a:prstGeom>
        </p:spPr>
      </p:pic>
      <p:sp>
        <p:nvSpPr>
          <p:cNvPr id="31" name="Family journey number 5">
            <a:extLst xmlns:a="http://schemas.openxmlformats.org/drawingml/2006/main">
              <a:ext uri="{FF2B5EF4-FFF2-40B4-BE49-F238E27FC236}">
                <a16:creationId xmlns:a16="http://schemas.microsoft.com/office/drawing/2014/main" id="{44D1C536-7E45-462F-BF5D-FD0449F7FA41}"/>
              </a:ext>
            </a:extLst>
          </p:cNvPr>
          <p:cNvSpPr>
            <a:spLocks xmlns:a="http://schemas.openxmlformats.org/drawingml/2006/main" noGrp="1"/>
          </p:cNvSpPr>
          <p:nvPr/>
        </p:nvSpPr>
        <p:spPr>
          <a:xfrm xmlns:a="http://schemas.openxmlformats.org/drawingml/2006/main">
            <a:off x="483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7353AC"/>
                </a:solidFill>
                <a:latin typeface="Arial"/>
                <a:ea typeface="Arial"/>
                <a:cs typeface="Arial"/>
              </a:defRPr>
            </a:pPr>
            <a:r>
              <a:rPr sz="1725" b="1">
                <a:solidFill>
                  <a:srgbClr val="7353AC"/>
                </a:solidFill>
                <a:latin typeface="Arial"/>
                <a:ea typeface="Arial"/>
                <a:cs typeface="Arial"/>
              </a:rPr>
              <a:t>05</a:t>
            </a:r>
          </a:p>
        </p:txBody>
      </p:sp>
      <p:sp>
        <p:nvSpPr>
          <p:cNvPr id="32" name="Family journey 5">
            <a:extLst xmlns:a="http://schemas.openxmlformats.org/drawingml/2006/main">
              <a:ext uri="{FF2B5EF4-FFF2-40B4-BE49-F238E27FC236}">
                <a16:creationId xmlns:a16="http://schemas.microsoft.com/office/drawing/2014/main" id="{31BB71B6-7ADA-4339-8D0C-973B5CC9618A}"/>
              </a:ext>
            </a:extLst>
          </p:cNvPr>
          <p:cNvSpPr>
            <a:spLocks xmlns:a="http://schemas.openxmlformats.org/drawingml/2006/main" noGrp="1"/>
          </p:cNvSpPr>
          <p:nvPr/>
        </p:nvSpPr>
        <p:spPr>
          <a:xfrm xmlns:a="http://schemas.openxmlformats.org/drawingml/2006/main">
            <a:off x="434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Keep costs and papers together.</a:t>
            </a:r>
          </a:p>
        </p:txBody>
      </p:sp>
      <p:sp>
        <p:nvSpPr>
          <p:cNvPr id="33" name="Family journey 5 detail">
            <a:extLst xmlns:a="http://schemas.openxmlformats.org/drawingml/2006/main">
              <a:ext uri="{FF2B5EF4-FFF2-40B4-BE49-F238E27FC236}">
                <a16:creationId xmlns:a16="http://schemas.microsoft.com/office/drawing/2014/main" id="{9888A7E9-6D93-41A2-893C-D9B98EE32C05}"/>
              </a:ext>
            </a:extLst>
          </p:cNvPr>
          <p:cNvSpPr>
            <a:spLocks xmlns:a="http://schemas.openxmlformats.org/drawingml/2006/main" noGrp="1"/>
          </p:cNvSpPr>
          <p:nvPr/>
        </p:nvSpPr>
        <p:spPr>
          <a:xfrm xmlns:a="http://schemas.openxmlformats.org/drawingml/2006/main">
            <a:off x="434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Arjun keeps receipts, expenses and the paperwork needed to ask for financial help.</a:t>
            </a:r>
          </a:p>
        </p:txBody>
      </p:sp>
      <p:pic>
        <p:nvPicPr>
          <p:cNvPr id="73" name=""/>
          <p:cNvPicPr>
            <a:picLocks xmlns:a="http://schemas.openxmlformats.org/drawingml/2006/main" noChangeAspect="1"/>
          </p:cNvPicPr>
          <p:nvPr/>
        </p:nvPicPr>
        <p:blipFill>
          <a:blip xmlns:r="http://schemas.openxmlformats.org/officeDocument/2006/relationships" xmlns:a="http://schemas.openxmlformats.org/drawingml/2006/main" r:embed="Rc257465ac24646fd">
            <a:extLst>
              <a:ext uri="{96DAC541-7B7A-43D3-8B79-37D633B846F1}">
                <asvg:svgBlip xmlns:asvg="http://schemas.microsoft.com/office/drawing/2016/SVG/main" r:embed="Rd4f345d5783048af"/>
              </a:ext>
            </a:extLst>
          </a:blip>
          <a:stretch xmlns:a="http://schemas.openxmlformats.org/drawingml/2006/main"/>
        </p:blipFill>
        <p:spPr>
          <a:xfrm xmlns:a="http://schemas.openxmlformats.org/drawingml/2006/main">
            <a:off x="7762875" y="4438650"/>
            <a:ext cx="266700" cy="266700"/>
          </a:xfrm>
          <a:prstGeom xmlns:a="http://schemas.openxmlformats.org/drawingml/2006/main" prst="rect">
            <a:avLst/>
          </a:prstGeom>
        </p:spPr>
      </p:pic>
      <p:pic>
        <p:nvPicPr>
          <p:cNvPr id="74" name=""/>
          <p:cNvPicPr>
            <a:picLocks xmlns:a="http://schemas.openxmlformats.org/drawingml/2006/main" noChangeAspect="1"/>
          </p:cNvPicPr>
          <p:nvPr/>
        </p:nvPicPr>
        <p:blipFill>
          <a:blip xmlns:r="http://schemas.openxmlformats.org/officeDocument/2006/relationships" xmlns:a="http://schemas.openxmlformats.org/drawingml/2006/main" r:embed="R72dcba8b3b4248b8">
            <a:extLst>
              <a:ext uri="{96DAC541-7B7A-43D3-8B79-37D633B846F1}">
                <asvg:svgBlip xmlns:asvg="http://schemas.microsoft.com/office/drawing/2016/SVG/main" r:embed="R0f75c5f2240b4522"/>
              </a:ext>
            </a:extLst>
          </a:blip>
          <a:stretch xmlns:a="http://schemas.openxmlformats.org/drawingml/2006/main"/>
        </p:blipFill>
        <p:spPr>
          <a:xfrm xmlns:a="http://schemas.openxmlformats.org/drawingml/2006/main">
            <a:off x="8153400" y="4391025"/>
            <a:ext cx="371475" cy="371475"/>
          </a:xfrm>
          <a:prstGeom xmlns:a="http://schemas.openxmlformats.org/drawingml/2006/main" prst="rect">
            <a:avLst/>
          </a:prstGeom>
        </p:spPr>
      </p:pic>
      <p:sp>
        <p:nvSpPr>
          <p:cNvPr id="36" name="Family journey number 6">
            <a:extLst xmlns:a="http://schemas.openxmlformats.org/drawingml/2006/main">
              <a:ext uri="{FF2B5EF4-FFF2-40B4-BE49-F238E27FC236}">
                <a16:creationId xmlns:a16="http://schemas.microsoft.com/office/drawing/2014/main" id="{5E31BF26-ADAB-40A1-8C64-D42B8B3D4303}"/>
              </a:ext>
            </a:extLst>
          </p:cNvPr>
          <p:cNvSpPr>
            <a:spLocks xmlns:a="http://schemas.openxmlformats.org/drawingml/2006/main" noGrp="1"/>
          </p:cNvSpPr>
          <p:nvPr/>
        </p:nvSpPr>
        <p:spPr>
          <a:xfrm xmlns:a="http://schemas.openxmlformats.org/drawingml/2006/main">
            <a:off x="8648700" y="4429125"/>
            <a:ext cx="619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57B68"/>
                </a:solidFill>
                <a:latin typeface="Arial"/>
                <a:ea typeface="Arial"/>
                <a:cs typeface="Arial"/>
              </a:defRPr>
            </a:pPr>
            <a:r>
              <a:rPr sz="1725" b="1">
                <a:solidFill>
                  <a:srgbClr val="157B68"/>
                </a:solidFill>
                <a:latin typeface="Arial"/>
                <a:ea typeface="Arial"/>
                <a:cs typeface="Arial"/>
              </a:rPr>
              <a:t>06</a:t>
            </a:r>
          </a:p>
        </p:txBody>
      </p:sp>
      <p:sp>
        <p:nvSpPr>
          <p:cNvPr id="37" name="Family journey 6">
            <a:extLst xmlns:a="http://schemas.openxmlformats.org/drawingml/2006/main">
              <a:ext uri="{FF2B5EF4-FFF2-40B4-BE49-F238E27FC236}">
                <a16:creationId xmlns:a16="http://schemas.microsoft.com/office/drawing/2014/main" id="{D5B22CF8-4574-461B-AD34-19A7E142F2AD}"/>
              </a:ext>
            </a:extLst>
          </p:cNvPr>
          <p:cNvSpPr>
            <a:spLocks xmlns:a="http://schemas.openxmlformats.org/drawingml/2006/main" noGrp="1"/>
          </p:cNvSpPr>
          <p:nvPr/>
        </p:nvSpPr>
        <p:spPr>
          <a:xfrm xmlns:a="http://schemas.openxmlformats.org/drawingml/2006/main">
            <a:off x="8153400" y="49149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173F33"/>
                </a:solidFill>
                <a:latin typeface="Arial"/>
                <a:ea typeface="Arial"/>
                <a:cs typeface="Arial"/>
              </a:defRPr>
            </a:pPr>
            <a:r>
              <a:rPr sz="1800" b="1">
                <a:solidFill>
                  <a:srgbClr val="173F33"/>
                </a:solidFill>
                <a:latin typeface="Arial"/>
                <a:ea typeface="Arial"/>
                <a:cs typeface="Arial"/>
              </a:rPr>
              <a:t>Make space for the caregiver.</a:t>
            </a:r>
          </a:p>
        </p:txBody>
      </p:sp>
      <p:sp>
        <p:nvSpPr>
          <p:cNvPr id="38" name="Family journey 6 detail">
            <a:extLst xmlns:a="http://schemas.openxmlformats.org/drawingml/2006/main">
              <a:ext uri="{FF2B5EF4-FFF2-40B4-BE49-F238E27FC236}">
                <a16:creationId xmlns:a16="http://schemas.microsoft.com/office/drawing/2014/main" id="{8153730A-CCB3-4A52-8C3E-FE301F7B8354}"/>
              </a:ext>
            </a:extLst>
          </p:cNvPr>
          <p:cNvSpPr>
            <a:spLocks xmlns:a="http://schemas.openxmlformats.org/drawingml/2006/main" noGrp="1"/>
          </p:cNvSpPr>
          <p:nvPr/>
        </p:nvSpPr>
        <p:spPr>
          <a:xfrm xmlns:a="http://schemas.openxmlformats.org/drawingml/2006/main">
            <a:off x="8153400" y="55149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38" b="0">
                <a:solidFill>
                  <a:srgbClr val="173F33"/>
                </a:solidFill>
                <a:latin typeface="Arial"/>
                <a:ea typeface="Arial"/>
                <a:cs typeface="Arial"/>
              </a:defRPr>
            </a:pPr>
            <a:r>
              <a:rPr sz="1538" b="0">
                <a:solidFill>
                  <a:srgbClr val="173F33"/>
                </a:solidFill>
                <a:latin typeface="Arial"/>
                <a:ea typeface="Arial"/>
                <a:cs typeface="Arial"/>
              </a:rPr>
              <a:t>Priya records what feels difficult. The family shares tasks and looks for emotional support.</a:t>
            </a:r>
          </a:p>
        </p:txBody>
      </p:sp>
      <p:sp>
        <p:nvSpPr>
          <p:cNvPr id="39" name="Support directory">
            <a:extLst xmlns:a="http://schemas.openxmlformats.org/drawingml/2006/main">
              <a:ext uri="{FF2B5EF4-FFF2-40B4-BE49-F238E27FC236}">
                <a16:creationId xmlns:a16="http://schemas.microsoft.com/office/drawing/2014/main" id="{78EDF3FD-4EA2-4D60-B3F5-B47CA7E2DF88}"/>
              </a:ext>
            </a:extLst>
          </p:cNvPr>
          <p:cNvSpPr>
            <a:spLocks xmlns:a="http://schemas.openxmlformats.org/drawingml/2006/main" noGrp="1"/>
          </p:cNvSpPr>
          <p:nvPr/>
        </p:nvSpPr>
        <p:spPr>
          <a:xfrm xmlns:a="http://schemas.openxmlformats.org/drawingml/2006/main">
            <a:off x="533400" y="6505575"/>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366d6397a71945e0"/>
              </a:rPr>
              <a:t>Find a centre → call to confirm → keep the contact and visit plan.</a:t>
            </a:r>
          </a:p>
        </p:txBody>
      </p:sp>
    </p:spTree>
    <p:extLst>
      <p:ext uri="{BB962C8B-B14F-4D97-AF65-F5344CB8AC3E}">
        <p14:creationId xmlns:p14="http://schemas.microsoft.com/office/powerpoint/2010/main" val="221085739"/>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96ECD5D1-87D8-4508-B85F-AE0E652755DA}"/>
              </a:ext>
            </a:extLst>
          </p:cNvPr>
          <p:cNvSpPr>
            <a:spLocks xmlns:a="http://schemas.openxmlformats.org/drawingml/2006/main" noGrp="1"/>
          </p:cNvSpPr>
          <p:nvPr/>
        </p:nvSpPr>
        <p:spPr>
          <a:xfrm xmlns:a="http://schemas.openxmlformats.org/drawingml/2006/main">
            <a:off x="533400" y="361950"/>
            <a:ext cx="11125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Does Saathi help more care conversations happen?</a:t>
            </a:r>
          </a:p>
        </p:txBody>
      </p:sp>
      <p:sp>
        <p:nvSpPr>
          <p:cNvPr id="2" name="Trial design">
            <a:extLst xmlns:a="http://schemas.openxmlformats.org/drawingml/2006/main">
              <a:ext uri="{FF2B5EF4-FFF2-40B4-BE49-F238E27FC236}">
                <a16:creationId xmlns:a16="http://schemas.microsoft.com/office/drawing/2014/main" id="{883138BD-5C7C-4D79-9BA4-D679480D0F40}"/>
              </a:ext>
            </a:extLst>
          </p:cNvPr>
          <p:cNvSpPr>
            <a:spLocks xmlns:a="http://schemas.openxmlformats.org/drawingml/2006/main" noGrp="1"/>
          </p:cNvSpPr>
          <p:nvPr/>
        </p:nvSpPr>
        <p:spPr>
          <a:xfrm xmlns:a="http://schemas.openxmlformats.org/drawingml/2006/main">
            <a:off x="533400" y="1390650"/>
            <a:ext cx="1112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We propose a 60–90 day study in a clinic, comparing care conversations before and after Saathi.</a:t>
            </a:r>
          </a:p>
        </p:txBody>
      </p:sp>
      <p:sp>
        <p:nvSpPr>
          <p:cNvPr id="3" name="Primary measure 1">
            <a:extLst xmlns:a="http://schemas.openxmlformats.org/drawingml/2006/main">
              <a:ext uri="{FF2B5EF4-FFF2-40B4-BE49-F238E27FC236}">
                <a16:creationId xmlns:a16="http://schemas.microsoft.com/office/drawing/2014/main" id="{BBB74CDA-4E79-46A5-9A10-831544FBA823}"/>
              </a:ext>
            </a:extLst>
          </p:cNvPr>
          <p:cNvSpPr>
            <a:spLocks xmlns:a="http://schemas.openxmlformats.org/drawingml/2006/main" noGrp="1"/>
          </p:cNvSpPr>
          <p:nvPr/>
        </p:nvSpPr>
        <p:spPr>
          <a:xfrm xmlns:a="http://schemas.openxmlformats.org/drawingml/2006/main">
            <a:off x="5334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B75E43"/>
                </a:solidFill>
                <a:latin typeface="Arial"/>
                <a:ea typeface="Arial"/>
                <a:cs typeface="Arial"/>
              </a:defRPr>
            </a:pPr>
            <a:r>
              <a:rPr sz="2175" b="1">
                <a:solidFill>
                  <a:srgbClr val="B75E43"/>
                </a:solidFill>
                <a:latin typeface="Arial"/>
                <a:ea typeface="Arial"/>
                <a:cs typeface="Arial"/>
              </a:rPr>
              <a:t>Patient requests</a:t>
            </a:r>
          </a:p>
        </p:txBody>
      </p:sp>
      <p:sp>
        <p:nvSpPr>
          <p:cNvPr id="4" name="Primary measure 1 detail">
            <a:extLst xmlns:a="http://schemas.openxmlformats.org/drawingml/2006/main">
              <a:ext uri="{FF2B5EF4-FFF2-40B4-BE49-F238E27FC236}">
                <a16:creationId xmlns:a16="http://schemas.microsoft.com/office/drawing/2014/main" id="{9893A3B8-F19B-479F-BF1D-0AECF0CE3929}"/>
              </a:ext>
            </a:extLst>
          </p:cNvPr>
          <p:cNvSpPr>
            <a:spLocks xmlns:a="http://schemas.openxmlformats.org/drawingml/2006/main" noGrp="1"/>
          </p:cNvSpPr>
          <p:nvPr/>
        </p:nvSpPr>
        <p:spPr>
          <a:xfrm xmlns:a="http://schemas.openxmlformats.org/drawingml/2006/main">
            <a:off x="5334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patients who ask for a conversation about their care and wishes. Record family requests separately.</a:t>
            </a:r>
          </a:p>
        </p:txBody>
      </p:sp>
      <p:sp>
        <p:nvSpPr>
          <p:cNvPr id="5" name="Primary measure 2">
            <a:extLst xmlns:a="http://schemas.openxmlformats.org/drawingml/2006/main">
              <a:ext uri="{FF2B5EF4-FFF2-40B4-BE49-F238E27FC236}">
                <a16:creationId xmlns:a16="http://schemas.microsoft.com/office/drawing/2014/main" id="{71D2F334-F1E0-4B14-BF81-DFF53D9B351E}"/>
              </a:ext>
            </a:extLst>
          </p:cNvPr>
          <p:cNvSpPr>
            <a:spLocks xmlns:a="http://schemas.openxmlformats.org/drawingml/2006/main" noGrp="1"/>
          </p:cNvSpPr>
          <p:nvPr/>
        </p:nvSpPr>
        <p:spPr>
          <a:xfrm xmlns:a="http://schemas.openxmlformats.org/drawingml/2006/main">
            <a:off x="436245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7353AC"/>
                </a:solidFill>
                <a:latin typeface="Arial"/>
                <a:ea typeface="Arial"/>
                <a:cs typeface="Arial"/>
              </a:defRPr>
            </a:pPr>
            <a:r>
              <a:rPr sz="2175" b="1">
                <a:solidFill>
                  <a:srgbClr val="7353AC"/>
                </a:solidFill>
                <a:latin typeface="Arial"/>
                <a:ea typeface="Arial"/>
                <a:cs typeface="Arial"/>
              </a:rPr>
              <a:t>Doctor-started discussions</a:t>
            </a:r>
          </a:p>
        </p:txBody>
      </p:sp>
      <p:sp>
        <p:nvSpPr>
          <p:cNvPr id="6" name="Primary measure 2 detail">
            <a:extLst xmlns:a="http://schemas.openxmlformats.org/drawingml/2006/main">
              <a:ext uri="{FF2B5EF4-FFF2-40B4-BE49-F238E27FC236}">
                <a16:creationId xmlns:a16="http://schemas.microsoft.com/office/drawing/2014/main" id="{383FA2A7-E09F-48FD-B388-E9A5D964F8C2}"/>
              </a:ext>
            </a:extLst>
          </p:cNvPr>
          <p:cNvSpPr>
            <a:spLocks xmlns:a="http://schemas.openxmlformats.org/drawingml/2006/main" noGrp="1"/>
          </p:cNvSpPr>
          <p:nvPr/>
        </p:nvSpPr>
        <p:spPr>
          <a:xfrm xmlns:a="http://schemas.openxmlformats.org/drawingml/2006/main">
            <a:off x="436245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a doctor starts. Keep these separate from invitations that did not lead to a conversation.</a:t>
            </a:r>
          </a:p>
        </p:txBody>
      </p:sp>
      <p:sp>
        <p:nvSpPr>
          <p:cNvPr id="7" name="Primary measure 3">
            <a:extLst xmlns:a="http://schemas.openxmlformats.org/drawingml/2006/main">
              <a:ext uri="{FF2B5EF4-FFF2-40B4-BE49-F238E27FC236}">
                <a16:creationId xmlns:a16="http://schemas.microsoft.com/office/drawing/2014/main" id="{0A5905C0-1D47-4C57-91E4-4C2618B2E530}"/>
              </a:ext>
            </a:extLst>
          </p:cNvPr>
          <p:cNvSpPr>
            <a:spLocks xmlns:a="http://schemas.openxmlformats.org/drawingml/2006/main" noGrp="1"/>
          </p:cNvSpPr>
          <p:nvPr/>
        </p:nvSpPr>
        <p:spPr>
          <a:xfrm xmlns:a="http://schemas.openxmlformats.org/drawingml/2006/main">
            <a:off x="81915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57B68"/>
                </a:solidFill>
                <a:latin typeface="Arial"/>
                <a:ea typeface="Arial"/>
                <a:cs typeface="Arial"/>
              </a:defRPr>
            </a:pPr>
            <a:r>
              <a:rPr sz="2175" b="1">
                <a:solidFill>
                  <a:srgbClr val="157B68"/>
                </a:solidFill>
                <a:latin typeface="Arial"/>
                <a:ea typeface="Arial"/>
                <a:cs typeface="Arial"/>
              </a:rPr>
              <a:t>Conversations written down</a:t>
            </a:r>
          </a:p>
        </p:txBody>
      </p:sp>
      <p:sp>
        <p:nvSpPr>
          <p:cNvPr id="8" name="Primary measure 3 detail">
            <a:extLst xmlns:a="http://schemas.openxmlformats.org/drawingml/2006/main">
              <a:ext uri="{FF2B5EF4-FFF2-40B4-BE49-F238E27FC236}">
                <a16:creationId xmlns:a16="http://schemas.microsoft.com/office/drawing/2014/main" id="{B213C744-6455-4D9E-9437-3B449F194070}"/>
              </a:ext>
            </a:extLst>
          </p:cNvPr>
          <p:cNvSpPr>
            <a:spLocks xmlns:a="http://schemas.openxmlformats.org/drawingml/2006/main" noGrp="1"/>
          </p:cNvSpPr>
          <p:nvPr/>
        </p:nvSpPr>
        <p:spPr>
          <a:xfrm xmlns:a="http://schemas.openxmlformats.org/drawingml/2006/main">
            <a:off x="81915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with a saved Care Note. Record how many the doctor has checked and signed.</a:t>
            </a:r>
          </a:p>
        </p:txBody>
      </p:sp>
      <p:sp>
        <p:nvSpPr>
          <p:cNvPr id="9" name="">
            <a:extLst xmlns:a="http://schemas.openxmlformats.org/drawingml/2006/main">
              <a:ext uri="{FF2B5EF4-FFF2-40B4-BE49-F238E27FC236}">
                <a16:creationId xmlns:a16="http://schemas.microsoft.com/office/drawing/2014/main" id="{D940663A-87B0-45C8-8740-846E7BA16CC6}"/>
              </a:ext>
            </a:extLst>
          </p:cNvPr>
          <p:cNvSpPr>
            <a:spLocks xmlns:a="http://schemas.openxmlformats.org/drawingml/2006/main" noGrp="1"/>
          </p:cNvSpPr>
          <p:nvPr/>
        </p:nvSpPr>
        <p:spPr>
          <a:xfrm xmlns:a="http://schemas.openxmlformats.org/drawingml/2006/main">
            <a:off x="533400" y="4781550"/>
            <a:ext cx="11125200" cy="0"/>
          </a:xfrm>
          <a:prstGeom xmlns:a="http://schemas.openxmlformats.org/drawingml/2006/main" prst="line">
            <a:avLst/>
          </a:prstGeom>
          <a:ln xmlns:a="http://schemas.openxmlformats.org/drawingml/2006/main" w="9525">
            <a:solidFill>
              <a:srgbClr val="D9D4C7"/>
            </a:solidFill>
          </a:ln>
        </p:spPr>
      </p:sp>
      <p:sp>
        <p:nvSpPr>
          <p:cNvPr id="10" name="Comparison">
            <a:extLst xmlns:a="http://schemas.openxmlformats.org/drawingml/2006/main">
              <a:ext uri="{FF2B5EF4-FFF2-40B4-BE49-F238E27FC236}">
                <a16:creationId xmlns:a16="http://schemas.microsoft.com/office/drawing/2014/main" id="{093031C7-C23C-4574-9DA4-0E32EEC4886F}"/>
              </a:ext>
            </a:extLst>
          </p:cNvPr>
          <p:cNvSpPr>
            <a:spLocks xmlns:a="http://schemas.openxmlformats.org/drawingml/2006/main" noGrp="1"/>
          </p:cNvSpPr>
          <p:nvPr/>
        </p:nvSpPr>
        <p:spPr>
          <a:xfrm xmlns:a="http://schemas.openxmlformats.org/drawingml/2006/main">
            <a:off x="533400" y="507682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75" b="1">
                <a:solidFill>
                  <a:srgbClr val="173F33"/>
                </a:solidFill>
                <a:latin typeface="Arial"/>
                <a:ea typeface="Arial"/>
                <a:cs typeface="Arial"/>
              </a:defRPr>
            </a:pPr>
            <a:r>
              <a:rPr sz="2475" b="1">
                <a:solidFill>
                  <a:srgbClr val="173F33"/>
                </a:solidFill>
                <a:latin typeface="Arial"/>
                <a:ea typeface="Arial"/>
                <a:cs typeface="Arial"/>
              </a:rPr>
              <a:t>Before vs after</a:t>
            </a:r>
          </a:p>
        </p:txBody>
      </p:sp>
      <p:sp>
        <p:nvSpPr>
          <p:cNvPr id="11" name="Primary outcome definition">
            <a:extLst xmlns:a="http://schemas.openxmlformats.org/drawingml/2006/main">
              <a:ext uri="{FF2B5EF4-FFF2-40B4-BE49-F238E27FC236}">
                <a16:creationId xmlns:a16="http://schemas.microsoft.com/office/drawing/2014/main" id="{857F24BE-AD05-423C-98FA-3BEE3FA4018B}"/>
              </a:ext>
            </a:extLst>
          </p:cNvPr>
          <p:cNvSpPr>
            <a:spLocks xmlns:a="http://schemas.openxmlformats.org/drawingml/2006/main" noGrp="1"/>
          </p:cNvSpPr>
          <p:nvPr/>
        </p:nvSpPr>
        <p:spPr>
          <a:xfrm xmlns:a="http://schemas.openxmlformats.org/drawingml/2006/main">
            <a:off x="3686175" y="5076825"/>
            <a:ext cx="79724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Patients whose care discussion was written down ÷ all patients who fit the study’s agreed rules</a:t>
            </a:r>
          </a:p>
        </p:txBody>
      </p:sp>
      <p:sp>
        <p:nvSpPr>
          <p:cNvPr id="12" name="Additional measures">
            <a:extLst xmlns:a="http://schemas.openxmlformats.org/drawingml/2006/main">
              <a:ext uri="{FF2B5EF4-FFF2-40B4-BE49-F238E27FC236}">
                <a16:creationId xmlns:a16="http://schemas.microsoft.com/office/drawing/2014/main" id="{BAD84F82-56ED-45EB-9A11-68363D09CA12}"/>
              </a:ext>
            </a:extLst>
          </p:cNvPr>
          <p:cNvSpPr>
            <a:spLocks xmlns:a="http://schemas.openxmlformats.org/drawingml/2006/main" noGrp="1"/>
          </p:cNvSpPr>
          <p:nvPr/>
        </p:nvSpPr>
        <p:spPr>
          <a:xfrm xmlns:a="http://schemas.openxmlformats.org/drawingml/2006/main">
            <a:off x="533400" y="5924550"/>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53655C"/>
                </a:solidFill>
                <a:latin typeface="Arial"/>
                <a:ea typeface="Arial"/>
                <a:cs typeface="Arial"/>
              </a:defRPr>
            </a:pPr>
            <a:r>
              <a:rPr sz="1575" b="0">
                <a:solidFill>
                  <a:srgbClr val="53655C"/>
                </a:solidFill>
                <a:latin typeface="Arial"/>
                <a:ea typeface="Arial"/>
                <a:cs typeface="Arial"/>
              </a:rPr>
              <a:t>Also measure how long the work takes, what details were missed and whether doctors have more work.</a:t>
            </a:r>
          </a:p>
        </p:txBody>
      </p:sp>
      <p:sp>
        <p:nvSpPr>
          <p:cNvPr id="13" name="Implementation status">
            <a:extLst xmlns:a="http://schemas.openxmlformats.org/drawingml/2006/main">
              <a:ext uri="{FF2B5EF4-FFF2-40B4-BE49-F238E27FC236}">
                <a16:creationId xmlns:a16="http://schemas.microsoft.com/office/drawing/2014/main" id="{4887E2CA-AF9C-412A-A41D-C4786EB06795}"/>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F7F3E9"/>
        </a:solidFill>
      </p:bgPr>
    </p:bg>
    <p:spTree>
      <p:nvGrpSpPr>
        <p:cNvPr id="1" name=""/>
        <p:cNvGrpSpPr/>
        <p:nvPr/>
      </p:nvGrpSpPr>
      <p:grpSpPr>
        <a:xfrm xmlns:a="http://schemas.openxmlformats.org/drawingml/2006/main"/>
      </p:grpSpPr>
      <p:sp>
        <p:nvSpPr>
          <p:cNvPr id="29" name="References title">
            <a:extLst xmlns:a="http://schemas.openxmlformats.org/drawingml/2006/main">
              <a:ext uri="{FF2B5EF4-FFF2-40B4-BE49-F238E27FC236}">
                <a16:creationId xmlns:a16="http://schemas.microsoft.com/office/drawing/2014/main" id="{4BFF80F6-AEF7-4AE3-B244-D637AA5896BC}"/>
              </a:ext>
            </a:extLst>
          </p:cNvPr>
          <p:cNvSpPr>
            <a:spLocks xmlns:a="http://schemas.openxmlformats.org/drawingml/2006/main" noGrp="1"/>
          </p:cNvSpPr>
          <p:nvPr/>
        </p:nvSpPr>
        <p:spPr>
          <a:xfrm xmlns:a="http://schemas.openxmlformats.org/drawingml/2006/main">
            <a:off x="533400" y="342900"/>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References</a:t>
            </a:r>
          </a:p>
        </p:txBody>
      </p:sp>
      <p:sp>
        <p:nvSpPr>
          <p:cNvPr id="2" name="Reference 1 author">
            <a:extLst xmlns:a="http://schemas.openxmlformats.org/drawingml/2006/main">
              <a:ext uri="{FF2B5EF4-FFF2-40B4-BE49-F238E27FC236}">
                <a16:creationId xmlns:a16="http://schemas.microsoft.com/office/drawing/2014/main" id="{18CEEE73-EF77-48E9-BE53-AC297BB4F354}"/>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3" name="Reference 1 title">
            <a:extLst xmlns:a="http://schemas.openxmlformats.org/drawingml/2006/main">
              <a:ext uri="{FF2B5EF4-FFF2-40B4-BE49-F238E27FC236}">
                <a16:creationId xmlns:a16="http://schemas.microsoft.com/office/drawing/2014/main" id="{CEB71232-16B0-4BB8-85FA-B2D2844F4DB8}"/>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fcd7518ebb740c0"/>
              </a:rPr>
              <a:t>India — GLOBOCAN 2024 Fact Sheet</a:t>
            </a:r>
          </a:p>
        </p:txBody>
      </p:sp>
      <p:sp>
        <p:nvSpPr>
          <p:cNvPr id="4" name="Reference 1 link">
            <a:extLst xmlns:a="http://schemas.openxmlformats.org/drawingml/2006/main">
              <a:ext uri="{FF2B5EF4-FFF2-40B4-BE49-F238E27FC236}">
                <a16:creationId xmlns:a16="http://schemas.microsoft.com/office/drawing/2014/main" id="{800194C1-EBF2-4962-991B-74CBF5D6BE52}"/>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a9c94895c00d46fd"/>
              </a:rPr>
              <a:t>https://gco.iarc.who.int/media/globocan/factsheets/populations/356-india-fact-sheet.pdf</a:t>
            </a:r>
          </a:p>
        </p:txBody>
      </p:sp>
      <p:sp>
        <p:nvSpPr>
          <p:cNvPr id="5" name="Reference 2 author">
            <a:extLst xmlns:a="http://schemas.openxmlformats.org/drawingml/2006/main">
              <a:ext uri="{FF2B5EF4-FFF2-40B4-BE49-F238E27FC236}">
                <a16:creationId xmlns:a16="http://schemas.microsoft.com/office/drawing/2014/main" id="{E9D6E1D1-3DE7-4868-AB93-590C81D92D2D}"/>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6" name="Reference 2 title">
            <a:extLst xmlns:a="http://schemas.openxmlformats.org/drawingml/2006/main">
              <a:ext uri="{FF2B5EF4-FFF2-40B4-BE49-F238E27FC236}">
                <a16:creationId xmlns:a16="http://schemas.microsoft.com/office/drawing/2014/main" id="{2538133F-A334-49A6-A4B9-ECD576BDEC6C}"/>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3dcc1e077ce84ccd"/>
              </a:rPr>
              <a:t>Unmet need for cancer palliative care in India</a:t>
            </a:r>
          </a:p>
        </p:txBody>
      </p:sp>
      <p:sp>
        <p:nvSpPr>
          <p:cNvPr id="7" name="Reference 2 link">
            <a:extLst xmlns:a="http://schemas.openxmlformats.org/drawingml/2006/main">
              <a:ext uri="{FF2B5EF4-FFF2-40B4-BE49-F238E27FC236}">
                <a16:creationId xmlns:a16="http://schemas.microsoft.com/office/drawing/2014/main" id="{C3289A00-D453-4812-ABD5-A1224B727CE7}"/>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8e2256362204fb6"/>
              </a:rPr>
              <a:t>https://doi.org/10.1136/spcare-2024-004978</a:t>
            </a:r>
          </a:p>
        </p:txBody>
      </p:sp>
      <p:sp>
        <p:nvSpPr>
          <p:cNvPr id="8" name="Reference 3 author">
            <a:extLst xmlns:a="http://schemas.openxmlformats.org/drawingml/2006/main">
              <a:ext uri="{FF2B5EF4-FFF2-40B4-BE49-F238E27FC236}">
                <a16:creationId xmlns:a16="http://schemas.microsoft.com/office/drawing/2014/main" id="{6332E015-25B3-4A90-8167-0039B57475A3}"/>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9" name="Reference 3 title">
            <a:extLst xmlns:a="http://schemas.openxmlformats.org/drawingml/2006/main">
              <a:ext uri="{FF2B5EF4-FFF2-40B4-BE49-F238E27FC236}">
                <a16:creationId xmlns:a16="http://schemas.microsoft.com/office/drawing/2014/main" id="{94E5A5FB-9CA3-4089-9C41-CAECFFE56F78}"/>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2acd986712a4cc0"/>
              </a:rPr>
              <a:t>Early Goal of Care Discussions in Healthcare: A Survey Case Report on Benefits and Perceptions</a:t>
            </a:r>
          </a:p>
        </p:txBody>
      </p:sp>
      <p:sp>
        <p:nvSpPr>
          <p:cNvPr id="10" name="Reference 3 link">
            <a:extLst xmlns:a="http://schemas.openxmlformats.org/drawingml/2006/main">
              <a:ext uri="{FF2B5EF4-FFF2-40B4-BE49-F238E27FC236}">
                <a16:creationId xmlns:a16="http://schemas.microsoft.com/office/drawing/2014/main" id="{0435C134-9EAC-4DD8-9433-7B758608CFBC}"/>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3218ab4ff1b94c6b"/>
              </a:rPr>
              <a:t>https://doi.org/10.1016/j.jpainsymman.2024.02.030</a:t>
            </a:r>
          </a:p>
        </p:txBody>
      </p:sp>
      <p:sp>
        <p:nvSpPr>
          <p:cNvPr id="11" name="Reference 4 author">
            <a:extLst xmlns:a="http://schemas.openxmlformats.org/drawingml/2006/main">
              <a:ext uri="{FF2B5EF4-FFF2-40B4-BE49-F238E27FC236}">
                <a16:creationId xmlns:a16="http://schemas.microsoft.com/office/drawing/2014/main" id="{85C505E3-3CF5-4530-AB1E-8CE967722B0C}"/>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2" name="Reference 4 title">
            <a:extLst xmlns:a="http://schemas.openxmlformats.org/drawingml/2006/main">
              <a:ext uri="{FF2B5EF4-FFF2-40B4-BE49-F238E27FC236}">
                <a16:creationId xmlns:a16="http://schemas.microsoft.com/office/drawing/2014/main" id="{A7B89B3D-EC50-42D4-8B61-F597B1D94560}"/>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4d9beb853d24dca"/>
              </a:rPr>
              <a:t>Initiating and Documenting Goals of Care Discussion in Patients with Advanced Pancreatic and Colorectal Cancers: A Quality Improvement Project in a Low Resource Setting</a:t>
            </a:r>
          </a:p>
        </p:txBody>
      </p:sp>
      <p:sp>
        <p:nvSpPr>
          <p:cNvPr id="13" name="Reference 4 link">
            <a:extLst xmlns:a="http://schemas.openxmlformats.org/drawingml/2006/main">
              <a:ext uri="{FF2B5EF4-FFF2-40B4-BE49-F238E27FC236}">
                <a16:creationId xmlns:a16="http://schemas.microsoft.com/office/drawing/2014/main" id="{796C53E4-1A83-4531-8270-C90D29B2BD7A}"/>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676e162e9eb44b8e"/>
              </a:rPr>
              <a:t>https://doi.org/10.1177/26892820251392545</a:t>
            </a:r>
          </a:p>
        </p:txBody>
      </p:sp>
      <p:sp>
        <p:nvSpPr>
          <p:cNvPr id="14" name="Reference 5 author">
            <a:extLst xmlns:a="http://schemas.openxmlformats.org/drawingml/2006/main">
              <a:ext uri="{FF2B5EF4-FFF2-40B4-BE49-F238E27FC236}">
                <a16:creationId xmlns:a16="http://schemas.microsoft.com/office/drawing/2014/main" id="{F1C7AEE3-89A1-4428-BC1B-E4538601FBBA}"/>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5" name="Reference 5 title">
            <a:extLst xmlns:a="http://schemas.openxmlformats.org/drawingml/2006/main">
              <a:ext uri="{FF2B5EF4-FFF2-40B4-BE49-F238E27FC236}">
                <a16:creationId xmlns:a16="http://schemas.microsoft.com/office/drawing/2014/main" id="{52488D65-D473-4C2F-AC1F-927E987DB657}"/>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eaab94f642424e24"/>
              </a:rPr>
              <a:t>73% urban Indians do not know about their right to make a living will, finds a survey</a:t>
            </a:r>
          </a:p>
        </p:txBody>
      </p:sp>
      <p:sp>
        <p:nvSpPr>
          <p:cNvPr id="16" name="Reference 5 link">
            <a:extLst xmlns:a="http://schemas.openxmlformats.org/drawingml/2006/main">
              <a:ext uri="{FF2B5EF4-FFF2-40B4-BE49-F238E27FC236}">
                <a16:creationId xmlns:a16="http://schemas.microsoft.com/office/drawing/2014/main" id="{902D7559-75DE-4B6B-BE82-E25EFA45C3A2}"/>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ece69212f56f438c"/>
              </a:rPr>
              <a:t>https://scroll.in/article/925875/73-urban-indians-do-not-know-about-their-right-to-make-a-living-will-finds-a-survey</a:t>
            </a:r>
          </a:p>
        </p:txBody>
      </p:sp>
      <p:sp>
        <p:nvSpPr>
          <p:cNvPr id="17" name="Reference 6 author">
            <a:extLst xmlns:a="http://schemas.openxmlformats.org/drawingml/2006/main">
              <a:ext uri="{FF2B5EF4-FFF2-40B4-BE49-F238E27FC236}">
                <a16:creationId xmlns:a16="http://schemas.microsoft.com/office/drawing/2014/main" id="{302A819C-1F9F-4D54-A0D9-66C3AAB232D8}"/>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18" name="Reference 6 title">
            <a:extLst xmlns:a="http://schemas.openxmlformats.org/drawingml/2006/main">
              <a:ext uri="{FF2B5EF4-FFF2-40B4-BE49-F238E27FC236}">
                <a16:creationId xmlns:a16="http://schemas.microsoft.com/office/drawing/2014/main" id="{CA29E195-8BE9-4CC1-947D-1BD543325C8F}"/>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84a16defcae842db"/>
              </a:rPr>
              <a:t>Knowledge and attitude towards advance directives for patients with terminal illnesses among doctors working in a tertiary care hospital</a:t>
            </a:r>
          </a:p>
        </p:txBody>
      </p:sp>
      <p:sp>
        <p:nvSpPr>
          <p:cNvPr id="19" name="Reference 6 link">
            <a:extLst xmlns:a="http://schemas.openxmlformats.org/drawingml/2006/main">
              <a:ext uri="{FF2B5EF4-FFF2-40B4-BE49-F238E27FC236}">
                <a16:creationId xmlns:a16="http://schemas.microsoft.com/office/drawing/2014/main" id="{AA734F90-B23E-4DCE-A3AB-3A022C063D0C}"/>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464aca1bf1b8485e"/>
              </a:rPr>
              <a:t>https://doi.org/10.25259/NMJI_817_2023</a:t>
            </a:r>
          </a:p>
        </p:txBody>
      </p:sp>
      <p:sp>
        <p:nvSpPr>
          <p:cNvPr id="20" name="Reference 7 author">
            <a:extLst xmlns:a="http://schemas.openxmlformats.org/drawingml/2006/main">
              <a:ext uri="{FF2B5EF4-FFF2-40B4-BE49-F238E27FC236}">
                <a16:creationId xmlns:a16="http://schemas.microsoft.com/office/drawing/2014/main" id="{6C5E33A0-9FC9-4EBB-9A53-323975B366D5}"/>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1" name="Reference 7 title">
            <a:extLst xmlns:a="http://schemas.openxmlformats.org/drawingml/2006/main">
              <a:ext uri="{FF2B5EF4-FFF2-40B4-BE49-F238E27FC236}">
                <a16:creationId xmlns:a16="http://schemas.microsoft.com/office/drawing/2014/main" id="{96A659AF-D517-4720-A844-DD9560F3EA19}"/>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2fceacadbdb44ab"/>
              </a:rPr>
              <a:t>Barriers and Facilitators to Advance Care Planning Implementation for Patients with Neurodegenerative Diseases among Indian Physicians: A Mixed-Methods Analysis</a:t>
            </a:r>
          </a:p>
        </p:txBody>
      </p:sp>
      <p:sp>
        <p:nvSpPr>
          <p:cNvPr id="22" name="Reference 7 link">
            <a:extLst xmlns:a="http://schemas.openxmlformats.org/drawingml/2006/main">
              <a:ext uri="{FF2B5EF4-FFF2-40B4-BE49-F238E27FC236}">
                <a16:creationId xmlns:a16="http://schemas.microsoft.com/office/drawing/2014/main" id="{FB21AA3D-6C09-4E04-8D77-EEBA820EB4EA}"/>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b793612e06774f3b"/>
              </a:rPr>
              <a:t>https://doi.org/10.1101/2025.10.17.25338242</a:t>
            </a:r>
          </a:p>
        </p:txBody>
      </p:sp>
      <p:sp>
        <p:nvSpPr>
          <p:cNvPr id="23" name="Reference 8 author">
            <a:extLst xmlns:a="http://schemas.openxmlformats.org/drawingml/2006/main">
              <a:ext uri="{FF2B5EF4-FFF2-40B4-BE49-F238E27FC236}">
                <a16:creationId xmlns:a16="http://schemas.microsoft.com/office/drawing/2014/main" id="{A6065865-7767-47B9-8E55-1F009FB1967A}"/>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4" name="Reference 8 title">
            <a:extLst xmlns:a="http://schemas.openxmlformats.org/drawingml/2006/main">
              <a:ext uri="{FF2B5EF4-FFF2-40B4-BE49-F238E27FC236}">
                <a16:creationId xmlns:a16="http://schemas.microsoft.com/office/drawing/2014/main" id="{745B2407-0495-4FED-81E9-CDE8BDE007AC}"/>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6836bb6dfd5a42b6"/>
              </a:rPr>
              <a:t>An Ethnographic Study of Barriers to Cancer Pain Management and Opioid Availability in India</a:t>
            </a:r>
          </a:p>
        </p:txBody>
      </p:sp>
      <p:sp>
        <p:nvSpPr>
          <p:cNvPr id="25" name="Reference 8 link">
            <a:extLst xmlns:a="http://schemas.openxmlformats.org/drawingml/2006/main">
              <a:ext uri="{FF2B5EF4-FFF2-40B4-BE49-F238E27FC236}">
                <a16:creationId xmlns:a16="http://schemas.microsoft.com/office/drawing/2014/main" id="{6038E7C3-3A88-49E7-86F0-D3E1208E03D0}"/>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6ec70da02854d3a"/>
              </a:rPr>
              <a:t>https://doi.org/10.1634/theoncologist.2013-0435</a:t>
            </a:r>
          </a:p>
        </p:txBody>
      </p:sp>
      <p:sp>
        <p:nvSpPr>
          <p:cNvPr id="26" name="Reference 9 author">
            <a:extLst xmlns:a="http://schemas.openxmlformats.org/drawingml/2006/main">
              <a:ext uri="{FF2B5EF4-FFF2-40B4-BE49-F238E27FC236}">
                <a16:creationId xmlns:a16="http://schemas.microsoft.com/office/drawing/2014/main" id="{15615E27-B43A-4EE8-9F77-93D3660FF390}"/>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7" name="Reference 9 title">
            <a:extLst xmlns:a="http://schemas.openxmlformats.org/drawingml/2006/main">
              <a:ext uri="{FF2B5EF4-FFF2-40B4-BE49-F238E27FC236}">
                <a16:creationId xmlns:a16="http://schemas.microsoft.com/office/drawing/2014/main" id="{1603E274-0C86-4C2E-B279-172C6C876DB5}"/>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dd7a78ca03904605"/>
              </a:rPr>
              <a:t>Receipt of Psychosocial Care Among Cancer Survivors in the United States</a:t>
            </a:r>
          </a:p>
        </p:txBody>
      </p:sp>
      <p:sp>
        <p:nvSpPr>
          <p:cNvPr id="28" name="Reference 9 link">
            <a:extLst xmlns:a="http://schemas.openxmlformats.org/drawingml/2006/main">
              <a:ext uri="{FF2B5EF4-FFF2-40B4-BE49-F238E27FC236}">
                <a16:creationId xmlns:a16="http://schemas.microsoft.com/office/drawing/2014/main" id="{652E2603-E678-4966-9CCD-C4E9A4D548BA}"/>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6fd4a1f57c6c4f5e"/>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2026-09-24T07:24:41.4150000Z</dcterms:created>
  <dcterms:modified xsi:type="dcterms:W3CDTF">2026-09-24T07:24:41.4150000Z</dcterms:modified>
</coreProperties>
</file>