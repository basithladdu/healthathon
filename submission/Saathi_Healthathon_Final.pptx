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c54d3b0804243ba" /><Relationship Type="http://schemas.openxmlformats.org/officeDocument/2006/relationships/extended-properties" Target="/docProps/app.xml" Id="R9a18bb51486a4538" /><Relationship Type="http://schemas.openxmlformats.org/officeDocument/2006/relationships/officeDocument" Target="/ppt/presentation.xml" Id="R78b1990357d0429f" /></Relationships>
</file>

<file path=ppt/presentation.xml><?xml version="1.0" encoding="utf-8"?>
<p:presentation xmlns:p="http://schemas.openxmlformats.org/presentationml/2006/main">
  <p:sldMasterIdLst>
    <p:sldMasterId xmlns:r="http://schemas.openxmlformats.org/officeDocument/2006/relationships" id="2147483648" r:id="Rc6ccc57422804d4c"/>
  </p:sldMasterIdLst>
  <p:notesMasterIdLst>
    <p:notesMasterId xmlns:r="http://schemas.openxmlformats.org/officeDocument/2006/relationships" r:id="Rcce3a8f62f59408f"/>
  </p:notesMasterIdLst>
  <p:sldIdLst>
    <p:sldId xmlns:r="http://schemas.openxmlformats.org/officeDocument/2006/relationships" id="256" r:id="R83a08c8edc8a4f5d"/>
    <p:sldId xmlns:r="http://schemas.openxmlformats.org/officeDocument/2006/relationships" id="257" r:id="R86711f395ddd4fa8"/>
    <p:sldId xmlns:r="http://schemas.openxmlformats.org/officeDocument/2006/relationships" id="258" r:id="R189f6d4f93b84993"/>
    <p:sldId xmlns:r="http://schemas.openxmlformats.org/officeDocument/2006/relationships" id="259" r:id="R8f14f228365b4a35"/>
    <p:sldId xmlns:r="http://schemas.openxmlformats.org/officeDocument/2006/relationships" id="260" r:id="Rdf8f5f2d465649dc"/>
    <p:sldId xmlns:r="http://schemas.openxmlformats.org/officeDocument/2006/relationships" id="261" r:id="Reb7583961d4c4f32"/>
    <p:sldId xmlns:r="http://schemas.openxmlformats.org/officeDocument/2006/relationships" id="262" r:id="Rc0d6c31bb169446a"/>
    <p:sldId xmlns:r="http://schemas.openxmlformats.org/officeDocument/2006/relationships" id="263" r:id="Rb8c9996623de47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47e4cc7ff94e88" /><Relationship Type="http://schemas.openxmlformats.org/officeDocument/2006/relationships/slideMaster" Target="/ppt/slideMasters/slideMaster1.xml" Id="Rc6ccc57422804d4c" /><Relationship Type="http://schemas.openxmlformats.org/officeDocument/2006/relationships/notesMaster" Target="/ppt/notesMasters/notesMaster1.xml" Id="Rcce3a8f62f59408f" /><Relationship Type="http://schemas.openxmlformats.org/officeDocument/2006/relationships/presProps" Target="/ppt/presProps.xml" Id="R44180d67322a4b54" /><Relationship Type="http://schemas.openxmlformats.org/officeDocument/2006/relationships/tableStyles" Target="/ppt/tableStyles.xml" Id="R7a73f8421b144416" /><Relationship Type="http://schemas.openxmlformats.org/officeDocument/2006/relationships/slide" Target="/ppt/slides/slide1.xml" Id="R83a08c8edc8a4f5d" /><Relationship Type="http://schemas.openxmlformats.org/officeDocument/2006/relationships/slide" Target="/ppt/slides/slide2.xml" Id="R86711f395ddd4fa8" /><Relationship Type="http://schemas.openxmlformats.org/officeDocument/2006/relationships/slide" Target="/ppt/slides/slide3.xml" Id="R189f6d4f93b84993" /><Relationship Type="http://schemas.openxmlformats.org/officeDocument/2006/relationships/slide" Target="/ppt/slides/slide4.xml" Id="R8f14f228365b4a35" /><Relationship Type="http://schemas.openxmlformats.org/officeDocument/2006/relationships/slide" Target="/ppt/slides/slide5.xml" Id="Rdf8f5f2d465649dc" /><Relationship Type="http://schemas.openxmlformats.org/officeDocument/2006/relationships/slide" Target="/ppt/slides/slide6.xml" Id="Reb7583961d4c4f32" /><Relationship Type="http://schemas.openxmlformats.org/officeDocument/2006/relationships/slide" Target="/ppt/slides/slide7.xml" Id="Rc0d6c31bb169446a" /><Relationship Type="http://schemas.openxmlformats.org/officeDocument/2006/relationships/slide" Target="/ppt/slides/slide8.xml" Id="Rb8c9996623de47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79ec3c1c18a4b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ad35bba0e84b1f" /><Relationship Type="http://schemas.openxmlformats.org/officeDocument/2006/relationships/notesMaster" Target="/ppt/notesMasters/notesMaster1.xml" Id="R5218db02cc6043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a48b89324c4bbe" /><Relationship Type="http://schemas.openxmlformats.org/officeDocument/2006/relationships/notesMaster" Target="/ppt/notesMasters/notesMaster1.xml" Id="Rf2d83169723348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b25336f86a449b" /><Relationship Type="http://schemas.openxmlformats.org/officeDocument/2006/relationships/notesMaster" Target="/ppt/notesMasters/notesMaster1.xml" Id="R4ec4d866ed2b40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d1d33e41cb4ebb" /><Relationship Type="http://schemas.openxmlformats.org/officeDocument/2006/relationships/notesMaster" Target="/ppt/notesMasters/notesMaster1.xml" Id="R663fb2cb1c654d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28a1a6b49f4e15" /><Relationship Type="http://schemas.openxmlformats.org/officeDocument/2006/relationships/notesMaster" Target="/ppt/notesMasters/notesMaster1.xml" Id="Rc1223079c4b74a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1f33d03dec4b62" /><Relationship Type="http://schemas.openxmlformats.org/officeDocument/2006/relationships/notesMaster" Target="/ppt/notesMasters/notesMaster1.xml" Id="Reb3890ab90a942dd" /></Relationships>
</file>

<file path=ppt/notesSlides/_rels/notesSlide7.xml.rels>&#65279;<?xml version="1.0" encoding="utf-8"?><Relationships xmlns="http://schemas.openxmlformats.org/package/2006/relationships"><Relationship Type="http://schemas.openxmlformats.org/officeDocument/2006/relationships/slide" Target="/ppt/slides/slide7.xml" Id="R9f70814828084176" /><Relationship Type="http://schemas.openxmlformats.org/officeDocument/2006/relationships/notesMaster" Target="/ppt/notesMasters/notesMaster1.xml" Id="Rbba471c249f046de"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246d7e29b648c7" /><Relationship Type="http://schemas.openxmlformats.org/officeDocument/2006/relationships/notesMaster" Target="/ppt/notesMasters/notesMaster1.xml" Id="R449b0adf31904f4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images are actual Chrome captures of https://saathi.wedevit.in/home for this revision, saved as output/playwright/2026-09-24-saathi-patient-home.png and output/playwright/2026-09-24-saathi-three-role-login.png. The sign-in image is cropped inside PowerPoint to the original form; no UI has been redrawn. The patient image includes the complete home page, showing the latest Care Note, documents, Find support, My space, Calendar, the upcoming visit and medicine and family-help shortcuts. Meera and the other stored records are fictional. The three current role choices are Patient, Family and Doctor. Patient sign-in was exercised with a different arbitrary 14-digit value and opened the existing patient home. This checks the present format-only entry flow, not real ABHA authentication or permission to open another person's medical records. Verified accounts and sharing between phones remain to connect. This is the broader intended family-support workflow, not a claim of completed rides, guaranteed stock, payments or a deployed financial-assistance system. Patients and families can keep questions, records, confirmed treatment dates, medicine and appointment plans, named tasks, journal entries and support contacts together. Receipts, financial-help paperwork and caregiver-training handoffs remain proposed supporting work. The doctor reviews and signs first; the patient reviews and signs the same version. Directory: Pallium India, https://palliumindia.org/clinics/telangana, lists home/inpatient/outpatient services and medicine availability. The family must call to confirm the prescribed medicine and service; a listing does not establish today's stock, oral formulation or a booked appointment. Caregiver support evidence: https://journals.plos.org/plosone/article?id=10.1371/journal.pone.0274770 supports information, training, practical and emotional support needs. Additional sources: both meeting transcripts and the user's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consultation scene was generated with the built-in image generation tool at the user's request. It illustrates an Indian doctor and a patient talking while a phone records their conversation. The people and setting are fictional. This is a concept illustration, not a real patient photograph or evidence of a clinical deployment. The adjacent blue Voice note panel is a crop of the actual user-supplied Saathi screen, not a generated app screenshot. The original generated image and exact prompt are saved in submission/assets/2026-09-24-generated-scenes/. 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The recording screen is the actual app screenshot supplied by the user on 24 September, preserved unchanged at submission/assets/2026-09-24-family/saathi-record-conversation.png. It shows the Voice note panel, recording consent, Start recording, English language selection, Upload audio and the Prepare draft, Review &amp; edit and Sign Care Note steps. This image shows the interface before recording; it does not establish that microphone capture or live transcription has been verified. The displayed Meera profile is fictional. Sources: 21 September transcript lines 251–303 and 1097–1155; 23 September meeting and chat; Sujay's 24 September feedback; supplied clinical forms. Icons: original Lucide SVGs from https://github.com/lucide-icons/lucide/tree/main/icons, with stroke colours changed for this deck. ISC/MIT notices are saved in submission/assets/2026-09-24-visual-revision/Lucide-LICENSE.txt.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records scene was generated with the built-in image generation tool at the user's request. It is a concept illustration with fictional people and an illustrative tablet interface, not a screenshot of the current app. The question asks what to bring to a visit. The answer repeats a supplied instruction to bring previous reports and the medicine list, with a matching highlight on the paper source. It conveys retrieval of an existing instruction, not interpretation of medical data. The original image and exact prompt are saved in submission/assets/2026-09-24-generated-scenes/. The three visual steps show adding a report, asking a question and checking the original text. The medicine and calendar icons represent the previously discussed reminders and dated treatment history. Patients, their families and their doctors can use these record-organising features within the patient’s sharing permissions. Doctors are included as members of the care team, with a separate role from family caregivers. 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earlier real Chrome capture remains saved at output/playwright/2026-09-24-saathi-documents-source.png. It showed literal retrieval from a fictional stored record, Add treatment date and View original. The generated concept illustration on this slide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 Icons: original Lucide SVGs from https://github.com/lucide-icons/lucide/tree/main/icons, with stroke colours changed for this deck. ISC/MIT notices are saved in submission/assets/2026-09-24-visual-revision/Lucide-LICENSE.txt.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visual sequence is a study plan, not a results chart. The three measures distinguish patient requests, doctor-started conversations, and written and signed notes. No invented values or improvement percentages are shown. This is a proposed trial, not a measured result or a confirmed deployment partner. Start with an agreed baseline and keep the same eligibility and documentation definition after deployment. Tally eligible, informed and consented participants, patient requests, family requests, clinician-initiated conversations, held discussions, saved notes and signed notes separately. Deduplicate repeat activity within a discussion episode and record missing data. Primary before/after rate: patients with a documented goals-of-care discussion in the clinical record / all eligible patients. Also report documented/consented, patient requests/informed eligible and doctor-signed/documented where consistently available, each with n/N. Do not infer a completed discussion from an app recording or a signed note. Offering information to all clinic patients is a proposed opt-in approach for discussion with a site. Consent to the discussion, recording and evaluation data are separate. Supporting measures include clinician time to check/sign, patient-family retrieval time, errors and clarification contacts. Protocol detail: docs/pitch/2026-09-24-impact-plan.md. Sources: Sujay's 24 September messages supplied by the user; Health-a-thon design brief, https://healthathon.reskilll.com/guide. Icons: original Lucide SVGs from https://github.com/lucide-icons/lucide/tree/main/icons, with stroke colours changed for this deck. ISC/MIT notices are saved in submission/assets/2026-09-24-visual-revision/Lucide-LICENSE.txt.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61449cc2e8341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cc6622ac954d28" /><Relationship Type="http://schemas.openxmlformats.org/officeDocument/2006/relationships/slideLayout" Target="/ppt/slideLayouts/slideLayout1.xml" Id="R0d94bb517fe248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94bb517fe248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a1db96da4f34018" /><Relationship Type="http://schemas.openxmlformats.org/officeDocument/2006/relationships/image" Target="/ppt/media/image.png" Id="R144a5462ab82424c" /><Relationship Type="http://schemas.openxmlformats.org/officeDocument/2006/relationships/image" Target="/ppt/media/image.svg" Id="Rb37f688027894a74" /><Relationship Type="http://schemas.openxmlformats.org/officeDocument/2006/relationships/image" Target="/ppt/media/image2.png" Id="Raca1c828155a4899" /><Relationship Type="http://schemas.openxmlformats.org/officeDocument/2006/relationships/hyperlink" Target="https://saathi.wedevit.in/" TargetMode="External" Id="R8621b2b5db41495e" /><Relationship Type="http://schemas.openxmlformats.org/officeDocument/2006/relationships/image" Target="/ppt/media/image3.png" Id="R678a94db09554f5c" /><Relationship Type="http://schemas.openxmlformats.org/officeDocument/2006/relationships/image" Target="/ppt/media/image2.svg" Id="R690eee1e66da411b" /><Relationship Type="http://schemas.openxmlformats.org/officeDocument/2006/relationships/hyperlink" Target="https://github.com/basithladdu/healthathon" TargetMode="External" Id="Ra5e1c2630f284fdd" /><Relationship Type="http://schemas.openxmlformats.org/officeDocument/2006/relationships/image" Target="/ppt/media/image4.png" Id="R3f5d50d938a34996" /><Relationship Type="http://schemas.openxmlformats.org/officeDocument/2006/relationships/image" Target="/ppt/media/image3.svg" Id="Rb2312677b90443ed" /><Relationship Type="http://schemas.openxmlformats.org/officeDocument/2006/relationships/hyperlink" Target="https://wa.me/919553321211" TargetMode="External" Id="R496454fb3ff9446f" /><Relationship Type="http://schemas.openxmlformats.org/officeDocument/2006/relationships/hyperlink" Target="https://wa.me/919553321211" TargetMode="External" Id="Rad07ffac0e324856" /><Relationship Type="http://schemas.openxmlformats.org/officeDocument/2006/relationships/image" Target="/ppt/media/image.jpeg" Id="R17eda6f81bb444f1" /><Relationship Type="http://schemas.openxmlformats.org/officeDocument/2006/relationships/image" Target="/ppt/media/image2.jpeg" Id="R9958c07866724cbb" /><Relationship Type="http://schemas.openxmlformats.org/officeDocument/2006/relationships/notesSlide" Target="/ppt/notesSlides/notesSlide1.xml" Id="Ref80904c8f824c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e04792d3fee4d4c" /><Relationship Type="http://schemas.openxmlformats.org/officeDocument/2006/relationships/image" Target="/ppt/media/image3.jpeg" Id="R1d7903dbc6de402b" /><Relationship Type="http://schemas.openxmlformats.org/officeDocument/2006/relationships/image" Target="/ppt/media/image5.png" Id="Rc5873fb352db4fe5" /><Relationship Type="http://schemas.openxmlformats.org/officeDocument/2006/relationships/image" Target="/ppt/media/image4.svg" Id="Rf7d3447506464bec" /><Relationship Type="http://schemas.openxmlformats.org/officeDocument/2006/relationships/image" Target="/ppt/media/image6.png" Id="R69cb01b457294f1b" /><Relationship Type="http://schemas.openxmlformats.org/officeDocument/2006/relationships/image" Target="/ppt/media/image5.svg" Id="Ree530c774ffb4327" /><Relationship Type="http://schemas.openxmlformats.org/officeDocument/2006/relationships/image" Target="/ppt/media/image7.png" Id="R6e449e7723ce46c2" /><Relationship Type="http://schemas.openxmlformats.org/officeDocument/2006/relationships/image" Target="/ppt/media/image6.svg" Id="Raa0d0923c17a4192" /><Relationship Type="http://schemas.openxmlformats.org/officeDocument/2006/relationships/notesSlide" Target="/ppt/notesSlides/notesSlide2.xml" Id="R43551c2b86134b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c9250e3975048f3" /><Relationship Type="http://schemas.openxmlformats.org/officeDocument/2006/relationships/chart" Target="/ppt/slides/charts/chart1.xml" Id="Rfc4edc42d1be4682" /><Relationship Type="http://schemas.openxmlformats.org/officeDocument/2006/relationships/image" Target="/ppt/media/image8.png" Id="R0babb612d4864a5f" /><Relationship Type="http://schemas.openxmlformats.org/officeDocument/2006/relationships/image" Target="/ppt/media/image7.svg" Id="R13866f6d90f3411f" /><Relationship Type="http://schemas.openxmlformats.org/officeDocument/2006/relationships/hyperlink" Target="https://gco.iarc.who.int/media/globocan/factsheets/populations/356-india-fact-sheet.pdf" TargetMode="External" Id="R19e3c4be5c784f95" /><Relationship Type="http://schemas.openxmlformats.org/officeDocument/2006/relationships/image" Target="/ppt/media/image9.png" Id="Rddd7e07cc5864f75" /><Relationship Type="http://schemas.openxmlformats.org/officeDocument/2006/relationships/image" Target="/ppt/media/image8.svg" Id="R59066f7536194855" /><Relationship Type="http://schemas.openxmlformats.org/officeDocument/2006/relationships/hyperlink" Target="https://doi.org/10.1136/spcare-2024-004978" TargetMode="External" Id="Rdaa9f15296a04df4" /><Relationship Type="http://schemas.openxmlformats.org/officeDocument/2006/relationships/image" Target="/ppt/media/image10.png" Id="Ra2fd59c85fd748b8" /><Relationship Type="http://schemas.openxmlformats.org/officeDocument/2006/relationships/image" Target="/ppt/media/image9.svg" Id="R49fa59cb3b0343b3" /><Relationship Type="http://schemas.openxmlformats.org/officeDocument/2006/relationships/hyperlink" Target="https://scroll.in/article/925875/73-urban-indians-do-not-know-about-their-right-to-make-a-living-will-finds-a-survey" TargetMode="External" Id="R225dc7e18d4a4423" /><Relationship Type="http://schemas.openxmlformats.org/officeDocument/2006/relationships/image" Target="/ppt/media/image11.png" Id="Rccf3371b645e467d" /><Relationship Type="http://schemas.openxmlformats.org/officeDocument/2006/relationships/image" Target="/ppt/media/image10.svg" Id="R724fdf3909324a0d" /><Relationship Type="http://schemas.openxmlformats.org/officeDocument/2006/relationships/hyperlink" Target="https://doi.org/10.25259/NMJI_817_2023" TargetMode="External" Id="Rff2853d247324b66" /><Relationship Type="http://schemas.openxmlformats.org/officeDocument/2006/relationships/image" Target="/ppt/media/image12.png" Id="R6d53a98c08074482" /><Relationship Type="http://schemas.openxmlformats.org/officeDocument/2006/relationships/image" Target="/ppt/media/image11.svg" Id="R1aaf2b994ee44594" /><Relationship Type="http://schemas.openxmlformats.org/officeDocument/2006/relationships/hyperlink" Target="https://doi.org/10.1177/26892820251392545" TargetMode="External" Id="R8b0564410caf4724" /><Relationship Type="http://schemas.openxmlformats.org/officeDocument/2006/relationships/notesSlide" Target="/ppt/notesSlides/notesSlide3.xml" Id="Rb380415f34df4e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e573f7bfe274ec1" /><Relationship Type="http://schemas.openxmlformats.org/officeDocument/2006/relationships/image" Target="/ppt/media/image4.jpeg" Id="R6346647c15534a34" /><Relationship Type="http://schemas.openxmlformats.org/officeDocument/2006/relationships/image" Target="/ppt/media/image5.jpeg" Id="Re2e1d492d12f469b" /><Relationship Type="http://schemas.openxmlformats.org/officeDocument/2006/relationships/hyperlink" Target="https://saathi.wedevit.in/" TargetMode="External" Id="Rad982fa74f4c472a" /><Relationship Type="http://schemas.openxmlformats.org/officeDocument/2006/relationships/hyperlink" Target="https://palliumindia.org/clinics/telangana" TargetMode="External" Id="R822d57c9f9484a65" /><Relationship Type="http://schemas.openxmlformats.org/officeDocument/2006/relationships/notesSlide" Target="/ppt/notesSlides/notesSlide4.xml" Id="R63db529d4a2b49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49b5a0a2c47432d" /><Relationship Type="http://schemas.openxmlformats.org/officeDocument/2006/relationships/image" Target="/ppt/media/image13.png" Id="R49d12a3504964c35" /><Relationship Type="http://schemas.openxmlformats.org/officeDocument/2006/relationships/image" Target="/ppt/media/image14.png" Id="R2cd9253e532640d3" /><Relationship Type="http://schemas.openxmlformats.org/officeDocument/2006/relationships/hyperlink" Target="https://docs.sarvam.ai/api/getting-started/building-for-india" TargetMode="External" Id="Red818eea14604303" /><Relationship Type="http://schemas.openxmlformats.org/officeDocument/2006/relationships/image" Target="/ppt/media/image15.png" Id="Rb4ef3e69ba6a4e64" /><Relationship Type="http://schemas.openxmlformats.org/officeDocument/2006/relationships/image" Target="/ppt/media/image12.svg" Id="Re35a4f56a84741bf" /><Relationship Type="http://schemas.openxmlformats.org/officeDocument/2006/relationships/image" Target="/ppt/media/image16.png" Id="R83c03ff783ab4820" /><Relationship Type="http://schemas.openxmlformats.org/officeDocument/2006/relationships/image" Target="/ppt/media/image13.svg" Id="R16f59f48009c42b8" /><Relationship Type="http://schemas.openxmlformats.org/officeDocument/2006/relationships/image" Target="/ppt/media/image17.png" Id="R0b3c658ca4ec45c1" /><Relationship Type="http://schemas.openxmlformats.org/officeDocument/2006/relationships/image" Target="/ppt/media/image14.svg" Id="Rb78c1ea0df1e495f" /><Relationship Type="http://schemas.openxmlformats.org/officeDocument/2006/relationships/image" Target="/ppt/media/image18.png" Id="R8269bb6925644b15" /><Relationship Type="http://schemas.openxmlformats.org/officeDocument/2006/relationships/image" Target="/ppt/media/image15.svg" Id="Raf5897203a134d53" /><Relationship Type="http://schemas.openxmlformats.org/officeDocument/2006/relationships/notesSlide" Target="/ppt/notesSlides/notesSlide5.xml" Id="R50ed409e0e8f4cf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6abf975e2d44bcf" /><Relationship Type="http://schemas.openxmlformats.org/officeDocument/2006/relationships/image" Target="/ppt/media/image19.png" Id="Rc91f03a21e314f02" /><Relationship Type="http://schemas.openxmlformats.org/officeDocument/2006/relationships/image" Target="/ppt/media/image20.png" Id="Rf5cca760a85e4154" /><Relationship Type="http://schemas.openxmlformats.org/officeDocument/2006/relationships/image" Target="/ppt/media/image16.svg" Id="Ra6e982088c5145c6" /><Relationship Type="http://schemas.openxmlformats.org/officeDocument/2006/relationships/image" Target="/ppt/media/image21.png" Id="R08d1ea07a01e41de" /><Relationship Type="http://schemas.openxmlformats.org/officeDocument/2006/relationships/image" Target="/ppt/media/image17.svg" Id="R117ca4946ec44671" /><Relationship Type="http://schemas.openxmlformats.org/officeDocument/2006/relationships/image" Target="/ppt/media/image22.png" Id="R835393cfc1044d3b" /><Relationship Type="http://schemas.openxmlformats.org/officeDocument/2006/relationships/image" Target="/ppt/media/image18.svg" Id="Rdf292576db4742b5" /><Relationship Type="http://schemas.openxmlformats.org/officeDocument/2006/relationships/image" Target="/ppt/media/image23.png" Id="R62e42a7d8c174cdb" /><Relationship Type="http://schemas.openxmlformats.org/officeDocument/2006/relationships/image" Target="/ppt/media/image19.svg" Id="Rc2486e31cfde4b52" /><Relationship Type="http://schemas.openxmlformats.org/officeDocument/2006/relationships/image" Target="/ppt/media/image24.png" Id="Radc29ec02a9141db" /><Relationship Type="http://schemas.openxmlformats.org/officeDocument/2006/relationships/image" Target="/ppt/media/image20.svg" Id="Rbc327fa7fbac4592" /><Relationship Type="http://schemas.openxmlformats.org/officeDocument/2006/relationships/image" Target="/ppt/media/image25.png" Id="Re25df9829d344342" /><Relationship Type="http://schemas.openxmlformats.org/officeDocument/2006/relationships/image" Target="/ppt/media/image21.svg" Id="Ra04e43d4b5834375" /><Relationship Type="http://schemas.openxmlformats.org/officeDocument/2006/relationships/image" Target="/ppt/media/image26.png" Id="Rb6fd00008d514a93" /><Relationship Type="http://schemas.openxmlformats.org/officeDocument/2006/relationships/image" Target="/ppt/media/image22.svg" Id="R48a5632c78e74f9a" /><Relationship Type="http://schemas.openxmlformats.org/officeDocument/2006/relationships/notesSlide" Target="/ppt/notesSlides/notesSlide6.xml" Id="Ra4d51046a22e4a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2d81d8544e44065" /><Relationship Type="http://schemas.openxmlformats.org/officeDocument/2006/relationships/image" Target="/ppt/media/image27.png" Id="R7ff9992c2c61421b" /><Relationship Type="http://schemas.openxmlformats.org/officeDocument/2006/relationships/image" Target="/ppt/media/image23.svg" Id="Rfff2710ced0d4061" /><Relationship Type="http://schemas.openxmlformats.org/officeDocument/2006/relationships/image" Target="/ppt/media/image28.png" Id="R5929c48861894141" /><Relationship Type="http://schemas.openxmlformats.org/officeDocument/2006/relationships/image" Target="/ppt/media/image24.svg" Id="R0b696f89716c4ef6" /><Relationship Type="http://schemas.openxmlformats.org/officeDocument/2006/relationships/image" Target="/ppt/media/image29.png" Id="Redf06b1a32fa4af7" /><Relationship Type="http://schemas.openxmlformats.org/officeDocument/2006/relationships/image" Target="/ppt/media/image25.svg" Id="R197d87465f7b4db4" /><Relationship Type="http://schemas.openxmlformats.org/officeDocument/2006/relationships/image" Target="/ppt/media/image30.png" Id="Re73a7ea65a554782" /><Relationship Type="http://schemas.openxmlformats.org/officeDocument/2006/relationships/image" Target="/ppt/media/image26.svg" Id="Rd770a8a559334b50" /><Relationship Type="http://schemas.openxmlformats.org/officeDocument/2006/relationships/image" Target="/ppt/media/image31.png" Id="Ra80aa79f9a90495e" /><Relationship Type="http://schemas.openxmlformats.org/officeDocument/2006/relationships/image" Target="/ppt/media/image27.svg" Id="Rc76c40df28a9454e" /><Relationship Type="http://schemas.openxmlformats.org/officeDocument/2006/relationships/image" Target="/ppt/media/image32.png" Id="Rcf10d1e2b7c5448b" /><Relationship Type="http://schemas.openxmlformats.org/officeDocument/2006/relationships/image" Target="/ppt/media/image28.svg" Id="R501a31175e694b7c" /><Relationship Type="http://schemas.openxmlformats.org/officeDocument/2006/relationships/image" Target="/ppt/media/image33.png" Id="Rbce04b538c954d24" /><Relationship Type="http://schemas.openxmlformats.org/officeDocument/2006/relationships/image" Target="/ppt/media/image29.svg" Id="Rf0755ab998244729" /><Relationship Type="http://schemas.openxmlformats.org/officeDocument/2006/relationships/image" Target="/ppt/media/image34.png" Id="R24bb0f8d97444795" /><Relationship Type="http://schemas.openxmlformats.org/officeDocument/2006/relationships/image" Target="/ppt/media/image30.svg" Id="R9c3dec83ef994d06" /><Relationship Type="http://schemas.openxmlformats.org/officeDocument/2006/relationships/image" Target="/ppt/media/image35.png" Id="R0fdcdc1073504d36" /><Relationship Type="http://schemas.openxmlformats.org/officeDocument/2006/relationships/image" Target="/ppt/media/image31.svg" Id="R4b22da39933a4277" /><Relationship Type="http://schemas.openxmlformats.org/officeDocument/2006/relationships/notesSlide" Target="/ppt/notesSlides/notesSlide7.xml" Id="R09194150e581438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80697f3d83f4bd4" /><Relationship Type="http://schemas.openxmlformats.org/officeDocument/2006/relationships/hyperlink" Target="https://gco.iarc.who.int/media/globocan/factsheets/populations/356-india-fact-sheet.pdf" TargetMode="External" Id="Rd9a94cb2e43b427d" /><Relationship Type="http://schemas.openxmlformats.org/officeDocument/2006/relationships/hyperlink" Target="https://gco.iarc.who.int/media/globocan/factsheets/populations/356-india-fact-sheet.pdf" TargetMode="External" Id="Rdc1726630e1a4760" /><Relationship Type="http://schemas.openxmlformats.org/officeDocument/2006/relationships/hyperlink" Target="https://doi.org/10.1136/spcare-2024-004978" TargetMode="External" Id="R5c41198fa2a341d3" /><Relationship Type="http://schemas.openxmlformats.org/officeDocument/2006/relationships/hyperlink" Target="https://doi.org/10.1136/spcare-2024-004978" TargetMode="External" Id="R68727faee0634f89" /><Relationship Type="http://schemas.openxmlformats.org/officeDocument/2006/relationships/hyperlink" Target="https://doi.org/10.1016/j.jpainsymman.2024.02.030" TargetMode="External" Id="Rdc4cc5aee35e4943" /><Relationship Type="http://schemas.openxmlformats.org/officeDocument/2006/relationships/hyperlink" Target="https://doi.org/10.1016/j.jpainsymman.2024.02.030" TargetMode="External" Id="Rfcd9da65cc5a43c1" /><Relationship Type="http://schemas.openxmlformats.org/officeDocument/2006/relationships/hyperlink" Target="https://doi.org/10.1177/26892820251392545" TargetMode="External" Id="R4d1f36ac566d4f2f" /><Relationship Type="http://schemas.openxmlformats.org/officeDocument/2006/relationships/hyperlink" Target="https://doi.org/10.1177/26892820251392545" TargetMode="External" Id="R31f84b533d814788" /><Relationship Type="http://schemas.openxmlformats.org/officeDocument/2006/relationships/hyperlink" Target="https://scroll.in/article/925875/73-urban-indians-do-not-know-about-their-right-to-make-a-living-will-finds-a-survey" TargetMode="External" Id="Rf3da1c0260094171" /><Relationship Type="http://schemas.openxmlformats.org/officeDocument/2006/relationships/hyperlink" Target="https://scroll.in/article/925875/73-urban-indians-do-not-know-about-their-right-to-make-a-living-will-finds-a-survey" TargetMode="External" Id="Rdf1a515fbb23428d" /><Relationship Type="http://schemas.openxmlformats.org/officeDocument/2006/relationships/hyperlink" Target="https://doi.org/10.25259/NMJI_817_2023" TargetMode="External" Id="Rb0ceed0ed8b64135" /><Relationship Type="http://schemas.openxmlformats.org/officeDocument/2006/relationships/hyperlink" Target="https://doi.org/10.25259/NMJI_817_2023" TargetMode="External" Id="Rd4510876ff4a4e4e" /><Relationship Type="http://schemas.openxmlformats.org/officeDocument/2006/relationships/hyperlink" Target="https://doi.org/10.1101/2025.10.17.25338242" TargetMode="External" Id="R44e375ede42144e7" /><Relationship Type="http://schemas.openxmlformats.org/officeDocument/2006/relationships/hyperlink" Target="https://doi.org/10.1101/2025.10.17.25338242" TargetMode="External" Id="Rd06429737bdd4989" /><Relationship Type="http://schemas.openxmlformats.org/officeDocument/2006/relationships/hyperlink" Target="https://doi.org/10.1634/theoncologist.2013-0435" TargetMode="External" Id="Rfe3c49adb5794ee0" /><Relationship Type="http://schemas.openxmlformats.org/officeDocument/2006/relationships/hyperlink" Target="https://doi.org/10.1634/theoncologist.2013-0435" TargetMode="External" Id="R9591e579c9154237" /><Relationship Type="http://schemas.openxmlformats.org/officeDocument/2006/relationships/hyperlink" Target="https://doi.org/10.1200/JCO.2012.46.2101" TargetMode="External" Id="R4db9b74921484dcd" /><Relationship Type="http://schemas.openxmlformats.org/officeDocument/2006/relationships/hyperlink" Target="https://doi.org/10.1200/JCO.2012.46.2101" TargetMode="External" Id="R2fdc34944edb4a41" /><Relationship Type="http://schemas.openxmlformats.org/officeDocument/2006/relationships/notesSlide" Target="/ppt/notesSlides/notesSlide8.xml" Id="Rd86eb23bd6774d2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144a5462ab82424c">
            <a:extLst>
              <a:ext uri="{96DAC541-7B7A-43D3-8B79-37D633B846F1}">
                <asvg:svgBlip xmlns:asvg="http://schemas.microsoft.com/office/drawing/2016/SVG/main" r:embed="Rb37f688027894a74"/>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A6F5A495-5B03-49EF-AE14-C8845878AD38}"/>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835066CD-D5FB-418A-95B9-A415542520BD}"/>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10EA0D26-6DA2-43C7-964C-F8BBD955F4CE}"/>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DADF5ED9-50A5-408C-9164-B5A88444B141}"/>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 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aca1c828155a4899"/>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978CB0AA-C7AA-4EEF-929C-A2D1B4C51543}"/>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8621b2b5db41495e"/>
              </a:rPr>
              <a:t>OPEN THE WEBSITE - saathi.wedevit.in</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678a94db09554f5c">
            <a:extLst>
              <a:ext uri="{96DAC541-7B7A-43D3-8B79-37D633B846F1}">
                <asvg:svgBlip xmlns:asvg="http://schemas.microsoft.com/office/drawing/2016/SVG/main" r:embed="R690eee1e66da411b"/>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79AF6573-47ED-4043-93CF-D55F58C6C027}"/>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a5e1c2630f284fdd"/>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3f5d50d938a34996">
            <a:extLst>
              <a:ext uri="{96DAC541-7B7A-43D3-8B79-37D633B846F1}">
                <asvg:svgBlip xmlns:asvg="http://schemas.microsoft.com/office/drawing/2016/SVG/main" r:embed="Rb2312677b90443ed"/>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A193D954-ACAD-4F37-A94A-3C1A1C37A1C9}"/>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496454fb3ff9446f"/>
              </a:rPr>
              <a:t>Questions? Contact us</a:t>
            </a:r>
          </a:p>
        </p:txBody>
      </p:sp>
      <p:sp>
        <p:nvSpPr>
          <p:cNvPr id="12" name="WhatsApp link">
            <a:extLst xmlns:a="http://schemas.openxmlformats.org/drawingml/2006/main">
              <a:ext uri="{FF2B5EF4-FFF2-40B4-BE49-F238E27FC236}">
                <a16:creationId xmlns:a16="http://schemas.microsoft.com/office/drawing/2014/main" id="{59E2D6F8-F32B-4683-A670-F60F23A85FAB}"/>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ad07ffac0e324856"/>
              </a:rPr>
              <a:t>wa.me/919553321211</a:t>
            </a:r>
          </a:p>
        </p:txBody>
      </p:sp>
      <p:sp>
        <p:nvSpPr>
          <p:cNvPr id="13" name="">
            <a:extLst xmlns:a="http://schemas.openxmlformats.org/drawingml/2006/main">
              <a:ext uri="{FF2B5EF4-FFF2-40B4-BE49-F238E27FC236}">
                <a16:creationId xmlns:a16="http://schemas.microsoft.com/office/drawing/2014/main" id="{BDB4798E-F4A9-4A83-8621-E0E1BE5709FD}"/>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A0CE2656-8373-4A63-B1FF-B7F561491239}"/>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17eda6f81bb444f1"/>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76A88DE4-78A3-4C16-B458-5049C79A4521}"/>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AC1233D8-C83B-43E7-A932-670AF66B4773}"/>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9958c07866724cbb"/>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A19C7625-9B4B-4A4B-85E4-9DC0BC399038}"/>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B1DE397E-D8FB-48E9-A660-F91DB6C57934}"/>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3FD56CB0-E068-408B-9E66-34236BA4BF58}"/>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CFD5EBCD-9D43-4C47-83AB-8B2FD4702B76}"/>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B061BD74-2594-4E92-9D81-3589143B4834}"/>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309FF16E-95F6-4E8A-8478-D7EB793AA442}"/>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5CD25299-E831-4251-8428-7768832D9100}"/>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2177B5DA-F548-4E72-A840-86F7EDDC44F7}"/>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E2392AA9-1A92-48E8-A768-0ED55166B2DF}"/>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055B59FC-53EB-41AB-9DF7-6C27DA297555}"/>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46ED86A2-E4F6-46B9-8233-30E0363FE707}"/>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2.xml><?xml version="1.0" encoding="utf-8"?>
<p:sld xmlns:p="http://schemas.openxmlformats.org/presentationml/2006/main">
  <p:cSld>
    <p:bg>
      <p:bgPr>
        <a:solidFill xmlns:a="http://schemas.openxmlformats.org/drawingml/2006/main">
          <a:srgbClr val="006C7C"/>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B4EC9A7B-0255-4D98-8B8E-D0C0CEEB8CFB}"/>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FFFFFF"/>
                </a:solidFill>
                <a:latin typeface="Arial"/>
                <a:ea typeface="Arial"/>
                <a:cs typeface="Arial"/>
              </a:defRPr>
            </a:pPr>
            <a:r>
              <a:rPr sz="3075" b="1">
                <a:solidFill>
                  <a:srgbClr val="FFFFFF"/>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d7903dbc6de402b"/>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E889ADAD-53C4-4091-B386-C014329D9FCE}"/>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DAEDEF"/>
                </a:solidFill>
                <a:latin typeface="Arial"/>
                <a:ea typeface="Arial"/>
                <a:cs typeface="Arial"/>
              </a:defRPr>
            </a:pPr>
            <a:r>
              <a:rPr sz="1163" b="0">
                <a:solidFill>
                  <a:srgbClr val="DAEDEF"/>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2157284D-E8B2-4989-9FA8-D187ABEFBEE9}"/>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5873fb352db4fe5">
            <a:extLst>
              <a:ext uri="{96DAC541-7B7A-43D3-8B79-37D633B846F1}">
                <asvg:svgBlip xmlns:asvg="http://schemas.microsoft.com/office/drawing/2016/SVG/main" r:embed="Rf7d3447506464bec"/>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FAB461D9-5F59-4CDD-AD6E-D18F9A49463B}"/>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D154"/>
                </a:solidFill>
                <a:latin typeface="Arial"/>
                <a:ea typeface="Arial"/>
                <a:cs typeface="Arial"/>
              </a:defRPr>
            </a:pPr>
            <a:r>
              <a:rPr sz="2100" b="1">
                <a:solidFill>
                  <a:srgbClr val="FFD154"/>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300CFD14-852B-44E8-9FEE-1D978B8A44BB}"/>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9cb01b457294f1b">
            <a:extLst>
              <a:ext uri="{96DAC541-7B7A-43D3-8B79-37D633B846F1}">
                <asvg:svgBlip xmlns:asvg="http://schemas.microsoft.com/office/drawing/2016/SVG/main" r:embed="Ree530c774ffb4327"/>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53B29483-AF9A-45AD-A083-92BE2A4E6121}"/>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E0D7FF"/>
                </a:solidFill>
                <a:latin typeface="Arial"/>
                <a:ea typeface="Arial"/>
                <a:cs typeface="Arial"/>
              </a:defRPr>
            </a:pPr>
            <a:r>
              <a:rPr sz="2100" b="1">
                <a:solidFill>
                  <a:srgbClr val="E0D7FF"/>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98C7B578-3EEA-4139-8D5E-18E46B0B492A}"/>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e449e7723ce46c2">
            <a:extLst>
              <a:ext uri="{96DAC541-7B7A-43D3-8B79-37D633B846F1}">
                <asvg:svgBlip xmlns:asvg="http://schemas.microsoft.com/office/drawing/2016/SVG/main" r:embed="Raa0d0923c17a4192"/>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252191D6-C2A8-4663-B8A4-221206DD0821}"/>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DBA74"/>
                </a:solidFill>
                <a:latin typeface="Arial"/>
                <a:ea typeface="Arial"/>
                <a:cs typeface="Arial"/>
              </a:defRPr>
            </a:pPr>
            <a:r>
              <a:rPr sz="2100" b="1">
                <a:solidFill>
                  <a:srgbClr val="FDBA74"/>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D519344F-73E8-40D5-850D-21431D9083A0}"/>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AFDD6593-F2EC-4F44-96CF-A7E8CBEDD0F8}"/>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073F49"/>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25F5D224-BC96-4641-8E28-E93FBE4A54E7}"/>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Families need the care plan, medicines, appointments and help in one place.</a:t>
            </a:r>
          </a:p>
        </p:txBody>
      </p:sp>
    </p:spTree>
    <p:extLst>
      <p:ext uri="{BB962C8B-B14F-4D97-AF65-F5344CB8AC3E}">
        <p14:creationId xmlns:p14="http://schemas.microsoft.com/office/powerpoint/2010/main" val="486496822"/>
      </p:ext>
    </p:extLst>
  </p:cSld>
</p:sld>
</file>

<file path=ppt/slides/slide3.xml><?xml version="1.0" encoding="utf-8"?>
<p:sld xmlns:p="http://schemas.openxmlformats.org/presentationml/2006/main">
  <p:cSld>
    <p:bg>
      <p:bgPr>
        <a:solidFill xmlns:a="http://schemas.openxmlformats.org/drawingml/2006/main">
          <a:srgbClr val="CAD8ED"/>
        </a:solidFill>
      </p:bgPr>
    </p:bg>
    <p:spTree>
      <p:nvGrpSpPr>
        <p:cNvPr id="1" name=""/>
        <p:cNvGrpSpPr/>
        <p:nvPr/>
      </p:nvGrpSpPr>
      <p:grpSpPr>
        <a:xfrm xmlns:a="http://schemas.openxmlformats.org/drawingml/2006/main"/>
      </p:grpSpPr>
      <p:graphicFrame>
        <p:nvGraphicFramePr>
          <p:cNvPr id="40" name="Chart"/>
          <p:cNvGraphicFramePr/>
          <p:nvPr/>
        </p:nvGraphicFramePr>
        <p:xfrm>
          <a:off xmlns:a="http://schemas.openxmlformats.org/drawingml/2006/main" x="7372350" y="2181225"/>
          <a:ext xmlns:a="http://schemas.openxmlformats.org/drawingml/2006/main" cx="4057650" cy="2533650"/>
        </p:xfrm>
        <a:graphic xmlns:a="http://schemas.openxmlformats.org/drawingml/2006/main">
          <a:graphicData uri="http://schemas.openxmlformats.org/drawingml/2006/chart">
            <c:chart xmlns:r="http://schemas.openxmlformats.org/officeDocument/2006/relationships" xmlns:c="http://schemas.openxmlformats.org/drawingml/2006/chart" r:id="Rfc4edc42d1be4682"/>
          </a:graphicData>
        </a:graphic>
      </p:graphicFrame>
      <p:sp>
        <p:nvSpPr>
          <p:cNvPr id="15" name="Slide title">
            <a:extLst xmlns:a="http://schemas.openxmlformats.org/drawingml/2006/main">
              <a:ext uri="{FF2B5EF4-FFF2-40B4-BE49-F238E27FC236}">
                <a16:creationId xmlns:a16="http://schemas.microsoft.com/office/drawing/2014/main" id="{8425384B-C1B4-4D79-9A11-3E8AC2D1F4CC}"/>
              </a:ext>
            </a:extLst>
          </p:cNvPr>
          <p:cNvSpPr>
            <a:spLocks xmlns:a="http://schemas.openxmlformats.org/drawingml/2006/main" noGrp="1"/>
          </p:cNvSpPr>
          <p:nvPr/>
        </p:nvSpPr>
        <p:spPr>
          <a:xfrm xmlns:a="http://schemas.openxmlformats.org/drawingml/2006/main">
            <a:off x="533400" y="361950"/>
            <a:ext cx="11125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sp>
        <p:nvSpPr>
          <p:cNvPr id="16" name="Chennai evidence heading">
            <a:extLst xmlns:a="http://schemas.openxmlformats.org/drawingml/2006/main">
              <a:ext uri="{FF2B5EF4-FFF2-40B4-BE49-F238E27FC236}">
                <a16:creationId xmlns:a16="http://schemas.microsoft.com/office/drawing/2014/main" id="{014443F8-8462-4100-B46F-E815F91EAFEC}"/>
              </a:ext>
            </a:extLst>
          </p:cNvPr>
          <p:cNvSpPr>
            <a:spLocks xmlns:a="http://schemas.openxmlformats.org/drawingml/2006/main" noGrp="1"/>
          </p:cNvSpPr>
          <p:nvPr/>
        </p:nvSpPr>
        <p:spPr>
          <a:xfrm xmlns:a="http://schemas.openxmlformats.org/drawingml/2006/main">
            <a:off x="7143750" y="1333500"/>
            <a:ext cx="4514850" cy="828675"/>
          </a:xfrm>
          <a:prstGeom xmlns:a="http://schemas.openxmlformats.org/drawingml/2006/main" prst="rect">
            <a:avLst/>
          </a:prstGeom>
          <a:solidFill xmlns:a="http://schemas.openxmlformats.org/drawingml/2006/main">
            <a:srgbClr val="F3F6FA"/>
          </a:solidFill>
          <a:ln xmlns:a="http://schemas.openxmlformats.org/drawingml/2006/main" w="0">
            <a:noFill/>
          </a:ln>
        </p:spPr>
      </p:sp>
      <p:sp>
        <p:nvSpPr>
          <p:cNvPr id="17" name="Chennai evidence explanation">
            <a:extLst xmlns:a="http://schemas.openxmlformats.org/drawingml/2006/main">
              <a:ext uri="{FF2B5EF4-FFF2-40B4-BE49-F238E27FC236}">
                <a16:creationId xmlns:a16="http://schemas.microsoft.com/office/drawing/2014/main" id="{B823D147-627D-411E-BEDD-DECE3CECBA3B}"/>
              </a:ext>
            </a:extLst>
          </p:cNvPr>
          <p:cNvSpPr>
            <a:spLocks xmlns:a="http://schemas.openxmlformats.org/drawingml/2006/main" noGrp="1"/>
          </p:cNvSpPr>
          <p:nvPr/>
        </p:nvSpPr>
        <p:spPr>
          <a:xfrm xmlns:a="http://schemas.openxmlformats.org/drawingml/2006/main">
            <a:off x="7143750" y="4791075"/>
            <a:ext cx="4514850" cy="1533525"/>
          </a:xfrm>
          <a:prstGeom xmlns:a="http://schemas.openxmlformats.org/drawingml/2006/main" prst="rect">
            <a:avLst/>
          </a:prstGeom>
          <a:solidFill xmlns:a="http://schemas.openxmlformats.org/drawingml/2006/main">
            <a:srgbClr val="F3F6FA"/>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0babb612d4864a5f">
            <a:extLst>
              <a:ext uri="{96DAC541-7B7A-43D3-8B79-37D633B846F1}">
                <asvg:svgBlip xmlns:asvg="http://schemas.microsoft.com/office/drawing/2016/SVG/main" r:embed="R13866f6d90f3411f"/>
              </a:ext>
            </a:extLst>
          </a:blip>
          <a:stretch xmlns:a="http://schemas.openxmlformats.org/drawingml/2006/main"/>
        </p:blipFill>
        <p:spPr>
          <a:xfrm xmlns:a="http://schemas.openxmlformats.org/drawingml/2006/main">
            <a:off x="533400" y="1543050"/>
            <a:ext cx="400050" cy="400050"/>
          </a:xfrm>
          <a:prstGeom xmlns:a="http://schemas.openxmlformats.org/drawingml/2006/main" prst="rect">
            <a:avLst/>
          </a:prstGeom>
        </p:spPr>
      </p:pic>
      <p:sp>
        <p:nvSpPr>
          <p:cNvPr id="19" name="Evidence 15.6 lakh">
            <a:extLst xmlns:a="http://schemas.openxmlformats.org/drawingml/2006/main">
              <a:ext uri="{FF2B5EF4-FFF2-40B4-BE49-F238E27FC236}">
                <a16:creationId xmlns:a16="http://schemas.microsoft.com/office/drawing/2014/main" id="{E6001882-824B-4EC1-A7B0-ADB03ED3B710}"/>
              </a:ext>
            </a:extLst>
          </p:cNvPr>
          <p:cNvSpPr>
            <a:spLocks xmlns:a="http://schemas.openxmlformats.org/drawingml/2006/main" noGrp="1"/>
          </p:cNvSpPr>
          <p:nvPr/>
        </p:nvSpPr>
        <p:spPr>
          <a:xfrm xmlns:a="http://schemas.openxmlformats.org/drawingml/2006/main">
            <a:off x="105727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B75E43"/>
                </a:solidFill>
                <a:latin typeface="Arial"/>
                <a:ea typeface="Arial"/>
                <a:cs typeface="Arial"/>
              </a:defRPr>
            </a:pPr>
            <a:r>
              <a:rPr sz="3675" b="1">
                <a:solidFill>
                  <a:srgbClr val="B75E43"/>
                </a:solidFill>
                <a:latin typeface="Arial"/>
                <a:ea typeface="Arial"/>
                <a:cs typeface="Arial"/>
              </a:rPr>
              <a:t>15.6 lakh</a:t>
            </a:r>
          </a:p>
        </p:txBody>
      </p:sp>
      <p:sp>
        <p:nvSpPr>
          <p:cNvPr id="20" name="Evidence 15.6 lakh scope">
            <a:extLst xmlns:a="http://schemas.openxmlformats.org/drawingml/2006/main">
              <a:ext uri="{FF2B5EF4-FFF2-40B4-BE49-F238E27FC236}">
                <a16:creationId xmlns:a16="http://schemas.microsoft.com/office/drawing/2014/main" id="{DB69A1A8-5898-4A73-BE20-27A16DC489B6}"/>
              </a:ext>
            </a:extLst>
          </p:cNvPr>
          <p:cNvSpPr>
            <a:spLocks xmlns:a="http://schemas.openxmlformats.org/drawingml/2006/main" noGrp="1"/>
          </p:cNvSpPr>
          <p:nvPr/>
        </p:nvSpPr>
        <p:spPr>
          <a:xfrm xmlns:a="http://schemas.openxmlformats.org/drawingml/2006/main">
            <a:off x="53340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21" name="Evidence 15.6 lakh source">
            <a:extLst xmlns:a="http://schemas.openxmlformats.org/drawingml/2006/main">
              <a:ext uri="{FF2B5EF4-FFF2-40B4-BE49-F238E27FC236}">
                <a16:creationId xmlns:a16="http://schemas.microsoft.com/office/drawing/2014/main" id="{53A429B9-0484-4A08-9B5E-B38173ACCE8E}"/>
              </a:ext>
            </a:extLst>
          </p:cNvPr>
          <p:cNvSpPr>
            <a:spLocks xmlns:a="http://schemas.openxmlformats.org/drawingml/2006/main" noGrp="1"/>
          </p:cNvSpPr>
          <p:nvPr/>
        </p:nvSpPr>
        <p:spPr>
          <a:xfrm xmlns:a="http://schemas.openxmlformats.org/drawingml/2006/main">
            <a:off x="53340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19e3c4be5c784f95"/>
              </a:rPr>
              <a:t>IARC, GLOBOCAN 2024</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ddd7e07cc5864f75">
            <a:extLst>
              <a:ext uri="{96DAC541-7B7A-43D3-8B79-37D633B846F1}">
                <asvg:svgBlip xmlns:asvg="http://schemas.microsoft.com/office/drawing/2016/SVG/main" r:embed="R59066f7536194855"/>
              </a:ext>
            </a:extLst>
          </a:blip>
          <a:stretch xmlns:a="http://schemas.openxmlformats.org/drawingml/2006/main"/>
        </p:blipFill>
        <p:spPr>
          <a:xfrm xmlns:a="http://schemas.openxmlformats.org/drawingml/2006/main">
            <a:off x="3829050" y="1543050"/>
            <a:ext cx="400050" cy="400050"/>
          </a:xfrm>
          <a:prstGeom xmlns:a="http://schemas.openxmlformats.org/drawingml/2006/main" prst="rect">
            <a:avLst/>
          </a:prstGeom>
        </p:spPr>
      </p:pic>
      <p:sp>
        <p:nvSpPr>
          <p:cNvPr id="23" name="Evidence 98.39%">
            <a:extLst xmlns:a="http://schemas.openxmlformats.org/drawingml/2006/main">
              <a:ext uri="{FF2B5EF4-FFF2-40B4-BE49-F238E27FC236}">
                <a16:creationId xmlns:a16="http://schemas.microsoft.com/office/drawing/2014/main" id="{9F5687C3-3F23-4564-BE84-3A1BB6BDC631}"/>
              </a:ext>
            </a:extLst>
          </p:cNvPr>
          <p:cNvSpPr>
            <a:spLocks xmlns:a="http://schemas.openxmlformats.org/drawingml/2006/main" noGrp="1"/>
          </p:cNvSpPr>
          <p:nvPr/>
        </p:nvSpPr>
        <p:spPr>
          <a:xfrm xmlns:a="http://schemas.openxmlformats.org/drawingml/2006/main">
            <a:off x="435292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157B68"/>
                </a:solidFill>
                <a:latin typeface="Arial"/>
                <a:ea typeface="Arial"/>
                <a:cs typeface="Arial"/>
              </a:defRPr>
            </a:pPr>
            <a:r>
              <a:rPr sz="3675" b="1">
                <a:solidFill>
                  <a:srgbClr val="157B68"/>
                </a:solidFill>
                <a:latin typeface="Arial"/>
                <a:ea typeface="Arial"/>
                <a:cs typeface="Arial"/>
              </a:rPr>
              <a:t>98.39%</a:t>
            </a:r>
          </a:p>
        </p:txBody>
      </p:sp>
      <p:sp>
        <p:nvSpPr>
          <p:cNvPr id="24" name="Evidence 98.39% scope">
            <a:extLst xmlns:a="http://schemas.openxmlformats.org/drawingml/2006/main">
              <a:ext uri="{FF2B5EF4-FFF2-40B4-BE49-F238E27FC236}">
                <a16:creationId xmlns:a16="http://schemas.microsoft.com/office/drawing/2014/main" id="{14957FCB-B521-45B2-B598-BBB53D3CF0EC}"/>
              </a:ext>
            </a:extLst>
          </p:cNvPr>
          <p:cNvSpPr>
            <a:spLocks xmlns:a="http://schemas.openxmlformats.org/drawingml/2006/main" noGrp="1"/>
          </p:cNvSpPr>
          <p:nvPr/>
        </p:nvSpPr>
        <p:spPr>
          <a:xfrm xmlns:a="http://schemas.openxmlformats.org/drawingml/2006/main">
            <a:off x="382905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among people whose cancer had spread, across 10 cancer types.</a:t>
            </a:r>
          </a:p>
        </p:txBody>
      </p:sp>
      <p:sp>
        <p:nvSpPr>
          <p:cNvPr id="25" name="Evidence 98.39% source">
            <a:extLst xmlns:a="http://schemas.openxmlformats.org/drawingml/2006/main">
              <a:ext uri="{FF2B5EF4-FFF2-40B4-BE49-F238E27FC236}">
                <a16:creationId xmlns:a16="http://schemas.microsoft.com/office/drawing/2014/main" id="{4D26E477-0EEE-438F-B5FE-43A589F68D04}"/>
              </a:ext>
            </a:extLst>
          </p:cNvPr>
          <p:cNvSpPr>
            <a:spLocks xmlns:a="http://schemas.openxmlformats.org/drawingml/2006/main" noGrp="1"/>
          </p:cNvSpPr>
          <p:nvPr/>
        </p:nvSpPr>
        <p:spPr>
          <a:xfrm xmlns:a="http://schemas.openxmlformats.org/drawingml/2006/main">
            <a:off x="382905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daa9f15296a04df4"/>
              </a:rPr>
              <a:t>Patil et al., 2024</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a2fd59c85fd748b8">
            <a:extLst>
              <a:ext uri="{96DAC541-7B7A-43D3-8B79-37D633B846F1}">
                <asvg:svgBlip xmlns:asvg="http://schemas.microsoft.com/office/drawing/2016/SVG/main" r:embed="R49fa59cb3b0343b3"/>
              </a:ext>
            </a:extLst>
          </a:blip>
          <a:stretch xmlns:a="http://schemas.openxmlformats.org/drawingml/2006/main"/>
        </p:blipFill>
        <p:spPr>
          <a:xfrm xmlns:a="http://schemas.openxmlformats.org/drawingml/2006/main">
            <a:off x="533400" y="4076700"/>
            <a:ext cx="400050" cy="400050"/>
          </a:xfrm>
          <a:prstGeom xmlns:a="http://schemas.openxmlformats.org/drawingml/2006/main" prst="rect">
            <a:avLst/>
          </a:prstGeom>
        </p:spPr>
      </p:pic>
      <p:sp>
        <p:nvSpPr>
          <p:cNvPr id="27" name="Evidence 88%">
            <a:extLst xmlns:a="http://schemas.openxmlformats.org/drawingml/2006/main">
              <a:ext uri="{FF2B5EF4-FFF2-40B4-BE49-F238E27FC236}">
                <a16:creationId xmlns:a16="http://schemas.microsoft.com/office/drawing/2014/main" id="{06F5F89C-7066-47C9-A05E-ED2F9557BC16}"/>
              </a:ext>
            </a:extLst>
          </p:cNvPr>
          <p:cNvSpPr>
            <a:spLocks xmlns:a="http://schemas.openxmlformats.org/drawingml/2006/main" noGrp="1"/>
          </p:cNvSpPr>
          <p:nvPr/>
        </p:nvSpPr>
        <p:spPr>
          <a:xfrm xmlns:a="http://schemas.openxmlformats.org/drawingml/2006/main">
            <a:off x="105727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7353AC"/>
                </a:solidFill>
                <a:latin typeface="Arial"/>
                <a:ea typeface="Arial"/>
                <a:cs typeface="Arial"/>
              </a:defRPr>
            </a:pPr>
            <a:r>
              <a:rPr sz="3675" b="1">
                <a:solidFill>
                  <a:srgbClr val="7353AC"/>
                </a:solidFill>
                <a:latin typeface="Arial"/>
                <a:ea typeface="Arial"/>
                <a:cs typeface="Arial"/>
              </a:rPr>
              <a:t>88%</a:t>
            </a:r>
          </a:p>
        </p:txBody>
      </p:sp>
      <p:sp>
        <p:nvSpPr>
          <p:cNvPr id="28" name="Evidence 88% scope">
            <a:extLst xmlns:a="http://schemas.openxmlformats.org/drawingml/2006/main">
              <a:ext uri="{FF2B5EF4-FFF2-40B4-BE49-F238E27FC236}">
                <a16:creationId xmlns:a16="http://schemas.microsoft.com/office/drawing/2014/main" id="{4CF8ECCA-5FDF-4B4A-95DE-FE743A82E1DF}"/>
              </a:ext>
            </a:extLst>
          </p:cNvPr>
          <p:cNvSpPr>
            <a:spLocks xmlns:a="http://schemas.openxmlformats.org/drawingml/2006/main" noGrp="1"/>
          </p:cNvSpPr>
          <p:nvPr/>
        </p:nvSpPr>
        <p:spPr>
          <a:xfrm xmlns:a="http://schemas.openxmlformats.org/drawingml/2006/main">
            <a:off x="53340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their treatment near the end of life in a 2019 survey of 2,400+ urban respondents.</a:t>
            </a:r>
          </a:p>
        </p:txBody>
      </p:sp>
      <p:sp>
        <p:nvSpPr>
          <p:cNvPr id="29" name="Evidence 88% source">
            <a:extLst xmlns:a="http://schemas.openxmlformats.org/drawingml/2006/main">
              <a:ext uri="{FF2B5EF4-FFF2-40B4-BE49-F238E27FC236}">
                <a16:creationId xmlns:a16="http://schemas.microsoft.com/office/drawing/2014/main" id="{C5501F4F-971B-4CBA-AD87-C0EA72B9A284}"/>
              </a:ext>
            </a:extLst>
          </p:cNvPr>
          <p:cNvSpPr>
            <a:spLocks xmlns:a="http://schemas.openxmlformats.org/drawingml/2006/main" noGrp="1"/>
          </p:cNvSpPr>
          <p:nvPr/>
        </p:nvSpPr>
        <p:spPr>
          <a:xfrm xmlns:a="http://schemas.openxmlformats.org/drawingml/2006/main">
            <a:off x="53340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225dc7e18d4a4423"/>
              </a:rPr>
              <a:t>IndiaSpend reporting; seven cities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ccf3371b645e467d">
            <a:extLst>
              <a:ext uri="{96DAC541-7B7A-43D3-8B79-37D633B846F1}">
                <asvg:svgBlip xmlns:asvg="http://schemas.microsoft.com/office/drawing/2016/SVG/main" r:embed="R724fdf3909324a0d"/>
              </a:ext>
            </a:extLst>
          </a:blip>
          <a:stretch xmlns:a="http://schemas.openxmlformats.org/drawingml/2006/main"/>
        </p:blipFill>
        <p:spPr>
          <a:xfrm xmlns:a="http://schemas.openxmlformats.org/drawingml/2006/main">
            <a:off x="3829050" y="4076700"/>
            <a:ext cx="400050" cy="400050"/>
          </a:xfrm>
          <a:prstGeom xmlns:a="http://schemas.openxmlformats.org/drawingml/2006/main" prst="rect">
            <a:avLst/>
          </a:prstGeom>
        </p:spPr>
      </p:pic>
      <p:sp>
        <p:nvSpPr>
          <p:cNvPr id="31" name="Evidence 11.5%">
            <a:extLst xmlns:a="http://schemas.openxmlformats.org/drawingml/2006/main">
              <a:ext uri="{FF2B5EF4-FFF2-40B4-BE49-F238E27FC236}">
                <a16:creationId xmlns:a16="http://schemas.microsoft.com/office/drawing/2014/main" id="{875F0C94-484A-405D-A22D-F1DC1B19C96F}"/>
              </a:ext>
            </a:extLst>
          </p:cNvPr>
          <p:cNvSpPr>
            <a:spLocks xmlns:a="http://schemas.openxmlformats.org/drawingml/2006/main" noGrp="1"/>
          </p:cNvSpPr>
          <p:nvPr/>
        </p:nvSpPr>
        <p:spPr>
          <a:xfrm xmlns:a="http://schemas.openxmlformats.org/drawingml/2006/main">
            <a:off x="435292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4357C7"/>
                </a:solidFill>
                <a:latin typeface="Arial"/>
                <a:ea typeface="Arial"/>
                <a:cs typeface="Arial"/>
              </a:defRPr>
            </a:pPr>
            <a:r>
              <a:rPr sz="3675" b="1">
                <a:solidFill>
                  <a:srgbClr val="4357C7"/>
                </a:solidFill>
                <a:latin typeface="Arial"/>
                <a:ea typeface="Arial"/>
                <a:cs typeface="Arial"/>
              </a:rPr>
              <a:t>11.5%</a:t>
            </a:r>
          </a:p>
        </p:txBody>
      </p:sp>
      <p:sp>
        <p:nvSpPr>
          <p:cNvPr id="32" name="Evidence 11.5% scope">
            <a:extLst xmlns:a="http://schemas.openxmlformats.org/drawingml/2006/main">
              <a:ext uri="{FF2B5EF4-FFF2-40B4-BE49-F238E27FC236}">
                <a16:creationId xmlns:a16="http://schemas.microsoft.com/office/drawing/2014/main" id="{380317AA-EBF2-422E-A661-B754DF1AFB53}"/>
              </a:ext>
            </a:extLst>
          </p:cNvPr>
          <p:cNvSpPr>
            <a:spLocks xmlns:a="http://schemas.openxmlformats.org/drawingml/2006/main" noGrp="1"/>
          </p:cNvSpPr>
          <p:nvPr/>
        </p:nvSpPr>
        <p:spPr>
          <a:xfrm xmlns:a="http://schemas.openxmlformats.org/drawingml/2006/main">
            <a:off x="382905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at one hospital had training in advance directives, which record wishes for future care.</a:t>
            </a:r>
          </a:p>
        </p:txBody>
      </p:sp>
      <p:sp>
        <p:nvSpPr>
          <p:cNvPr id="33" name="Evidence 11.5% source">
            <a:extLst xmlns:a="http://schemas.openxmlformats.org/drawingml/2006/main">
              <a:ext uri="{FF2B5EF4-FFF2-40B4-BE49-F238E27FC236}">
                <a16:creationId xmlns:a16="http://schemas.microsoft.com/office/drawing/2014/main" id="{66A51FCF-1B9B-4BBB-9A24-D0F63E8456B3}"/>
              </a:ext>
            </a:extLst>
          </p:cNvPr>
          <p:cNvSpPr>
            <a:spLocks xmlns:a="http://schemas.openxmlformats.org/drawingml/2006/main" noGrp="1"/>
          </p:cNvSpPr>
          <p:nvPr/>
        </p:nvSpPr>
        <p:spPr>
          <a:xfrm xmlns:a="http://schemas.openxmlformats.org/drawingml/2006/main">
            <a:off x="382905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ff2853d247324b66"/>
              </a:rPr>
              <a:t>Jacob et al., CMC Vellore, 2026</a:t>
            </a: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6d53a98c08074482">
            <a:extLst>
              <a:ext uri="{96DAC541-7B7A-43D3-8B79-37D633B846F1}">
                <asvg:svgBlip xmlns:asvg="http://schemas.microsoft.com/office/drawing/2016/SVG/main" r:embed="R1aaf2b994ee44594"/>
              </a:ext>
            </a:extLst>
          </a:blip>
          <a:stretch xmlns:a="http://schemas.openxmlformats.org/drawingml/2006/main"/>
        </p:blipFill>
        <p:spPr>
          <a:xfrm xmlns:a="http://schemas.openxmlformats.org/drawingml/2006/main">
            <a:off x="7372350" y="1533525"/>
            <a:ext cx="381000" cy="381000"/>
          </a:xfrm>
          <a:prstGeom xmlns:a="http://schemas.openxmlformats.org/drawingml/2006/main" prst="rect">
            <a:avLst/>
          </a:prstGeom>
        </p:spPr>
      </p:pic>
      <p:sp>
        <p:nvSpPr>
          <p:cNvPr id="35" name="QI measure">
            <a:extLst xmlns:a="http://schemas.openxmlformats.org/drawingml/2006/main">
              <a:ext uri="{FF2B5EF4-FFF2-40B4-BE49-F238E27FC236}">
                <a16:creationId xmlns:a16="http://schemas.microsoft.com/office/drawing/2014/main" id="{7EE91B3C-BE20-49C6-9A1C-DD151335F511}"/>
              </a:ext>
            </a:extLst>
          </p:cNvPr>
          <p:cNvSpPr>
            <a:spLocks xmlns:a="http://schemas.openxmlformats.org/drawingml/2006/main" noGrp="1"/>
          </p:cNvSpPr>
          <p:nvPr/>
        </p:nvSpPr>
        <p:spPr>
          <a:xfrm xmlns:a="http://schemas.openxmlformats.org/drawingml/2006/main">
            <a:off x="7905750" y="1514475"/>
            <a:ext cx="3524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025" b="1">
                <a:solidFill>
                  <a:srgbClr val="173F33"/>
                </a:solidFill>
                <a:latin typeface="Arial"/>
                <a:ea typeface="Arial"/>
                <a:cs typeface="Arial"/>
              </a:defRPr>
            </a:pPr>
            <a:r>
              <a:rPr sz="2025" b="1">
                <a:solidFill>
                  <a:srgbClr val="173F33"/>
                </a:solidFill>
                <a:latin typeface="Arial"/>
                <a:ea typeface="Arial"/>
                <a:cs typeface="Arial"/>
              </a:rPr>
              <a:t>One Chennai hospital improved documentation.</a:t>
            </a:r>
          </a:p>
        </p:txBody>
      </p:sp>
      <p:sp>
        <p:nvSpPr>
          <p:cNvPr id="36" name="QI finding">
            <a:extLst xmlns:a="http://schemas.openxmlformats.org/drawingml/2006/main">
              <a:ext uri="{FF2B5EF4-FFF2-40B4-BE49-F238E27FC236}">
                <a16:creationId xmlns:a16="http://schemas.microsoft.com/office/drawing/2014/main" id="{7490C0F0-08A1-442A-AF02-92DC75CC1025}"/>
              </a:ext>
            </a:extLst>
          </p:cNvPr>
          <p:cNvSpPr>
            <a:spLocks xmlns:a="http://schemas.openxmlformats.org/drawingml/2006/main" noGrp="1"/>
          </p:cNvSpPr>
          <p:nvPr/>
        </p:nvSpPr>
        <p:spPr>
          <a:xfrm xmlns:a="http://schemas.openxmlformats.org/drawingml/2006/main">
            <a:off x="7372350" y="4857750"/>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write down care discussions for 24 of 26 eligible patients.</a:t>
            </a:r>
          </a:p>
        </p:txBody>
      </p:sp>
      <p:sp>
        <p:nvSpPr>
          <p:cNvPr id="37" name="QI scope">
            <a:extLst xmlns:a="http://schemas.openxmlformats.org/drawingml/2006/main">
              <a:ext uri="{FF2B5EF4-FFF2-40B4-BE49-F238E27FC236}">
                <a16:creationId xmlns:a16="http://schemas.microsoft.com/office/drawing/2014/main" id="{533AB050-E1EE-4926-B349-7EFB88FEBCB0}"/>
              </a:ext>
            </a:extLst>
          </p:cNvPr>
          <p:cNvSpPr>
            <a:spLocks xmlns:a="http://schemas.openxmlformats.org/drawingml/2006/main" noGrp="1"/>
          </p:cNvSpPr>
          <p:nvPr/>
        </p:nvSpPr>
        <p:spPr>
          <a:xfrm xmlns:a="http://schemas.openxmlformats.org/drawingml/2006/main">
            <a:off x="7372350" y="5819775"/>
            <a:ext cx="4057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8" name="QI source">
            <a:extLst xmlns:a="http://schemas.openxmlformats.org/drawingml/2006/main">
              <a:ext uri="{FF2B5EF4-FFF2-40B4-BE49-F238E27FC236}">
                <a16:creationId xmlns:a16="http://schemas.microsoft.com/office/drawing/2014/main" id="{5EB427D0-E057-41CD-BF24-5D26E5A61E3A}"/>
              </a:ext>
            </a:extLst>
          </p:cNvPr>
          <p:cNvSpPr>
            <a:spLocks xmlns:a="http://schemas.openxmlformats.org/drawingml/2006/main" noGrp="1"/>
          </p:cNvSpPr>
          <p:nvPr/>
        </p:nvSpPr>
        <p:spPr>
          <a:xfrm xmlns:a="http://schemas.openxmlformats.org/drawingml/2006/main">
            <a:off x="7372350" y="6067425"/>
            <a:ext cx="4057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8b0564410caf4724"/>
              </a:rPr>
              <a:t>Thangasamy et al., 2025</a:t>
            </a:r>
          </a:p>
        </p:txBody>
      </p:sp>
      <p:sp>
        <p:nvSpPr>
          <p:cNvPr id="39" name="Evidence boundary">
            <a:extLst xmlns:a="http://schemas.openxmlformats.org/drawingml/2006/main">
              <a:ext uri="{FF2B5EF4-FFF2-40B4-BE49-F238E27FC236}">
                <a16:creationId xmlns:a16="http://schemas.microsoft.com/office/drawing/2014/main" id="{E6C9EB49-E5F3-4697-92F0-066933A177E9}"/>
              </a:ext>
            </a:extLst>
          </p:cNvPr>
          <p:cNvSpPr>
            <a:spLocks xmlns:a="http://schemas.openxmlformats.org/drawingml/2006/main" noGrp="1"/>
          </p:cNvSpPr>
          <p:nvPr/>
        </p:nvSpPr>
        <p:spPr>
          <a:xfrm xmlns:a="http://schemas.openxmlformats.org/drawingml/2006/main">
            <a:off x="533400" y="6515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Each study looked at a different group of people. These figures are not results from Saathi.</a:t>
            </a:r>
          </a:p>
        </p:txBody>
      </p:sp>
    </p:spTree>
    <p:extLst>
      <p:ext uri="{BB962C8B-B14F-4D97-AF65-F5344CB8AC3E}">
        <p14:creationId xmlns:p14="http://schemas.microsoft.com/office/powerpoint/2010/main" val="1299123762"/>
      </p:ext>
    </p:extLst>
  </p:cSld>
</p:sld>
</file>

<file path=ppt/slides/slide4.xml><?xml version="1.0" encoding="utf-8"?>
<p:sld xmlns:p="http://schemas.openxmlformats.org/presentationml/2006/main">
  <p:cSld>
    <p:bg>
      <p:bgPr>
        <a:solidFill xmlns:a="http://schemas.openxmlformats.org/drawingml/2006/main">
          <a:srgbClr val="FCFAF4"/>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A4190FD9-C97C-4EC0-8275-DE977BDAB038}"/>
              </a:ext>
            </a:extLst>
          </p:cNvPr>
          <p:cNvSpPr>
            <a:spLocks xmlns:a="http://schemas.openxmlformats.org/drawingml/2006/main" noGrp="1"/>
          </p:cNvSpPr>
          <p:nvPr/>
        </p:nvSpPr>
        <p:spPr>
          <a:xfrm xmlns:a="http://schemas.openxmlformats.org/drawingml/2006/main">
            <a:off x="533400" y="361950"/>
            <a:ext cx="1112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Saathi keeps your cancer care in one place.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346647c15534a34"/>
          <a:stretch xmlns:a="http://schemas.openxmlformats.org/drawingml/2006/main"/>
        </p:blipFill>
        <p:spPr>
          <a:xfrm xmlns:a="http://schemas.openxmlformats.org/drawingml/2006/main">
            <a:off x="273222" y="1066800"/>
            <a:ext cx="8673757" cy="5067300"/>
          </a:xfrm>
          <a:prstGeom xmlns:a="http://schemas.openxmlformats.org/drawingml/2006/main" prst="rect">
            <a:avLst/>
          </a:prstGeom>
        </p:spPr>
      </p:pic>
      <p:sp>
        <p:nvSpPr>
          <p:cNvPr id="3" name="Three sign-ins">
            <a:extLst xmlns:a="http://schemas.openxmlformats.org/drawingml/2006/main">
              <a:ext uri="{FF2B5EF4-FFF2-40B4-BE49-F238E27FC236}">
                <a16:creationId xmlns:a16="http://schemas.microsoft.com/office/drawing/2014/main" id="{386D3FE7-D3D7-4221-94FB-7B0D0560B7BA}"/>
              </a:ext>
            </a:extLst>
          </p:cNvPr>
          <p:cNvSpPr>
            <a:spLocks xmlns:a="http://schemas.openxmlformats.org/drawingml/2006/main" noGrp="1"/>
          </p:cNvSpPr>
          <p:nvPr/>
        </p:nvSpPr>
        <p:spPr>
          <a:xfrm xmlns:a="http://schemas.openxmlformats.org/drawingml/2006/main">
            <a:off x="9296400" y="10763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Three sign-ins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2e1d492d12f469b"/>
          <a:stretch xmlns:a="http://schemas.openxmlformats.org/drawingml/2006/main"/>
        </p:blipFill>
        <p:spPr>
          <a:xfrm xmlns:a="http://schemas.openxmlformats.org/drawingml/2006/main">
            <a:off x="9144000" y="1498066"/>
            <a:ext cx="2514600" cy="2690293"/>
          </a:xfrm>
          <a:prstGeom xmlns:a="http://schemas.openxmlformats.org/drawingml/2006/main" prst="rect">
            <a:avLst/>
          </a:prstGeom>
        </p:spPr>
      </p:pic>
      <p:sp>
        <p:nvSpPr>
          <p:cNvPr id="5" name="Patient role">
            <a:extLst xmlns:a="http://schemas.openxmlformats.org/drawingml/2006/main">
              <a:ext uri="{FF2B5EF4-FFF2-40B4-BE49-F238E27FC236}">
                <a16:creationId xmlns:a16="http://schemas.microsoft.com/office/drawing/2014/main" id="{B026C1A3-C417-4310-A52F-BDD9C6297E4D}"/>
              </a:ext>
            </a:extLst>
          </p:cNvPr>
          <p:cNvSpPr>
            <a:spLocks xmlns:a="http://schemas.openxmlformats.org/drawingml/2006/main" noGrp="1"/>
          </p:cNvSpPr>
          <p:nvPr/>
        </p:nvSpPr>
        <p:spPr>
          <a:xfrm xmlns:a="http://schemas.openxmlformats.org/drawingml/2006/main">
            <a:off x="9296400" y="436245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57B68"/>
                </a:solidFill>
                <a:latin typeface="Arial"/>
                <a:ea typeface="Arial"/>
                <a:cs typeface="Arial"/>
              </a:defRPr>
            </a:pPr>
            <a:r>
              <a:rPr sz="1575" b="1">
                <a:solidFill>
                  <a:srgbClr val="157B68"/>
                </a:solidFill>
                <a:latin typeface="Arial"/>
                <a:ea typeface="Arial"/>
                <a:cs typeface="Arial"/>
              </a:rPr>
              <a:t>Patients see their care.</a:t>
            </a:r>
          </a:p>
        </p:txBody>
      </p:sp>
      <p:sp>
        <p:nvSpPr>
          <p:cNvPr id="6" name="Family role">
            <a:extLst xmlns:a="http://schemas.openxmlformats.org/drawingml/2006/main">
              <a:ext uri="{FF2B5EF4-FFF2-40B4-BE49-F238E27FC236}">
                <a16:creationId xmlns:a16="http://schemas.microsoft.com/office/drawing/2014/main" id="{278A204C-5B19-45C4-88DE-4B5DAC89CD6C}"/>
              </a:ext>
            </a:extLst>
          </p:cNvPr>
          <p:cNvSpPr>
            <a:spLocks xmlns:a="http://schemas.openxmlformats.org/drawingml/2006/main" noGrp="1"/>
          </p:cNvSpPr>
          <p:nvPr/>
        </p:nvSpPr>
        <p:spPr>
          <a:xfrm xmlns:a="http://schemas.openxmlformats.org/drawingml/2006/main">
            <a:off x="9296400" y="4714875"/>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7353AC"/>
                </a:solidFill>
                <a:latin typeface="Arial"/>
                <a:ea typeface="Arial"/>
                <a:cs typeface="Arial"/>
              </a:defRPr>
            </a:pPr>
            <a:r>
              <a:rPr sz="1575" b="1">
                <a:solidFill>
                  <a:srgbClr val="7353AC"/>
                </a:solidFill>
                <a:latin typeface="Arial"/>
                <a:ea typeface="Arial"/>
                <a:cs typeface="Arial"/>
              </a:rPr>
              <a:t>Families organise help.</a:t>
            </a:r>
          </a:p>
        </p:txBody>
      </p:sp>
      <p:sp>
        <p:nvSpPr>
          <p:cNvPr id="7" name="Doctor role">
            <a:extLst xmlns:a="http://schemas.openxmlformats.org/drawingml/2006/main">
              <a:ext uri="{FF2B5EF4-FFF2-40B4-BE49-F238E27FC236}">
                <a16:creationId xmlns:a16="http://schemas.microsoft.com/office/drawing/2014/main" id="{E8F62DB7-2FA4-4579-96C3-AA138994EC07}"/>
              </a:ext>
            </a:extLst>
          </p:cNvPr>
          <p:cNvSpPr>
            <a:spLocks xmlns:a="http://schemas.openxmlformats.org/drawingml/2006/main" noGrp="1"/>
          </p:cNvSpPr>
          <p:nvPr/>
        </p:nvSpPr>
        <p:spPr>
          <a:xfrm xmlns:a="http://schemas.openxmlformats.org/drawingml/2006/main">
            <a:off x="9296400" y="506730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374"/>
          </a:bodyPr>
          <a:lstStyle xmlns:a="http://schemas.openxmlformats.org/drawingml/2006/main"/>
          <a:p xmlns:a="http://schemas.openxmlformats.org/drawingml/2006/main">
            <a:pPr>
              <a:defRPr sz="1575" b="1">
                <a:solidFill>
                  <a:srgbClr val="B75E43"/>
                </a:solidFill>
                <a:latin typeface="Arial"/>
                <a:ea typeface="Arial"/>
                <a:cs typeface="Arial"/>
              </a:defRPr>
            </a:pPr>
            <a:r>
              <a:rPr sz="1575" b="1">
                <a:solidFill>
                  <a:srgbClr val="B75E43"/>
                </a:solidFill>
                <a:latin typeface="Arial"/>
                <a:ea typeface="Arial"/>
                <a:cs typeface="Arial"/>
              </a:rPr>
              <a:t>Doctors review and sign.</a:t>
            </a:r>
          </a:p>
        </p:txBody>
      </p:sp>
      <p:sp>
        <p:nvSpPr>
          <p:cNvPr id="8" name="Practical family support">
            <a:extLst xmlns:a="http://schemas.openxmlformats.org/drawingml/2006/main">
              <a:ext uri="{FF2B5EF4-FFF2-40B4-BE49-F238E27FC236}">
                <a16:creationId xmlns:a16="http://schemas.microsoft.com/office/drawing/2014/main" id="{723F535E-A7D0-4724-B8B7-0C3B2A973105}"/>
              </a:ext>
            </a:extLst>
          </p:cNvPr>
          <p:cNvSpPr>
            <a:spLocks xmlns:a="http://schemas.openxmlformats.org/drawingml/2006/main" noGrp="1"/>
          </p:cNvSpPr>
          <p:nvPr/>
        </p:nvSpPr>
        <p:spPr>
          <a:xfrm xmlns:a="http://schemas.openxmlformats.org/drawingml/2006/main">
            <a:off x="9296400" y="5486400"/>
            <a:ext cx="2362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88" b="0">
                <a:solidFill>
                  <a:srgbClr val="173F33"/>
                </a:solidFill>
                <a:latin typeface="Arial"/>
                <a:ea typeface="Arial"/>
                <a:cs typeface="Arial"/>
              </a:defRPr>
            </a:pPr>
            <a:r>
              <a:rPr sz="1388" b="0">
                <a:solidFill>
                  <a:srgbClr val="173F33"/>
                </a:solidFill>
                <a:latin typeface="Arial"/>
                <a:ea typeface="Arial"/>
                <a:cs typeface="Arial"/>
              </a:rPr>
              <a:t>Plan rides and home support. Keep medicine calls, costs, paperwork and emotional support together.</a:t>
            </a:r>
          </a:p>
        </p:txBody>
      </p:sp>
      <p:sp>
        <p:nvSpPr>
          <p:cNvPr id="9" name="Patient home website">
            <a:extLst xmlns:a="http://schemas.openxmlformats.org/drawingml/2006/main">
              <a:ext uri="{FF2B5EF4-FFF2-40B4-BE49-F238E27FC236}">
                <a16:creationId xmlns:a16="http://schemas.microsoft.com/office/drawing/2014/main" id="{FFFE0D66-B8A8-45CA-BEAC-52B9F4190687}"/>
              </a:ext>
            </a:extLst>
          </p:cNvPr>
          <p:cNvSpPr>
            <a:spLocks xmlns:a="http://schemas.openxmlformats.org/drawingml/2006/main" noGrp="1"/>
          </p:cNvSpPr>
          <p:nvPr/>
        </p:nvSpPr>
        <p:spPr>
          <a:xfrm xmlns:a="http://schemas.openxmlformats.org/drawingml/2006/main">
            <a:off x="533400" y="6505575"/>
            <a:ext cx="638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206"/>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ad982fa74f4c472a"/>
              </a:rPr>
              <a:t>OPEN THE WEBSITE - saathi.wedevit.in</a:t>
            </a:r>
          </a:p>
        </p:txBody>
      </p:sp>
      <p:sp>
        <p:nvSpPr>
          <p:cNvPr id="10" name="Support directory">
            <a:extLst xmlns:a="http://schemas.openxmlformats.org/drawingml/2006/main">
              <a:ext uri="{FF2B5EF4-FFF2-40B4-BE49-F238E27FC236}">
                <a16:creationId xmlns:a16="http://schemas.microsoft.com/office/drawing/2014/main" id="{42A90C15-757B-4073-91BA-FBCAD94AB8E2}"/>
              </a:ext>
            </a:extLst>
          </p:cNvPr>
          <p:cNvSpPr>
            <a:spLocks xmlns:a="http://schemas.openxmlformats.org/drawingml/2006/main" noGrp="1"/>
          </p:cNvSpPr>
          <p:nvPr/>
        </p:nvSpPr>
        <p:spPr>
          <a:xfrm xmlns:a="http://schemas.openxmlformats.org/drawingml/2006/main">
            <a:off x="7400925" y="6505575"/>
            <a:ext cx="4257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25" b="0">
                <a:solidFill>
                  <a:srgbClr val="145AC6"/>
                </a:solidFill>
                <a:latin typeface="Arial"/>
                <a:ea typeface="Arial"/>
                <a:cs typeface="Arial"/>
              </a:defRPr>
            </a:pPr>
            <a:r>
              <a:rPr sz="1425" b="0" u="sng">
                <a:solidFill>
                  <a:srgbClr val="145AC6"/>
                </a:solidFill>
                <a:latin typeface="Arial"/>
                <a:ea typeface="Arial"/>
                <a:cs typeface="Arial"/>
                <a:hlinkClick xmlns:r="http://schemas.openxmlformats.org/officeDocument/2006/relationships" r:id="R822d57c9f9484a65"/>
              </a:rPr>
              <a:t>Find a centre and call to confirm.</a:t>
            </a:r>
          </a:p>
        </p:txBody>
      </p:sp>
    </p:spTree>
    <p:extLst>
      <p:ext uri="{BB962C8B-B14F-4D97-AF65-F5344CB8AC3E}">
        <p14:creationId xmlns:p14="http://schemas.microsoft.com/office/powerpoint/2010/main" val="221085739"/>
      </p:ext>
    </p:extLst>
  </p:cSld>
</p:sld>
</file>

<file path=ppt/slides/slide5.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bg>
      <p:bgPr>
        <a:solidFill>
          <a:srgbClr val="FFC799"/>
        </a:solidFill>
      </p:bgPr>
    </p:bg>
    <p:spTree>
      <p:nvGrpSpPr>
        <p:cNvPr id="1" name=""/>
        <p:cNvGrpSpPr/>
        <p:nvPr/>
      </p:nvGrpSpPr>
      <p:grpSpPr>
        <a:xfrm/>
      </p:grpSpPr>
      <p:sp>
        <p:nvSpPr>
          <p:cNvPr id="15" name="Slide title">
            <a:extLst>
              <a:ext uri="{FF2B5EF4-FFF2-40B4-BE49-F238E27FC236}">
                <ns2:creationId id="{093A10E2-5F7A-450A-BE81-478CAB777BE7}"/>
              </a:ext>
            </a:extLst>
          </p:cNvPr>
          <p:cNvSpPr>
            <a:spLocks noGrp="1"/>
          </p:cNvSpPr>
          <p:nvPr/>
        </p:nvSpPr>
        <p:spPr>
          <a:xfrm>
            <a:off x="533400" y="361950"/>
            <a:ext cx="11125200" cy="600075"/>
          </a:xfrm>
          <a:prstGeom prst="rect">
            <a:avLst/>
          </a:prstGeom>
          <a:noFill/>
          <a:ln w="0">
            <a:noFill/>
          </a:ln>
        </p:spPr>
        <p:txBody>
          <a:bodyPr wrap="square" lIns="0" tIns="0" rIns="0" bIns="0">
            <a:normAutofit fontScale="100000"/>
          </a:bodyPr>
          <a:lstStyle/>
          <a:p>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Conversation purpose">
            <a:extLst>
              <a:ext uri="{FF2B5EF4-FFF2-40B4-BE49-F238E27FC236}">
                <ns2:creationId id="{116295C9-56F8-423A-BC69-F791F79C407B}"/>
              </a:ext>
            </a:extLst>
          </p:cNvPr>
          <p:cNvSpPr>
            <a:spLocks noGrp="1"/>
          </p:cNvSpPr>
          <p:nvPr/>
        </p:nvSpPr>
        <p:spPr>
          <a:xfrm>
            <a:off x="533400" y="1028700"/>
            <a:ext cx="11125200" cy="400050"/>
          </a:xfrm>
          <a:prstGeom prst="rect">
            <a:avLst/>
          </a:prstGeom>
          <a:noFill/>
          <a:ln w="0">
            <a:noFill/>
          </a:ln>
        </p:spPr>
        <p:txBody>
          <a:bodyPr wrap="square" lIns="0" tIns="0" rIns="0" bIns="0">
            <a:normAutofit fontScale="100000"/>
          </a:bodyPr>
          <a:lstStyle/>
          <a:p>
            <a:pPr>
              <a:defRPr sz="1875" b="0">
                <a:solidFill>
                  <a:srgbClr val="53655C"/>
                </a:solidFill>
                <a:latin typeface="Arial"/>
                <a:ea typeface="Arial"/>
                <a:cs typeface="Arial"/>
              </a:defRPr>
            </a:pPr>
            <a:r>
              <a:rPr sz="1875" b="0">
                <a:solidFill>
                  <a:srgbClr val="53655C"/>
                </a:solidFill>
                <a:latin typeface="Arial"/>
                <a:ea typeface="Arial"/>
                <a:cs typeface="Arial"/>
              </a:rPr>
              <a:t>The conversation stays with the family after the visit.</a:t>
            </a:r>
          </a:p>
        </p:txBody>
      </p:sp>
      <p:pic>
        <p:nvPicPr>
          <p:cNvPr id="17" name="Generated consultation illustration with a phone recording the conversation" descr="Generated consultation illustration with a phone recording the conversation"/>
          <p:cNvPicPr>
            <a:picLocks noChangeAspect="1"/>
          </p:cNvPicPr>
          <p:nvPr/>
        </p:nvPicPr>
        <p:blipFill>
          <a:blip r:embed="R49d12a3504964c35"/>
          <a:srcRect l="0" t="2473" r="0" b="2473"/>
          <a:stretch>
            <a:fillRect/>
          </a:stretch>
        </p:blipFill>
        <p:spPr>
          <a:xfrm>
            <a:off x="533400" y="1562100"/>
            <a:ext cx="4429125" cy="4210050"/>
          </a:xfrm>
          <a:prstGeom prst="rect">
            <a:avLst/>
          </a:prstGeom>
        </p:spPr>
      </p:pic>
      <p:pic>
        <p:nvPicPr>
          <p:cNvPr id="18" name="Saathi recording consent and voice controls" descr="Saathi recording consent and voice controls"/>
          <p:cNvPicPr>
            <a:picLocks noChangeAspect="1"/>
          </p:cNvPicPr>
          <p:nvPr/>
        </p:nvPicPr>
        <p:blipFill>
          <a:blip r:embed="R2cd9253e532640d3"/>
          <a:srcRect l="1354" t="34298" r="65403" b="0"/>
          <a:stretch>
            <a:fillRect/>
          </a:stretch>
        </p:blipFill>
        <p:spPr>
          <a:xfrm>
            <a:off x="5410200" y="1657350"/>
            <a:ext cx="3400425" cy="3143250"/>
          </a:xfrm>
          <a:prstGeom prst="rect">
            <a:avLst/>
          </a:prstGeom>
        </p:spPr>
      </p:pic>
      <p:sp>
        <p:nvSpPr>
          <p:cNvPr id="5" name="Source traceability">
            <a:extLst>
              <a:ext uri="{FF2B5EF4-FFF2-40B4-BE49-F238E27FC236}">
                <ns2:creationId id="{1C374C95-F2CF-4751-9DBC-1DE9FD7199F1}"/>
              </a:ext>
            </a:extLst>
          </p:cNvPr>
          <p:cNvSpPr>
            <a:spLocks noGrp="1"/>
          </p:cNvSpPr>
          <p:nvPr/>
        </p:nvSpPr>
        <p:spPr>
          <a:xfrm>
            <a:off x="5410200" y="5133975"/>
            <a:ext cx="3400425" cy="714375"/>
          </a:xfrm>
          <a:prstGeom prst="rect">
            <a:avLst/>
          </a:prstGeom>
          <a:noFill/>
          <a:ln w="0">
            <a:noFill/>
          </a:ln>
        </p:spPr>
        <p:txBody>
          <a:bodyPr wrap="square" lIns="0" tIns="0" rIns="0" bIns="0">
            <a:normAutofit fontScale="100000"/>
          </a:bodyPr>
          <a:lstStyle/>
          <a:p>
            <a:pPr>
              <a:defRPr sz="1950" b="1">
                <a:solidFill>
                  <a:srgbClr val="173F33"/>
                </a:solidFill>
                <a:latin typeface="Arial"/>
                <a:ea typeface="Arial"/>
                <a:cs typeface="Arial"/>
              </a:defRPr>
            </a:pPr>
            <a:r>
              <a:rPr sz="1950" b="1">
                <a:solidFill>
                  <a:srgbClr val="173F33"/>
                </a:solidFill>
                <a:latin typeface="Arial"/>
                <a:ea typeface="Arial"/>
                <a:cs typeface="Arial"/>
              </a:rPr>
              <a:t>Every signed Care Note stays in the history.</a:t>
            </a:r>
          </a:p>
        </p:txBody>
      </p:sp>
      <p:sp>
        <p:nvSpPr>
          <p:cNvPr id="6" name="Proposed voice provider">
            <a:extLst>
              <a:ext uri="{FF2B5EF4-FFF2-40B4-BE49-F238E27FC236}">
                <ns2:creationId id="{59AD42AA-BD42-4A53-B468-B4C44B7F8311}"/>
              </a:ext>
            </a:extLst>
          </p:cNvPr>
          <p:cNvSpPr>
            <a:spLocks noGrp="1"/>
          </p:cNvSpPr>
          <p:nvPr/>
        </p:nvSpPr>
        <p:spPr>
          <a:xfrm>
            <a:off x="533400" y="6543675"/>
            <a:ext cx="11125200" cy="228600"/>
          </a:xfrm>
          <a:prstGeom prst="rect">
            <a:avLst/>
          </a:prstGeom>
          <a:noFill/>
          <a:ln w="0">
            <a:noFill/>
          </a:ln>
        </p:spPr>
        <p:txBody>
          <a:bodyPr wrap="square" lIns="0" tIns="0" rIns="0" bIns="0">
            <a:normAutofit fontScale="100000"/>
          </a:bodyPr>
          <a:lstStyle/>
          <a:p>
            <a:pPr>
              <a:defRPr sz="1313" b="0">
                <a:solidFill>
                  <a:srgbClr val="145AC6"/>
                </a:solidFill>
                <a:latin typeface="Arial"/>
                <a:ea typeface="Arial"/>
                <a:cs typeface="Arial"/>
              </a:defRPr>
            </a:pPr>
            <a:r>
              <a:rPr sz="1313" b="0" u="sng">
                <a:solidFill>
                  <a:srgbClr val="145AC6"/>
                </a:solidFill>
                <a:latin typeface="Arial"/>
                <a:ea typeface="Arial"/>
                <a:cs typeface="Arial"/>
                <a:hlinkClick r:id="Red818eea14604303"/>
              </a:rPr>
              <a:t>Planned with Sarvam AI: Indian-language speech, translation and read-aloud.</a:t>
            </a:r>
          </a:p>
        </p:txBody>
      </p:sp>
      <p:pic>
        <p:nvPicPr>
          <p:cNvPr id="21" name=""/>
          <p:cNvPicPr>
            <a:picLocks noChangeAspect="1"/>
          </p:cNvPicPr>
          <p:nvPr/>
        </p:nvPicPr>
        <p:blipFill>
          <a:blip r:embed="Rb4ef3e69ba6a4e64">
            <a:extLst>
              <a:ext uri="{96DAC541-7B7A-43D3-8B79-37D633B846F1}">
                <ns4:svgBlip r:embed="Re35a4f56a84741bf"/>
              </a:ext>
            </a:extLst>
          </a:blip>
          <a:stretch/>
        </p:blipFill>
        <p:spPr>
          <a:xfrm>
            <a:off x="9201150" y="1714500"/>
            <a:ext cx="400050" cy="400050"/>
          </a:xfrm>
          <a:prstGeom prst="rect">
            <a:avLst/>
          </a:prstGeom>
        </p:spPr>
      </p:pic>
      <p:sp>
        <p:nvSpPr>
          <p:cNvPr id="8" name="AI step 1">
            <a:extLst>
              <a:ext uri="{FF2B5EF4-FFF2-40B4-BE49-F238E27FC236}">
                <ns2:creationId id="{79C28314-8FA0-49E3-8BB4-E68B806EEF2C}"/>
              </a:ext>
            </a:extLst>
          </p:cNvPr>
          <p:cNvSpPr>
            <a:spLocks noGrp="1"/>
          </p:cNvSpPr>
          <p:nvPr/>
        </p:nvSpPr>
        <p:spPr>
          <a:xfrm>
            <a:off x="9734550" y="1657350"/>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1. Record with permission.</a:t>
            </a:r>
          </a:p>
        </p:txBody>
      </p:sp>
      <p:pic>
        <p:nvPicPr>
          <p:cNvPr id="23" name=""/>
          <p:cNvPicPr>
            <a:picLocks noChangeAspect="1"/>
          </p:cNvPicPr>
          <p:nvPr/>
        </p:nvPicPr>
        <p:blipFill>
          <a:blip r:embed="R83c03ff783ab4820">
            <a:extLst>
              <a:ext uri="{96DAC541-7B7A-43D3-8B79-37D633B846F1}">
                <ns4:svgBlip r:embed="R16f59f48009c42b8"/>
              </a:ext>
            </a:extLst>
          </a:blip>
          <a:stretch/>
        </p:blipFill>
        <p:spPr>
          <a:xfrm>
            <a:off x="9201150" y="2771775"/>
            <a:ext cx="400050" cy="400050"/>
          </a:xfrm>
          <a:prstGeom prst="rect">
            <a:avLst/>
          </a:prstGeom>
        </p:spPr>
      </p:pic>
      <p:sp>
        <p:nvSpPr>
          <p:cNvPr id="10" name="AI step 2">
            <a:extLst>
              <a:ext uri="{FF2B5EF4-FFF2-40B4-BE49-F238E27FC236}">
                <ns2:creationId id="{6A493184-5A48-4FF6-B1E3-50FE666B9CB5}"/>
              </a:ext>
            </a:extLst>
          </p:cNvPr>
          <p:cNvSpPr>
            <a:spLocks noGrp="1"/>
          </p:cNvSpPr>
          <p:nvPr/>
        </p:nvSpPr>
        <p:spPr>
          <a:xfrm>
            <a:off x="9734550" y="2714625"/>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2. AI prepares a draft.</a:t>
            </a:r>
          </a:p>
        </p:txBody>
      </p:sp>
      <p:pic>
        <p:nvPicPr>
          <p:cNvPr id="25" name=""/>
          <p:cNvPicPr>
            <a:picLocks noChangeAspect="1"/>
          </p:cNvPicPr>
          <p:nvPr/>
        </p:nvPicPr>
        <p:blipFill>
          <a:blip r:embed="R0b3c658ca4ec45c1">
            <a:extLst>
              <a:ext uri="{96DAC541-7B7A-43D3-8B79-37D633B846F1}">
                <ns4:svgBlip r:embed="Rb78c1ea0df1e495f"/>
              </a:ext>
            </a:extLst>
          </a:blip>
          <a:stretch/>
        </p:blipFill>
        <p:spPr>
          <a:xfrm>
            <a:off x="9201150" y="3829050"/>
            <a:ext cx="400050" cy="400050"/>
          </a:xfrm>
          <a:prstGeom prst="rect">
            <a:avLst/>
          </a:prstGeom>
        </p:spPr>
      </p:pic>
      <p:sp>
        <p:nvSpPr>
          <p:cNvPr id="12" name="AI step 3">
            <a:extLst>
              <a:ext uri="{FF2B5EF4-FFF2-40B4-BE49-F238E27FC236}">
                <ns2:creationId id="{9920FCCE-B411-434C-A199-79C325A5C0E0}"/>
              </a:ext>
            </a:extLst>
          </p:cNvPr>
          <p:cNvSpPr>
            <a:spLocks noGrp="1"/>
          </p:cNvSpPr>
          <p:nvPr/>
        </p:nvSpPr>
        <p:spPr>
          <a:xfrm>
            <a:off x="9734550" y="3771900"/>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3. The doctor checks and signs.</a:t>
            </a:r>
          </a:p>
        </p:txBody>
      </p:sp>
      <p:pic>
        <p:nvPicPr>
          <p:cNvPr id="27" name=""/>
          <p:cNvPicPr>
            <a:picLocks noChangeAspect="1"/>
          </p:cNvPicPr>
          <p:nvPr/>
        </p:nvPicPr>
        <p:blipFill>
          <a:blip r:embed="R8269bb6925644b15">
            <a:extLst>
              <a:ext uri="{96DAC541-7B7A-43D3-8B79-37D633B846F1}">
                <ns4:svgBlip r:embed="Raf5897203a134d53"/>
              </a:ext>
            </a:extLst>
          </a:blip>
          <a:stretch/>
        </p:blipFill>
        <p:spPr>
          <a:xfrm>
            <a:off x="9201150" y="4886325"/>
            <a:ext cx="400050" cy="400050"/>
          </a:xfrm>
          <a:prstGeom prst="rect">
            <a:avLst/>
          </a:prstGeom>
        </p:spPr>
      </p:pic>
      <p:sp>
        <p:nvSpPr>
          <p:cNvPr id="14" name="AI step 4">
            <a:extLst>
              <a:ext uri="{FF2B5EF4-FFF2-40B4-BE49-F238E27FC236}">
                <ns2:creationId id="{CBD168DD-B5F8-4B8C-8347-4B908D0412EA}"/>
              </a:ext>
            </a:extLst>
          </p:cNvPr>
          <p:cNvSpPr>
            <a:spLocks noGrp="1"/>
          </p:cNvSpPr>
          <p:nvPr/>
        </p:nvSpPr>
        <p:spPr>
          <a:xfrm>
            <a:off x="9734550" y="4829175"/>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4. The patient reviews and signs.</a:t>
            </a:r>
          </a:p>
        </p:txBody>
      </p:sp>
    </p:spTree>
    <p:extLst>
      <p:ext uri="{BB962C8B-B14F-4D97-AF65-F5344CB8AC3E}">
        <ns5:creationId val="1779657811"/>
      </p:ext>
    </p:extLst>
  </p:cSld>
</p:sld>
</file>

<file path=ppt/slides/slide6.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bg>
      <p:bgPr>
        <a:solidFill>
          <a:srgbClr val="E8F4F0"/>
        </a:solidFill>
      </p:bgPr>
    </p:bg>
    <p:spTree>
      <p:nvGrpSpPr>
        <p:cNvPr id="1" name=""/>
        <p:cNvGrpSpPr/>
        <p:nvPr/>
      </p:nvGrpSpPr>
      <p:grpSpPr>
        <a:xfrm/>
      </p:grpSpPr>
      <p:sp>
        <p:nvSpPr>
          <p:cNvPr id="17" name="Slide title">
            <a:extLst>
              <a:ext uri="{FF2B5EF4-FFF2-40B4-BE49-F238E27FC236}">
                <ns2:creationId id="{EE4F9E05-4D2C-496B-99B0-C759D361AACF}"/>
              </a:ext>
            </a:extLst>
          </p:cNvPr>
          <p:cNvSpPr>
            <a:spLocks noGrp="1"/>
          </p:cNvSpPr>
          <p:nvPr/>
        </p:nvSpPr>
        <p:spPr>
          <a:xfrm>
            <a:off x="533400" y="361950"/>
            <a:ext cx="11125200" cy="600075"/>
          </a:xfrm>
          <a:prstGeom prst="rect">
            <a:avLst/>
          </a:prstGeom>
          <a:noFill/>
          <a:ln w="0">
            <a:noFill/>
          </a:ln>
        </p:spPr>
        <p:txBody>
          <a:bodyPr wrap="square" lIns="0" tIns="0" rIns="0" bIns="0">
            <a:normAutofit fontScale="100000"/>
          </a:bodyPr>
          <a:lstStyle/>
          <a:p>
            <a:pPr>
              <a:defRPr sz="3000" b="1">
                <a:solidFill>
                  <a:srgbClr val="173F33"/>
                </a:solidFill>
                <a:latin typeface="Arial"/>
                <a:ea typeface="Arial"/>
                <a:cs typeface="Arial"/>
              </a:defRPr>
            </a:pPr>
            <a:r>
              <a:rPr sz="3000" b="1">
                <a:solidFill>
                  <a:srgbClr val="173F33"/>
                </a:solidFill>
                <a:latin typeface="Arial"/>
                <a:ea typeface="Arial"/>
                <a:cs typeface="Arial"/>
              </a:rPr>
              <a:t>AI helps families and doctors use patient records.</a:t>
            </a:r>
          </a:p>
        </p:txBody>
      </p:sp>
      <p:sp>
        <p:nvSpPr>
          <p:cNvPr id="2" name="Records assistant purpose">
            <a:extLst>
              <a:ext uri="{FF2B5EF4-FFF2-40B4-BE49-F238E27FC236}">
                <ns2:creationId id="{EF2F6903-A54E-42B3-9F39-7B33781B2970}"/>
              </a:ext>
            </a:extLst>
          </p:cNvPr>
          <p:cNvSpPr>
            <a:spLocks noGrp="1"/>
          </p:cNvSpPr>
          <p:nvPr/>
        </p:nvSpPr>
        <p:spPr>
          <a:xfrm>
            <a:off x="533400" y="1028700"/>
            <a:ext cx="11125200" cy="400050"/>
          </a:xfrm>
          <a:prstGeom prst="rect">
            <a:avLst/>
          </a:prstGeom>
          <a:noFill/>
          <a:ln w="0">
            <a:noFill/>
          </a:ln>
        </p:spPr>
        <p:txBody>
          <a:bodyPr wrap="square" lIns="0" tIns="0" rIns="0" bIns="0">
            <a:normAutofit fontScale="100000"/>
          </a:bodyPr>
          <a:lstStyle/>
          <a:p>
            <a:pPr>
              <a:defRPr sz="1800" b="0">
                <a:solidFill>
                  <a:srgbClr val="53655C"/>
                </a:solidFill>
                <a:latin typeface="Arial"/>
                <a:ea typeface="Arial"/>
                <a:cs typeface="Arial"/>
              </a:defRPr>
            </a:pPr>
            <a:r>
              <a:rPr sz="1800" b="0">
                <a:solidFill>
                  <a:srgbClr val="53655C"/>
                </a:solidFill>
                <a:latin typeface="Arial"/>
                <a:ea typeface="Arial"/>
                <a:cs typeface="Arial"/>
              </a:rPr>
              <a:t>With the patient’s permission, find answers and see the original passage.</a:t>
            </a:r>
          </a:p>
        </p:txBody>
      </p:sp>
      <p:pic>
        <p:nvPicPr>
          <p:cNvPr id="19" name="Generated concept illustration of finding an instruction in the original report" descr="Generated concept illustration of finding an instruction in the original report"/>
          <p:cNvPicPr>
            <a:picLocks noChangeAspect="1"/>
          </p:cNvPicPr>
          <p:nvPr/>
        </p:nvPicPr>
        <p:blipFill>
          <a:blip r:embed="Rc91f03a21e314f02"/>
          <a:srcRect l="0" t="240" r="0" b="240"/>
          <a:stretch>
            <a:fillRect/>
          </a:stretch>
        </p:blipFill>
        <p:spPr>
          <a:xfrm>
            <a:off x="533400" y="1695450"/>
            <a:ext cx="7686675" cy="4305300"/>
          </a:xfrm>
          <a:prstGeom prst="rect">
            <a:avLst/>
          </a:prstGeom>
        </p:spPr>
      </p:pic>
      <p:pic>
        <p:nvPicPr>
          <p:cNvPr id="20" name=""/>
          <p:cNvPicPr>
            <a:picLocks noChangeAspect="1"/>
          </p:cNvPicPr>
          <p:nvPr/>
        </p:nvPicPr>
        <p:blipFill>
          <a:blip r:embed="Rf5cca760a85e4154">
            <a:extLst>
              <a:ext uri="{96DAC541-7B7A-43D3-8B79-37D633B846F1}">
                <ns4:svgBlip r:embed="Ra6e982088c5145c6"/>
              </a:ext>
            </a:extLst>
          </a:blip>
          <a:stretch/>
        </p:blipFill>
        <p:spPr>
          <a:xfrm>
            <a:off x="8610600" y="1790700"/>
            <a:ext cx="666750" cy="666750"/>
          </a:xfrm>
          <a:prstGeom prst="rect">
            <a:avLst/>
          </a:prstGeom>
        </p:spPr>
      </p:pic>
      <p:sp>
        <p:nvSpPr>
          <p:cNvPr id="5" name="Records step 1">
            <a:extLst>
              <a:ext uri="{FF2B5EF4-FFF2-40B4-BE49-F238E27FC236}">
                <ns2:creationId id="{E64156E5-7683-4403-951C-4D347B314433}"/>
              </a:ext>
            </a:extLst>
          </p:cNvPr>
          <p:cNvSpPr>
            <a:spLocks noGrp="1"/>
          </p:cNvSpPr>
          <p:nvPr/>
        </p:nvSpPr>
        <p:spPr>
          <a:xfrm>
            <a:off x="9477375" y="1800225"/>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1. Add a report.</a:t>
            </a:r>
          </a:p>
        </p:txBody>
      </p:sp>
      <p:sp>
        <p:nvSpPr>
          <p:cNvPr id="6" name="Records step 1 detail">
            <a:extLst>
              <a:ext uri="{FF2B5EF4-FFF2-40B4-BE49-F238E27FC236}">
                <ns2:creationId id="{175460BE-C5E7-4435-A4BE-8A91D60F4A72}"/>
              </a:ext>
            </a:extLst>
          </p:cNvPr>
          <p:cNvSpPr>
            <a:spLocks noGrp="1"/>
          </p:cNvSpPr>
          <p:nvPr/>
        </p:nvSpPr>
        <p:spPr>
          <a:xfrm>
            <a:off x="9477375" y="2581275"/>
            <a:ext cx="2181225" cy="542925"/>
          </a:xfrm>
          <a:prstGeom prst="rect">
            <a:avLst/>
          </a:prstGeom>
          <a:noFill/>
          <a:ln w="0">
            <a:noFill/>
          </a:ln>
        </p:spPr>
        <p:txBody>
          <a:bodyPr wrap="square" lIns="0" tIns="0" rIns="0" bIns="0">
            <a:normAutofit fontScale="100000"/>
          </a:bodyPr>
          <a:lstStyle/>
          <a:p>
            <a:pPr>
              <a:defRPr sz="1575" b="0">
                <a:solidFill>
                  <a:srgbClr val="53655C"/>
                </a:solidFill>
                <a:latin typeface="Arial"/>
                <a:ea typeface="Arial"/>
                <a:cs typeface="Arial"/>
              </a:defRPr>
            </a:pPr>
            <a:r>
              <a:rPr sz="1575" b="0">
                <a:solidFill>
                  <a:srgbClr val="53655C"/>
                </a:solidFill>
                <a:latin typeface="Arial"/>
                <a:ea typeface="Arial"/>
                <a:cs typeface="Arial"/>
              </a:rPr>
              <a:t>Or a printed prescription.</a:t>
            </a:r>
          </a:p>
        </p:txBody>
      </p:sp>
      <p:pic>
        <p:nvPicPr>
          <p:cNvPr id="23" name=""/>
          <p:cNvPicPr>
            <a:picLocks noChangeAspect="1"/>
          </p:cNvPicPr>
          <p:nvPr/>
        </p:nvPicPr>
        <p:blipFill>
          <a:blip r:embed="R08d1ea07a01e41de">
            <a:extLst>
              <a:ext uri="{96DAC541-7B7A-43D3-8B79-37D633B846F1}">
                <ns4:svgBlip r:embed="R117ca4946ec44671"/>
              </a:ext>
            </a:extLst>
          </a:blip>
          <a:stretch/>
        </p:blipFill>
        <p:spPr>
          <a:xfrm>
            <a:off x="8810625" y="2781300"/>
            <a:ext cx="247650" cy="247650"/>
          </a:xfrm>
          <a:prstGeom prst="rect">
            <a:avLst/>
          </a:prstGeom>
        </p:spPr>
      </p:pic>
      <p:pic>
        <p:nvPicPr>
          <p:cNvPr id="24" name=""/>
          <p:cNvPicPr>
            <a:picLocks noChangeAspect="1"/>
          </p:cNvPicPr>
          <p:nvPr/>
        </p:nvPicPr>
        <p:blipFill>
          <a:blip r:embed="R835393cfc1044d3b">
            <a:extLst>
              <a:ext uri="{96DAC541-7B7A-43D3-8B79-37D633B846F1}">
                <ns4:svgBlip r:embed="Rdf292576db4742b5"/>
              </a:ext>
            </a:extLst>
          </a:blip>
          <a:stretch/>
        </p:blipFill>
        <p:spPr>
          <a:xfrm>
            <a:off x="8610600" y="3267075"/>
            <a:ext cx="666750" cy="666750"/>
          </a:xfrm>
          <a:prstGeom prst="rect">
            <a:avLst/>
          </a:prstGeom>
        </p:spPr>
      </p:pic>
      <p:sp>
        <p:nvSpPr>
          <p:cNvPr id="9" name="Records step 2">
            <a:extLst>
              <a:ext uri="{FF2B5EF4-FFF2-40B4-BE49-F238E27FC236}">
                <ns2:creationId id="{4E03E24E-047C-4522-B166-4DC23E9A3E70}"/>
              </a:ext>
            </a:extLst>
          </p:cNvPr>
          <p:cNvSpPr>
            <a:spLocks noGrp="1"/>
          </p:cNvSpPr>
          <p:nvPr/>
        </p:nvSpPr>
        <p:spPr>
          <a:xfrm>
            <a:off x="9477375" y="3276600"/>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2. Ask in your own words.</a:t>
            </a:r>
          </a:p>
        </p:txBody>
      </p:sp>
      <p:pic>
        <p:nvPicPr>
          <p:cNvPr id="26" name=""/>
          <p:cNvPicPr>
            <a:picLocks noChangeAspect="1"/>
          </p:cNvPicPr>
          <p:nvPr/>
        </p:nvPicPr>
        <p:blipFill>
          <a:blip r:embed="R62e42a7d8c174cdb">
            <a:extLst>
              <a:ext uri="{96DAC541-7B7A-43D3-8B79-37D633B846F1}">
                <ns4:svgBlip r:embed="Rc2486e31cfde4b52"/>
              </a:ext>
            </a:extLst>
          </a:blip>
          <a:stretch/>
        </p:blipFill>
        <p:spPr>
          <a:xfrm>
            <a:off x="8810625" y="4257675"/>
            <a:ext cx="247650" cy="247650"/>
          </a:xfrm>
          <a:prstGeom prst="rect">
            <a:avLst/>
          </a:prstGeom>
        </p:spPr>
      </p:pic>
      <p:pic>
        <p:nvPicPr>
          <p:cNvPr id="27" name=""/>
          <p:cNvPicPr>
            <a:picLocks noChangeAspect="1"/>
          </p:cNvPicPr>
          <p:nvPr/>
        </p:nvPicPr>
        <p:blipFill>
          <a:blip r:embed="Radc29ec02a9141db">
            <a:extLst>
              <a:ext uri="{96DAC541-7B7A-43D3-8B79-37D633B846F1}">
                <ns4:svgBlip r:embed="Rbc327fa7fbac4592"/>
              </a:ext>
            </a:extLst>
          </a:blip>
          <a:stretch/>
        </p:blipFill>
        <p:spPr>
          <a:xfrm>
            <a:off x="8610600" y="4743450"/>
            <a:ext cx="666750" cy="666750"/>
          </a:xfrm>
          <a:prstGeom prst="rect">
            <a:avLst/>
          </a:prstGeom>
        </p:spPr>
      </p:pic>
      <p:sp>
        <p:nvSpPr>
          <p:cNvPr id="12" name="Records step 3">
            <a:extLst>
              <a:ext uri="{FF2B5EF4-FFF2-40B4-BE49-F238E27FC236}">
                <ns2:creationId id="{042FD3A5-07E2-4A44-B3C1-D59F0DF6CD96}"/>
              </a:ext>
            </a:extLst>
          </p:cNvPr>
          <p:cNvSpPr>
            <a:spLocks noGrp="1"/>
          </p:cNvSpPr>
          <p:nvPr/>
        </p:nvSpPr>
        <p:spPr>
          <a:xfrm>
            <a:off x="9477375" y="4752975"/>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3. Check the original text.</a:t>
            </a:r>
          </a:p>
        </p:txBody>
      </p:sp>
      <p:pic>
        <p:nvPicPr>
          <p:cNvPr id="29" name=""/>
          <p:cNvPicPr>
            <a:picLocks noChangeAspect="1"/>
          </p:cNvPicPr>
          <p:nvPr/>
        </p:nvPicPr>
        <p:blipFill>
          <a:blip r:embed="Re25df9829d344342">
            <a:extLst>
              <a:ext uri="{96DAC541-7B7A-43D3-8B79-37D633B846F1}">
                <ns4:svgBlip r:embed="Ra04e43d4b5834375"/>
              </a:ext>
            </a:extLst>
          </a:blip>
          <a:stretch/>
        </p:blipFill>
        <p:spPr>
          <a:xfrm>
            <a:off x="533400" y="6276975"/>
            <a:ext cx="381000" cy="381000"/>
          </a:xfrm>
          <a:prstGeom prst="rect">
            <a:avLst/>
          </a:prstGeom>
        </p:spPr>
      </p:pic>
      <p:sp>
        <p:nvSpPr>
          <p:cNvPr id="14" name="Treatment dates">
            <a:extLst>
              <a:ext uri="{FF2B5EF4-FFF2-40B4-BE49-F238E27FC236}">
                <ns2:creationId id="{04F4FA9B-1C12-4DFB-AB7E-84B33E718380}"/>
              </a:ext>
            </a:extLst>
          </p:cNvPr>
          <p:cNvSpPr>
            <a:spLocks noGrp="1"/>
          </p:cNvSpPr>
          <p:nvPr/>
        </p:nvSpPr>
        <p:spPr>
          <a:xfrm>
            <a:off x="1047750" y="6267450"/>
            <a:ext cx="4572000" cy="495300"/>
          </a:xfrm>
          <a:prstGeom prst="rect">
            <a:avLst/>
          </a:prstGeom>
          <a:noFill/>
          <a:ln w="0">
            <a:noFill/>
          </a:ln>
        </p:spPr>
        <p:txBody>
          <a:bodyPr wrap="square" lIns="0" tIns="0" rIns="0" bIns="0">
            <a:normAutofit fontScale="100000"/>
          </a:bodyPr>
          <a:lstStyle/>
          <a:p>
            <a:pPr>
              <a:defRPr sz="1725" b="1">
                <a:solidFill>
                  <a:srgbClr val="173F33"/>
                </a:solidFill>
                <a:latin typeface="Arial"/>
                <a:ea typeface="Arial"/>
                <a:cs typeface="Arial"/>
              </a:defRPr>
            </a:pPr>
            <a:r>
              <a:rPr sz="1725" b="1">
                <a:solidFill>
                  <a:srgbClr val="173F33"/>
                </a:solidFill>
                <a:latin typeface="Arial"/>
                <a:ea typeface="Arial"/>
                <a:cs typeface="Arial"/>
              </a:rPr>
              <a:t>Keep treatment dates in order.</a:t>
            </a:r>
          </a:p>
        </p:txBody>
      </p:sp>
      <p:pic>
        <p:nvPicPr>
          <p:cNvPr id="31" name=""/>
          <p:cNvPicPr>
            <a:picLocks noChangeAspect="1"/>
          </p:cNvPicPr>
          <p:nvPr/>
        </p:nvPicPr>
        <p:blipFill>
          <a:blip r:embed="Rb6fd00008d514a93">
            <a:extLst>
              <a:ext uri="{96DAC541-7B7A-43D3-8B79-37D633B846F1}">
                <ns4:svgBlip r:embed="R48a5632c78e74f9a"/>
              </a:ext>
            </a:extLst>
          </a:blip>
          <a:stretch/>
        </p:blipFill>
        <p:spPr>
          <a:xfrm>
            <a:off x="6210300" y="6276975"/>
            <a:ext cx="381000" cy="381000"/>
          </a:xfrm>
          <a:prstGeom prst="rect">
            <a:avLst/>
          </a:prstGeom>
        </p:spPr>
      </p:pic>
      <p:sp>
        <p:nvSpPr>
          <p:cNvPr id="16" name="Medicine reminders">
            <a:extLst>
              <a:ext uri="{FF2B5EF4-FFF2-40B4-BE49-F238E27FC236}">
                <ns2:creationId id="{B7B36A05-6140-493A-BCD6-BFFF8BF65FC1}"/>
              </a:ext>
            </a:extLst>
          </p:cNvPr>
          <p:cNvSpPr>
            <a:spLocks noGrp="1"/>
          </p:cNvSpPr>
          <p:nvPr/>
        </p:nvSpPr>
        <p:spPr>
          <a:xfrm>
            <a:off x="6743700" y="6267450"/>
            <a:ext cx="4914900" cy="495300"/>
          </a:xfrm>
          <a:prstGeom prst="rect">
            <a:avLst/>
          </a:prstGeom>
          <a:noFill/>
          <a:ln w="0">
            <a:noFill/>
          </a:ln>
        </p:spPr>
        <p:txBody>
          <a:bodyPr wrap="square" lIns="0" tIns="0" rIns="0" bIns="0">
            <a:normAutofit fontScale="100000"/>
          </a:bodyPr>
          <a:lstStyle/>
          <a:p>
            <a:pPr>
              <a:defRPr sz="1725" b="1">
                <a:solidFill>
                  <a:srgbClr val="173F33"/>
                </a:solidFill>
                <a:latin typeface="Arial"/>
                <a:ea typeface="Arial"/>
                <a:cs typeface="Arial"/>
              </a:defRPr>
            </a:pPr>
            <a:r>
              <a:rPr sz="1725" b="1">
                <a:solidFill>
                  <a:srgbClr val="173F33"/>
                </a:solidFill>
                <a:latin typeface="Arial"/>
                <a:ea typeface="Arial"/>
                <a:cs typeface="Arial"/>
              </a:rPr>
              <a:t>Check medicine reminders before saving.</a:t>
            </a:r>
          </a:p>
        </p:txBody>
      </p:sp>
    </p:spTree>
    <p:extLst>
      <p:ext uri="{BB962C8B-B14F-4D97-AF65-F5344CB8AC3E}">
        <ns5:creationId val="1405124457"/>
      </p:ext>
    </p:extLst>
  </p:cSld>
</p:sld>
</file>

<file path=ppt/slides/slide7.xml><?xml version="1.0" encoding="utf-8"?>
<p:sld xmlns:p="http://schemas.openxmlformats.org/presentationml/2006/main">
  <p:cSld>
    <p:bg>
      <p:bgPr>
        <a:solidFill xmlns:a="http://schemas.openxmlformats.org/drawingml/2006/main">
          <a:srgbClr val="EFE8F8"/>
        </a:solidFill>
      </p:bgPr>
    </p:bg>
    <p:spTree>
      <p:nvGrpSpPr>
        <p:cNvPr id="1" name=""/>
        <p:cNvGrpSpPr/>
        <p:nvPr/>
      </p:nvGrpSpPr>
      <p:grpSpPr>
        <a:xfrm xmlns:a="http://schemas.openxmlformats.org/drawingml/2006/main"/>
      </p:grpSpPr>
      <p:sp>
        <p:nvSpPr>
          <p:cNvPr id="26" name="Slide title">
            <a:extLst xmlns:a="http://schemas.openxmlformats.org/drawingml/2006/main">
              <a:ext uri="{FF2B5EF4-FFF2-40B4-BE49-F238E27FC236}">
                <a16:creationId xmlns:a16="http://schemas.microsoft.com/office/drawing/2014/main" id="{430B9B8A-0403-44E5-A1FE-0ECCC31B70DF}"/>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Will Saathi make care easier to organise?</a:t>
            </a:r>
          </a:p>
        </p:txBody>
      </p:sp>
      <p:sp>
        <p:nvSpPr>
          <p:cNvPr id="2" name="Study length">
            <a:extLst xmlns:a="http://schemas.openxmlformats.org/drawingml/2006/main">
              <a:ext uri="{FF2B5EF4-FFF2-40B4-BE49-F238E27FC236}">
                <a16:creationId xmlns:a16="http://schemas.microsoft.com/office/drawing/2014/main" id="{EB965238-8224-4AFC-99CC-BC57CA175C66}"/>
              </a:ext>
            </a:extLst>
          </p:cNvPr>
          <p:cNvSpPr>
            <a:spLocks xmlns:a="http://schemas.openxmlformats.org/drawingml/2006/main" noGrp="1"/>
          </p:cNvSpPr>
          <p:nvPr/>
        </p:nvSpPr>
        <p:spPr>
          <a:xfrm xmlns:a="http://schemas.openxmlformats.org/drawingml/2006/main">
            <a:off x="533400" y="13049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650" b="1">
                <a:solidFill>
                  <a:srgbClr val="7353AC"/>
                </a:solidFill>
                <a:latin typeface="Arial"/>
                <a:ea typeface="Arial"/>
                <a:cs typeface="Arial"/>
              </a:defRPr>
            </a:pPr>
            <a:r>
              <a:rPr sz="4650" b="1">
                <a:solidFill>
                  <a:srgbClr val="7353AC"/>
                </a:solidFill>
                <a:latin typeface="Arial"/>
                <a:ea typeface="Arial"/>
                <a:cs typeface="Arial"/>
              </a:rPr>
              <a:t>60–90 days</a:t>
            </a:r>
          </a:p>
        </p:txBody>
      </p:sp>
      <p:sp>
        <p:nvSpPr>
          <p:cNvPr id="3" name="Trial design">
            <a:extLst xmlns:a="http://schemas.openxmlformats.org/drawingml/2006/main">
              <a:ext uri="{FF2B5EF4-FFF2-40B4-BE49-F238E27FC236}">
                <a16:creationId xmlns:a16="http://schemas.microsoft.com/office/drawing/2014/main" id="{F6E97068-E76C-4C16-94AC-603ADF20A423}"/>
              </a:ext>
            </a:extLst>
          </p:cNvPr>
          <p:cNvSpPr>
            <a:spLocks xmlns:a="http://schemas.openxmlformats.org/drawingml/2006/main" noGrp="1"/>
          </p:cNvSpPr>
          <p:nvPr/>
        </p:nvSpPr>
        <p:spPr>
          <a:xfrm xmlns:a="http://schemas.openxmlformats.org/drawingml/2006/main">
            <a:off x="533400" y="22288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950" b="1">
                <a:solidFill>
                  <a:srgbClr val="173F33"/>
                </a:solidFill>
                <a:latin typeface="Arial"/>
                <a:ea typeface="Arial"/>
                <a:cs typeface="Arial"/>
              </a:defRPr>
            </a:pPr>
            <a:r>
              <a:rPr sz="1950" b="1">
                <a:solidFill>
                  <a:srgbClr val="173F33"/>
                </a:solidFill>
                <a:latin typeface="Arial"/>
                <a:ea typeface="Arial"/>
                <a:cs typeface="Arial"/>
              </a:rPr>
              <a:t>Proposed clinic study</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ff9992c2c61421b">
            <a:extLst>
              <a:ext uri="{96DAC541-7B7A-43D3-8B79-37D633B846F1}">
                <asvg:svgBlip xmlns:asvg="http://schemas.microsoft.com/office/drawing/2016/SVG/main" r:embed="Rfff2710ced0d4061"/>
              </a:ext>
            </a:extLst>
          </a:blip>
          <a:stretch xmlns:a="http://schemas.openxmlformats.org/drawingml/2006/main"/>
        </p:blipFill>
        <p:spPr>
          <a:xfrm xmlns:a="http://schemas.openxmlformats.org/drawingml/2006/main">
            <a:off x="4829175" y="1390650"/>
            <a:ext cx="723900" cy="723900"/>
          </a:xfrm>
          <a:prstGeom xmlns:a="http://schemas.openxmlformats.org/drawingml/2006/main" prst="rect">
            <a:avLst/>
          </a:prstGeom>
        </p:spPr>
      </p:pic>
      <p:sp>
        <p:nvSpPr>
          <p:cNvPr id="5" name="Study phase Before Saathi">
            <a:extLst xmlns:a="http://schemas.openxmlformats.org/drawingml/2006/main">
              <a:ext uri="{FF2B5EF4-FFF2-40B4-BE49-F238E27FC236}">
                <a16:creationId xmlns:a16="http://schemas.microsoft.com/office/drawing/2014/main" id="{8E76A830-DB7E-4C29-AA65-3E317C898C96}"/>
              </a:ext>
            </a:extLst>
          </p:cNvPr>
          <p:cNvSpPr>
            <a:spLocks xmlns:a="http://schemas.openxmlformats.org/drawingml/2006/main" noGrp="1"/>
          </p:cNvSpPr>
          <p:nvPr/>
        </p:nvSpPr>
        <p:spPr>
          <a:xfrm xmlns:a="http://schemas.openxmlformats.org/drawingml/2006/main">
            <a:off x="4514850" y="2257425"/>
            <a:ext cx="1952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950" b="1">
                <a:solidFill>
                  <a:srgbClr val="173F33"/>
                </a:solidFill>
                <a:latin typeface="Arial"/>
                <a:ea typeface="Arial"/>
                <a:cs typeface="Arial"/>
              </a:defRPr>
            </a:pPr>
            <a:r>
              <a:rPr sz="1950" b="1">
                <a:solidFill>
                  <a:srgbClr val="173F33"/>
                </a:solidFill>
                <a:latin typeface="Arial"/>
                <a:ea typeface="Arial"/>
                <a:cs typeface="Arial"/>
              </a:rPr>
              <a:t>Before Saathi</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5929c48861894141">
            <a:extLst>
              <a:ext uri="{96DAC541-7B7A-43D3-8B79-37D633B846F1}">
                <asvg:svgBlip xmlns:asvg="http://schemas.microsoft.com/office/drawing/2016/SVG/main" r:embed="R0b696f89716c4ef6"/>
              </a:ext>
            </a:extLst>
          </a:blip>
          <a:stretch xmlns:a="http://schemas.openxmlformats.org/drawingml/2006/main"/>
        </p:blipFill>
        <p:spPr>
          <a:xfrm xmlns:a="http://schemas.openxmlformats.org/drawingml/2006/main">
            <a:off x="7467600" y="1390650"/>
            <a:ext cx="723900" cy="723900"/>
          </a:xfrm>
          <a:prstGeom xmlns:a="http://schemas.openxmlformats.org/drawingml/2006/main" prst="rect">
            <a:avLst/>
          </a:prstGeom>
        </p:spPr>
      </p:pic>
      <p:sp>
        <p:nvSpPr>
          <p:cNvPr id="7" name="Study phase Use Saathi">
            <a:extLst xmlns:a="http://schemas.openxmlformats.org/drawingml/2006/main">
              <a:ext uri="{FF2B5EF4-FFF2-40B4-BE49-F238E27FC236}">
                <a16:creationId xmlns:a16="http://schemas.microsoft.com/office/drawing/2014/main" id="{9C4EBEB7-C6D0-4483-ACAF-AB563FFFCC78}"/>
              </a:ext>
            </a:extLst>
          </p:cNvPr>
          <p:cNvSpPr>
            <a:spLocks xmlns:a="http://schemas.openxmlformats.org/drawingml/2006/main" noGrp="1"/>
          </p:cNvSpPr>
          <p:nvPr/>
        </p:nvSpPr>
        <p:spPr>
          <a:xfrm xmlns:a="http://schemas.openxmlformats.org/drawingml/2006/main">
            <a:off x="7153275" y="2257425"/>
            <a:ext cx="1952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950" b="1">
                <a:solidFill>
                  <a:srgbClr val="173F33"/>
                </a:solidFill>
                <a:latin typeface="Arial"/>
                <a:ea typeface="Arial"/>
                <a:cs typeface="Arial"/>
              </a:defRPr>
            </a:pPr>
            <a:r>
              <a:rPr sz="1950" b="1">
                <a:solidFill>
                  <a:srgbClr val="173F33"/>
                </a:solidFill>
                <a:latin typeface="Arial"/>
                <a:ea typeface="Arial"/>
                <a:cs typeface="Arial"/>
              </a:rPr>
              <a:t>Use Saathi</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edf06b1a32fa4af7">
            <a:extLst>
              <a:ext uri="{96DAC541-7B7A-43D3-8B79-37D633B846F1}">
                <asvg:svgBlip xmlns:asvg="http://schemas.microsoft.com/office/drawing/2016/SVG/main" r:embed="R197d87465f7b4db4"/>
              </a:ext>
            </a:extLst>
          </a:blip>
          <a:stretch xmlns:a="http://schemas.openxmlformats.org/drawingml/2006/main"/>
        </p:blipFill>
        <p:spPr>
          <a:xfrm xmlns:a="http://schemas.openxmlformats.org/drawingml/2006/main">
            <a:off x="10125075" y="1390650"/>
            <a:ext cx="723900" cy="723900"/>
          </a:xfrm>
          <a:prstGeom xmlns:a="http://schemas.openxmlformats.org/drawingml/2006/main" prst="rect">
            <a:avLst/>
          </a:prstGeom>
        </p:spPr>
      </p:pic>
      <p:sp>
        <p:nvSpPr>
          <p:cNvPr id="9" name="Study phase Compare">
            <a:extLst xmlns:a="http://schemas.openxmlformats.org/drawingml/2006/main">
              <a:ext uri="{FF2B5EF4-FFF2-40B4-BE49-F238E27FC236}">
                <a16:creationId xmlns:a16="http://schemas.microsoft.com/office/drawing/2014/main" id="{03D9058C-BED8-4029-B476-D4CE93A6432B}"/>
              </a:ext>
            </a:extLst>
          </p:cNvPr>
          <p:cNvSpPr>
            <a:spLocks xmlns:a="http://schemas.openxmlformats.org/drawingml/2006/main" noGrp="1"/>
          </p:cNvSpPr>
          <p:nvPr/>
        </p:nvSpPr>
        <p:spPr>
          <a:xfrm xmlns:a="http://schemas.openxmlformats.org/drawingml/2006/main">
            <a:off x="9810750" y="2257425"/>
            <a:ext cx="1952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950" b="1">
                <a:solidFill>
                  <a:srgbClr val="173F33"/>
                </a:solidFill>
                <a:latin typeface="Arial"/>
                <a:ea typeface="Arial"/>
                <a:cs typeface="Arial"/>
              </a:defRPr>
            </a:pPr>
            <a:r>
              <a:rPr sz="1950" b="1">
                <a:solidFill>
                  <a:srgbClr val="173F33"/>
                </a:solidFill>
                <a:latin typeface="Arial"/>
                <a:ea typeface="Arial"/>
                <a:cs typeface="Arial"/>
              </a:rPr>
              <a:t>Compare</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e73a7ea65a554782">
            <a:extLst>
              <a:ext uri="{96DAC541-7B7A-43D3-8B79-37D633B846F1}">
                <asvg:svgBlip xmlns:asvg="http://schemas.microsoft.com/office/drawing/2016/SVG/main" r:embed="Rd770a8a559334b50"/>
              </a:ext>
            </a:extLst>
          </a:blip>
          <a:stretch xmlns:a="http://schemas.openxmlformats.org/drawingml/2006/main"/>
        </p:blipFill>
        <p:spPr>
          <a:xfrm xmlns:a="http://schemas.openxmlformats.org/drawingml/2006/main">
            <a:off x="6477000" y="1638300"/>
            <a:ext cx="333375" cy="333375"/>
          </a:xfrm>
          <a:prstGeom xmlns:a="http://schemas.openxmlformats.org/drawingml/2006/main" prst="rect">
            <a:avLst/>
          </a:prstGeom>
        </p:spPr>
      </p:pic>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a80aa79f9a90495e">
            <a:extLst>
              <a:ext uri="{96DAC541-7B7A-43D3-8B79-37D633B846F1}">
                <asvg:svgBlip xmlns:asvg="http://schemas.microsoft.com/office/drawing/2016/SVG/main" r:embed="Rc76c40df28a9454e"/>
              </a:ext>
            </a:extLst>
          </a:blip>
          <a:stretch xmlns:a="http://schemas.openxmlformats.org/drawingml/2006/main"/>
        </p:blipFill>
        <p:spPr>
          <a:xfrm xmlns:a="http://schemas.openxmlformats.org/drawingml/2006/main">
            <a:off x="9124950" y="1638300"/>
            <a:ext cx="333375" cy="33337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50E1933B-91D2-4498-A360-515921B40AFB}"/>
              </a:ext>
            </a:extLst>
          </p:cNvPr>
          <p:cNvSpPr>
            <a:spLocks xmlns:a="http://schemas.openxmlformats.org/drawingml/2006/main" noGrp="1"/>
          </p:cNvSpPr>
          <p:nvPr/>
        </p:nvSpPr>
        <p:spPr>
          <a:xfrm xmlns:a="http://schemas.openxmlformats.org/drawingml/2006/main">
            <a:off x="533400" y="2933700"/>
            <a:ext cx="11125200" cy="0"/>
          </a:xfrm>
          <a:prstGeom xmlns:a="http://schemas.openxmlformats.org/drawingml/2006/main" prst="line">
            <a:avLst/>
          </a:prstGeom>
          <a:ln xmlns:a="http://schemas.openxmlformats.org/drawingml/2006/main" w="9525">
            <a:solidFill>
              <a:srgbClr val="D9D4C7"/>
            </a:solidFill>
          </a:ln>
        </p:spPr>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cf10d1e2b7c5448b">
            <a:extLst>
              <a:ext uri="{96DAC541-7B7A-43D3-8B79-37D633B846F1}">
                <asvg:svgBlip xmlns:asvg="http://schemas.microsoft.com/office/drawing/2016/SVG/main" r:embed="R501a31175e694b7c"/>
              </a:ext>
            </a:extLst>
          </a:blip>
          <a:stretch xmlns:a="http://schemas.openxmlformats.org/drawingml/2006/main"/>
        </p:blipFill>
        <p:spPr>
          <a:xfrm xmlns:a="http://schemas.openxmlformats.org/drawingml/2006/main">
            <a:off x="533400" y="3343275"/>
            <a:ext cx="628650" cy="628650"/>
          </a:xfrm>
          <a:prstGeom xmlns:a="http://schemas.openxmlformats.org/drawingml/2006/main" prst="rect">
            <a:avLst/>
          </a:prstGeom>
        </p:spPr>
      </p:pic>
      <p:sp>
        <p:nvSpPr>
          <p:cNvPr id="14" name="Primary measure 1">
            <a:extLst xmlns:a="http://schemas.openxmlformats.org/drawingml/2006/main">
              <a:ext uri="{FF2B5EF4-FFF2-40B4-BE49-F238E27FC236}">
                <a16:creationId xmlns:a16="http://schemas.microsoft.com/office/drawing/2014/main" id="{575B112E-3055-4160-9498-E84EC5A67D52}"/>
              </a:ext>
            </a:extLst>
          </p:cNvPr>
          <p:cNvSpPr>
            <a:spLocks xmlns:a="http://schemas.openxmlformats.org/drawingml/2006/main" noGrp="1"/>
          </p:cNvSpPr>
          <p:nvPr/>
        </p:nvSpPr>
        <p:spPr>
          <a:xfrm xmlns:a="http://schemas.openxmlformats.org/drawingml/2006/main">
            <a:off x="1371600" y="3295650"/>
            <a:ext cx="26384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73F33"/>
                </a:solidFill>
                <a:latin typeface="Arial"/>
                <a:ea typeface="Arial"/>
                <a:cs typeface="Arial"/>
              </a:defRPr>
            </a:pPr>
            <a:r>
              <a:rPr sz="2175" b="1">
                <a:solidFill>
                  <a:srgbClr val="173F33"/>
                </a:solidFill>
                <a:latin typeface="Arial"/>
                <a:ea typeface="Arial"/>
                <a:cs typeface="Arial"/>
              </a:rPr>
              <a:t>Patients ask to talk.</a:t>
            </a:r>
          </a:p>
        </p:txBody>
      </p:sp>
      <p:sp>
        <p:nvSpPr>
          <p:cNvPr id="15" name="Primary measure 1 detail">
            <a:extLst xmlns:a="http://schemas.openxmlformats.org/drawingml/2006/main">
              <a:ext uri="{FF2B5EF4-FFF2-40B4-BE49-F238E27FC236}">
                <a16:creationId xmlns:a16="http://schemas.microsoft.com/office/drawing/2014/main" id="{1D5F3464-1662-4D62-A451-1446BA06BDE4}"/>
              </a:ext>
            </a:extLst>
          </p:cNvPr>
          <p:cNvSpPr>
            <a:spLocks xmlns:a="http://schemas.openxmlformats.org/drawingml/2006/main" noGrp="1"/>
          </p:cNvSpPr>
          <p:nvPr/>
        </p:nvSpPr>
        <p:spPr>
          <a:xfrm xmlns:a="http://schemas.openxmlformats.org/drawingml/2006/main">
            <a:off x="533400" y="4381500"/>
            <a:ext cx="34766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173F33"/>
                </a:solidFill>
                <a:latin typeface="Arial"/>
                <a:ea typeface="Arial"/>
                <a:cs typeface="Arial"/>
              </a:defRPr>
            </a:pPr>
            <a:r>
              <a:rPr sz="1875" b="0">
                <a:solidFill>
                  <a:srgbClr val="173F33"/>
                </a:solidFill>
                <a:latin typeface="Arial"/>
                <a:ea typeface="Arial"/>
                <a:cs typeface="Arial"/>
              </a:rPr>
              <a:t>Count requests to discuss their care.</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bce04b538c954d24">
            <a:extLst>
              <a:ext uri="{96DAC541-7B7A-43D3-8B79-37D633B846F1}">
                <asvg:svgBlip xmlns:asvg="http://schemas.microsoft.com/office/drawing/2016/SVG/main" r:embed="Rf0755ab998244729"/>
              </a:ext>
            </a:extLst>
          </a:blip>
          <a:stretch xmlns:a="http://schemas.openxmlformats.org/drawingml/2006/main"/>
        </p:blipFill>
        <p:spPr>
          <a:xfrm xmlns:a="http://schemas.openxmlformats.org/drawingml/2006/main">
            <a:off x="4362450" y="3343275"/>
            <a:ext cx="628650" cy="628650"/>
          </a:xfrm>
          <a:prstGeom xmlns:a="http://schemas.openxmlformats.org/drawingml/2006/main" prst="rect">
            <a:avLst/>
          </a:prstGeom>
        </p:spPr>
      </p:pic>
      <p:sp>
        <p:nvSpPr>
          <p:cNvPr id="17" name="Primary measure 2">
            <a:extLst xmlns:a="http://schemas.openxmlformats.org/drawingml/2006/main">
              <a:ext uri="{FF2B5EF4-FFF2-40B4-BE49-F238E27FC236}">
                <a16:creationId xmlns:a16="http://schemas.microsoft.com/office/drawing/2014/main" id="{58E830EE-02DF-42F5-84F7-1BDEF5D1B3F9}"/>
              </a:ext>
            </a:extLst>
          </p:cNvPr>
          <p:cNvSpPr>
            <a:spLocks xmlns:a="http://schemas.openxmlformats.org/drawingml/2006/main" noGrp="1"/>
          </p:cNvSpPr>
          <p:nvPr/>
        </p:nvSpPr>
        <p:spPr>
          <a:xfrm xmlns:a="http://schemas.openxmlformats.org/drawingml/2006/main">
            <a:off x="5200650" y="3295650"/>
            <a:ext cx="26384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73F33"/>
                </a:solidFill>
                <a:latin typeface="Arial"/>
                <a:ea typeface="Arial"/>
                <a:cs typeface="Arial"/>
              </a:defRPr>
            </a:pPr>
            <a:r>
              <a:rPr sz="2175" b="1">
                <a:solidFill>
                  <a:srgbClr val="173F33"/>
                </a:solidFill>
                <a:latin typeface="Arial"/>
                <a:ea typeface="Arial"/>
                <a:cs typeface="Arial"/>
              </a:rPr>
              <a:t>Doctors start conversations.</a:t>
            </a:r>
          </a:p>
        </p:txBody>
      </p:sp>
      <p:sp>
        <p:nvSpPr>
          <p:cNvPr id="18" name="Primary measure 2 detail">
            <a:extLst xmlns:a="http://schemas.openxmlformats.org/drawingml/2006/main">
              <a:ext uri="{FF2B5EF4-FFF2-40B4-BE49-F238E27FC236}">
                <a16:creationId xmlns:a16="http://schemas.microsoft.com/office/drawing/2014/main" id="{F867173F-7133-493E-AE1C-A253AB050053}"/>
              </a:ext>
            </a:extLst>
          </p:cNvPr>
          <p:cNvSpPr>
            <a:spLocks xmlns:a="http://schemas.openxmlformats.org/drawingml/2006/main" noGrp="1"/>
          </p:cNvSpPr>
          <p:nvPr/>
        </p:nvSpPr>
        <p:spPr>
          <a:xfrm xmlns:a="http://schemas.openxmlformats.org/drawingml/2006/main">
            <a:off x="4362450" y="4381500"/>
            <a:ext cx="34766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173F33"/>
                </a:solidFill>
                <a:latin typeface="Arial"/>
                <a:ea typeface="Arial"/>
                <a:cs typeface="Arial"/>
              </a:defRPr>
            </a:pPr>
            <a:r>
              <a:rPr sz="1875" b="0">
                <a:solidFill>
                  <a:srgbClr val="173F33"/>
                </a:solidFill>
                <a:latin typeface="Arial"/>
                <a:ea typeface="Arial"/>
                <a:cs typeface="Arial"/>
              </a:rPr>
              <a:t>Count conversations a doctor starts.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24bb0f8d97444795">
            <a:extLst>
              <a:ext uri="{96DAC541-7B7A-43D3-8B79-37D633B846F1}">
                <asvg:svgBlip xmlns:asvg="http://schemas.microsoft.com/office/drawing/2016/SVG/main" r:embed="R9c3dec83ef994d06"/>
              </a:ext>
            </a:extLst>
          </a:blip>
          <a:stretch xmlns:a="http://schemas.openxmlformats.org/drawingml/2006/main"/>
        </p:blipFill>
        <p:spPr>
          <a:xfrm xmlns:a="http://schemas.openxmlformats.org/drawingml/2006/main">
            <a:off x="8191500" y="3343275"/>
            <a:ext cx="628650" cy="628650"/>
          </a:xfrm>
          <a:prstGeom xmlns:a="http://schemas.openxmlformats.org/drawingml/2006/main" prst="rect">
            <a:avLst/>
          </a:prstGeom>
        </p:spPr>
      </p:pic>
      <p:sp>
        <p:nvSpPr>
          <p:cNvPr id="20" name="Primary measure 3">
            <a:extLst xmlns:a="http://schemas.openxmlformats.org/drawingml/2006/main">
              <a:ext uri="{FF2B5EF4-FFF2-40B4-BE49-F238E27FC236}">
                <a16:creationId xmlns:a16="http://schemas.microsoft.com/office/drawing/2014/main" id="{6A43A485-DED9-4BBD-A125-81996E65253E}"/>
              </a:ext>
            </a:extLst>
          </p:cNvPr>
          <p:cNvSpPr>
            <a:spLocks xmlns:a="http://schemas.openxmlformats.org/drawingml/2006/main" noGrp="1"/>
          </p:cNvSpPr>
          <p:nvPr/>
        </p:nvSpPr>
        <p:spPr>
          <a:xfrm xmlns:a="http://schemas.openxmlformats.org/drawingml/2006/main">
            <a:off x="9029700" y="3295650"/>
            <a:ext cx="26384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73F33"/>
                </a:solidFill>
                <a:latin typeface="Arial"/>
                <a:ea typeface="Arial"/>
                <a:cs typeface="Arial"/>
              </a:defRPr>
            </a:pPr>
            <a:r>
              <a:rPr sz="2175" b="1">
                <a:solidFill>
                  <a:srgbClr val="173F33"/>
                </a:solidFill>
                <a:latin typeface="Arial"/>
                <a:ea typeface="Arial"/>
                <a:cs typeface="Arial"/>
              </a:rPr>
              <a:t>Care Notes are saved.</a:t>
            </a:r>
          </a:p>
        </p:txBody>
      </p:sp>
      <p:sp>
        <p:nvSpPr>
          <p:cNvPr id="21" name="Primary measure 3 detail">
            <a:extLst xmlns:a="http://schemas.openxmlformats.org/drawingml/2006/main">
              <a:ext uri="{FF2B5EF4-FFF2-40B4-BE49-F238E27FC236}">
                <a16:creationId xmlns:a16="http://schemas.microsoft.com/office/drawing/2014/main" id="{9A94DF9B-B475-45C6-BF53-34D975A72DAE}"/>
              </a:ext>
            </a:extLst>
          </p:cNvPr>
          <p:cNvSpPr>
            <a:spLocks xmlns:a="http://schemas.openxmlformats.org/drawingml/2006/main" noGrp="1"/>
          </p:cNvSpPr>
          <p:nvPr/>
        </p:nvSpPr>
        <p:spPr>
          <a:xfrm xmlns:a="http://schemas.openxmlformats.org/drawingml/2006/main">
            <a:off x="8191500" y="4381500"/>
            <a:ext cx="34766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173F33"/>
                </a:solidFill>
                <a:latin typeface="Arial"/>
                <a:ea typeface="Arial"/>
                <a:cs typeface="Arial"/>
              </a:defRPr>
            </a:pPr>
            <a:r>
              <a:rPr sz="1875" b="0">
                <a:solidFill>
                  <a:srgbClr val="173F33"/>
                </a:solidFill>
                <a:latin typeface="Arial"/>
                <a:ea typeface="Arial"/>
                <a:cs typeface="Arial"/>
              </a:rPr>
              <a:t>Count written notes and signed notes separately.</a:t>
            </a:r>
          </a:p>
        </p:txBody>
      </p:sp>
      <p:sp>
        <p:nvSpPr>
          <p:cNvPr id="22" name="">
            <a:extLst xmlns:a="http://schemas.openxmlformats.org/drawingml/2006/main">
              <a:ext uri="{FF2B5EF4-FFF2-40B4-BE49-F238E27FC236}">
                <a16:creationId xmlns:a16="http://schemas.microsoft.com/office/drawing/2014/main" id="{054D6BEC-5E9A-4B04-AB02-27F3807D5CA8}"/>
              </a:ext>
            </a:extLst>
          </p:cNvPr>
          <p:cNvSpPr>
            <a:spLocks xmlns:a="http://schemas.openxmlformats.org/drawingml/2006/main" noGrp="1"/>
          </p:cNvSpPr>
          <p:nvPr/>
        </p:nvSpPr>
        <p:spPr>
          <a:xfrm xmlns:a="http://schemas.openxmlformats.org/drawingml/2006/main">
            <a:off x="533400" y="5314950"/>
            <a:ext cx="11125200" cy="0"/>
          </a:xfrm>
          <a:prstGeom xmlns:a="http://schemas.openxmlformats.org/drawingml/2006/main" prst="line">
            <a:avLst/>
          </a:prstGeom>
          <a:ln xmlns:a="http://schemas.openxmlformats.org/drawingml/2006/main" w="9525">
            <a:solidFill>
              <a:srgbClr val="D9D4C7"/>
            </a:solidFill>
          </a:ln>
        </p:spPr>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0fdcdc1073504d36">
            <a:extLst>
              <a:ext uri="{96DAC541-7B7A-43D3-8B79-37D633B846F1}">
                <asvg:svgBlip xmlns:asvg="http://schemas.microsoft.com/office/drawing/2016/SVG/main" r:embed="R4b22da39933a4277"/>
              </a:ext>
            </a:extLst>
          </a:blip>
          <a:stretch xmlns:a="http://schemas.openxmlformats.org/drawingml/2006/main"/>
        </p:blipFill>
        <p:spPr>
          <a:xfrm xmlns:a="http://schemas.openxmlformats.org/drawingml/2006/main">
            <a:off x="533400" y="5610225"/>
            <a:ext cx="485775" cy="485775"/>
          </a:xfrm>
          <a:prstGeom xmlns:a="http://schemas.openxmlformats.org/drawingml/2006/main" prst="rect">
            <a:avLst/>
          </a:prstGeom>
        </p:spPr>
      </p:pic>
      <p:sp>
        <p:nvSpPr>
          <p:cNvPr id="24" name="Additional measures">
            <a:extLst xmlns:a="http://schemas.openxmlformats.org/drawingml/2006/main">
              <a:ext uri="{FF2B5EF4-FFF2-40B4-BE49-F238E27FC236}">
                <a16:creationId xmlns:a16="http://schemas.microsoft.com/office/drawing/2014/main" id="{7CCC8F11-A1A2-4CC2-998D-4CA5A548D2F4}"/>
              </a:ext>
            </a:extLst>
          </p:cNvPr>
          <p:cNvSpPr>
            <a:spLocks xmlns:a="http://schemas.openxmlformats.org/drawingml/2006/main" noGrp="1"/>
          </p:cNvSpPr>
          <p:nvPr/>
        </p:nvSpPr>
        <p:spPr>
          <a:xfrm xmlns:a="http://schemas.openxmlformats.org/drawingml/2006/main">
            <a:off x="1257300" y="5572125"/>
            <a:ext cx="104013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173F33"/>
                </a:solidFill>
                <a:latin typeface="Arial"/>
                <a:ea typeface="Arial"/>
                <a:cs typeface="Arial"/>
              </a:defRPr>
            </a:pPr>
            <a:r>
              <a:rPr sz="1875" b="0">
                <a:solidFill>
                  <a:srgbClr val="173F33"/>
                </a:solidFill>
                <a:latin typeface="Arial"/>
                <a:ea typeface="Arial"/>
                <a:cs typeface="Arial"/>
              </a:rPr>
              <a:t>Also time finding a record and checking a note, and count missing details.</a:t>
            </a:r>
          </a:p>
        </p:txBody>
      </p:sp>
      <p:sp>
        <p:nvSpPr>
          <p:cNvPr id="25" name="Implementation status">
            <a:extLst xmlns:a="http://schemas.openxmlformats.org/drawingml/2006/main">
              <a:ext uri="{FF2B5EF4-FFF2-40B4-BE49-F238E27FC236}">
                <a16:creationId xmlns:a16="http://schemas.microsoft.com/office/drawing/2014/main" id="{EC233A8B-FF3F-47EB-9D55-932FA036FCC5}"/>
              </a:ext>
            </a:extLst>
          </p:cNvPr>
          <p:cNvSpPr>
            <a:spLocks xmlns:a="http://schemas.openxmlformats.org/drawingml/2006/main" noGrp="1"/>
          </p:cNvSpPr>
          <p:nvPr/>
        </p:nvSpPr>
        <p:spPr>
          <a:xfrm xmlns:a="http://schemas.openxmlformats.org/drawingml/2006/main">
            <a:off x="533400" y="65341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The linked app shows the workflow. AI, verified sign-in and sharing between phones still need connecting.</a:t>
            </a:r>
          </a:p>
        </p:txBody>
      </p:sp>
    </p:spTree>
    <p:extLst>
      <p:ext uri="{BB962C8B-B14F-4D97-AF65-F5344CB8AC3E}">
        <p14:creationId xmlns:p14="http://schemas.microsoft.com/office/powerpoint/2010/main" val="1410585306"/>
      </p:ext>
    </p:extLst>
  </p:cSld>
</p:sld>
</file>

<file path=ppt/slides/slide8.xml><?xml version="1.0" encoding="utf-8"?>
<p:sld xmlns:p="http://schemas.openxmlformats.org/presentationml/2006/main">
  <p:cSld>
    <p:bg>
      <p:bgPr>
        <a:solidFill xmlns:a="http://schemas.openxmlformats.org/drawingml/2006/main">
          <a:srgbClr val="0B1744"/>
        </a:solidFill>
      </p:bgPr>
    </p:bg>
    <p:spTree>
      <p:nvGrpSpPr>
        <p:cNvPr id="1" name=""/>
        <p:cNvGrpSpPr/>
        <p:nvPr/>
      </p:nvGrpSpPr>
      <p:grpSpPr>
        <a:xfrm xmlns:a="http://schemas.openxmlformats.org/drawingml/2006/main"/>
      </p:grpSpPr>
      <p:sp>
        <p:nvSpPr>
          <p:cNvPr id="31" name="References title">
            <a:extLst xmlns:a="http://schemas.openxmlformats.org/drawingml/2006/main">
              <a:ext uri="{FF2B5EF4-FFF2-40B4-BE49-F238E27FC236}">
                <a16:creationId xmlns:a16="http://schemas.microsoft.com/office/drawing/2014/main" id="{4D1A7920-B4DD-4678-A177-B975D198281C}"/>
              </a:ext>
            </a:extLst>
          </p:cNvPr>
          <p:cNvSpPr>
            <a:spLocks xmlns:a="http://schemas.openxmlformats.org/drawingml/2006/main" noGrp="1"/>
          </p:cNvSpPr>
          <p:nvPr/>
        </p:nvSpPr>
        <p:spPr>
          <a:xfrm xmlns:a="http://schemas.openxmlformats.org/drawingml/2006/main">
            <a:off x="533400" y="285750"/>
            <a:ext cx="1112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450" b="1">
                <a:solidFill>
                  <a:srgbClr val="FFD154"/>
                </a:solidFill>
                <a:latin typeface="Arial"/>
                <a:ea typeface="Arial"/>
                <a:cs typeface="Arial"/>
              </a:defRPr>
            </a:pPr>
            <a:r>
              <a:rPr sz="3450" b="1">
                <a:solidFill>
                  <a:srgbClr val="FFD154"/>
                </a:solidFill>
                <a:latin typeface="Arial"/>
                <a:ea typeface="Arial"/>
                <a:cs typeface="Arial"/>
              </a:rPr>
              <a:t>References</a:t>
            </a:r>
          </a:p>
        </p:txBody>
      </p:sp>
      <p:sp>
        <p:nvSpPr>
          <p:cNvPr id="2" name="References one to four">
            <a:extLst xmlns:a="http://schemas.openxmlformats.org/drawingml/2006/main">
              <a:ext uri="{FF2B5EF4-FFF2-40B4-BE49-F238E27FC236}">
                <a16:creationId xmlns:a16="http://schemas.microsoft.com/office/drawing/2014/main" id="{FE9EA980-A789-4159-AEC1-1D20F893D88C}"/>
              </a:ext>
            </a:extLst>
          </p:cNvPr>
          <p:cNvSpPr>
            <a:spLocks xmlns:a="http://schemas.openxmlformats.org/drawingml/2006/main" noGrp="1"/>
          </p:cNvSpPr>
          <p:nvPr/>
        </p:nvSpPr>
        <p:spPr>
          <a:xfrm xmlns:a="http://schemas.openxmlformats.org/drawingml/2006/main">
            <a:off x="381000" y="981075"/>
            <a:ext cx="5638800" cy="581025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3" name="References five to nine">
            <a:extLst xmlns:a="http://schemas.openxmlformats.org/drawingml/2006/main">
              <a:ext uri="{FF2B5EF4-FFF2-40B4-BE49-F238E27FC236}">
                <a16:creationId xmlns:a16="http://schemas.microsoft.com/office/drawing/2014/main" id="{D2F0387C-57C9-4607-BAB2-AFD80636D29B}"/>
              </a:ext>
            </a:extLst>
          </p:cNvPr>
          <p:cNvSpPr>
            <a:spLocks xmlns:a="http://schemas.openxmlformats.org/drawingml/2006/main" noGrp="1"/>
          </p:cNvSpPr>
          <p:nvPr/>
        </p:nvSpPr>
        <p:spPr>
          <a:xfrm xmlns:a="http://schemas.openxmlformats.org/drawingml/2006/main">
            <a:off x="6096000" y="981075"/>
            <a:ext cx="5638800" cy="5810250"/>
          </a:xfrm>
          <a:prstGeom xmlns:a="http://schemas.openxmlformats.org/drawingml/2006/main" prst="rect">
            <a:avLst/>
          </a:prstGeom>
          <a:solidFill xmlns:a="http://schemas.openxmlformats.org/drawingml/2006/main">
            <a:srgbClr val="EEE7FA"/>
          </a:solidFill>
          <a:ln xmlns:a="http://schemas.openxmlformats.org/drawingml/2006/main" w="0">
            <a:noFill/>
          </a:ln>
        </p:spPr>
      </p:sp>
      <p:sp>
        <p:nvSpPr>
          <p:cNvPr id="4" name="Reference 1 author">
            <a:extLst xmlns:a="http://schemas.openxmlformats.org/drawingml/2006/main">
              <a:ext uri="{FF2B5EF4-FFF2-40B4-BE49-F238E27FC236}">
                <a16:creationId xmlns:a16="http://schemas.microsoft.com/office/drawing/2014/main" id="{A75110D7-3F52-46FA-ADCC-A10EA557F8BE}"/>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5" name="Reference 1 title">
            <a:extLst xmlns:a="http://schemas.openxmlformats.org/drawingml/2006/main">
              <a:ext uri="{FF2B5EF4-FFF2-40B4-BE49-F238E27FC236}">
                <a16:creationId xmlns:a16="http://schemas.microsoft.com/office/drawing/2014/main" id="{9CC204D1-C8B7-4C1A-81F4-CBE119C5D1B7}"/>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d9a94cb2e43b427d"/>
              </a:rPr>
              <a:t>India: GLOBOCAN 2024 Fact Sheet</a:t>
            </a:r>
          </a:p>
        </p:txBody>
      </p:sp>
      <p:sp>
        <p:nvSpPr>
          <p:cNvPr id="6" name="Reference 1 link">
            <a:extLst xmlns:a="http://schemas.openxmlformats.org/drawingml/2006/main">
              <a:ext uri="{FF2B5EF4-FFF2-40B4-BE49-F238E27FC236}">
                <a16:creationId xmlns:a16="http://schemas.microsoft.com/office/drawing/2014/main" id="{53C5D628-5031-46B8-8226-8AD01BA248C0}"/>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dc1726630e1a4760"/>
              </a:rPr>
              <a:t>https://gco.iarc.who.int/media/globocan/factsheets/populations/356-india-fact-sheet.pdf</a:t>
            </a:r>
          </a:p>
        </p:txBody>
      </p:sp>
      <p:sp>
        <p:nvSpPr>
          <p:cNvPr id="7" name="Reference 2 author">
            <a:extLst xmlns:a="http://schemas.openxmlformats.org/drawingml/2006/main">
              <a:ext uri="{FF2B5EF4-FFF2-40B4-BE49-F238E27FC236}">
                <a16:creationId xmlns:a16="http://schemas.microsoft.com/office/drawing/2014/main" id="{0D97C237-936E-4CF0-A856-3C48A179B14F}"/>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8" name="Reference 2 title">
            <a:extLst xmlns:a="http://schemas.openxmlformats.org/drawingml/2006/main">
              <a:ext uri="{FF2B5EF4-FFF2-40B4-BE49-F238E27FC236}">
                <a16:creationId xmlns:a16="http://schemas.microsoft.com/office/drawing/2014/main" id="{982BFA4D-F21C-41BE-A6B2-932B35633849}"/>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5c41198fa2a341d3"/>
              </a:rPr>
              <a:t>Unmet need for cancer palliative care in India</a:t>
            </a:r>
          </a:p>
        </p:txBody>
      </p:sp>
      <p:sp>
        <p:nvSpPr>
          <p:cNvPr id="9" name="Reference 2 link">
            <a:extLst xmlns:a="http://schemas.openxmlformats.org/drawingml/2006/main">
              <a:ext uri="{FF2B5EF4-FFF2-40B4-BE49-F238E27FC236}">
                <a16:creationId xmlns:a16="http://schemas.microsoft.com/office/drawing/2014/main" id="{218C67AA-1189-4DEF-BBC2-A1936644F646}"/>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68727faee0634f89"/>
              </a:rPr>
              <a:t>https://doi.org/10.1136/spcare-2024-004978</a:t>
            </a:r>
          </a:p>
        </p:txBody>
      </p:sp>
      <p:sp>
        <p:nvSpPr>
          <p:cNvPr id="10" name="Reference 3 author">
            <a:extLst xmlns:a="http://schemas.openxmlformats.org/drawingml/2006/main">
              <a:ext uri="{FF2B5EF4-FFF2-40B4-BE49-F238E27FC236}">
                <a16:creationId xmlns:a16="http://schemas.microsoft.com/office/drawing/2014/main" id="{07C913DF-4FF0-43FE-AA35-CE7F856AEDA5}"/>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11" name="Reference 3 title">
            <a:extLst xmlns:a="http://schemas.openxmlformats.org/drawingml/2006/main">
              <a:ext uri="{FF2B5EF4-FFF2-40B4-BE49-F238E27FC236}">
                <a16:creationId xmlns:a16="http://schemas.microsoft.com/office/drawing/2014/main" id="{207E856F-5768-4326-84C3-88180353D0A1}"/>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dc4cc5aee35e4943"/>
              </a:rPr>
              <a:t>Early Goal of Care Discussions in Healthcare: A Survey Case Report on Benefits and Perceptions</a:t>
            </a:r>
          </a:p>
        </p:txBody>
      </p:sp>
      <p:sp>
        <p:nvSpPr>
          <p:cNvPr id="12" name="Reference 3 link">
            <a:extLst xmlns:a="http://schemas.openxmlformats.org/drawingml/2006/main">
              <a:ext uri="{FF2B5EF4-FFF2-40B4-BE49-F238E27FC236}">
                <a16:creationId xmlns:a16="http://schemas.microsoft.com/office/drawing/2014/main" id="{CC983E7D-7F80-4ED3-8A80-9A05A81E29A6}"/>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fcd9da65cc5a43c1"/>
              </a:rPr>
              <a:t>https://doi.org/10.1016/j.jpainsymman.2024.02.030</a:t>
            </a:r>
          </a:p>
        </p:txBody>
      </p:sp>
      <p:sp>
        <p:nvSpPr>
          <p:cNvPr id="13" name="Reference 4 author">
            <a:extLst xmlns:a="http://schemas.openxmlformats.org/drawingml/2006/main">
              <a:ext uri="{FF2B5EF4-FFF2-40B4-BE49-F238E27FC236}">
                <a16:creationId xmlns:a16="http://schemas.microsoft.com/office/drawing/2014/main" id="{96BC787D-68AC-4053-B91B-C63024C6B06A}"/>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4" name="Reference 4 title">
            <a:extLst xmlns:a="http://schemas.openxmlformats.org/drawingml/2006/main">
              <a:ext uri="{FF2B5EF4-FFF2-40B4-BE49-F238E27FC236}">
                <a16:creationId xmlns:a16="http://schemas.microsoft.com/office/drawing/2014/main" id="{2196123E-F71A-41EE-832F-DC77279386ED}"/>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4d1f36ac566d4f2f"/>
              </a:rPr>
              <a:t>Initiating and Documenting Goals of Care Discussion in Patients with Advanced Pancreatic and Colorectal Cancers: A Quality Improvement Project in a Low Resource Setting</a:t>
            </a:r>
          </a:p>
        </p:txBody>
      </p:sp>
      <p:sp>
        <p:nvSpPr>
          <p:cNvPr id="15" name="Reference 4 link">
            <a:extLst xmlns:a="http://schemas.openxmlformats.org/drawingml/2006/main">
              <a:ext uri="{FF2B5EF4-FFF2-40B4-BE49-F238E27FC236}">
                <a16:creationId xmlns:a16="http://schemas.microsoft.com/office/drawing/2014/main" id="{A07A6633-18F9-4208-B9DD-EB8FF3BC92B7}"/>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31f84b533d814788"/>
              </a:rPr>
              <a:t>https://doi.org/10.1177/26892820251392545</a:t>
            </a:r>
          </a:p>
        </p:txBody>
      </p:sp>
      <p:sp>
        <p:nvSpPr>
          <p:cNvPr id="16" name="Reference 5 author">
            <a:extLst xmlns:a="http://schemas.openxmlformats.org/drawingml/2006/main">
              <a:ext uri="{FF2B5EF4-FFF2-40B4-BE49-F238E27FC236}">
                <a16:creationId xmlns:a16="http://schemas.microsoft.com/office/drawing/2014/main" id="{2E9D330B-B40B-4F72-81E8-5B37D8953566}"/>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7" name="Reference 5 title">
            <a:extLst xmlns:a="http://schemas.openxmlformats.org/drawingml/2006/main">
              <a:ext uri="{FF2B5EF4-FFF2-40B4-BE49-F238E27FC236}">
                <a16:creationId xmlns:a16="http://schemas.microsoft.com/office/drawing/2014/main" id="{C85EAF13-E71F-4E64-AB8C-FC608CF9947E}"/>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3da1c0260094171"/>
              </a:rPr>
              <a:t>73% urban Indians do not know about their right to make a living will, finds a survey</a:t>
            </a:r>
          </a:p>
        </p:txBody>
      </p:sp>
      <p:sp>
        <p:nvSpPr>
          <p:cNvPr id="18" name="Reference 5 link">
            <a:extLst xmlns:a="http://schemas.openxmlformats.org/drawingml/2006/main">
              <a:ext uri="{FF2B5EF4-FFF2-40B4-BE49-F238E27FC236}">
                <a16:creationId xmlns:a16="http://schemas.microsoft.com/office/drawing/2014/main" id="{9138BE42-0EB8-40FE-A193-EA977ECF1FC4}"/>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df1a515fbb23428d"/>
              </a:rPr>
              <a:t>https://scroll.in/article/925875/73-urban-indians-do-not-know-about-their-right-to-make-a-living-will-finds-a-survey</a:t>
            </a:r>
          </a:p>
        </p:txBody>
      </p:sp>
      <p:sp>
        <p:nvSpPr>
          <p:cNvPr id="19" name="Reference 6 author">
            <a:extLst xmlns:a="http://schemas.openxmlformats.org/drawingml/2006/main">
              <a:ext uri="{FF2B5EF4-FFF2-40B4-BE49-F238E27FC236}">
                <a16:creationId xmlns:a16="http://schemas.microsoft.com/office/drawing/2014/main" id="{F558753C-E296-4643-9D9C-53C1774DF21A}"/>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20" name="Reference 6 title">
            <a:extLst xmlns:a="http://schemas.openxmlformats.org/drawingml/2006/main">
              <a:ext uri="{FF2B5EF4-FFF2-40B4-BE49-F238E27FC236}">
                <a16:creationId xmlns:a16="http://schemas.microsoft.com/office/drawing/2014/main" id="{BE79AD01-3C89-4575-968D-2B25944168C7}"/>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b0ceed0ed8b64135"/>
              </a:rPr>
              <a:t>Knowledge and attitude towards advance directives for patients with terminal illnesses among doctors working in a tertiary care hospital</a:t>
            </a:r>
          </a:p>
        </p:txBody>
      </p:sp>
      <p:sp>
        <p:nvSpPr>
          <p:cNvPr id="21" name="Reference 6 link">
            <a:extLst xmlns:a="http://schemas.openxmlformats.org/drawingml/2006/main">
              <a:ext uri="{FF2B5EF4-FFF2-40B4-BE49-F238E27FC236}">
                <a16:creationId xmlns:a16="http://schemas.microsoft.com/office/drawing/2014/main" id="{E04F1B68-0667-44A5-BD92-CCA1CA30A044}"/>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d4510876ff4a4e4e"/>
              </a:rPr>
              <a:t>https://doi.org/10.25259/NMJI_817_2023</a:t>
            </a:r>
          </a:p>
        </p:txBody>
      </p:sp>
      <p:sp>
        <p:nvSpPr>
          <p:cNvPr id="22" name="Reference 7 author">
            <a:extLst xmlns:a="http://schemas.openxmlformats.org/drawingml/2006/main">
              <a:ext uri="{FF2B5EF4-FFF2-40B4-BE49-F238E27FC236}">
                <a16:creationId xmlns:a16="http://schemas.microsoft.com/office/drawing/2014/main" id="{8E854D95-9F57-412F-99D6-CDAE17D2748F}"/>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3" name="Reference 7 title">
            <a:extLst xmlns:a="http://schemas.openxmlformats.org/drawingml/2006/main">
              <a:ext uri="{FF2B5EF4-FFF2-40B4-BE49-F238E27FC236}">
                <a16:creationId xmlns:a16="http://schemas.microsoft.com/office/drawing/2014/main" id="{D5CC1569-4826-4ECE-B3DE-AF077F968C29}"/>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44e375ede42144e7"/>
              </a:rPr>
              <a:t>Barriers and Facilitators to Advance Care Planning Implementation for Patients with Neurodegenerative Diseases among Indian Physicians: A Mixed-Methods Analysis</a:t>
            </a:r>
          </a:p>
        </p:txBody>
      </p:sp>
      <p:sp>
        <p:nvSpPr>
          <p:cNvPr id="24" name="Reference 7 link">
            <a:extLst xmlns:a="http://schemas.openxmlformats.org/drawingml/2006/main">
              <a:ext uri="{FF2B5EF4-FFF2-40B4-BE49-F238E27FC236}">
                <a16:creationId xmlns:a16="http://schemas.microsoft.com/office/drawing/2014/main" id="{FB376B0C-DDC7-4AD4-A2C0-31057F3A4272}"/>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d06429737bdd4989"/>
              </a:rPr>
              <a:t>https://doi.org/10.1101/2025.10.17.25338242</a:t>
            </a:r>
          </a:p>
        </p:txBody>
      </p:sp>
      <p:sp>
        <p:nvSpPr>
          <p:cNvPr id="25" name="Reference 8 author">
            <a:extLst xmlns:a="http://schemas.openxmlformats.org/drawingml/2006/main">
              <a:ext uri="{FF2B5EF4-FFF2-40B4-BE49-F238E27FC236}">
                <a16:creationId xmlns:a16="http://schemas.microsoft.com/office/drawing/2014/main" id="{269D505B-1B67-48E0-A6CF-DE90DADC0517}"/>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6" name="Reference 8 title">
            <a:extLst xmlns:a="http://schemas.openxmlformats.org/drawingml/2006/main">
              <a:ext uri="{FF2B5EF4-FFF2-40B4-BE49-F238E27FC236}">
                <a16:creationId xmlns:a16="http://schemas.microsoft.com/office/drawing/2014/main" id="{33BD5DEE-F0EC-464B-BAF3-0BB594748BCA}"/>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e3c49adb5794ee0"/>
              </a:rPr>
              <a:t>An Ethnographic Study of Barriers to Cancer Pain Management and Opioid Availability in India</a:t>
            </a:r>
          </a:p>
        </p:txBody>
      </p:sp>
      <p:sp>
        <p:nvSpPr>
          <p:cNvPr id="27" name="Reference 8 link">
            <a:extLst xmlns:a="http://schemas.openxmlformats.org/drawingml/2006/main">
              <a:ext uri="{FF2B5EF4-FFF2-40B4-BE49-F238E27FC236}">
                <a16:creationId xmlns:a16="http://schemas.microsoft.com/office/drawing/2014/main" id="{36E988DB-92A6-4DE7-8918-5804917FA07C}"/>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591e579c9154237"/>
              </a:rPr>
              <a:t>https://doi.org/10.1634/theoncologist.2013-0435</a:t>
            </a:r>
          </a:p>
        </p:txBody>
      </p:sp>
      <p:sp>
        <p:nvSpPr>
          <p:cNvPr id="28" name="Reference 9 author">
            <a:extLst xmlns:a="http://schemas.openxmlformats.org/drawingml/2006/main">
              <a:ext uri="{FF2B5EF4-FFF2-40B4-BE49-F238E27FC236}">
                <a16:creationId xmlns:a16="http://schemas.microsoft.com/office/drawing/2014/main" id="{18EB8E44-47D9-4174-8754-2619E133C24F}"/>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9" name="Reference 9 title">
            <a:extLst xmlns:a="http://schemas.openxmlformats.org/drawingml/2006/main">
              <a:ext uri="{FF2B5EF4-FFF2-40B4-BE49-F238E27FC236}">
                <a16:creationId xmlns:a16="http://schemas.microsoft.com/office/drawing/2014/main" id="{94853AF7-97BD-4447-B9D1-F66279F7803F}"/>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4db9b74921484dcd"/>
              </a:rPr>
              <a:t>Receipt of Psychosocial Care Among Cancer Survivors in the United States</a:t>
            </a:r>
          </a:p>
        </p:txBody>
      </p:sp>
      <p:sp>
        <p:nvSpPr>
          <p:cNvPr id="30" name="Reference 9 link">
            <a:extLst xmlns:a="http://schemas.openxmlformats.org/drawingml/2006/main">
              <a:ext uri="{FF2B5EF4-FFF2-40B4-BE49-F238E27FC236}">
                <a16:creationId xmlns:a16="http://schemas.microsoft.com/office/drawing/2014/main" id="{3E790BFF-9F75-41CD-A95C-697D6B17CEA1}"/>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2fdc34944edb4a41"/>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2026-09-24T12:34:09.4400000Z</dcterms:created>
  <dcterms:modified xsi:type="dcterms:W3CDTF">2026-09-24T12:34:09.4400000Z</dcterms:modified>
</coreProperties>
</file>