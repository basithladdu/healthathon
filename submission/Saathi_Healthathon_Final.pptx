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1c1efe073934065" /><Relationship Type="http://schemas.openxmlformats.org/officeDocument/2006/relationships/extended-properties" Target="/docProps/app.xml" Id="R46c8e7f4f7ff451d" /><Relationship Type="http://schemas.openxmlformats.org/officeDocument/2006/relationships/officeDocument" Target="/ppt/presentation.xml" Id="Rc7bb4f917b8c4e1f" /></Relationships>
</file>

<file path=ppt/presentation.xml><?xml version="1.0" encoding="utf-8"?>
<p:presentation xmlns:p="http://schemas.openxmlformats.org/presentationml/2006/main">
  <p:sldMasterIdLst>
    <p:sldMasterId xmlns:r="http://schemas.openxmlformats.org/officeDocument/2006/relationships" id="2147483648" r:id="R7447360e79e74cf9"/>
  </p:sldMasterIdLst>
  <p:notesMasterIdLst>
    <p:notesMasterId xmlns:r="http://schemas.openxmlformats.org/officeDocument/2006/relationships" r:id="R2a7f1143416247cf"/>
  </p:notesMasterIdLst>
  <p:sldIdLst>
    <p:sldId xmlns:r="http://schemas.openxmlformats.org/officeDocument/2006/relationships" id="256" r:id="R473d67c8d11c4fb5"/>
    <p:sldId xmlns:r="http://schemas.openxmlformats.org/officeDocument/2006/relationships" id="257" r:id="R1e4e2336af2c4c4b"/>
    <p:sldId xmlns:r="http://schemas.openxmlformats.org/officeDocument/2006/relationships" id="258" r:id="R05d75bf406034e57"/>
    <p:sldId xmlns:r="http://schemas.openxmlformats.org/officeDocument/2006/relationships" id="259" r:id="R9562f9f7e651428d"/>
    <p:sldId xmlns:r="http://schemas.openxmlformats.org/officeDocument/2006/relationships" id="260" r:id="R70ad3b27d8444bfe"/>
    <p:sldId xmlns:r="http://schemas.openxmlformats.org/officeDocument/2006/relationships" id="261" r:id="R72cf717420a14775"/>
    <p:sldId xmlns:r="http://schemas.openxmlformats.org/officeDocument/2006/relationships" id="262" r:id="R7a182b31120c45ea"/>
    <p:sldId xmlns:r="http://schemas.openxmlformats.org/officeDocument/2006/relationships" id="263" r:id="R5f5adecb63be488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1f0043ccd404139" /><Relationship Type="http://schemas.openxmlformats.org/officeDocument/2006/relationships/slideMaster" Target="/ppt/slideMasters/slideMaster1.xml" Id="R7447360e79e74cf9" /><Relationship Type="http://schemas.openxmlformats.org/officeDocument/2006/relationships/notesMaster" Target="/ppt/notesMasters/notesMaster1.xml" Id="R2a7f1143416247cf" /><Relationship Type="http://schemas.openxmlformats.org/officeDocument/2006/relationships/presProps" Target="/ppt/presProps.xml" Id="Rda3c80968352430a" /><Relationship Type="http://schemas.openxmlformats.org/officeDocument/2006/relationships/tableStyles" Target="/ppt/tableStyles.xml" Id="Re4d7e9a980524265" /><Relationship Type="http://schemas.openxmlformats.org/officeDocument/2006/relationships/slide" Target="/ppt/slides/slide1.xml" Id="R473d67c8d11c4fb5" /><Relationship Type="http://schemas.openxmlformats.org/officeDocument/2006/relationships/slide" Target="/ppt/slides/slide2.xml" Id="R1e4e2336af2c4c4b" /><Relationship Type="http://schemas.openxmlformats.org/officeDocument/2006/relationships/slide" Target="/ppt/slides/slide3.xml" Id="R05d75bf406034e57" /><Relationship Type="http://schemas.openxmlformats.org/officeDocument/2006/relationships/slide" Target="/ppt/slides/slide4.xml" Id="R9562f9f7e651428d" /><Relationship Type="http://schemas.openxmlformats.org/officeDocument/2006/relationships/slide" Target="/ppt/slides/slide5.xml" Id="R70ad3b27d8444bfe" /><Relationship Type="http://schemas.openxmlformats.org/officeDocument/2006/relationships/slide" Target="/ppt/slides/slide6.xml" Id="R72cf717420a14775" /><Relationship Type="http://schemas.openxmlformats.org/officeDocument/2006/relationships/slide" Target="/ppt/slides/slide7.xml" Id="R7a182b31120c45ea" /><Relationship Type="http://schemas.openxmlformats.org/officeDocument/2006/relationships/slide" Target="/ppt/slides/slide8.xml" Id="R5f5adecb63be48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adf387442dc425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6af9f33f1444ef" /><Relationship Type="http://schemas.openxmlformats.org/officeDocument/2006/relationships/notesMaster" Target="/ppt/notesMasters/notesMaster1.xml" Id="Rc8aaa6d4c71742b2" /></Relationships>
</file>

<file path=ppt/notesSlides/_rels/notesSlide2.xml.rels>&#65279;<?xml version="1.0" encoding="utf-8"?><Relationships xmlns="http://schemas.openxmlformats.org/package/2006/relationships"><Relationship Type="http://schemas.openxmlformats.org/officeDocument/2006/relationships/slide" Target="/ppt/slides/slide2.xml" Id="Rbee0d235ca55492f" /><Relationship Type="http://schemas.openxmlformats.org/officeDocument/2006/relationships/notesMaster" Target="/ppt/notesMasters/notesMaster1.xml" Id="Rb0dcc79ab440461e"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9a6711d16d4555" /><Relationship Type="http://schemas.openxmlformats.org/officeDocument/2006/relationships/notesMaster" Target="/ppt/notesMasters/notesMaster1.xml" Id="R52d6b0a213934f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5de225aba24e88" /><Relationship Type="http://schemas.openxmlformats.org/officeDocument/2006/relationships/notesMaster" Target="/ppt/notesMasters/notesMaster1.xml" Id="R1fd70636b3af41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3f73a002ac414b" /><Relationship Type="http://schemas.openxmlformats.org/officeDocument/2006/relationships/notesMaster" Target="/ppt/notesMasters/notesMaster1.xml" Id="Rd40bf56d51cf47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ed538961410542cf" /><Relationship Type="http://schemas.openxmlformats.org/officeDocument/2006/relationships/notesMaster" Target="/ppt/notesMasters/notesMaster1.xml" Id="R25df2ee8b8cf4809" /></Relationships>
</file>

<file path=ppt/notesSlides/_rels/notesSlide7.xml.rels>&#65279;<?xml version="1.0" encoding="utf-8"?><Relationships xmlns="http://schemas.openxmlformats.org/package/2006/relationships"><Relationship Type="http://schemas.openxmlformats.org/officeDocument/2006/relationships/slide" Target="/ppt/slides/slide7.xml" Id="R7c4bd213b4f54ae2" /><Relationship Type="http://schemas.openxmlformats.org/officeDocument/2006/relationships/notesMaster" Target="/ppt/notesMasters/notesMaster1.xml" Id="R0802e7f2c0d64306" /></Relationships>
</file>

<file path=ppt/notesSlides/_rels/notesSlide8.xml.rels>&#65279;<?xml version="1.0" encoding="utf-8"?><Relationships xmlns="http://schemas.openxmlformats.org/package/2006/relationships"><Relationship Type="http://schemas.openxmlformats.org/officeDocument/2006/relationships/slide" Target="/ppt/slides/slide8.xml" Id="R146a55518c3543c2" /><Relationship Type="http://schemas.openxmlformats.org/officeDocument/2006/relationships/notesMaster" Target="/ppt/notesMasters/notesMaster1.xml" Id="R4cb316c9ad9e49c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Saathi (साथी) means companion. The five named people are the current team; Shirin Ayub was added in the user's latest roster. Basith and Awaiz portraits are original team assets from the DevIT ITI deck, with provenance in submission/assets/2026-09-24-team/README.md. Blank spaces are intentionally reserved for the other members' photos. Roles use the supplied roster. The app logo is extracted from the actual app. GitHub and WhatsApp marks use Simple Icons paths; the WhatsApp mark is coloured green. The QR and OPEN THE WEBSITE link open https://saathi.wedevit.in/. GitHub opens the public project repository; WhatsApp is a contact for questions, not an access request. Entry: Cancer / Patient and Caregiver / Family &amp; Caregiver Support. The cover describes the family-support purpose, not a claim that transport booking, payments or connected AI are operational.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story supplied by the team, not a reported patient case. A 62-year-old woman with advanced breast cancer receives best supportive care. Her husband attends the first discussion. In the later crisis the husband and daughter disagree about attempts to restart her heart and her son is in another city. The story does not recommend or reject emergency treatment. A Care Note records wishes and discussion; it is not an automatic treatment order or a legal advance directive. The contextual photo is a real medical camp in Mannar, Alappuzha district, Kerala, 23 August 2011. It does not depict this story, a cancer-specific visit or a Saathi user. Photo credit: Ministry of Information &amp; Broadcasting / Press Information Bureau, Government of India, photo ID 36197, CNR 39173. Source: https://commons.wikimedia.org/wiki/File:A_medical_camp_conducted_as_part_of_the_public_information_campaign_organized_by_PIB_Thiruvananthapuram,_at_Mannar,_in_Alappuzha_district,_Kerala_on_August_23,_2011.jpg ; original source https://archive.pib.gov.in/photo.aspx?photoid=36197 . Licensed under Government Open Data License – India, https://data.gov.in/sites/default/files/Gazette_Notification_OGDL.pdf . Displayed without image alterations apart from resizing. No government endorsement is implied. Icons: Lucide, https://lucide.dev/license, ISC/MIT, SVG paths unchanged and colours adapted. Full license and credits: submission/assets/2026-09-24-family/. Story sources: docs/meetings/2026-09-23-chat-follow-up.md and both meetings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findings with distinct scopes, verified in docs/pitch/2026-09-24-verified-evidence.md: IARC GLOBOCAN estimates 1,562,581 new cancer cases in India in 2024, rounded to 15.6 lakh. Patil et al. report 98.39% unmet palliative-care need among metastatic cancer cases across ten cancer types, using the NCRP 2020 report; this is not all cancer patients and must not be multiplied by the incidence estimate. The 88% figure is from IndiaSpend reporting of the 2019 HCAH Living Will Survey of over 2,400 urban respondents in seven cities; the original survey was inaccessible and this is not a cancer-only or national sample. Jacob et al. report 45 of 391 doctors (11.5%) with prior advance-directive training at CMC Vellore, not a national estimate. Thangasamy et al. report 0% to 92% documented discussions, with 24 of 26 eligible advanced pancreatic or colorectal cancer patients in one Chennai quality-improvement project. A structured process, form and team work produced this result; this was not a Saathi or AI intervention. The native chart and source workbook are preserved byte-for-byte from the existing supplied pitch chart. Each short source credit is a native hyperlink and the full nine-source list remains on slide 8. Icons: Lucide, ISC/MIT, https://lucide.dev/license, source SVGs and full license in submission/assets/2026-09-24-family/.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central proposed AI workflow, not a claim that a model is already connected. With recording consent, a transcript or existing note becomes a source-linked draft. The doctor can edit, reject or correct it in a distinct review step, and signs first. The patient then reviews and signs that exact version; changed wording requires a newly reviewed version. Unanswered questions remain unanswered. No diagnosis, treatment recommendation, risk scoring or interpretation of medical results. Clinical choices from the supplied Healthathon form and Saanthvana v 1.0 document belong to the clinician, not the AI. Today the browser app supports recording, source-based rule preparation, editing and typed-name signing. Reliable transcription, model integration, verified accounts and sharing between phones remain to connect. A typed name is not a verified digital signature; a Care Note is not a legal advance directive. Sarvam AI is a proposed provider for Indian-language speech-to-text, translation and read-aloud, supported by official documentation: https://docs.sarvam.ai/api/getting-started/building-for-india and https://docs.sarvam.ai/api-reference/speech-to-text/transcribe. No provider version or working connection is claimed. Screenshot is a fresh real Chrome capture at https://saathi.wedevit.in/doctor/review on 24 September, saved to output/playwright/2026-09-24-saathi-doctor-review.png. The seeded Meera text was prepared using the normal app controls and a faithful wording edit; the draft remains unsigned and is not an actual clinical record. Sources: 21 September transcript lines 251–303 and 1097–1155; 23 September meeting and chat; Sujay's 24 September feedback; supplied clinical forms.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three AI jobs adopted in the meetings: answer questions from the patient's own files with the exact source passage; prepare a dated treatment history from recorded chemotherapy and radiotherapy dates; read medicine details from printed or typed prescriptions for a person to check before adding reminders. Current workflow explicitly asks a person to check extracted text before saving it and to confirm a treatment happened and supply its date before adding it to the care timeline. A report or appointment date must not be inferred as a completed treatment date. Handwritten prescription recognition was not adopted. The screenshot is a fresh real Chrome capture of the live Saathi app on 24 September, showing literal retrieval from a fictional stored record, neutral saved-text provenance, Add treatment date and View original. It does not demonstrate connected semantic AI or image OCR. Provider integration code exists but live model calls are not enabled or verified. AI must not interpret test results or create clinical advice. Sources: 21 September transcript lines 1025–1043, 1099–1123 and 1135–1151; 23 September transcript lines 269–277; output/playwright/2026-09-24-saathi-documents-source.png.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family journey; Priya and Arjun are fictional names that make each handoff concrete. This is the broader intended family-support workflow, not a claim of completed rides, guaranteed stock, payments or a deployed financial-assistance system. Current browser features include the latest signed Care Note and patient/version QR, earlier versions, document passages, confirmed treatment dates, medicine and appointment plans, named family tasks, journaling and support discovery. Receipts, financial-help paperwork and caregiver-training handoffs are proposed supporting work, not connected financial services. Doctor reviews and signs first; patient reviews and signs the same version. The cover QR opens the app. Three current role choices are Patient, Family and Doctor; verified accounts and phone sharing remain to connect. Directory: Pallium India, https://palliumindia.org/clinics/telangana, lists home/inpatient/outpatient services and medicine availability, but a listing does not establish today's stock, oral formulation or a confirmed appointment. The family must call to confirm the prescribed medicine and service; no autonomous booking or treatment recommendation is shown. Caregiver support evidence: https://journals.plos.org/plosone/article?id=10.1371/journal.pone.0274770 supports information, training, practical and emotional support needs. Additional sources: both meeting transcripts and the user's 24 September feedback. Icons: Lucide https://lucide.dev/license, ISC/MIT, SVGs recoloured with unchanged paths; full license in submission/assets/2026-09-24-family/Lucide-LICENSE.txt.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trial, not a measured result or a confirmed deployment partner. Start with an agreed baseline and keep the same eligibility and documentation definition after deployment. Tally eligible, informed and consented participants, patient requests, family requests, clinician-initiated conversations, held discussions, saved notes and signed notes separately. Deduplicate repeat activity within a discussion episode and record missing data. Primary before/after rate: patients with a documented goals-of-care discussion in the clinical record / all eligible patients. Also report documented/consented, patient requests/informed eligible and doctor-signed/documented where consistently available, each with n/N. Do not infer a completed discussion from an app recording or a signed note. Offering information to all clinic patients is a proposed opt-in approach for discussion with a site. Consent to the discussion, recording and evaluation data are separate. Supporting measures include clinician time to check/sign, patient-family retrieval time, errors and clarification contacts. Protocol detail: docs/pitch/2026-09-24-impact-plan.md. Sources: Sujay's 24 September messages supplied by the user; Health-a-thon design brief, https://healthathon.reskilll.com/guide.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reference set from slide 8 of Saanthvana_Background_Rationale_1.pptx. The source collection includes research, a fact sheet and secondary reporting. Not every background source supports a numerical claim in this pitch. Reference 7 is a preprint; its primary index confirms the title and DOI, while full-text access returned 403. The author attribution follows the supplied deck. Reference 9 concerns a U.S. cohort. For exact scope of the figures used, see docs/pitch/2026-09-24-verified-evidence.md.</a:t>
            </a:r>
          </a:p>
          <a:p xmlns:a="http://schemas.openxmlformats.org/drawingml/2006/main">
            <a:r>
              <a:t/>
            </a:r>
          </a:p>
          <a:p xmlns:a="http://schemas.openxmlformats.org/drawingml/2006/main">
            <a:r>
              <a:t>1. IARC. Global Cancer Observatory, 2024. India: GLOBOCAN 2024 Fact Sheet</a:t>
            </a:r>
          </a:p>
          <a:p xmlns:a="http://schemas.openxmlformats.org/drawingml/2006/main">
            <a:r>
              <a:t>https://gco.iarc.who.int/media/globocan/factsheets/populations/356-india-fact-sheet.pdf</a:t>
            </a:r>
          </a:p>
          <a:p xmlns:a="http://schemas.openxmlformats.org/drawingml/2006/main">
            <a:r>
              <a:t/>
            </a:r>
          </a:p>
          <a:p xmlns:a="http://schemas.openxmlformats.org/drawingml/2006/main">
            <a:r>
              <a:t>2. Patil S, et al. BMJ Support Palliat Care, 2024. Unmet need for cancer palliative care in India</a:t>
            </a:r>
          </a:p>
          <a:p xmlns:a="http://schemas.openxmlformats.org/drawingml/2006/main">
            <a:r>
              <a:t>https://doi.org/10.1136/spcare-2024-004978</a:t>
            </a:r>
          </a:p>
          <a:p xmlns:a="http://schemas.openxmlformats.org/drawingml/2006/main">
            <a:r>
              <a:t/>
            </a:r>
          </a:p>
          <a:p xmlns:a="http://schemas.openxmlformats.org/drawingml/2006/main">
            <a:r>
              <a:t>3. Aslam N, Hayat A. J Pain Symptom Manage, 2024. Early Goal of Care Discussions in Healthcare: A Survey Case Report on Benefits and Perceptions</a:t>
            </a:r>
          </a:p>
          <a:p xmlns:a="http://schemas.openxmlformats.org/drawingml/2006/main">
            <a:r>
              <a:t>https://doi.org/10.1016/j.jpainsymman.2024.02.030</a:t>
            </a:r>
          </a:p>
          <a:p xmlns:a="http://schemas.openxmlformats.org/drawingml/2006/main">
            <a:r>
              <a:t/>
            </a:r>
          </a:p>
          <a:p xmlns:a="http://schemas.openxmlformats.org/drawingml/2006/main">
            <a:r>
              <a:t>4. Thangasamy DRJ, et al. Palliat Med Rep, 2025. Initiating and Documenting Goals of Care Discussion in Patients with Advanced Pancreatic and Colorectal Cancers: A Quality Improvement Project in a Low Resource Setting</a:t>
            </a:r>
          </a:p>
          <a:p xmlns:a="http://schemas.openxmlformats.org/drawingml/2006/main">
            <a:r>
              <a:t>https://doi.org/10.1177/26892820251392545</a:t>
            </a:r>
          </a:p>
          <a:p xmlns:a="http://schemas.openxmlformats.org/drawingml/2006/main">
            <a:r>
              <a:t/>
            </a:r>
          </a:p>
          <a:p xmlns:a="http://schemas.openxmlformats.org/drawingml/2006/main">
            <a:r>
              <a:t>5. Sharma P. IndiaSpend / Scroll.in, 2019. 73% urban Indians do not know about their right to make a living will, finds a survey</a:t>
            </a:r>
          </a:p>
          <a:p xmlns:a="http://schemas.openxmlformats.org/drawingml/2006/main">
            <a:r>
              <a:t>https://scroll.in/article/925875/73-urban-indians-do-not-know-about-their-right-to-make-a-living-will-finds-a-survey</a:t>
            </a:r>
          </a:p>
          <a:p xmlns:a="http://schemas.openxmlformats.org/drawingml/2006/main">
            <a:r>
              <a:t/>
            </a:r>
          </a:p>
          <a:p xmlns:a="http://schemas.openxmlformats.org/drawingml/2006/main">
            <a:r>
              <a:t>6. Jacob JA, et al. Natl Med J India, 2026. Knowledge and attitude towards advance directives for patients with terminal illnesses among doctors working in a tertiary care hospital</a:t>
            </a:r>
          </a:p>
          <a:p xmlns:a="http://schemas.openxmlformats.org/drawingml/2006/main">
            <a:r>
              <a:t>https://doi.org/10.25259/NMJI_817_2023</a:t>
            </a:r>
          </a:p>
          <a:p xmlns:a="http://schemas.openxmlformats.org/drawingml/2006/main">
            <a:r>
              <a:t/>
            </a:r>
          </a:p>
          <a:p xmlns:a="http://schemas.openxmlformats.org/drawingml/2006/main">
            <a:r>
              <a:t>7. Singh P, et al. medRxiv, 2025. Preprint. Barriers and Facilitators to Advance Care Planning Implementation for Patients with Neurodegenerative Diseases among Indian Physicians: A Mixed-Methods Analysis</a:t>
            </a:r>
          </a:p>
          <a:p xmlns:a="http://schemas.openxmlformats.org/drawingml/2006/main">
            <a:r>
              <a:t>https://doi.org/10.1101/2025.10.17.25338242</a:t>
            </a:r>
          </a:p>
          <a:p xmlns:a="http://schemas.openxmlformats.org/drawingml/2006/main">
            <a:r>
              <a:t/>
            </a:r>
          </a:p>
          <a:p xmlns:a="http://schemas.openxmlformats.org/drawingml/2006/main">
            <a:r>
              <a:t>8. LeBaron V, et al. The Oncologist, 2014. An Ethnographic Study of Barriers to Cancer Pain Management and Opioid Availability in India</a:t>
            </a:r>
          </a:p>
          <a:p xmlns:a="http://schemas.openxmlformats.org/drawingml/2006/main">
            <a:r>
              <a:t>https://doi.org/10.1634/theoncologist.2013-0435</a:t>
            </a:r>
          </a:p>
          <a:p xmlns:a="http://schemas.openxmlformats.org/drawingml/2006/main">
            <a:r>
              <a:t/>
            </a:r>
          </a:p>
          <a:p xmlns:a="http://schemas.openxmlformats.org/drawingml/2006/main">
            <a:r>
              <a:t>9. Forsythe LP, et al. J Clin Oncol, 2013. U.S. cohort. Receipt of Psychosocial Care Among Cancer Survivors in the United States</a:t>
            </a:r>
          </a:p>
          <a:p xmlns:a="http://schemas.openxmlformats.org/drawingml/2006/main">
            <a:r>
              <a:t>https://doi.org/10.1200/JCO.2012.46.2101</a:t>
            </a:r>
          </a:p>
          <a:p xmlns:a="http://schemas.openxmlformats.org/drawingml/2006/main">
            <a:r>
              <a:t/>
            </a:r>
          </a:p>
          <a:p xmlns:a="http://schemas.openxmlformats.org/drawingml/2006/main">
            <a:r>
              <a:t>Additional proposed-workflow sources: Sarvam AI official docs https://docs.sarvam.ai/api/getting-started/building-for-india ; Pallium India directory https://palliumindia.org/clinics/telangana ; caregiver support research https://journals.plos.org/plosone/article?id=10.1371/journal.pone.0274770 . These additional sources do not replace the original nine background references.</a:t>
            </a:r>
          </a:p>
          <a:p xmlns:a="http://schemas.openxmlformats.org/drawingml/2006/main">
            <a:r>
              <a:t/>
            </a:r>
          </a:p>
          <a:p xmlns:a="http://schemas.openxmlformats.org/drawingml/2006/main">
            <a:r>
              <a:t>Icon source: https://github.com/lucide-icons/lucide/tree/main/icons . Paths unchanged; colours adapted. The following complete Lucide/Feather notices apply to icons on slides 2, 3 and 6.</a:t>
            </a:r>
          </a:p>
          <a:p xmlns:a="http://schemas.openxmlformats.org/drawingml/2006/main">
            <a:r>
              <a:t/>
            </a:r>
          </a:p>
          <a:p xmlns:a="http://schemas.openxmlformats.org/drawingml/2006/main">
            <a:r>
              <a:t>ISC License</a:t>
            </a:r>
          </a:p>
          <a:p xmlns:a="http://schemas.openxmlformats.org/drawingml/2006/main">
            <a:r>
              <a:t/>
            </a:r>
          </a:p>
          <a:p xmlns:a="http://schemas.openxmlformats.org/drawingml/2006/main">
            <a:r>
              <a:t>Copyright (c) 2026 Lucide Icons and Contributors</a:t>
            </a:r>
          </a:p>
          <a:p xmlns:a="http://schemas.openxmlformats.org/drawingml/2006/main">
            <a:r>
              <a:t/>
            </a:r>
          </a:p>
          <a:p xmlns:a="http://schemas.openxmlformats.org/drawingml/2006/main">
            <a:r>
              <a:t>Permission to use, copy, modify, and/or distribute this software for any</a:t>
            </a:r>
          </a:p>
          <a:p xmlns:a="http://schemas.openxmlformats.org/drawingml/2006/main">
            <a:r>
              <a:t>purpose with or without fee is hereby granted, provided that the above</a:t>
            </a:r>
          </a:p>
          <a:p xmlns:a="http://schemas.openxmlformats.org/drawingml/2006/main">
            <a:r>
              <a:t>copyright notice and this permission notice appear in all copies.</a:t>
            </a:r>
          </a:p>
          <a:p xmlns:a="http://schemas.openxmlformats.org/drawingml/2006/main">
            <a:r>
              <a:t/>
            </a:r>
          </a:p>
          <a:p xmlns:a="http://schemas.openxmlformats.org/drawingml/2006/main">
            <a:r>
              <a:t>THE SOFTWARE IS PROVIDED "AS IS" AND THE AUTHOR DISCLAIMS ALL WARRANTIES</a:t>
            </a:r>
          </a:p>
          <a:p xmlns:a="http://schemas.openxmlformats.org/drawingml/2006/main">
            <a:r>
              <a:t>WITH REGARD TO THIS SOFTWARE INCLUDING ALL IMPLIED WARRANTIES OF</a:t>
            </a:r>
          </a:p>
          <a:p xmlns:a="http://schemas.openxmlformats.org/drawingml/2006/main">
            <a:r>
              <a:t>MERCHANTABILITY AND FITNESS. IN NO EVENT SHALL THE AUTHOR BE LIABLE FOR</a:t>
            </a:r>
          </a:p>
          <a:p xmlns:a="http://schemas.openxmlformats.org/drawingml/2006/main">
            <a:r>
              <a:t>ANY SPECIAL, DIRECT, INDIRECT, OR CONSEQUENTIAL DAMAGES OR ANY DAMAGES</a:t>
            </a:r>
          </a:p>
          <a:p xmlns:a="http://schemas.openxmlformats.org/drawingml/2006/main">
            <a:r>
              <a:t>WHATSOEVER RESULTING FROM LOSS OF USE, DATA OR PROFITS, WHETHER IN AN</a:t>
            </a:r>
          </a:p>
          <a:p xmlns:a="http://schemas.openxmlformats.org/drawingml/2006/main">
            <a:r>
              <a:t>ACTION OF CONTRACT, NEGLIGENCE OR OTHER TORTIOUS ACTION, ARISING OUT OF</a:t>
            </a:r>
          </a:p>
          <a:p xmlns:a="http://schemas.openxmlformats.org/drawingml/2006/main">
            <a:r>
              <a:t>OR IN CONNECTION WITH THE USE OR PERFORMANCE OF THIS SOFTWARE.</a:t>
            </a:r>
          </a:p>
          <a:p xmlns:a="http://schemas.openxmlformats.org/drawingml/2006/main">
            <a:r>
              <a:t/>
            </a:r>
          </a:p>
          <a:p xmlns:a="http://schemas.openxmlformats.org/drawingml/2006/main">
            <a:r>
              <a:t>---</a:t>
            </a:r>
          </a:p>
          <a:p xmlns:a="http://schemas.openxmlformats.org/drawingml/2006/main">
            <a:r>
              <a:t/>
            </a:r>
          </a:p>
          <a:p xmlns:a="http://schemas.openxmlformats.org/drawingml/2006/main">
            <a:r>
              <a:t>The following Lucide icons are derived from the Feather project:</a:t>
            </a:r>
          </a:p>
          <a:p xmlns:a="http://schemas.openxmlformats.org/drawingml/2006/main">
            <a:r>
              <a:t/>
            </a:r>
          </a:p>
          <a:p xmlns:a="http://schemas.openxmlformats.org/drawingml/2006/main">
            <a:r>
              <a:t>airplay, alert-circle, alert-octagon, alert-triangle, aperture, arrow-down-circle, arrow-down-left, arrow-down-right, arrow-down, arrow-left-circle, arrow-left, arrow-right-circle, arrow-right, arrow-up-circle, arrow-up-left, arrow-up-right, arrow-up, at-sign, calendar, cast, check, chevron-down, chevron-left, chevron-right, chevron-up, chevrons-down, chevrons-left, chevrons-right, chevrons-up, circle, clipboard, clock, code, columns, command, compass, corner-down-left, corner-down-right, corner-left-down, corner-left-up, corner-right-down, corner-right-up, corner-up-left, corner-up-right, crosshair, database, divide-circle, divide-square, dollar-sign, download, external-link, feather, frown, hash, headphones, help-circle, info, italic, key, layout, life-buoy, link-2, link, loader, lock, log-in, log-out, maximize, meh, minimize, minimize-2, minus-circle, minus-square, minus, monitor, moon, more-horizontal, more-vertical, move, music, navigation-2, navigation, octagon, pause-circle, percent, plus-circle, plus-square, plus, power, radio, rss, search, server, share, shopping-bag, sidebar, smartphone, smile, square, table-2, tablet, target, terminal, trash-2, trash, triangle, tv, type, upload, x-circle, x-octagon, x-square, x, zoom-in, zoom-out</a:t>
            </a:r>
          </a:p>
          <a:p xmlns:a="http://schemas.openxmlformats.org/drawingml/2006/main">
            <a:r>
              <a:t/>
            </a:r>
          </a:p>
          <a:p xmlns:a="http://schemas.openxmlformats.org/drawingml/2006/main">
            <a:r>
              <a:t>The MIT License (MIT) (for the icons listed above)</a:t>
            </a:r>
          </a:p>
          <a:p xmlns:a="http://schemas.openxmlformats.org/drawingml/2006/main">
            <a:r>
              <a:t/>
            </a:r>
          </a:p>
          <a:p xmlns:a="http://schemas.openxmlformats.org/drawingml/2006/main">
            <a:r>
              <a:t>Copyright (c) 2013-present Cole Bemis</a:t>
            </a:r>
          </a:p>
          <a:p xmlns:a="http://schemas.openxmlformats.org/drawingml/2006/main">
            <a:r>
              <a:t/>
            </a:r>
          </a:p>
          <a:p xmlns:a="http://schemas.openxmlformats.org/drawingml/2006/main">
            <a:r>
              <a:t>Permission is hereby granted, free of charge, to any person obtaining a copy</a:t>
            </a:r>
          </a:p>
          <a:p xmlns:a="http://schemas.openxmlformats.org/drawingml/2006/main">
            <a:r>
              <a:t>of this software and associated documentation files (the "Software"), to deal</a:t>
            </a:r>
          </a:p>
          <a:p xmlns:a="http://schemas.openxmlformats.org/drawingml/2006/main">
            <a:r>
              <a:t>in the Software without restriction, including without limitation the rights</a:t>
            </a:r>
          </a:p>
          <a:p xmlns:a="http://schemas.openxmlformats.org/drawingml/2006/main">
            <a:r>
              <a:t>to use, copy, modify, merge, publish, distribute, sublicense, and/or sell</a:t>
            </a:r>
          </a:p>
          <a:p xmlns:a="http://schemas.openxmlformats.org/drawingml/2006/main">
            <a:r>
              <a:t>copies of the Software, and to permit persons to whom the Software is</a:t>
            </a:r>
          </a:p>
          <a:p xmlns:a="http://schemas.openxmlformats.org/drawingml/2006/main">
            <a:r>
              <a:t>furnished to do so, subject to the following conditions:</a:t>
            </a:r>
          </a:p>
          <a:p xmlns:a="http://schemas.openxmlformats.org/drawingml/2006/main">
            <a:r>
              <a:t/>
            </a:r>
          </a:p>
          <a:p xmlns:a="http://schemas.openxmlformats.org/drawingml/2006/main">
            <a:r>
              <a:t>The above copyright notice and this permission notice shall be included in all</a:t>
            </a:r>
          </a:p>
          <a:p xmlns:a="http://schemas.openxmlformats.org/drawingml/2006/main">
            <a:r>
              <a:t>copies or substantial portions of the Software.</a:t>
            </a:r>
          </a:p>
          <a:p xmlns:a="http://schemas.openxmlformats.org/drawingml/2006/main">
            <a:r>
              <a:t/>
            </a:r>
          </a:p>
          <a:p xmlns:a="http://schemas.openxmlformats.org/drawingml/2006/main">
            <a:r>
              <a:t>THE SOFTWARE IS PROVIDED "AS IS", WITHOUT WARRANTY OF ANY KIND, EXPRESS OR</a:t>
            </a:r>
          </a:p>
          <a:p xmlns:a="http://schemas.openxmlformats.org/drawingml/2006/main">
            <a:r>
              <a:t>IMPLIED, INCLUDING BUT NOT LIMITED TO THE WARRANTIES OF MERCHANTABILITY,</a:t>
            </a:r>
          </a:p>
          <a:p xmlns:a="http://schemas.openxmlformats.org/drawingml/2006/main">
            <a:r>
              <a:t>FITNESS FOR A PARTICULAR PURPOSE AND NONINFRINGEMENT. IN NO EVENT SHALL THE</a:t>
            </a:r>
          </a:p>
          <a:p xmlns:a="http://schemas.openxmlformats.org/drawingml/2006/main">
            <a:r>
              <a:t>AUTHORS OR COPYRIGHT HOLDERS BE LIABLE FOR ANY CLAIM, DAMAGES OR OTHER</a:t>
            </a:r>
          </a:p>
          <a:p xmlns:a="http://schemas.openxmlformats.org/drawingml/2006/main">
            <a:r>
              <a:t>LIABILITY, WHETHER IN AN ACTION OF CONTRACT, TORT OR OTHERWISE, ARISING FROM,</a:t>
            </a:r>
          </a:p>
          <a:p xmlns:a="http://schemas.openxmlformats.org/drawingml/2006/main">
            <a:r>
              <a:t>OUT OF OR IN CONNECTION WITH THE SOFTWARE OR THE USE OR OTHER DEALINGS IN THE</a:t>
            </a:r>
          </a:p>
          <a:p xmlns:a="http://schemas.openxmlformats.org/drawingml/2006/main">
            <a:r>
              <a:t>SOFTWARE.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2867468740843b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7dcea42ba874edd" /><Relationship Type="http://schemas.openxmlformats.org/officeDocument/2006/relationships/slideLayout" Target="/ppt/slideLayouts/slideLayout1.xml" Id="R934c815e40354b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4c815e40354b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673758f8094444e" /><Relationship Type="http://schemas.openxmlformats.org/officeDocument/2006/relationships/image" Target="/ppt/media/image.png" Id="R30130442cec44730" /><Relationship Type="http://schemas.openxmlformats.org/officeDocument/2006/relationships/image" Target="/ppt/media/image.svg" Id="R6db39ec149734681" /><Relationship Type="http://schemas.openxmlformats.org/officeDocument/2006/relationships/image" Target="/ppt/media/image2.png" Id="Rbbe0fd68a15b40a8" /><Relationship Type="http://schemas.openxmlformats.org/officeDocument/2006/relationships/hyperlink" Target="https://saathi.wedevit.in/" TargetMode="External" Id="R40707b338ac14922" /><Relationship Type="http://schemas.openxmlformats.org/officeDocument/2006/relationships/image" Target="/ppt/media/image3.png" Id="Rb1d10f65e03346ae" /><Relationship Type="http://schemas.openxmlformats.org/officeDocument/2006/relationships/image" Target="/ppt/media/image2.svg" Id="R855ec724def8433b" /><Relationship Type="http://schemas.openxmlformats.org/officeDocument/2006/relationships/hyperlink" Target="https://github.com/basithladdu/healthathon" TargetMode="External" Id="R1cf8669fb36f4a02" /><Relationship Type="http://schemas.openxmlformats.org/officeDocument/2006/relationships/image" Target="/ppt/media/image4.png" Id="R01496778073a4155" /><Relationship Type="http://schemas.openxmlformats.org/officeDocument/2006/relationships/image" Target="/ppt/media/image3.svg" Id="R6bdeb857882947ca" /><Relationship Type="http://schemas.openxmlformats.org/officeDocument/2006/relationships/hyperlink" Target="https://wa.me/919553321211" TargetMode="External" Id="R1bd14870e96b474f" /><Relationship Type="http://schemas.openxmlformats.org/officeDocument/2006/relationships/hyperlink" Target="https://wa.me/919553321211" TargetMode="External" Id="R03acf4e8f9464bf5" /><Relationship Type="http://schemas.openxmlformats.org/officeDocument/2006/relationships/image" Target="/ppt/media/image.jpeg" Id="R30c8e3e3b0b64483" /><Relationship Type="http://schemas.openxmlformats.org/officeDocument/2006/relationships/image" Target="/ppt/media/image2.jpeg" Id="Rb64ce5be8d104cdb" /><Relationship Type="http://schemas.openxmlformats.org/officeDocument/2006/relationships/notesSlide" Target="/ppt/notesSlides/notesSlide1.xml" Id="R410c1c4b76a64e2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e81098c24134747" /><Relationship Type="http://schemas.openxmlformats.org/officeDocument/2006/relationships/image" Target="/ppt/media/image3.jpeg" Id="R0d796594cdf24e89" /><Relationship Type="http://schemas.openxmlformats.org/officeDocument/2006/relationships/image" Target="/ppt/media/image5.png" Id="R868efaa07c8f418a" /><Relationship Type="http://schemas.openxmlformats.org/officeDocument/2006/relationships/image" Target="/ppt/media/image4.svg" Id="R53f91e36ce3b45d1" /><Relationship Type="http://schemas.openxmlformats.org/officeDocument/2006/relationships/image" Target="/ppt/media/image6.png" Id="R455a06312f8240ec" /><Relationship Type="http://schemas.openxmlformats.org/officeDocument/2006/relationships/image" Target="/ppt/media/image5.svg" Id="Rb3c0b29c51874e24" /><Relationship Type="http://schemas.openxmlformats.org/officeDocument/2006/relationships/image" Target="/ppt/media/image7.png" Id="R5bef7ed572c24424" /><Relationship Type="http://schemas.openxmlformats.org/officeDocument/2006/relationships/image" Target="/ppt/media/image6.svg" Id="Rc69cbbcaf2a84398" /><Relationship Type="http://schemas.openxmlformats.org/officeDocument/2006/relationships/notesSlide" Target="/ppt/notesSlides/notesSlide2.xml" Id="R4ef548c81d2d4bc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8e88fa093db4991" /><Relationship Type="http://schemas.openxmlformats.org/officeDocument/2006/relationships/chart" Target="/ppt/slides/charts/chart1.xml" Id="Rfc11ca11897241c7" /><Relationship Type="http://schemas.openxmlformats.org/officeDocument/2006/relationships/image" Target="/ppt/media/image8.png" Id="R76163d06dfd549ee" /><Relationship Type="http://schemas.openxmlformats.org/officeDocument/2006/relationships/image" Target="/ppt/media/image7.svg" Id="R0fcca0f54d2e4af7" /><Relationship Type="http://schemas.openxmlformats.org/officeDocument/2006/relationships/hyperlink" Target="https://gco.iarc.who.int/media/globocan/factsheets/populations/356-india-fact-sheet.pdf" TargetMode="External" Id="Rab6fa42c7df148e1" /><Relationship Type="http://schemas.openxmlformats.org/officeDocument/2006/relationships/image" Target="/ppt/media/image9.png" Id="R350bef4171974d80" /><Relationship Type="http://schemas.openxmlformats.org/officeDocument/2006/relationships/image" Target="/ppt/media/image8.svg" Id="R101febf06eb64f36" /><Relationship Type="http://schemas.openxmlformats.org/officeDocument/2006/relationships/hyperlink" Target="https://doi.org/10.1136/spcare-2024-004978" TargetMode="External" Id="R2410539b0c794485" /><Relationship Type="http://schemas.openxmlformats.org/officeDocument/2006/relationships/image" Target="/ppt/media/image10.png" Id="Ra4b40fb512b14e4a" /><Relationship Type="http://schemas.openxmlformats.org/officeDocument/2006/relationships/image" Target="/ppt/media/image9.svg" Id="R13eac5924e2f4bf5" /><Relationship Type="http://schemas.openxmlformats.org/officeDocument/2006/relationships/hyperlink" Target="https://scroll.in/article/925875/73-urban-indians-do-not-know-about-their-right-to-make-a-living-will-finds-a-survey" TargetMode="External" Id="R9742cc5a0ff44c36" /><Relationship Type="http://schemas.openxmlformats.org/officeDocument/2006/relationships/image" Target="/ppt/media/image11.png" Id="Rdf58d6a0009a4a4f" /><Relationship Type="http://schemas.openxmlformats.org/officeDocument/2006/relationships/image" Target="/ppt/media/image10.svg" Id="R8045cbd10a234fb2" /><Relationship Type="http://schemas.openxmlformats.org/officeDocument/2006/relationships/hyperlink" Target="https://doi.org/10.25259/NMJI_817_2023" TargetMode="External" Id="R4b894f2e3f5c4b27" /><Relationship Type="http://schemas.openxmlformats.org/officeDocument/2006/relationships/image" Target="/ppt/media/image12.png" Id="R12881ede430f4726" /><Relationship Type="http://schemas.openxmlformats.org/officeDocument/2006/relationships/image" Target="/ppt/media/image11.svg" Id="R36f984ec41054231" /><Relationship Type="http://schemas.openxmlformats.org/officeDocument/2006/relationships/hyperlink" Target="https://doi.org/10.1177/26892820251392545" TargetMode="External" Id="Rdaf3af87ee454c98" /><Relationship Type="http://schemas.openxmlformats.org/officeDocument/2006/relationships/notesSlide" Target="/ppt/notesSlides/notesSlide3.xml" Id="Rec2e51df410e4eb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89d4347f594499b" /><Relationship Type="http://schemas.openxmlformats.org/officeDocument/2006/relationships/image" Target="/ppt/media/image4.jpeg" Id="R4d9c9e85d50f48c7" /><Relationship Type="http://schemas.openxmlformats.org/officeDocument/2006/relationships/hyperlink" Target="https://docs.sarvam.ai/api/getting-started/building-for-india" TargetMode="External" Id="R4b5b00a57e484bcd" /><Relationship Type="http://schemas.openxmlformats.org/officeDocument/2006/relationships/notesSlide" Target="/ppt/notesSlides/notesSlide4.xml" Id="R8f73a306a1c0490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1644bfed50a4055" /><Relationship Type="http://schemas.openxmlformats.org/officeDocument/2006/relationships/image" Target="/ppt/media/image5.jpeg" Id="R4527554a8e3843ca" /><Relationship Type="http://schemas.openxmlformats.org/officeDocument/2006/relationships/notesSlide" Target="/ppt/notesSlides/notesSlide5.xml" Id="R310ad25b57884e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f2dc91f6c9347a2" /><Relationship Type="http://schemas.openxmlformats.org/officeDocument/2006/relationships/image" Target="/ppt/media/image13.png" Id="R5366dd923ca74b10" /><Relationship Type="http://schemas.openxmlformats.org/officeDocument/2006/relationships/image" Target="/ppt/media/image12.svg" Id="R20fd0ab06e6a423f" /><Relationship Type="http://schemas.openxmlformats.org/officeDocument/2006/relationships/image" Target="/ppt/media/image14.png" Id="Ra1981f84f06445a6" /><Relationship Type="http://schemas.openxmlformats.org/officeDocument/2006/relationships/image" Target="/ppt/media/image13.svg" Id="Rbf173c406cdf49ad" /><Relationship Type="http://schemas.openxmlformats.org/officeDocument/2006/relationships/image" Target="/ppt/media/image15.png" Id="Rb04799ddf1d449de" /><Relationship Type="http://schemas.openxmlformats.org/officeDocument/2006/relationships/image" Target="/ppt/media/image14.svg" Id="R53bf81545e9a463d" /><Relationship Type="http://schemas.openxmlformats.org/officeDocument/2006/relationships/image" Target="/ppt/media/image16.png" Id="Rf118d60c9da245f8" /><Relationship Type="http://schemas.openxmlformats.org/officeDocument/2006/relationships/image" Target="/ppt/media/image15.svg" Id="R3dbcc2b1018f40fc" /><Relationship Type="http://schemas.openxmlformats.org/officeDocument/2006/relationships/image" Target="/ppt/media/image17.png" Id="R9317a7ce87b546e7" /><Relationship Type="http://schemas.openxmlformats.org/officeDocument/2006/relationships/image" Target="/ppt/media/image16.svg" Id="R92b39c266a0140c3" /><Relationship Type="http://schemas.openxmlformats.org/officeDocument/2006/relationships/image" Target="/ppt/media/image18.png" Id="R9cf4905d615c4a62" /><Relationship Type="http://schemas.openxmlformats.org/officeDocument/2006/relationships/image" Target="/ppt/media/image17.svg" Id="R2cb45655ee47419b" /><Relationship Type="http://schemas.openxmlformats.org/officeDocument/2006/relationships/image" Target="/ppt/media/image19.png" Id="R10653ffa980048cc" /><Relationship Type="http://schemas.openxmlformats.org/officeDocument/2006/relationships/image" Target="/ppt/media/image18.svg" Id="Re7c578e44e7f4d19" /><Relationship Type="http://schemas.openxmlformats.org/officeDocument/2006/relationships/image" Target="/ppt/media/image20.png" Id="R27a1b96e85434fe5" /><Relationship Type="http://schemas.openxmlformats.org/officeDocument/2006/relationships/image" Target="/ppt/media/image19.svg" Id="Rd9ae1781679242b0" /><Relationship Type="http://schemas.openxmlformats.org/officeDocument/2006/relationships/image" Target="/ppt/media/image21.png" Id="Reddcefe6054848ad" /><Relationship Type="http://schemas.openxmlformats.org/officeDocument/2006/relationships/image" Target="/ppt/media/image20.svg" Id="Ra262f0da205e420b" /><Relationship Type="http://schemas.openxmlformats.org/officeDocument/2006/relationships/image" Target="/ppt/media/image22.png" Id="R8c384d842e314711" /><Relationship Type="http://schemas.openxmlformats.org/officeDocument/2006/relationships/image" Target="/ppt/media/image21.svg" Id="Rdd635a956c61407b" /><Relationship Type="http://schemas.openxmlformats.org/officeDocument/2006/relationships/hyperlink" Target="https://palliumindia.org/clinics/telangana" TargetMode="External" Id="Rb22a101764e445d0" /><Relationship Type="http://schemas.openxmlformats.org/officeDocument/2006/relationships/notesSlide" Target="/ppt/notesSlides/notesSlide6.xml" Id="R48f5e9c26e6949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aa95bec6ec24074" /><Relationship Type="http://schemas.openxmlformats.org/officeDocument/2006/relationships/notesSlide" Target="/ppt/notesSlides/notesSlide7.xml" Id="R9c9652b75c7f4e2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34296a615534537" /><Relationship Type="http://schemas.openxmlformats.org/officeDocument/2006/relationships/hyperlink" Target="https://gco.iarc.who.int/media/globocan/factsheets/populations/356-india-fact-sheet.pdf" TargetMode="External" Id="R4dc226c9244d40ec" /><Relationship Type="http://schemas.openxmlformats.org/officeDocument/2006/relationships/hyperlink" Target="https://gco.iarc.who.int/media/globocan/factsheets/populations/356-india-fact-sheet.pdf" TargetMode="External" Id="Ra45fe59619454f63" /><Relationship Type="http://schemas.openxmlformats.org/officeDocument/2006/relationships/hyperlink" Target="https://doi.org/10.1136/spcare-2024-004978" TargetMode="External" Id="R0e42d417d82746b2" /><Relationship Type="http://schemas.openxmlformats.org/officeDocument/2006/relationships/hyperlink" Target="https://doi.org/10.1136/spcare-2024-004978" TargetMode="External" Id="R29b7dc52f1b4493c" /><Relationship Type="http://schemas.openxmlformats.org/officeDocument/2006/relationships/hyperlink" Target="https://doi.org/10.1016/j.jpainsymman.2024.02.030" TargetMode="External" Id="R554027444ecc4dac" /><Relationship Type="http://schemas.openxmlformats.org/officeDocument/2006/relationships/hyperlink" Target="https://doi.org/10.1016/j.jpainsymman.2024.02.030" TargetMode="External" Id="R5520ba3d31c6415d" /><Relationship Type="http://schemas.openxmlformats.org/officeDocument/2006/relationships/hyperlink" Target="https://doi.org/10.1177/26892820251392545" TargetMode="External" Id="R4cc117fb0b804dd1" /><Relationship Type="http://schemas.openxmlformats.org/officeDocument/2006/relationships/hyperlink" Target="https://doi.org/10.1177/26892820251392545" TargetMode="External" Id="R815cc88d79754926" /><Relationship Type="http://schemas.openxmlformats.org/officeDocument/2006/relationships/hyperlink" Target="https://scroll.in/article/925875/73-urban-indians-do-not-know-about-their-right-to-make-a-living-will-finds-a-survey" TargetMode="External" Id="R2d98ea2adcf5492e" /><Relationship Type="http://schemas.openxmlformats.org/officeDocument/2006/relationships/hyperlink" Target="https://scroll.in/article/925875/73-urban-indians-do-not-know-about-their-right-to-make-a-living-will-finds-a-survey" TargetMode="External" Id="R59ef83456d6341bc" /><Relationship Type="http://schemas.openxmlformats.org/officeDocument/2006/relationships/hyperlink" Target="https://doi.org/10.25259/NMJI_817_2023" TargetMode="External" Id="Rc99b2de02fea4fcc" /><Relationship Type="http://schemas.openxmlformats.org/officeDocument/2006/relationships/hyperlink" Target="https://doi.org/10.25259/NMJI_817_2023" TargetMode="External" Id="Re4c86d7427a44f06" /><Relationship Type="http://schemas.openxmlformats.org/officeDocument/2006/relationships/hyperlink" Target="https://doi.org/10.1101/2025.10.17.25338242" TargetMode="External" Id="R337869d4c1aa4b9e" /><Relationship Type="http://schemas.openxmlformats.org/officeDocument/2006/relationships/hyperlink" Target="https://doi.org/10.1101/2025.10.17.25338242" TargetMode="External" Id="R5919be9b485044c4" /><Relationship Type="http://schemas.openxmlformats.org/officeDocument/2006/relationships/hyperlink" Target="https://doi.org/10.1634/theoncologist.2013-0435" TargetMode="External" Id="Ra397577d3cf341a2" /><Relationship Type="http://schemas.openxmlformats.org/officeDocument/2006/relationships/hyperlink" Target="https://doi.org/10.1634/theoncologist.2013-0435" TargetMode="External" Id="R5bb9e085a56442f1" /><Relationship Type="http://schemas.openxmlformats.org/officeDocument/2006/relationships/hyperlink" Target="https://doi.org/10.1200/JCO.2012.46.2101" TargetMode="External" Id="Rbeb1385177ad4367" /><Relationship Type="http://schemas.openxmlformats.org/officeDocument/2006/relationships/hyperlink" Target="https://doi.org/10.1200/JCO.2012.46.2101" TargetMode="External" Id="R8584764cb0c64d3c" /><Relationship Type="http://schemas.openxmlformats.org/officeDocument/2006/relationships/notesSlide" Target="/ppt/notesSlides/notesSlide8.xml" Id="R8342d7d2fe0942a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Documented conversations</c:v>
          </c:tx>
          <c:spPr>
            <a:solidFill xmlns:a="http://schemas.openxmlformats.org/drawingml/2006/main">
              <a:srgbClr val="173F33"/>
            </a:solidFill>
          </c:spPr>
          <c:dPt>
            <c:idx val="0"/>
            <c:invertIfNegative val="0"/>
            <c:spPr>
              <a:solidFill xmlns:a="http://schemas.openxmlformats.org/drawingml/2006/main">
                <a:srgbClr val="B75E43"/>
              </a:solidFill>
            </c:spPr>
          </c:dPt>
          <c:dPt>
            <c:idx val="1"/>
            <c:invertIfNegative val="0"/>
            <c:spPr>
              <a:solidFill xmlns:a="http://schemas.openxmlformats.org/drawingml/2006/main">
                <a:srgbClr val="173F33"/>
              </a:solidFill>
            </c:spPr>
          </c:dPt>
          <c:cat>
            <c:strRef>
              <c:f>'Chart Data'!$A$2:$A$3</c:f>
              <c:strCache>
                <c:ptCount val="2"/>
                <c:pt idx="0">
                  <c:v>Before</c:v>
                </c:pt>
                <c:pt idx="1">
                  <c:v>After</c:v>
                </c:pt>
              </c:strCache>
            </c:strRef>
          </c:cat>
          <c:val>
            <c:numRef>
              <c:f>'Chart Data'!$B$2:$B$3</c:f>
              <c:numCache>
                <c:formatCode>0"%"</c:formatCode>
                <c:ptCount val="2"/>
                <c:pt idx="0">
                  <c:v>0</c:v>
                </c:pt>
                <c:pt idx="1">
                  <c:v>92</c:v>
                </c:pt>
              </c:numCache>
            </c:numRef>
          </c:val>
        </c:ser>
        <c:dLbls>
          <c:txPr>
            <a:bodyPr xmlns:a="http://schemas.openxmlformats.org/drawingml/2006/main" anchorCtr="1"/>
            <a:lstStyle xmlns:a="http://schemas.openxmlformats.org/drawingml/2006/main"/>
            <a:p xmlns:a="http://schemas.openxmlformats.org/drawingml/2006/main">
              <a:pPr>
                <a:defRPr sz="1575" b="1">
                  <a:solidFill>
                    <a:srgbClr val="173F33"/>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nextTo"/>
        <c:spPr>
          <a:ln xmlns:a="http://schemas.openxmlformats.org/drawingml/2006/main" w="9525">
            <a:solidFill>
              <a:srgbClr val="D9D4C7"/>
            </a:solidFill>
          </a:ln>
        </c:spPr>
        <c:txPr>
          <a:bodyPr xmlns:a="http://schemas.openxmlformats.org/drawingml/2006/main" anchorCtr="1"/>
          <a:lstStyle xmlns:a="http://schemas.openxmlformats.org/drawingml/2006/main"/>
          <a:p xmlns:a="http://schemas.openxmlformats.org/drawingml/2006/main">
            <a:pPr>
              <a:defRPr sz="1275">
                <a:solidFill>
                  <a:srgbClr val="173F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DD9CF"/>
              </a:solidFill>
              <a:prstDash val="solid"/>
            </a:ln>
          </c:spPr>
        </c:majorGridlines>
        <c:numFmt formatCode="0&quot;%&quot;"/>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53655C"/>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6E5"/>
        </a:solidFill>
      </p:bgPr>
    </p:bg>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30130442cec44730">
            <a:extLst>
              <a:ext uri="{96DAC541-7B7A-43D3-8B79-37D633B846F1}">
                <asvg:svgBlip xmlns:asvg="http://schemas.microsoft.com/office/drawing/2016/SVG/main" r:embed="R6db39ec149734681"/>
              </a:ext>
            </a:extLst>
          </a:blip>
          <a:stretch xmlns:a="http://schemas.openxmlformats.org/drawingml/2006/main"/>
        </p:blipFill>
        <p:spPr>
          <a:xfrm xmlns:a="http://schemas.openxmlformats.org/drawingml/2006/main">
            <a:off x="533400" y="485775"/>
            <a:ext cx="828675" cy="828675"/>
          </a:xfrm>
          <a:prstGeom xmlns:a="http://schemas.openxmlformats.org/drawingml/2006/main" prst="rect">
            <a:avLst/>
          </a:prstGeom>
        </p:spPr>
      </p:pic>
      <p:sp>
        <p:nvSpPr>
          <p:cNvPr id="2" name="Brand">
            <a:extLst xmlns:a="http://schemas.openxmlformats.org/drawingml/2006/main">
              <a:ext uri="{FF2B5EF4-FFF2-40B4-BE49-F238E27FC236}">
                <a16:creationId xmlns:a16="http://schemas.microsoft.com/office/drawing/2014/main" id="{7D8BB98D-71E9-40B2-97EE-3C37CDE4E968}"/>
              </a:ext>
            </a:extLst>
          </p:cNvPr>
          <p:cNvSpPr>
            <a:spLocks xmlns:a="http://schemas.openxmlformats.org/drawingml/2006/main" noGrp="1"/>
          </p:cNvSpPr>
          <p:nvPr/>
        </p:nvSpPr>
        <p:spPr>
          <a:xfrm xmlns:a="http://schemas.openxmlformats.org/drawingml/2006/main">
            <a:off x="1581150" y="381000"/>
            <a:ext cx="30194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5775" b="1">
                <a:solidFill>
                  <a:srgbClr val="173F33"/>
                </a:solidFill>
                <a:latin typeface="Arial"/>
                <a:ea typeface="Arial"/>
                <a:cs typeface="Arial"/>
              </a:defRPr>
            </a:pPr>
            <a:r>
              <a:rPr sz="5775" b="1">
                <a:solidFill>
                  <a:srgbClr val="173F33"/>
                </a:solidFill>
                <a:latin typeface="Arial"/>
                <a:ea typeface="Arial"/>
                <a:cs typeface="Arial"/>
              </a:rPr>
              <a:t>Saathi</a:t>
            </a:r>
          </a:p>
        </p:txBody>
      </p:sp>
      <p:sp>
        <p:nvSpPr>
          <p:cNvPr id="3" name="Hindi name">
            <a:extLst xmlns:a="http://schemas.openxmlformats.org/drawingml/2006/main">
              <a:ext uri="{FF2B5EF4-FFF2-40B4-BE49-F238E27FC236}">
                <a16:creationId xmlns:a16="http://schemas.microsoft.com/office/drawing/2014/main" id="{B35744F1-C926-4577-9635-2FB3FAC42CCA}"/>
              </a:ext>
            </a:extLst>
          </p:cNvPr>
          <p:cNvSpPr>
            <a:spLocks xmlns:a="http://schemas.openxmlformats.org/drawingml/2006/main" noGrp="1"/>
          </p:cNvSpPr>
          <p:nvPr/>
        </p:nvSpPr>
        <p:spPr>
          <a:xfrm xmlns:a="http://schemas.openxmlformats.org/drawingml/2006/main">
            <a:off x="4867275" y="504825"/>
            <a:ext cx="2162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4425" b="1">
                <a:solidFill>
                  <a:srgbClr val="173F33"/>
                </a:solidFill>
                <a:latin typeface="Nirmala UI"/>
                <a:ea typeface="Nirmala UI"/>
                <a:cs typeface="Nirmala UI"/>
              </a:defRPr>
            </a:pPr>
            <a:r>
              <a:rPr sz="4425" b="1">
                <a:solidFill>
                  <a:srgbClr val="173F33"/>
                </a:solidFill>
                <a:latin typeface="Nirmala UI"/>
                <a:ea typeface="Nirmala UI"/>
                <a:cs typeface="Nirmala UI"/>
              </a:rPr>
              <a:t>साथी</a:t>
            </a:r>
          </a:p>
        </p:txBody>
      </p:sp>
      <p:sp>
        <p:nvSpPr>
          <p:cNvPr id="4" name="Name meaning">
            <a:extLst xmlns:a="http://schemas.openxmlformats.org/drawingml/2006/main">
              <a:ext uri="{FF2B5EF4-FFF2-40B4-BE49-F238E27FC236}">
                <a16:creationId xmlns:a16="http://schemas.microsoft.com/office/drawing/2014/main" id="{A417DA08-C0FF-4931-BD24-81B4A5F6C97B}"/>
              </a:ext>
            </a:extLst>
          </p:cNvPr>
          <p:cNvSpPr>
            <a:spLocks xmlns:a="http://schemas.openxmlformats.org/drawingml/2006/main" noGrp="1"/>
          </p:cNvSpPr>
          <p:nvPr/>
        </p:nvSpPr>
        <p:spPr>
          <a:xfrm xmlns:a="http://schemas.openxmlformats.org/drawingml/2006/main">
            <a:off x="7362825" y="695325"/>
            <a:ext cx="429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00" b="0">
                <a:solidFill>
                  <a:srgbClr val="B75E43"/>
                </a:solidFill>
                <a:latin typeface="Arial"/>
                <a:ea typeface="Arial"/>
                <a:cs typeface="Arial"/>
              </a:defRPr>
            </a:pPr>
            <a:r>
              <a:rPr sz="2400" b="0">
                <a:solidFill>
                  <a:srgbClr val="B75E43"/>
                </a:solidFill>
                <a:latin typeface="Arial"/>
                <a:ea typeface="Arial"/>
                <a:cs typeface="Arial"/>
              </a:rPr>
              <a:t>Companion</a:t>
            </a:r>
          </a:p>
        </p:txBody>
      </p:sp>
      <p:sp>
        <p:nvSpPr>
          <p:cNvPr id="5" name="Purpose">
            <a:extLst xmlns:a="http://schemas.openxmlformats.org/drawingml/2006/main">
              <a:ext uri="{FF2B5EF4-FFF2-40B4-BE49-F238E27FC236}">
                <a16:creationId xmlns:a16="http://schemas.microsoft.com/office/drawing/2014/main" id="{82610A93-5219-4391-A09F-23D2ADA0C7E2}"/>
              </a:ext>
            </a:extLst>
          </p:cNvPr>
          <p:cNvSpPr>
            <a:spLocks xmlns:a="http://schemas.openxmlformats.org/drawingml/2006/main" noGrp="1"/>
          </p:cNvSpPr>
          <p:nvPr/>
        </p:nvSpPr>
        <p:spPr>
          <a:xfrm xmlns:a="http://schemas.openxmlformats.org/drawingml/2006/main">
            <a:off x="533400" y="1552575"/>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250" b="1">
                <a:solidFill>
                  <a:srgbClr val="173F33"/>
                </a:solidFill>
                <a:latin typeface="Arial"/>
                <a:ea typeface="Arial"/>
                <a:cs typeface="Arial"/>
              </a:defRPr>
            </a:pPr>
            <a:r>
              <a:rPr sz="2250" b="1">
                <a:solidFill>
                  <a:srgbClr val="173F33"/>
                </a:solidFill>
                <a:latin typeface="Arial"/>
                <a:ea typeface="Arial"/>
                <a:cs typeface="Arial"/>
              </a:rPr>
              <a:t>Saathi helps families organise cancer care, from conversations and records to medicines, practical help and emotional support.</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bbe0fd68a15b40a8"/>
          <a:stretch xmlns:a="http://schemas.openxmlformats.org/drawingml/2006/main"/>
        </p:blipFill>
        <p:spPr>
          <a:xfrm xmlns:a="http://schemas.openxmlformats.org/drawingml/2006/main">
            <a:off x="533400" y="2619375"/>
            <a:ext cx="1219200" cy="1219200"/>
          </a:xfrm>
          <a:prstGeom xmlns:a="http://schemas.openxmlformats.org/drawingml/2006/main" prst="rect">
            <a:avLst/>
          </a:prstGeom>
        </p:spPr>
      </p:pic>
      <p:sp>
        <p:nvSpPr>
          <p:cNvPr id="7" name="Website link">
            <a:extLst xmlns:a="http://schemas.openxmlformats.org/drawingml/2006/main">
              <a:ext uri="{FF2B5EF4-FFF2-40B4-BE49-F238E27FC236}">
                <a16:creationId xmlns:a16="http://schemas.microsoft.com/office/drawing/2014/main" id="{243B086D-E3C1-46E8-B1FE-7EFFA788748A}"/>
              </a:ext>
            </a:extLst>
          </p:cNvPr>
          <p:cNvSpPr>
            <a:spLocks xmlns:a="http://schemas.openxmlformats.org/drawingml/2006/main" noGrp="1"/>
          </p:cNvSpPr>
          <p:nvPr/>
        </p:nvSpPr>
        <p:spPr>
          <a:xfrm xmlns:a="http://schemas.openxmlformats.org/drawingml/2006/main">
            <a:off x="2124075" y="2828925"/>
            <a:ext cx="95345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00" b="1">
                <a:solidFill>
                  <a:srgbClr val="145AC6"/>
                </a:solidFill>
                <a:latin typeface="Arial"/>
                <a:ea typeface="Arial"/>
                <a:cs typeface="Arial"/>
              </a:defRPr>
            </a:pPr>
            <a:r>
              <a:rPr sz="3600" b="1" u="sng">
                <a:solidFill>
                  <a:srgbClr val="145AC6"/>
                </a:solidFill>
                <a:latin typeface="Arial"/>
                <a:ea typeface="Arial"/>
                <a:cs typeface="Arial"/>
                <a:hlinkClick xmlns:r="http://schemas.openxmlformats.org/officeDocument/2006/relationships" r:id="R40707b338ac14922"/>
              </a:rPr>
              <a:t>OPEN THE WEBSITE - saathi.wedevit.in</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b1d10f65e03346ae">
            <a:extLst>
              <a:ext uri="{96DAC541-7B7A-43D3-8B79-37D633B846F1}">
                <asvg:svgBlip xmlns:asvg="http://schemas.microsoft.com/office/drawing/2016/SVG/main" r:embed="R855ec724def8433b"/>
              </a:ext>
            </a:extLst>
          </a:blip>
          <a:stretch xmlns:a="http://schemas.openxmlformats.org/drawingml/2006/main"/>
        </p:blipFill>
        <p:spPr>
          <a:xfrm xmlns:a="http://schemas.openxmlformats.org/drawingml/2006/main">
            <a:off x="533400" y="4257675"/>
            <a:ext cx="285750" cy="285750"/>
          </a:xfrm>
          <a:prstGeom xmlns:a="http://schemas.openxmlformats.org/drawingml/2006/main" prst="rect">
            <a:avLst/>
          </a:prstGeom>
        </p:spPr>
      </p:pic>
      <p:sp>
        <p:nvSpPr>
          <p:cNvPr id="9" name="Repository link">
            <a:extLst xmlns:a="http://schemas.openxmlformats.org/drawingml/2006/main">
              <a:ext uri="{FF2B5EF4-FFF2-40B4-BE49-F238E27FC236}">
                <a16:creationId xmlns:a16="http://schemas.microsoft.com/office/drawing/2014/main" id="{888D1162-997B-402E-9479-59AA371D2D3F}"/>
              </a:ext>
            </a:extLst>
          </p:cNvPr>
          <p:cNvSpPr>
            <a:spLocks xmlns:a="http://schemas.openxmlformats.org/drawingml/2006/main" noGrp="1"/>
          </p:cNvSpPr>
          <p:nvPr/>
        </p:nvSpPr>
        <p:spPr>
          <a:xfrm xmlns:a="http://schemas.openxmlformats.org/drawingml/2006/main">
            <a:off x="962025" y="4257675"/>
            <a:ext cx="5048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1cf8669fb36f4a02"/>
              </a:rPr>
              <a:t>github.com/basithladdu/healthathon</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01496778073a4155">
            <a:extLst>
              <a:ext uri="{96DAC541-7B7A-43D3-8B79-37D633B846F1}">
                <asvg:svgBlip xmlns:asvg="http://schemas.microsoft.com/office/drawing/2016/SVG/main" r:embed="R6bdeb857882947ca"/>
              </a:ext>
            </a:extLst>
          </a:blip>
          <a:stretch xmlns:a="http://schemas.openxmlformats.org/drawingml/2006/main"/>
        </p:blipFill>
        <p:spPr>
          <a:xfrm xmlns:a="http://schemas.openxmlformats.org/drawingml/2006/main">
            <a:off x="6810375" y="4257675"/>
            <a:ext cx="285750" cy="285750"/>
          </a:xfrm>
          <a:prstGeom xmlns:a="http://schemas.openxmlformats.org/drawingml/2006/main" prst="rect">
            <a:avLst/>
          </a:prstGeom>
        </p:spPr>
      </p:pic>
      <p:sp>
        <p:nvSpPr>
          <p:cNvPr id="11" name="Questions contact">
            <a:extLst xmlns:a="http://schemas.openxmlformats.org/drawingml/2006/main">
              <a:ext uri="{FF2B5EF4-FFF2-40B4-BE49-F238E27FC236}">
                <a16:creationId xmlns:a16="http://schemas.microsoft.com/office/drawing/2014/main" id="{D5096E3E-02BD-4922-A834-769CD9F4CE03}"/>
              </a:ext>
            </a:extLst>
          </p:cNvPr>
          <p:cNvSpPr>
            <a:spLocks xmlns:a="http://schemas.openxmlformats.org/drawingml/2006/main" noGrp="1"/>
          </p:cNvSpPr>
          <p:nvPr/>
        </p:nvSpPr>
        <p:spPr>
          <a:xfrm xmlns:a="http://schemas.openxmlformats.org/drawingml/2006/main">
            <a:off x="7239000" y="41338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28C4A"/>
                </a:solidFill>
                <a:latin typeface="Arial"/>
                <a:ea typeface="Arial"/>
                <a:cs typeface="Arial"/>
              </a:defRPr>
            </a:pPr>
            <a:r>
              <a:rPr sz="1725" b="1" u="sng">
                <a:solidFill>
                  <a:srgbClr val="128C4A"/>
                </a:solidFill>
                <a:latin typeface="Arial"/>
                <a:ea typeface="Arial"/>
                <a:cs typeface="Arial"/>
                <a:hlinkClick xmlns:r="http://schemas.openxmlformats.org/officeDocument/2006/relationships" r:id="R1bd14870e96b474f"/>
              </a:rPr>
              <a:t>Questions? Contact us</a:t>
            </a:r>
          </a:p>
        </p:txBody>
      </p:sp>
      <p:sp>
        <p:nvSpPr>
          <p:cNvPr id="12" name="WhatsApp link">
            <a:extLst xmlns:a="http://schemas.openxmlformats.org/drawingml/2006/main">
              <a:ext uri="{FF2B5EF4-FFF2-40B4-BE49-F238E27FC236}">
                <a16:creationId xmlns:a16="http://schemas.microsoft.com/office/drawing/2014/main" id="{F29B7FF4-853F-4C2D-93C7-49E35BDAB82D}"/>
              </a:ext>
            </a:extLst>
          </p:cNvPr>
          <p:cNvSpPr>
            <a:spLocks xmlns:a="http://schemas.openxmlformats.org/drawingml/2006/main" noGrp="1"/>
          </p:cNvSpPr>
          <p:nvPr/>
        </p:nvSpPr>
        <p:spPr>
          <a:xfrm xmlns:a="http://schemas.openxmlformats.org/drawingml/2006/main">
            <a:off x="7239000" y="4505325"/>
            <a:ext cx="441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28C4A"/>
                </a:solidFill>
                <a:latin typeface="Arial"/>
                <a:ea typeface="Arial"/>
                <a:cs typeface="Arial"/>
              </a:defRPr>
            </a:pPr>
            <a:r>
              <a:rPr sz="1500" b="0" u="sng">
                <a:solidFill>
                  <a:srgbClr val="128C4A"/>
                </a:solidFill>
                <a:latin typeface="Arial"/>
                <a:ea typeface="Arial"/>
                <a:cs typeface="Arial"/>
                <a:hlinkClick xmlns:r="http://schemas.openxmlformats.org/officeDocument/2006/relationships" r:id="R03acf4e8f9464bf5"/>
              </a:rPr>
              <a:t>wa.me/919553321211</a:t>
            </a:r>
          </a:p>
        </p:txBody>
      </p:sp>
      <p:sp>
        <p:nvSpPr>
          <p:cNvPr id="13" name="">
            <a:extLst xmlns:a="http://schemas.openxmlformats.org/drawingml/2006/main">
              <a:ext uri="{FF2B5EF4-FFF2-40B4-BE49-F238E27FC236}">
                <a16:creationId xmlns:a16="http://schemas.microsoft.com/office/drawing/2014/main" id="{8F02BC6F-7D6C-4893-9CA8-F94F01562388}"/>
              </a:ext>
            </a:extLst>
          </p:cNvPr>
          <p:cNvSpPr>
            <a:spLocks xmlns:a="http://schemas.openxmlformats.org/drawingml/2006/main" noGrp="1"/>
          </p:cNvSpPr>
          <p:nvPr/>
        </p:nvSpPr>
        <p:spPr>
          <a:xfrm xmlns:a="http://schemas.openxmlformats.org/drawingml/2006/main">
            <a:off x="533400" y="4857750"/>
            <a:ext cx="11125200" cy="0"/>
          </a:xfrm>
          <a:prstGeom xmlns:a="http://schemas.openxmlformats.org/drawingml/2006/main" prst="line">
            <a:avLst/>
          </a:prstGeom>
          <a:ln xmlns:a="http://schemas.openxmlformats.org/drawingml/2006/main" w="9525">
            <a:solidFill>
              <a:srgbClr val="D9D4C7"/>
            </a:solidFill>
          </a:ln>
        </p:spPr>
      </p:sp>
      <p:sp>
        <p:nvSpPr>
          <p:cNvPr id="14" name="Team heading">
            <a:extLst xmlns:a="http://schemas.openxmlformats.org/drawingml/2006/main">
              <a:ext uri="{FF2B5EF4-FFF2-40B4-BE49-F238E27FC236}">
                <a16:creationId xmlns:a16="http://schemas.microsoft.com/office/drawing/2014/main" id="{8B2786F9-8298-4A4D-8F76-5811A494C0B5}"/>
              </a:ext>
            </a:extLst>
          </p:cNvPr>
          <p:cNvSpPr>
            <a:spLocks xmlns:a="http://schemas.openxmlformats.org/drawingml/2006/main" noGrp="1"/>
          </p:cNvSpPr>
          <p:nvPr/>
        </p:nvSpPr>
        <p:spPr>
          <a:xfrm xmlns:a="http://schemas.openxmlformats.org/drawingml/2006/main">
            <a:off x="533400" y="505777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53655C"/>
                </a:solidFill>
                <a:latin typeface="Arial"/>
                <a:ea typeface="Arial"/>
                <a:cs typeface="Arial"/>
              </a:defRPr>
            </a:pPr>
            <a:r>
              <a:rPr sz="1500" b="0">
                <a:solidFill>
                  <a:srgbClr val="53655C"/>
                </a:solidFill>
                <a:latin typeface="Arial"/>
                <a:ea typeface="Arial"/>
                <a:cs typeface="Arial"/>
              </a:rPr>
              <a:t>By Zeros and Ones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30c8e3e3b0b64483"/>
          <a:srcRect xmlns:a="http://schemas.openxmlformats.org/drawingml/2006/main" l="0" t="5331" r="0" b="5331"/>
          <a:stretch xmlns:a="http://schemas.openxmlformats.org/drawingml/2006/main">
            <a:fillRect l="0" t="0" r="0" b="0"/>
          </a:stretch>
        </p:blipFill>
        <p:spPr>
          <a:xfrm xmlns:a="http://schemas.openxmlformats.org/drawingml/2006/main">
            <a:off x="533400" y="5495925"/>
            <a:ext cx="647700" cy="771525"/>
          </a:xfrm>
          <a:prstGeom xmlns:a="http://schemas.openxmlformats.org/drawingml/2006/main" prst="rect">
            <a:avLst/>
          </a:prstGeom>
        </p:spPr>
      </p:pic>
      <p:sp>
        <p:nvSpPr>
          <p:cNvPr id="16" name="Team member 1">
            <a:extLst xmlns:a="http://schemas.openxmlformats.org/drawingml/2006/main">
              <a:ext uri="{FF2B5EF4-FFF2-40B4-BE49-F238E27FC236}">
                <a16:creationId xmlns:a16="http://schemas.microsoft.com/office/drawing/2014/main" id="{17D139CB-6B6A-46DD-BEA0-4AD57904352B}"/>
              </a:ext>
            </a:extLst>
          </p:cNvPr>
          <p:cNvSpPr>
            <a:spLocks xmlns:a="http://schemas.openxmlformats.org/drawingml/2006/main" noGrp="1"/>
          </p:cNvSpPr>
          <p:nvPr/>
        </p:nvSpPr>
        <p:spPr>
          <a:xfrm xmlns:a="http://schemas.openxmlformats.org/drawingml/2006/main">
            <a:off x="12858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Abdul</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Basith</a:t>
            </a:r>
          </a:p>
        </p:txBody>
      </p:sp>
      <p:sp>
        <p:nvSpPr>
          <p:cNvPr id="17" name="Team role 1">
            <a:extLst xmlns:a="http://schemas.openxmlformats.org/drawingml/2006/main">
              <a:ext uri="{FF2B5EF4-FFF2-40B4-BE49-F238E27FC236}">
                <a16:creationId xmlns:a16="http://schemas.microsoft.com/office/drawing/2014/main" id="{FF8E6538-AB3C-4004-8B82-98A7C638832D}"/>
              </a:ext>
            </a:extLst>
          </p:cNvPr>
          <p:cNvSpPr>
            <a:spLocks xmlns:a="http://schemas.openxmlformats.org/drawingml/2006/main" noGrp="1"/>
          </p:cNvSpPr>
          <p:nvPr/>
        </p:nvSpPr>
        <p:spPr>
          <a:xfrm xmlns:a="http://schemas.openxmlformats.org/drawingml/2006/main">
            <a:off x="12858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Technical lead</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b64ce5be8d104cdb"/>
          <a:srcRect xmlns:a="http://schemas.openxmlformats.org/drawingml/2006/main" l="0" t="19104" r="0" b="19104"/>
          <a:stretch xmlns:a="http://schemas.openxmlformats.org/drawingml/2006/main">
            <a:fillRect l="0" t="0" r="0" b="0"/>
          </a:stretch>
        </p:blipFill>
        <p:spPr>
          <a:xfrm xmlns:a="http://schemas.openxmlformats.org/drawingml/2006/main">
            <a:off x="2781300" y="5495925"/>
            <a:ext cx="647700" cy="771525"/>
          </a:xfrm>
          <a:prstGeom xmlns:a="http://schemas.openxmlformats.org/drawingml/2006/main" prst="rect">
            <a:avLst/>
          </a:prstGeom>
        </p:spPr>
      </p:pic>
      <p:sp>
        <p:nvSpPr>
          <p:cNvPr id="19" name="Team member 2">
            <a:extLst xmlns:a="http://schemas.openxmlformats.org/drawingml/2006/main">
              <a:ext uri="{FF2B5EF4-FFF2-40B4-BE49-F238E27FC236}">
                <a16:creationId xmlns:a16="http://schemas.microsoft.com/office/drawing/2014/main" id="{D6D80B80-36DA-46B7-AFDD-DB2F244B43A6}"/>
              </a:ext>
            </a:extLst>
          </p:cNvPr>
          <p:cNvSpPr>
            <a:spLocks xmlns:a="http://schemas.openxmlformats.org/drawingml/2006/main" noGrp="1"/>
          </p:cNvSpPr>
          <p:nvPr/>
        </p:nvSpPr>
        <p:spPr>
          <a:xfrm xmlns:a="http://schemas.openxmlformats.org/drawingml/2006/main">
            <a:off x="35337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Muhammad</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Awaiz</a:t>
            </a:r>
          </a:p>
        </p:txBody>
      </p:sp>
      <p:sp>
        <p:nvSpPr>
          <p:cNvPr id="20" name="Team role 2">
            <a:extLst xmlns:a="http://schemas.openxmlformats.org/drawingml/2006/main">
              <a:ext uri="{FF2B5EF4-FFF2-40B4-BE49-F238E27FC236}">
                <a16:creationId xmlns:a16="http://schemas.microsoft.com/office/drawing/2014/main" id="{4F7BB01F-FA1E-4148-BF12-3DA7D310D880}"/>
              </a:ext>
            </a:extLst>
          </p:cNvPr>
          <p:cNvSpPr>
            <a:spLocks xmlns:a="http://schemas.openxmlformats.org/drawingml/2006/main" noGrp="1"/>
          </p:cNvSpPr>
          <p:nvPr/>
        </p:nvSpPr>
        <p:spPr>
          <a:xfrm xmlns:a="http://schemas.openxmlformats.org/drawingml/2006/main">
            <a:off x="35337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Technology</a:t>
            </a:r>
          </a:p>
        </p:txBody>
      </p:sp>
      <p:sp>
        <p:nvSpPr>
          <p:cNvPr id="21" name="Photo space for Dr Sharada&#10;Vinod Kutty">
            <a:extLst xmlns:a="http://schemas.openxmlformats.org/drawingml/2006/main">
              <a:ext uri="{FF2B5EF4-FFF2-40B4-BE49-F238E27FC236}">
                <a16:creationId xmlns:a16="http://schemas.microsoft.com/office/drawing/2014/main" id="{9BEF968F-6892-4C04-B6DE-7EC37B8401C1}"/>
              </a:ext>
            </a:extLst>
          </p:cNvPr>
          <p:cNvSpPr>
            <a:spLocks xmlns:a="http://schemas.openxmlformats.org/drawingml/2006/main" noGrp="1"/>
          </p:cNvSpPr>
          <p:nvPr/>
        </p:nvSpPr>
        <p:spPr>
          <a:xfrm xmlns:a="http://schemas.openxmlformats.org/drawingml/2006/main">
            <a:off x="50292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2" name="Team member 3">
            <a:extLst xmlns:a="http://schemas.openxmlformats.org/drawingml/2006/main">
              <a:ext uri="{FF2B5EF4-FFF2-40B4-BE49-F238E27FC236}">
                <a16:creationId xmlns:a16="http://schemas.microsoft.com/office/drawing/2014/main" id="{5F484A58-03EB-4C7C-90F6-F5C839072D85}"/>
              </a:ext>
            </a:extLst>
          </p:cNvPr>
          <p:cNvSpPr>
            <a:spLocks xmlns:a="http://schemas.openxmlformats.org/drawingml/2006/main" noGrp="1"/>
          </p:cNvSpPr>
          <p:nvPr/>
        </p:nvSpPr>
        <p:spPr>
          <a:xfrm xmlns:a="http://schemas.openxmlformats.org/drawingml/2006/main">
            <a:off x="57816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Sharada</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Vinod Kutty</a:t>
            </a:r>
          </a:p>
        </p:txBody>
      </p:sp>
      <p:sp>
        <p:nvSpPr>
          <p:cNvPr id="23" name="Team role 3">
            <a:extLst xmlns:a="http://schemas.openxmlformats.org/drawingml/2006/main">
              <a:ext uri="{FF2B5EF4-FFF2-40B4-BE49-F238E27FC236}">
                <a16:creationId xmlns:a16="http://schemas.microsoft.com/office/drawing/2014/main" id="{FDA3A752-6C63-4752-A865-1CE6BEA4B5E1}"/>
              </a:ext>
            </a:extLst>
          </p:cNvPr>
          <p:cNvSpPr>
            <a:spLocks xmlns:a="http://schemas.openxmlformats.org/drawingml/2006/main" noGrp="1"/>
          </p:cNvSpPr>
          <p:nvPr/>
        </p:nvSpPr>
        <p:spPr>
          <a:xfrm xmlns:a="http://schemas.openxmlformats.org/drawingml/2006/main">
            <a:off x="57816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Doctor partner</a:t>
            </a:r>
          </a:p>
        </p:txBody>
      </p:sp>
      <p:sp>
        <p:nvSpPr>
          <p:cNvPr id="24" name="Photo space for Dr Sujay&#10;Halkur Shankar">
            <a:extLst xmlns:a="http://schemas.openxmlformats.org/drawingml/2006/main">
              <a:ext uri="{FF2B5EF4-FFF2-40B4-BE49-F238E27FC236}">
                <a16:creationId xmlns:a16="http://schemas.microsoft.com/office/drawing/2014/main" id="{008EFD23-BC25-420D-958F-D184536C2171}"/>
              </a:ext>
            </a:extLst>
          </p:cNvPr>
          <p:cNvSpPr>
            <a:spLocks xmlns:a="http://schemas.openxmlformats.org/drawingml/2006/main" noGrp="1"/>
          </p:cNvSpPr>
          <p:nvPr/>
        </p:nvSpPr>
        <p:spPr>
          <a:xfrm xmlns:a="http://schemas.openxmlformats.org/drawingml/2006/main">
            <a:off x="72771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5" name="Team member 4">
            <a:extLst xmlns:a="http://schemas.openxmlformats.org/drawingml/2006/main">
              <a:ext uri="{FF2B5EF4-FFF2-40B4-BE49-F238E27FC236}">
                <a16:creationId xmlns:a16="http://schemas.microsoft.com/office/drawing/2014/main" id="{A74A4506-9E2C-4B6D-9F27-FE690E11E476}"/>
              </a:ext>
            </a:extLst>
          </p:cNvPr>
          <p:cNvSpPr>
            <a:spLocks xmlns:a="http://schemas.openxmlformats.org/drawingml/2006/main" noGrp="1"/>
          </p:cNvSpPr>
          <p:nvPr/>
        </p:nvSpPr>
        <p:spPr>
          <a:xfrm xmlns:a="http://schemas.openxmlformats.org/drawingml/2006/main">
            <a:off x="80295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Sujay</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Halkur Shankar</a:t>
            </a:r>
          </a:p>
        </p:txBody>
      </p:sp>
      <p:sp>
        <p:nvSpPr>
          <p:cNvPr id="26" name="Team role 4">
            <a:extLst xmlns:a="http://schemas.openxmlformats.org/drawingml/2006/main">
              <a:ext uri="{FF2B5EF4-FFF2-40B4-BE49-F238E27FC236}">
                <a16:creationId xmlns:a16="http://schemas.microsoft.com/office/drawing/2014/main" id="{C0A09DC6-2F75-4F8F-97D3-22E69984DBFB}"/>
              </a:ext>
            </a:extLst>
          </p:cNvPr>
          <p:cNvSpPr>
            <a:spLocks xmlns:a="http://schemas.openxmlformats.org/drawingml/2006/main" noGrp="1"/>
          </p:cNvSpPr>
          <p:nvPr/>
        </p:nvSpPr>
        <p:spPr>
          <a:xfrm xmlns:a="http://schemas.openxmlformats.org/drawingml/2006/main">
            <a:off x="80295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Clinician</a:t>
            </a:r>
          </a:p>
        </p:txBody>
      </p:sp>
      <p:sp>
        <p:nvSpPr>
          <p:cNvPr id="27" name="Photo space for Shirin Ayub">
            <a:extLst xmlns:a="http://schemas.openxmlformats.org/drawingml/2006/main">
              <a:ext uri="{FF2B5EF4-FFF2-40B4-BE49-F238E27FC236}">
                <a16:creationId xmlns:a16="http://schemas.microsoft.com/office/drawing/2014/main" id="{43F5FE0D-9796-4332-9362-0758D111BF31}"/>
              </a:ext>
            </a:extLst>
          </p:cNvPr>
          <p:cNvSpPr>
            <a:spLocks xmlns:a="http://schemas.openxmlformats.org/drawingml/2006/main" noGrp="1"/>
          </p:cNvSpPr>
          <p:nvPr/>
        </p:nvSpPr>
        <p:spPr>
          <a:xfrm xmlns:a="http://schemas.openxmlformats.org/drawingml/2006/main">
            <a:off x="95250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8" name="Team member 5">
            <a:extLst xmlns:a="http://schemas.openxmlformats.org/drawingml/2006/main">
              <a:ext uri="{FF2B5EF4-FFF2-40B4-BE49-F238E27FC236}">
                <a16:creationId xmlns:a16="http://schemas.microsoft.com/office/drawing/2014/main" id="{49AEB020-69C0-4CE8-9A18-C7678629D237}"/>
              </a:ext>
            </a:extLst>
          </p:cNvPr>
          <p:cNvSpPr>
            <a:spLocks xmlns:a="http://schemas.openxmlformats.org/drawingml/2006/main" noGrp="1"/>
          </p:cNvSpPr>
          <p:nvPr/>
        </p:nvSpPr>
        <p:spPr>
          <a:xfrm xmlns:a="http://schemas.openxmlformats.org/drawingml/2006/main">
            <a:off x="102774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Shirin Ayub</a:t>
            </a:r>
          </a:p>
        </p:txBody>
      </p:sp>
      <p:sp>
        <p:nvSpPr>
          <p:cNvPr id="29" name="Team role 5">
            <a:extLst xmlns:a="http://schemas.openxmlformats.org/drawingml/2006/main">
              <a:ext uri="{FF2B5EF4-FFF2-40B4-BE49-F238E27FC236}">
                <a16:creationId xmlns:a16="http://schemas.microsoft.com/office/drawing/2014/main" id="{E0655BEE-58E9-4703-9F94-96A6C372177E}"/>
              </a:ext>
            </a:extLst>
          </p:cNvPr>
          <p:cNvSpPr>
            <a:spLocks xmlns:a="http://schemas.openxmlformats.org/drawingml/2006/main" noGrp="1"/>
          </p:cNvSpPr>
          <p:nvPr/>
        </p:nvSpPr>
        <p:spPr>
          <a:xfrm xmlns:a="http://schemas.openxmlformats.org/drawingml/2006/main">
            <a:off x="102774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Team member</a:t>
            </a:r>
          </a:p>
        </p:txBody>
      </p:sp>
    </p:spTree>
    <p:extLst>
      <p:ext uri="{BB962C8B-B14F-4D97-AF65-F5344CB8AC3E}">
        <p14:creationId xmlns:p14="http://schemas.microsoft.com/office/powerpoint/2010/main" val="1441420215"/>
      </p:ext>
    </p:extLst>
  </p:cSld>
</p:sld>
</file>

<file path=ppt/slides/slide2.xml><?xml version="1.0" encoding="utf-8"?>
<p:sld xmlns:p="http://schemas.openxmlformats.org/presentationml/2006/main">
  <p:cSld>
    <p:bg>
      <p:bgPr>
        <a:solidFill xmlns:a="http://schemas.openxmlformats.org/drawingml/2006/main">
          <a:srgbClr val="006C7C"/>
        </a:solidFill>
      </p:bgPr>
    </p:bg>
    <p:spTree>
      <p:nvGrpSpPr>
        <p:cNvPr id="1" name=""/>
        <p:cNvGrpSpPr/>
        <p:nvPr/>
      </p:nvGrpSpPr>
      <p:grpSpPr>
        <a:xfrm xmlns:a="http://schemas.openxmlformats.org/drawingml/2006/main"/>
      </p:grpSpPr>
      <p:sp>
        <p:nvSpPr>
          <p:cNvPr id="16" name="Slide title">
            <a:extLst xmlns:a="http://schemas.openxmlformats.org/drawingml/2006/main">
              <a:ext uri="{FF2B5EF4-FFF2-40B4-BE49-F238E27FC236}">
                <a16:creationId xmlns:a16="http://schemas.microsoft.com/office/drawing/2014/main" id="{1CFDD4F0-1612-4405-9E52-D87EC8BBCC3D}"/>
              </a:ext>
            </a:extLst>
          </p:cNvPr>
          <p:cNvSpPr>
            <a:spLocks xmlns:a="http://schemas.openxmlformats.org/drawingml/2006/main" noGrp="1"/>
          </p:cNvSpPr>
          <p:nvPr/>
        </p:nvSpPr>
        <p:spPr>
          <a:xfrm xmlns:a="http://schemas.openxmlformats.org/drawingml/2006/main">
            <a:off x="533400" y="36195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FFFFFF"/>
                </a:solidFill>
                <a:latin typeface="Arial"/>
                <a:ea typeface="Arial"/>
                <a:cs typeface="Arial"/>
              </a:defRPr>
            </a:pPr>
            <a:r>
              <a:rPr sz="3075" b="1">
                <a:solidFill>
                  <a:srgbClr val="FFFFFF"/>
                </a:solidFill>
                <a:latin typeface="Arial"/>
                <a:ea typeface="Arial"/>
                <a:cs typeface="Arial"/>
              </a:rPr>
              <a:t>When the care conversation gets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0d796594cdf24e89"/>
          <a:stretch xmlns:a="http://schemas.openxmlformats.org/drawingml/2006/main"/>
        </p:blipFill>
        <p:spPr>
          <a:xfrm xmlns:a="http://schemas.openxmlformats.org/drawingml/2006/main">
            <a:off x="533400" y="1314822"/>
            <a:ext cx="5219700" cy="3466355"/>
          </a:xfrm>
          <a:prstGeom xmlns:a="http://schemas.openxmlformats.org/drawingml/2006/main" prst="rect">
            <a:avLst/>
          </a:prstGeom>
        </p:spPr>
      </p:pic>
      <p:sp>
        <p:nvSpPr>
          <p:cNvPr id="3" name="Care photo context">
            <a:extLst xmlns:a="http://schemas.openxmlformats.org/drawingml/2006/main">
              <a:ext uri="{FF2B5EF4-FFF2-40B4-BE49-F238E27FC236}">
                <a16:creationId xmlns:a16="http://schemas.microsoft.com/office/drawing/2014/main" id="{3C31AFA2-9932-47BE-80FE-24A12041DF80}"/>
              </a:ext>
            </a:extLst>
          </p:cNvPr>
          <p:cNvSpPr>
            <a:spLocks xmlns:a="http://schemas.openxmlformats.org/drawingml/2006/main" noGrp="1"/>
          </p:cNvSpPr>
          <p:nvPr/>
        </p:nvSpPr>
        <p:spPr>
          <a:xfrm xmlns:a="http://schemas.openxmlformats.org/drawingml/2006/main">
            <a:off x="533400" y="4886325"/>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DAEDEF"/>
                </a:solidFill>
                <a:latin typeface="Arial"/>
                <a:ea typeface="Arial"/>
                <a:cs typeface="Arial"/>
              </a:defRPr>
            </a:pPr>
            <a:r>
              <a:rPr sz="1163" b="0">
                <a:solidFill>
                  <a:srgbClr val="DAEDEF"/>
                </a:solidFill>
                <a:latin typeface="Arial"/>
                <a:ea typeface="Arial"/>
                <a:cs typeface="Arial"/>
              </a:rPr>
              <a:t>Mannar, Kerala · PIB photograph, 2011 · Not the story patient.</a:t>
            </a:r>
          </a:p>
        </p:txBody>
      </p:sp>
      <p:sp>
        <p:nvSpPr>
          <p:cNvPr id="4" name="Illustrative patient">
            <a:extLst xmlns:a="http://schemas.openxmlformats.org/drawingml/2006/main">
              <a:ext uri="{FF2B5EF4-FFF2-40B4-BE49-F238E27FC236}">
                <a16:creationId xmlns:a16="http://schemas.microsoft.com/office/drawing/2014/main" id="{1B150F19-6171-4355-B0AE-DEF10248DB78}"/>
              </a:ext>
            </a:extLst>
          </p:cNvPr>
          <p:cNvSpPr>
            <a:spLocks xmlns:a="http://schemas.openxmlformats.org/drawingml/2006/main" noGrp="1"/>
          </p:cNvSpPr>
          <p:nvPr/>
        </p:nvSpPr>
        <p:spPr>
          <a:xfrm xmlns:a="http://schemas.openxmlformats.org/drawingml/2006/main">
            <a:off x="533400" y="5372100"/>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Imagine a 62-year-old woman with advanced breast cancer receiving best supportive care.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68efaa07c8f418a">
            <a:extLst>
              <a:ext uri="{96DAC541-7B7A-43D3-8B79-37D633B846F1}">
                <asvg:svgBlip xmlns:asvg="http://schemas.microsoft.com/office/drawing/2016/SVG/main" r:embed="R53f91e36ce3b45d1"/>
              </a:ext>
            </a:extLst>
          </a:blip>
          <a:stretch xmlns:a="http://schemas.openxmlformats.org/drawingml/2006/main"/>
        </p:blipFill>
        <p:spPr>
          <a:xfrm xmlns:a="http://schemas.openxmlformats.org/drawingml/2006/main">
            <a:off x="6191250" y="1352550"/>
            <a:ext cx="381000" cy="381000"/>
          </a:xfrm>
          <a:prstGeom xmlns:a="http://schemas.openxmlformats.org/drawingml/2006/main" prst="rect">
            <a:avLst/>
          </a:prstGeom>
        </p:spPr>
      </p:pic>
      <p:sp>
        <p:nvSpPr>
          <p:cNvPr id="6" name="Story step 1">
            <a:extLst xmlns:a="http://schemas.openxmlformats.org/drawingml/2006/main">
              <a:ext uri="{FF2B5EF4-FFF2-40B4-BE49-F238E27FC236}">
                <a16:creationId xmlns:a16="http://schemas.microsoft.com/office/drawing/2014/main" id="{8E1379A0-D813-47C1-BEBE-A38AF37F537F}"/>
              </a:ext>
            </a:extLst>
          </p:cNvPr>
          <p:cNvSpPr>
            <a:spLocks xmlns:a="http://schemas.openxmlformats.org/drawingml/2006/main" noGrp="1"/>
          </p:cNvSpPr>
          <p:nvPr/>
        </p:nvSpPr>
        <p:spPr>
          <a:xfrm xmlns:a="http://schemas.openxmlformats.org/drawingml/2006/main">
            <a:off x="6753225" y="13525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D154"/>
                </a:solidFill>
                <a:latin typeface="Arial"/>
                <a:ea typeface="Arial"/>
                <a:cs typeface="Arial"/>
              </a:defRPr>
            </a:pPr>
            <a:r>
              <a:rPr sz="2100" b="1">
                <a:solidFill>
                  <a:srgbClr val="FFD154"/>
                </a:solidFill>
                <a:latin typeface="Arial"/>
                <a:ea typeface="Arial"/>
                <a:cs typeface="Arial"/>
              </a:rPr>
              <a:t>At the clinic</a:t>
            </a:r>
          </a:p>
        </p:txBody>
      </p:sp>
      <p:sp>
        <p:nvSpPr>
          <p:cNvPr id="7" name="Story step 1 detail">
            <a:extLst xmlns:a="http://schemas.openxmlformats.org/drawingml/2006/main">
              <a:ext uri="{FF2B5EF4-FFF2-40B4-BE49-F238E27FC236}">
                <a16:creationId xmlns:a16="http://schemas.microsoft.com/office/drawing/2014/main" id="{C062E55A-D813-4FB7-9B14-9BF4A855A8D9}"/>
              </a:ext>
            </a:extLst>
          </p:cNvPr>
          <p:cNvSpPr>
            <a:spLocks xmlns:a="http://schemas.openxmlformats.org/drawingml/2006/main" noGrp="1"/>
          </p:cNvSpPr>
          <p:nvPr/>
        </p:nvSpPr>
        <p:spPr>
          <a:xfrm xmlns:a="http://schemas.openxmlformats.org/drawingml/2006/main">
            <a:off x="6753225" y="18478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doctor discusses her wishes. Only her husband attends.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55a06312f8240ec">
            <a:extLst>
              <a:ext uri="{96DAC541-7B7A-43D3-8B79-37D633B846F1}">
                <asvg:svgBlip xmlns:asvg="http://schemas.microsoft.com/office/drawing/2016/SVG/main" r:embed="Rb3c0b29c51874e24"/>
              </a:ext>
            </a:extLst>
          </a:blip>
          <a:stretch xmlns:a="http://schemas.openxmlformats.org/drawingml/2006/main"/>
        </p:blipFill>
        <p:spPr>
          <a:xfrm xmlns:a="http://schemas.openxmlformats.org/drawingml/2006/main">
            <a:off x="6191250" y="2895600"/>
            <a:ext cx="381000" cy="381000"/>
          </a:xfrm>
          <a:prstGeom xmlns:a="http://schemas.openxmlformats.org/drawingml/2006/main" prst="rect">
            <a:avLst/>
          </a:prstGeom>
        </p:spPr>
      </p:pic>
      <p:sp>
        <p:nvSpPr>
          <p:cNvPr id="9" name="Story step 2">
            <a:extLst xmlns:a="http://schemas.openxmlformats.org/drawingml/2006/main">
              <a:ext uri="{FF2B5EF4-FFF2-40B4-BE49-F238E27FC236}">
                <a16:creationId xmlns:a16="http://schemas.microsoft.com/office/drawing/2014/main" id="{361BC88C-ED82-4C59-BBF5-4759B2DEAE3E}"/>
              </a:ext>
            </a:extLst>
          </p:cNvPr>
          <p:cNvSpPr>
            <a:spLocks xmlns:a="http://schemas.openxmlformats.org/drawingml/2006/main" noGrp="1"/>
          </p:cNvSpPr>
          <p:nvPr/>
        </p:nvSpPr>
        <p:spPr>
          <a:xfrm xmlns:a="http://schemas.openxmlformats.org/drawingml/2006/main">
            <a:off x="6753225" y="289560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E0D7FF"/>
                </a:solidFill>
                <a:latin typeface="Arial"/>
                <a:ea typeface="Arial"/>
                <a:cs typeface="Arial"/>
              </a:defRPr>
            </a:pPr>
            <a:r>
              <a:rPr sz="2100" b="1">
                <a:solidFill>
                  <a:srgbClr val="E0D7FF"/>
                </a:solidFill>
                <a:latin typeface="Arial"/>
                <a:ea typeface="Arial"/>
                <a:cs typeface="Arial"/>
              </a:rPr>
              <a:t>Two months later</a:t>
            </a:r>
          </a:p>
        </p:txBody>
      </p:sp>
      <p:sp>
        <p:nvSpPr>
          <p:cNvPr id="10" name="Story step 2 detail">
            <a:extLst xmlns:a="http://schemas.openxmlformats.org/drawingml/2006/main">
              <a:ext uri="{FF2B5EF4-FFF2-40B4-BE49-F238E27FC236}">
                <a16:creationId xmlns:a16="http://schemas.microsoft.com/office/drawing/2014/main" id="{F1B32DBA-E93A-4AA9-883F-F83B7E4A91C5}"/>
              </a:ext>
            </a:extLst>
          </p:cNvPr>
          <p:cNvSpPr>
            <a:spLocks xmlns:a="http://schemas.openxmlformats.org/drawingml/2006/main" noGrp="1"/>
          </p:cNvSpPr>
          <p:nvPr/>
        </p:nvSpPr>
        <p:spPr>
          <a:xfrm xmlns:a="http://schemas.openxmlformats.org/drawingml/2006/main">
            <a:off x="6753225" y="339090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She becomes unconscious and reaches hospital. The doctor asks what she would want if her heart stopped.</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5bef7ed572c24424">
            <a:extLst>
              <a:ext uri="{96DAC541-7B7A-43D3-8B79-37D633B846F1}">
                <asvg:svgBlip xmlns:asvg="http://schemas.microsoft.com/office/drawing/2016/SVG/main" r:embed="Rc69cbbcaf2a84398"/>
              </a:ext>
            </a:extLst>
          </a:blip>
          <a:stretch xmlns:a="http://schemas.openxmlformats.org/drawingml/2006/main"/>
        </p:blipFill>
        <p:spPr>
          <a:xfrm xmlns:a="http://schemas.openxmlformats.org/drawingml/2006/main">
            <a:off x="6191250" y="4438650"/>
            <a:ext cx="381000" cy="381000"/>
          </a:xfrm>
          <a:prstGeom xmlns:a="http://schemas.openxmlformats.org/drawingml/2006/main" prst="rect">
            <a:avLst/>
          </a:prstGeom>
        </p:spPr>
      </p:pic>
      <p:sp>
        <p:nvSpPr>
          <p:cNvPr id="12" name="Story step 3">
            <a:extLst xmlns:a="http://schemas.openxmlformats.org/drawingml/2006/main">
              <a:ext uri="{FF2B5EF4-FFF2-40B4-BE49-F238E27FC236}">
                <a16:creationId xmlns:a16="http://schemas.microsoft.com/office/drawing/2014/main" id="{F7FA0BD4-A74B-4AEF-A4FC-4784A4825246}"/>
              </a:ext>
            </a:extLst>
          </p:cNvPr>
          <p:cNvSpPr>
            <a:spLocks xmlns:a="http://schemas.openxmlformats.org/drawingml/2006/main" noGrp="1"/>
          </p:cNvSpPr>
          <p:nvPr/>
        </p:nvSpPr>
        <p:spPr>
          <a:xfrm xmlns:a="http://schemas.openxmlformats.org/drawingml/2006/main">
            <a:off x="6753225" y="44386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DBA74"/>
                </a:solidFill>
                <a:latin typeface="Arial"/>
                <a:ea typeface="Arial"/>
                <a:cs typeface="Arial"/>
              </a:defRPr>
            </a:pPr>
            <a:r>
              <a:rPr sz="2100" b="1">
                <a:solidFill>
                  <a:srgbClr val="FDBA74"/>
                </a:solidFill>
                <a:latin typeface="Arial"/>
                <a:ea typeface="Arial"/>
                <a:cs typeface="Arial"/>
              </a:rPr>
              <a:t>The family disagrees</a:t>
            </a:r>
          </a:p>
        </p:txBody>
      </p:sp>
      <p:sp>
        <p:nvSpPr>
          <p:cNvPr id="13" name="Story step 3 detail">
            <a:extLst xmlns:a="http://schemas.openxmlformats.org/drawingml/2006/main">
              <a:ext uri="{FF2B5EF4-FFF2-40B4-BE49-F238E27FC236}">
                <a16:creationId xmlns:a16="http://schemas.microsoft.com/office/drawing/2014/main" id="{5A633429-4439-4A0F-891F-17169DB01DFA}"/>
              </a:ext>
            </a:extLst>
          </p:cNvPr>
          <p:cNvSpPr>
            <a:spLocks xmlns:a="http://schemas.openxmlformats.org/drawingml/2006/main" noGrp="1"/>
          </p:cNvSpPr>
          <p:nvPr/>
        </p:nvSpPr>
        <p:spPr>
          <a:xfrm xmlns:a="http://schemas.openxmlformats.org/drawingml/2006/main">
            <a:off x="6753225" y="49339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husband says yes. Her daughter says no. Her son calls from another city. No one can find the earlier discussion.</a:t>
            </a:r>
          </a:p>
        </p:txBody>
      </p:sp>
      <p:sp>
        <p:nvSpPr>
          <p:cNvPr id="14" name="Shared record takeaway">
            <a:extLst xmlns:a="http://schemas.openxmlformats.org/drawingml/2006/main">
              <a:ext uri="{FF2B5EF4-FFF2-40B4-BE49-F238E27FC236}">
                <a16:creationId xmlns:a16="http://schemas.microsoft.com/office/drawing/2014/main" id="{3DD853B7-226B-4910-B65F-F5DE8E1F4CF6}"/>
              </a:ext>
            </a:extLst>
          </p:cNvPr>
          <p:cNvSpPr>
            <a:spLocks xmlns:a="http://schemas.openxmlformats.org/drawingml/2006/main" noGrp="1"/>
          </p:cNvSpPr>
          <p:nvPr/>
        </p:nvSpPr>
        <p:spPr>
          <a:xfrm xmlns:a="http://schemas.openxmlformats.org/drawingml/2006/main">
            <a:off x="381000" y="6296025"/>
            <a:ext cx="11430000" cy="561975"/>
          </a:xfrm>
          <a:prstGeom xmlns:a="http://schemas.openxmlformats.org/drawingml/2006/main" prst="rect">
            <a:avLst/>
          </a:prstGeom>
          <a:solidFill xmlns:a="http://schemas.openxmlformats.org/drawingml/2006/main">
            <a:srgbClr val="073F49"/>
          </a:solidFill>
          <a:ln xmlns:a="http://schemas.openxmlformats.org/drawingml/2006/main" w="0">
            <a:noFill/>
          </a:ln>
        </p:spPr>
      </p:sp>
      <p:sp>
        <p:nvSpPr>
          <p:cNvPr id="15" name="Closing thought">
            <a:extLst xmlns:a="http://schemas.openxmlformats.org/drawingml/2006/main">
              <a:ext uri="{FF2B5EF4-FFF2-40B4-BE49-F238E27FC236}">
                <a16:creationId xmlns:a16="http://schemas.microsoft.com/office/drawing/2014/main" id="{32550E02-67E6-4839-AB5B-E984A392019D}"/>
              </a:ext>
            </a:extLst>
          </p:cNvPr>
          <p:cNvSpPr>
            <a:spLocks xmlns:a="http://schemas.openxmlformats.org/drawingml/2006/main" noGrp="1"/>
          </p:cNvSpPr>
          <p:nvPr/>
        </p:nvSpPr>
        <p:spPr>
          <a:xfrm xmlns:a="http://schemas.openxmlformats.org/drawingml/2006/main">
            <a:off x="533400" y="641032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A checked Care Note gives the family the same starting point.</a:t>
            </a:r>
          </a:p>
        </p:txBody>
      </p:sp>
    </p:spTree>
    <p:extLst>
      <p:ext uri="{BB962C8B-B14F-4D97-AF65-F5344CB8AC3E}">
        <p14:creationId xmlns:p14="http://schemas.microsoft.com/office/powerpoint/2010/main" val="486496822"/>
      </p:ext>
    </p:extLst>
  </p:cSld>
</p:sld>
</file>

<file path=ppt/slides/slide3.xml><?xml version="1.0" encoding="utf-8"?>
<p:sld xmlns:p="http://schemas.openxmlformats.org/presentationml/2006/main">
  <p:cSld>
    <p:bg>
      <p:bgPr>
        <a:solidFill xmlns:a="http://schemas.openxmlformats.org/drawingml/2006/main">
          <a:srgbClr val="CAD8ED"/>
        </a:solidFill>
      </p:bgPr>
    </p:bg>
    <p:spTree>
      <p:nvGrpSpPr>
        <p:cNvPr id="1" name=""/>
        <p:cNvGrpSpPr/>
        <p:nvPr/>
      </p:nvGrpSpPr>
      <p:grpSpPr>
        <a:xfrm xmlns:a="http://schemas.openxmlformats.org/drawingml/2006/main"/>
      </p:grpSpPr>
      <p:graphicFrame>
        <p:nvGraphicFramePr>
          <p:cNvPr id="40" name="Chart"/>
          <p:cNvGraphicFramePr/>
          <p:nvPr/>
        </p:nvGraphicFramePr>
        <p:xfrm>
          <a:off xmlns:a="http://schemas.openxmlformats.org/drawingml/2006/main" x="7372350" y="2181225"/>
          <a:ext xmlns:a="http://schemas.openxmlformats.org/drawingml/2006/main" cx="4057650" cy="2533650"/>
        </p:xfrm>
        <a:graphic xmlns:a="http://schemas.openxmlformats.org/drawingml/2006/main">
          <a:graphicData uri="http://schemas.openxmlformats.org/drawingml/2006/chart">
            <c:chart xmlns:r="http://schemas.openxmlformats.org/officeDocument/2006/relationships" xmlns:c="http://schemas.openxmlformats.org/drawingml/2006/chart" r:id="Rfc11ca11897241c7"/>
          </a:graphicData>
        </a:graphic>
      </p:graphicFrame>
      <p:sp>
        <p:nvSpPr>
          <p:cNvPr id="15" name="Slide title">
            <a:extLst xmlns:a="http://schemas.openxmlformats.org/drawingml/2006/main">
              <a:ext uri="{FF2B5EF4-FFF2-40B4-BE49-F238E27FC236}">
                <a16:creationId xmlns:a16="http://schemas.microsoft.com/office/drawing/2014/main" id="{E3D06F67-D825-4186-BC7C-2BFCBD0F4812}"/>
              </a:ext>
            </a:extLst>
          </p:cNvPr>
          <p:cNvSpPr>
            <a:spLocks xmlns:a="http://schemas.openxmlformats.org/drawingml/2006/main" noGrp="1"/>
          </p:cNvSpPr>
          <p:nvPr/>
        </p:nvSpPr>
        <p:spPr>
          <a:xfrm xmlns:a="http://schemas.openxmlformats.org/drawingml/2006/main">
            <a:off x="533400" y="361950"/>
            <a:ext cx="11125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173F33"/>
                </a:solidFill>
                <a:latin typeface="Arial"/>
                <a:ea typeface="Arial"/>
                <a:cs typeface="Arial"/>
              </a:defRPr>
            </a:pPr>
            <a:r>
              <a:rPr sz="3075" b="1">
                <a:solidFill>
                  <a:srgbClr val="173F33"/>
                </a:solidFill>
                <a:latin typeface="Arial"/>
                <a:ea typeface="Arial"/>
                <a:cs typeface="Arial"/>
              </a:rPr>
              <a:t>Why families need support between visits</a:t>
            </a:r>
          </a:p>
        </p:txBody>
      </p:sp>
      <p:sp>
        <p:nvSpPr>
          <p:cNvPr id="16" name="Chennai evidence heading">
            <a:extLst xmlns:a="http://schemas.openxmlformats.org/drawingml/2006/main">
              <a:ext uri="{FF2B5EF4-FFF2-40B4-BE49-F238E27FC236}">
                <a16:creationId xmlns:a16="http://schemas.microsoft.com/office/drawing/2014/main" id="{954B7C64-F3B8-4A61-ACA0-F47FE969FE51}"/>
              </a:ext>
            </a:extLst>
          </p:cNvPr>
          <p:cNvSpPr>
            <a:spLocks xmlns:a="http://schemas.openxmlformats.org/drawingml/2006/main" noGrp="1"/>
          </p:cNvSpPr>
          <p:nvPr/>
        </p:nvSpPr>
        <p:spPr>
          <a:xfrm xmlns:a="http://schemas.openxmlformats.org/drawingml/2006/main">
            <a:off x="7143750" y="1333500"/>
            <a:ext cx="4514850" cy="828675"/>
          </a:xfrm>
          <a:prstGeom xmlns:a="http://schemas.openxmlformats.org/drawingml/2006/main" prst="rect">
            <a:avLst/>
          </a:prstGeom>
          <a:solidFill xmlns:a="http://schemas.openxmlformats.org/drawingml/2006/main">
            <a:srgbClr val="F3F6FA"/>
          </a:solidFill>
          <a:ln xmlns:a="http://schemas.openxmlformats.org/drawingml/2006/main" w="0">
            <a:noFill/>
          </a:ln>
        </p:spPr>
      </p:sp>
      <p:sp>
        <p:nvSpPr>
          <p:cNvPr id="17" name="Chennai evidence explanation">
            <a:extLst xmlns:a="http://schemas.openxmlformats.org/drawingml/2006/main">
              <a:ext uri="{FF2B5EF4-FFF2-40B4-BE49-F238E27FC236}">
                <a16:creationId xmlns:a16="http://schemas.microsoft.com/office/drawing/2014/main" id="{9D1B600D-F16E-46A2-AB4A-1716E3952F7A}"/>
              </a:ext>
            </a:extLst>
          </p:cNvPr>
          <p:cNvSpPr>
            <a:spLocks xmlns:a="http://schemas.openxmlformats.org/drawingml/2006/main" noGrp="1"/>
          </p:cNvSpPr>
          <p:nvPr/>
        </p:nvSpPr>
        <p:spPr>
          <a:xfrm xmlns:a="http://schemas.openxmlformats.org/drawingml/2006/main">
            <a:off x="7143750" y="4791075"/>
            <a:ext cx="4514850" cy="1533525"/>
          </a:xfrm>
          <a:prstGeom xmlns:a="http://schemas.openxmlformats.org/drawingml/2006/main" prst="rect">
            <a:avLst/>
          </a:prstGeom>
          <a:solidFill xmlns:a="http://schemas.openxmlformats.org/drawingml/2006/main">
            <a:srgbClr val="F3F6FA"/>
          </a:solidFill>
          <a:ln xmlns:a="http://schemas.openxmlformats.org/drawingml/2006/main" w="0">
            <a:noFill/>
          </a:ln>
        </p:spPr>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76163d06dfd549ee">
            <a:extLst>
              <a:ext uri="{96DAC541-7B7A-43D3-8B79-37D633B846F1}">
                <asvg:svgBlip xmlns:asvg="http://schemas.microsoft.com/office/drawing/2016/SVG/main" r:embed="R0fcca0f54d2e4af7"/>
              </a:ext>
            </a:extLst>
          </a:blip>
          <a:stretch xmlns:a="http://schemas.openxmlformats.org/drawingml/2006/main"/>
        </p:blipFill>
        <p:spPr>
          <a:xfrm xmlns:a="http://schemas.openxmlformats.org/drawingml/2006/main">
            <a:off x="533400" y="1543050"/>
            <a:ext cx="400050" cy="400050"/>
          </a:xfrm>
          <a:prstGeom xmlns:a="http://schemas.openxmlformats.org/drawingml/2006/main" prst="rect">
            <a:avLst/>
          </a:prstGeom>
        </p:spPr>
      </p:pic>
      <p:sp>
        <p:nvSpPr>
          <p:cNvPr id="19" name="Evidence 15.6 lakh">
            <a:extLst xmlns:a="http://schemas.openxmlformats.org/drawingml/2006/main">
              <a:ext uri="{FF2B5EF4-FFF2-40B4-BE49-F238E27FC236}">
                <a16:creationId xmlns:a16="http://schemas.microsoft.com/office/drawing/2014/main" id="{92FB0AF2-2A13-4C06-B01E-2A2E268EC46A}"/>
              </a:ext>
            </a:extLst>
          </p:cNvPr>
          <p:cNvSpPr>
            <a:spLocks xmlns:a="http://schemas.openxmlformats.org/drawingml/2006/main" noGrp="1"/>
          </p:cNvSpPr>
          <p:nvPr/>
        </p:nvSpPr>
        <p:spPr>
          <a:xfrm xmlns:a="http://schemas.openxmlformats.org/drawingml/2006/main">
            <a:off x="105727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B75E43"/>
                </a:solidFill>
                <a:latin typeface="Arial"/>
                <a:ea typeface="Arial"/>
                <a:cs typeface="Arial"/>
              </a:defRPr>
            </a:pPr>
            <a:r>
              <a:rPr sz="3675" b="1">
                <a:solidFill>
                  <a:srgbClr val="B75E43"/>
                </a:solidFill>
                <a:latin typeface="Arial"/>
                <a:ea typeface="Arial"/>
                <a:cs typeface="Arial"/>
              </a:rPr>
              <a:t>15.6 lakh</a:t>
            </a:r>
          </a:p>
        </p:txBody>
      </p:sp>
      <p:sp>
        <p:nvSpPr>
          <p:cNvPr id="20" name="Evidence 15.6 lakh scope">
            <a:extLst xmlns:a="http://schemas.openxmlformats.org/drawingml/2006/main">
              <a:ext uri="{FF2B5EF4-FFF2-40B4-BE49-F238E27FC236}">
                <a16:creationId xmlns:a16="http://schemas.microsoft.com/office/drawing/2014/main" id="{36A7E813-782E-4A2B-A2D3-067FED81A88C}"/>
              </a:ext>
            </a:extLst>
          </p:cNvPr>
          <p:cNvSpPr>
            <a:spLocks xmlns:a="http://schemas.openxmlformats.org/drawingml/2006/main" noGrp="1"/>
          </p:cNvSpPr>
          <p:nvPr/>
        </p:nvSpPr>
        <p:spPr>
          <a:xfrm xmlns:a="http://schemas.openxmlformats.org/drawingml/2006/main">
            <a:off x="53340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new cancer cases in India in 2024.</a:t>
            </a:r>
          </a:p>
        </p:txBody>
      </p:sp>
      <p:sp>
        <p:nvSpPr>
          <p:cNvPr id="21" name="Evidence 15.6 lakh source">
            <a:extLst xmlns:a="http://schemas.openxmlformats.org/drawingml/2006/main">
              <a:ext uri="{FF2B5EF4-FFF2-40B4-BE49-F238E27FC236}">
                <a16:creationId xmlns:a16="http://schemas.microsoft.com/office/drawing/2014/main" id="{A15AC7CC-415E-4CB7-A3E9-172C2C671700}"/>
              </a:ext>
            </a:extLst>
          </p:cNvPr>
          <p:cNvSpPr>
            <a:spLocks xmlns:a="http://schemas.openxmlformats.org/drawingml/2006/main" noGrp="1"/>
          </p:cNvSpPr>
          <p:nvPr/>
        </p:nvSpPr>
        <p:spPr>
          <a:xfrm xmlns:a="http://schemas.openxmlformats.org/drawingml/2006/main">
            <a:off x="53340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ab6fa42c7df148e1"/>
              </a:rPr>
              <a:t>IARC, GLOBOCAN 2024</a:t>
            </a:r>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350bef4171974d80">
            <a:extLst>
              <a:ext uri="{96DAC541-7B7A-43D3-8B79-37D633B846F1}">
                <asvg:svgBlip xmlns:asvg="http://schemas.microsoft.com/office/drawing/2016/SVG/main" r:embed="R101febf06eb64f36"/>
              </a:ext>
            </a:extLst>
          </a:blip>
          <a:stretch xmlns:a="http://schemas.openxmlformats.org/drawingml/2006/main"/>
        </p:blipFill>
        <p:spPr>
          <a:xfrm xmlns:a="http://schemas.openxmlformats.org/drawingml/2006/main">
            <a:off x="3829050" y="1543050"/>
            <a:ext cx="400050" cy="400050"/>
          </a:xfrm>
          <a:prstGeom xmlns:a="http://schemas.openxmlformats.org/drawingml/2006/main" prst="rect">
            <a:avLst/>
          </a:prstGeom>
        </p:spPr>
      </p:pic>
      <p:sp>
        <p:nvSpPr>
          <p:cNvPr id="23" name="Evidence 98.39%">
            <a:extLst xmlns:a="http://schemas.openxmlformats.org/drawingml/2006/main">
              <a:ext uri="{FF2B5EF4-FFF2-40B4-BE49-F238E27FC236}">
                <a16:creationId xmlns:a16="http://schemas.microsoft.com/office/drawing/2014/main" id="{B2A01FD3-B982-4727-ADAD-BC1632A32DBC}"/>
              </a:ext>
            </a:extLst>
          </p:cNvPr>
          <p:cNvSpPr>
            <a:spLocks xmlns:a="http://schemas.openxmlformats.org/drawingml/2006/main" noGrp="1"/>
          </p:cNvSpPr>
          <p:nvPr/>
        </p:nvSpPr>
        <p:spPr>
          <a:xfrm xmlns:a="http://schemas.openxmlformats.org/drawingml/2006/main">
            <a:off x="435292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157B68"/>
                </a:solidFill>
                <a:latin typeface="Arial"/>
                <a:ea typeface="Arial"/>
                <a:cs typeface="Arial"/>
              </a:defRPr>
            </a:pPr>
            <a:r>
              <a:rPr sz="3675" b="1">
                <a:solidFill>
                  <a:srgbClr val="157B68"/>
                </a:solidFill>
                <a:latin typeface="Arial"/>
                <a:ea typeface="Arial"/>
                <a:cs typeface="Arial"/>
              </a:rPr>
              <a:t>98.39%</a:t>
            </a:r>
          </a:p>
        </p:txBody>
      </p:sp>
      <p:sp>
        <p:nvSpPr>
          <p:cNvPr id="24" name="Evidence 98.39% scope">
            <a:extLst xmlns:a="http://schemas.openxmlformats.org/drawingml/2006/main">
              <a:ext uri="{FF2B5EF4-FFF2-40B4-BE49-F238E27FC236}">
                <a16:creationId xmlns:a16="http://schemas.microsoft.com/office/drawing/2014/main" id="{5AFD1190-0DC7-4073-8939-4F79FCF94917}"/>
              </a:ext>
            </a:extLst>
          </p:cNvPr>
          <p:cNvSpPr>
            <a:spLocks xmlns:a="http://schemas.openxmlformats.org/drawingml/2006/main" noGrp="1"/>
          </p:cNvSpPr>
          <p:nvPr/>
        </p:nvSpPr>
        <p:spPr>
          <a:xfrm xmlns:a="http://schemas.openxmlformats.org/drawingml/2006/main">
            <a:off x="382905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unmet palliative-care need among people whose cancer had spread, across 10 cancer types.</a:t>
            </a:r>
          </a:p>
        </p:txBody>
      </p:sp>
      <p:sp>
        <p:nvSpPr>
          <p:cNvPr id="25" name="Evidence 98.39% source">
            <a:extLst xmlns:a="http://schemas.openxmlformats.org/drawingml/2006/main">
              <a:ext uri="{FF2B5EF4-FFF2-40B4-BE49-F238E27FC236}">
                <a16:creationId xmlns:a16="http://schemas.microsoft.com/office/drawing/2014/main" id="{745457AD-3110-439C-AD2C-1A47EC756AB5}"/>
              </a:ext>
            </a:extLst>
          </p:cNvPr>
          <p:cNvSpPr>
            <a:spLocks xmlns:a="http://schemas.openxmlformats.org/drawingml/2006/main" noGrp="1"/>
          </p:cNvSpPr>
          <p:nvPr/>
        </p:nvSpPr>
        <p:spPr>
          <a:xfrm xmlns:a="http://schemas.openxmlformats.org/drawingml/2006/main">
            <a:off x="382905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2410539b0c794485"/>
              </a:rPr>
              <a:t>Patil et al., 2024</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a4b40fb512b14e4a">
            <a:extLst>
              <a:ext uri="{96DAC541-7B7A-43D3-8B79-37D633B846F1}">
                <asvg:svgBlip xmlns:asvg="http://schemas.microsoft.com/office/drawing/2016/SVG/main" r:embed="R13eac5924e2f4bf5"/>
              </a:ext>
            </a:extLst>
          </a:blip>
          <a:stretch xmlns:a="http://schemas.openxmlformats.org/drawingml/2006/main"/>
        </p:blipFill>
        <p:spPr>
          <a:xfrm xmlns:a="http://schemas.openxmlformats.org/drawingml/2006/main">
            <a:off x="533400" y="4076700"/>
            <a:ext cx="400050" cy="400050"/>
          </a:xfrm>
          <a:prstGeom xmlns:a="http://schemas.openxmlformats.org/drawingml/2006/main" prst="rect">
            <a:avLst/>
          </a:prstGeom>
        </p:spPr>
      </p:pic>
      <p:sp>
        <p:nvSpPr>
          <p:cNvPr id="27" name="Evidence 88%">
            <a:extLst xmlns:a="http://schemas.openxmlformats.org/drawingml/2006/main">
              <a:ext uri="{FF2B5EF4-FFF2-40B4-BE49-F238E27FC236}">
                <a16:creationId xmlns:a16="http://schemas.microsoft.com/office/drawing/2014/main" id="{005D0C34-66DC-4FB4-B950-B1FA880E14B1}"/>
              </a:ext>
            </a:extLst>
          </p:cNvPr>
          <p:cNvSpPr>
            <a:spLocks xmlns:a="http://schemas.openxmlformats.org/drawingml/2006/main" noGrp="1"/>
          </p:cNvSpPr>
          <p:nvPr/>
        </p:nvSpPr>
        <p:spPr>
          <a:xfrm xmlns:a="http://schemas.openxmlformats.org/drawingml/2006/main">
            <a:off x="105727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7353AC"/>
                </a:solidFill>
                <a:latin typeface="Arial"/>
                <a:ea typeface="Arial"/>
                <a:cs typeface="Arial"/>
              </a:defRPr>
            </a:pPr>
            <a:r>
              <a:rPr sz="3675" b="1">
                <a:solidFill>
                  <a:srgbClr val="7353AC"/>
                </a:solidFill>
                <a:latin typeface="Arial"/>
                <a:ea typeface="Arial"/>
                <a:cs typeface="Arial"/>
              </a:rPr>
              <a:t>88%</a:t>
            </a:r>
          </a:p>
        </p:txBody>
      </p:sp>
      <p:sp>
        <p:nvSpPr>
          <p:cNvPr id="28" name="Evidence 88% scope">
            <a:extLst xmlns:a="http://schemas.openxmlformats.org/drawingml/2006/main">
              <a:ext uri="{FF2B5EF4-FFF2-40B4-BE49-F238E27FC236}">
                <a16:creationId xmlns:a16="http://schemas.microsoft.com/office/drawing/2014/main" id="{AC881B58-7150-434C-A1EB-5F306CA5171A}"/>
              </a:ext>
            </a:extLst>
          </p:cNvPr>
          <p:cNvSpPr>
            <a:spLocks xmlns:a="http://schemas.openxmlformats.org/drawingml/2006/main" noGrp="1"/>
          </p:cNvSpPr>
          <p:nvPr/>
        </p:nvSpPr>
        <p:spPr>
          <a:xfrm xmlns:a="http://schemas.openxmlformats.org/drawingml/2006/main">
            <a:off x="53340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Wanted to choose their treatment near the end of life in a 2019 survey of 2,400+ urban respondents.</a:t>
            </a:r>
          </a:p>
        </p:txBody>
      </p:sp>
      <p:sp>
        <p:nvSpPr>
          <p:cNvPr id="29" name="Evidence 88% source">
            <a:extLst xmlns:a="http://schemas.openxmlformats.org/drawingml/2006/main">
              <a:ext uri="{FF2B5EF4-FFF2-40B4-BE49-F238E27FC236}">
                <a16:creationId xmlns:a16="http://schemas.microsoft.com/office/drawing/2014/main" id="{6F113E7D-96CA-42B9-B856-88A7A587B162}"/>
              </a:ext>
            </a:extLst>
          </p:cNvPr>
          <p:cNvSpPr>
            <a:spLocks xmlns:a="http://schemas.openxmlformats.org/drawingml/2006/main" noGrp="1"/>
          </p:cNvSpPr>
          <p:nvPr/>
        </p:nvSpPr>
        <p:spPr>
          <a:xfrm xmlns:a="http://schemas.openxmlformats.org/drawingml/2006/main">
            <a:off x="53340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9742cc5a0ff44c36"/>
              </a:rPr>
              <a:t>IndiaSpend reporting; seven cities</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df58d6a0009a4a4f">
            <a:extLst>
              <a:ext uri="{96DAC541-7B7A-43D3-8B79-37D633B846F1}">
                <asvg:svgBlip xmlns:asvg="http://schemas.microsoft.com/office/drawing/2016/SVG/main" r:embed="R8045cbd10a234fb2"/>
              </a:ext>
            </a:extLst>
          </a:blip>
          <a:stretch xmlns:a="http://schemas.openxmlformats.org/drawingml/2006/main"/>
        </p:blipFill>
        <p:spPr>
          <a:xfrm xmlns:a="http://schemas.openxmlformats.org/drawingml/2006/main">
            <a:off x="3829050" y="4076700"/>
            <a:ext cx="400050" cy="400050"/>
          </a:xfrm>
          <a:prstGeom xmlns:a="http://schemas.openxmlformats.org/drawingml/2006/main" prst="rect">
            <a:avLst/>
          </a:prstGeom>
        </p:spPr>
      </p:pic>
      <p:sp>
        <p:nvSpPr>
          <p:cNvPr id="31" name="Evidence 11.5%">
            <a:extLst xmlns:a="http://schemas.openxmlformats.org/drawingml/2006/main">
              <a:ext uri="{FF2B5EF4-FFF2-40B4-BE49-F238E27FC236}">
                <a16:creationId xmlns:a16="http://schemas.microsoft.com/office/drawing/2014/main" id="{8ED6D1AF-4FD4-4FF1-B0B2-76C8091AE6E8}"/>
              </a:ext>
            </a:extLst>
          </p:cNvPr>
          <p:cNvSpPr>
            <a:spLocks xmlns:a="http://schemas.openxmlformats.org/drawingml/2006/main" noGrp="1"/>
          </p:cNvSpPr>
          <p:nvPr/>
        </p:nvSpPr>
        <p:spPr>
          <a:xfrm xmlns:a="http://schemas.openxmlformats.org/drawingml/2006/main">
            <a:off x="435292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4357C7"/>
                </a:solidFill>
                <a:latin typeface="Arial"/>
                <a:ea typeface="Arial"/>
                <a:cs typeface="Arial"/>
              </a:defRPr>
            </a:pPr>
            <a:r>
              <a:rPr sz="3675" b="1">
                <a:solidFill>
                  <a:srgbClr val="4357C7"/>
                </a:solidFill>
                <a:latin typeface="Arial"/>
                <a:ea typeface="Arial"/>
                <a:cs typeface="Arial"/>
              </a:rPr>
              <a:t>11.5%</a:t>
            </a:r>
          </a:p>
        </p:txBody>
      </p:sp>
      <p:sp>
        <p:nvSpPr>
          <p:cNvPr id="32" name="Evidence 11.5% scope">
            <a:extLst xmlns:a="http://schemas.openxmlformats.org/drawingml/2006/main">
              <a:ext uri="{FF2B5EF4-FFF2-40B4-BE49-F238E27FC236}">
                <a16:creationId xmlns:a16="http://schemas.microsoft.com/office/drawing/2014/main" id="{89BB2C15-BF69-4FB7-B448-2230DED274D9}"/>
              </a:ext>
            </a:extLst>
          </p:cNvPr>
          <p:cNvSpPr>
            <a:spLocks xmlns:a="http://schemas.openxmlformats.org/drawingml/2006/main" noGrp="1"/>
          </p:cNvSpPr>
          <p:nvPr/>
        </p:nvSpPr>
        <p:spPr>
          <a:xfrm xmlns:a="http://schemas.openxmlformats.org/drawingml/2006/main">
            <a:off x="382905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45 of 391 doctors at one hospital had training in advance directives, which record wishes for future care.</a:t>
            </a:r>
          </a:p>
        </p:txBody>
      </p:sp>
      <p:sp>
        <p:nvSpPr>
          <p:cNvPr id="33" name="Evidence 11.5% source">
            <a:extLst xmlns:a="http://schemas.openxmlformats.org/drawingml/2006/main">
              <a:ext uri="{FF2B5EF4-FFF2-40B4-BE49-F238E27FC236}">
                <a16:creationId xmlns:a16="http://schemas.microsoft.com/office/drawing/2014/main" id="{0F1ED713-1D93-429E-AA85-CE6F2EF25194}"/>
              </a:ext>
            </a:extLst>
          </p:cNvPr>
          <p:cNvSpPr>
            <a:spLocks xmlns:a="http://schemas.openxmlformats.org/drawingml/2006/main" noGrp="1"/>
          </p:cNvSpPr>
          <p:nvPr/>
        </p:nvSpPr>
        <p:spPr>
          <a:xfrm xmlns:a="http://schemas.openxmlformats.org/drawingml/2006/main">
            <a:off x="382905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4b894f2e3f5c4b27"/>
              </a:rPr>
              <a:t>Jacob et al., CMC Vellore, 2026</a:t>
            </a: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12881ede430f4726">
            <a:extLst>
              <a:ext uri="{96DAC541-7B7A-43D3-8B79-37D633B846F1}">
                <asvg:svgBlip xmlns:asvg="http://schemas.microsoft.com/office/drawing/2016/SVG/main" r:embed="R36f984ec41054231"/>
              </a:ext>
            </a:extLst>
          </a:blip>
          <a:stretch xmlns:a="http://schemas.openxmlformats.org/drawingml/2006/main"/>
        </p:blipFill>
        <p:spPr>
          <a:xfrm xmlns:a="http://schemas.openxmlformats.org/drawingml/2006/main">
            <a:off x="7372350" y="1533525"/>
            <a:ext cx="381000" cy="381000"/>
          </a:xfrm>
          <a:prstGeom xmlns:a="http://schemas.openxmlformats.org/drawingml/2006/main" prst="rect">
            <a:avLst/>
          </a:prstGeom>
        </p:spPr>
      </p:pic>
      <p:sp>
        <p:nvSpPr>
          <p:cNvPr id="35" name="QI measure">
            <a:extLst xmlns:a="http://schemas.openxmlformats.org/drawingml/2006/main">
              <a:ext uri="{FF2B5EF4-FFF2-40B4-BE49-F238E27FC236}">
                <a16:creationId xmlns:a16="http://schemas.microsoft.com/office/drawing/2014/main" id="{7AD8B5F7-B2A6-4576-866E-1F8DECA16D30}"/>
              </a:ext>
            </a:extLst>
          </p:cNvPr>
          <p:cNvSpPr>
            <a:spLocks xmlns:a="http://schemas.openxmlformats.org/drawingml/2006/main" noGrp="1"/>
          </p:cNvSpPr>
          <p:nvPr/>
        </p:nvSpPr>
        <p:spPr>
          <a:xfrm xmlns:a="http://schemas.openxmlformats.org/drawingml/2006/main">
            <a:off x="7905750" y="1514475"/>
            <a:ext cx="3524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025" b="1">
                <a:solidFill>
                  <a:srgbClr val="173F33"/>
                </a:solidFill>
                <a:latin typeface="Arial"/>
                <a:ea typeface="Arial"/>
                <a:cs typeface="Arial"/>
              </a:defRPr>
            </a:pPr>
            <a:r>
              <a:rPr sz="2025" b="1">
                <a:solidFill>
                  <a:srgbClr val="173F33"/>
                </a:solidFill>
                <a:latin typeface="Arial"/>
                <a:ea typeface="Arial"/>
                <a:cs typeface="Arial"/>
              </a:rPr>
              <a:t>One Chennai hospital improved documentation.</a:t>
            </a:r>
          </a:p>
        </p:txBody>
      </p:sp>
      <p:sp>
        <p:nvSpPr>
          <p:cNvPr id="36" name="QI finding">
            <a:extLst xmlns:a="http://schemas.openxmlformats.org/drawingml/2006/main">
              <a:ext uri="{FF2B5EF4-FFF2-40B4-BE49-F238E27FC236}">
                <a16:creationId xmlns:a16="http://schemas.microsoft.com/office/drawing/2014/main" id="{DCE568A7-E3A8-4031-A14A-287D4A82241A}"/>
              </a:ext>
            </a:extLst>
          </p:cNvPr>
          <p:cNvSpPr>
            <a:spLocks xmlns:a="http://schemas.openxmlformats.org/drawingml/2006/main" noGrp="1"/>
          </p:cNvSpPr>
          <p:nvPr/>
        </p:nvSpPr>
        <p:spPr>
          <a:xfrm xmlns:a="http://schemas.openxmlformats.org/drawingml/2006/main">
            <a:off x="7372350" y="4857750"/>
            <a:ext cx="40576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A standard process helped staff write down care discussions for 24 of 26 eligible patients.</a:t>
            </a:r>
          </a:p>
        </p:txBody>
      </p:sp>
      <p:sp>
        <p:nvSpPr>
          <p:cNvPr id="37" name="QI scope">
            <a:extLst xmlns:a="http://schemas.openxmlformats.org/drawingml/2006/main">
              <a:ext uri="{FF2B5EF4-FFF2-40B4-BE49-F238E27FC236}">
                <a16:creationId xmlns:a16="http://schemas.microsoft.com/office/drawing/2014/main" id="{7795C86D-8501-4262-8E75-39804073BACC}"/>
              </a:ext>
            </a:extLst>
          </p:cNvPr>
          <p:cNvSpPr>
            <a:spLocks xmlns:a="http://schemas.openxmlformats.org/drawingml/2006/main" noGrp="1"/>
          </p:cNvSpPr>
          <p:nvPr/>
        </p:nvSpPr>
        <p:spPr>
          <a:xfrm xmlns:a="http://schemas.openxmlformats.org/drawingml/2006/main">
            <a:off x="7372350" y="5819775"/>
            <a:ext cx="40576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Advanced pancreatic / colorectal cancer.</a:t>
            </a:r>
          </a:p>
        </p:txBody>
      </p:sp>
      <p:sp>
        <p:nvSpPr>
          <p:cNvPr id="38" name="QI source">
            <a:extLst xmlns:a="http://schemas.openxmlformats.org/drawingml/2006/main">
              <a:ext uri="{FF2B5EF4-FFF2-40B4-BE49-F238E27FC236}">
                <a16:creationId xmlns:a16="http://schemas.microsoft.com/office/drawing/2014/main" id="{F3710DA7-F888-4945-80C1-1481B5C9B691}"/>
              </a:ext>
            </a:extLst>
          </p:cNvPr>
          <p:cNvSpPr>
            <a:spLocks xmlns:a="http://schemas.openxmlformats.org/drawingml/2006/main" noGrp="1"/>
          </p:cNvSpPr>
          <p:nvPr/>
        </p:nvSpPr>
        <p:spPr>
          <a:xfrm xmlns:a="http://schemas.openxmlformats.org/drawingml/2006/main">
            <a:off x="7372350" y="6067425"/>
            <a:ext cx="4057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145AC6"/>
                </a:solidFill>
                <a:latin typeface="Arial"/>
                <a:ea typeface="Arial"/>
                <a:cs typeface="Arial"/>
              </a:defRPr>
            </a:pPr>
            <a:r>
              <a:rPr sz="1238" b="0" u="sng">
                <a:solidFill>
                  <a:srgbClr val="145AC6"/>
                </a:solidFill>
                <a:latin typeface="Arial"/>
                <a:ea typeface="Arial"/>
                <a:cs typeface="Arial"/>
                <a:hlinkClick xmlns:r="http://schemas.openxmlformats.org/officeDocument/2006/relationships" r:id="Rdaf3af87ee454c98"/>
              </a:rPr>
              <a:t>Thangasamy et al., 2025</a:t>
            </a:r>
          </a:p>
        </p:txBody>
      </p:sp>
      <p:sp>
        <p:nvSpPr>
          <p:cNvPr id="39" name="Evidence boundary">
            <a:extLst xmlns:a="http://schemas.openxmlformats.org/drawingml/2006/main">
              <a:ext uri="{FF2B5EF4-FFF2-40B4-BE49-F238E27FC236}">
                <a16:creationId xmlns:a16="http://schemas.microsoft.com/office/drawing/2014/main" id="{A4754E71-FCB7-481D-A0DD-89A8894892A6}"/>
              </a:ext>
            </a:extLst>
          </p:cNvPr>
          <p:cNvSpPr>
            <a:spLocks xmlns:a="http://schemas.openxmlformats.org/drawingml/2006/main" noGrp="1"/>
          </p:cNvSpPr>
          <p:nvPr/>
        </p:nvSpPr>
        <p:spPr>
          <a:xfrm xmlns:a="http://schemas.openxmlformats.org/drawingml/2006/main">
            <a:off x="533400" y="651510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00" b="0">
                <a:solidFill>
                  <a:srgbClr val="53655C"/>
                </a:solidFill>
                <a:latin typeface="Arial"/>
                <a:ea typeface="Arial"/>
                <a:cs typeface="Arial"/>
              </a:defRPr>
            </a:pPr>
            <a:r>
              <a:rPr sz="1200" b="0">
                <a:solidFill>
                  <a:srgbClr val="53655C"/>
                </a:solidFill>
                <a:latin typeface="Arial"/>
                <a:ea typeface="Arial"/>
                <a:cs typeface="Arial"/>
              </a:rPr>
              <a:t>Each study looked at a different group of people. These figures are not results from Saathi.</a:t>
            </a:r>
          </a:p>
        </p:txBody>
      </p:sp>
    </p:spTree>
    <p:extLst>
      <p:ext uri="{BB962C8B-B14F-4D97-AF65-F5344CB8AC3E}">
        <p14:creationId xmlns:p14="http://schemas.microsoft.com/office/powerpoint/2010/main" val="1299123762"/>
      </p:ext>
    </p:extLst>
  </p:cSld>
</p:sld>
</file>

<file path=ppt/slides/slide4.xml><?xml version="1.0" encoding="utf-8"?>
<p:sld xmlns:p="http://schemas.openxmlformats.org/presentationml/2006/main">
  <p:cSld>
    <p:bg>
      <p:bgPr>
        <a:solidFill xmlns:a="http://schemas.openxmlformats.org/drawingml/2006/main">
          <a:srgbClr val="FFC799"/>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7A5F87DC-C2FB-4970-BA5E-C7E6470A1B65}"/>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AI prepares the note. People check and sign it.</a:t>
            </a:r>
          </a:p>
        </p:txBody>
      </p:sp>
      <p:sp>
        <p:nvSpPr>
          <p:cNvPr id="2" name="Human review">
            <a:extLst xmlns:a="http://schemas.openxmlformats.org/drawingml/2006/main">
              <a:ext uri="{FF2B5EF4-FFF2-40B4-BE49-F238E27FC236}">
                <a16:creationId xmlns:a16="http://schemas.microsoft.com/office/drawing/2014/main" id="{5ABDF0AC-466E-43A1-8AC7-A434B7C605BE}"/>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The doctor signs first. The patient then reviews and signs that version.</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4d9c9e85d50f48c7"/>
          <a:stretch xmlns:a="http://schemas.openxmlformats.org/drawingml/2006/main"/>
        </p:blipFill>
        <p:spPr>
          <a:xfrm xmlns:a="http://schemas.openxmlformats.org/drawingml/2006/main">
            <a:off x="400050" y="1847953"/>
            <a:ext cx="8286750" cy="3933618"/>
          </a:xfrm>
          <a:prstGeom xmlns:a="http://schemas.openxmlformats.org/drawingml/2006/main" prst="rect">
            <a:avLst/>
          </a:prstGeom>
        </p:spPr>
      </p:pic>
      <p:sp>
        <p:nvSpPr>
          <p:cNvPr id="4" name="Source traceability">
            <a:extLst xmlns:a="http://schemas.openxmlformats.org/drawingml/2006/main">
              <a:ext uri="{FF2B5EF4-FFF2-40B4-BE49-F238E27FC236}">
                <a16:creationId xmlns:a16="http://schemas.microsoft.com/office/drawing/2014/main" id="{38C27635-6E5F-4A60-8B14-08D13811EAAD}"/>
              </a:ext>
            </a:extLst>
          </p:cNvPr>
          <p:cNvSpPr>
            <a:spLocks xmlns:a="http://schemas.openxmlformats.org/drawingml/2006/main" noGrp="1"/>
          </p:cNvSpPr>
          <p:nvPr/>
        </p:nvSpPr>
        <p:spPr>
          <a:xfrm xmlns:a="http://schemas.openxmlformats.org/drawingml/2006/main">
            <a:off x="533400" y="5991225"/>
            <a:ext cx="800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Keep the source words and every signed version for the next conversation.</a:t>
            </a:r>
          </a:p>
        </p:txBody>
      </p:sp>
      <p:sp>
        <p:nvSpPr>
          <p:cNvPr id="5" name="Proposed voice provider">
            <a:extLst xmlns:a="http://schemas.openxmlformats.org/drawingml/2006/main">
              <a:ext uri="{FF2B5EF4-FFF2-40B4-BE49-F238E27FC236}">
                <a16:creationId xmlns:a16="http://schemas.microsoft.com/office/drawing/2014/main" id="{E54ADEE8-DFE6-44FC-A19E-0BD4BA166643}"/>
              </a:ext>
            </a:extLst>
          </p:cNvPr>
          <p:cNvSpPr>
            <a:spLocks xmlns:a="http://schemas.openxmlformats.org/drawingml/2006/main" noGrp="1"/>
          </p:cNvSpPr>
          <p:nvPr/>
        </p:nvSpPr>
        <p:spPr>
          <a:xfrm xmlns:a="http://schemas.openxmlformats.org/drawingml/2006/main">
            <a:off x="533400" y="6543675"/>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0">
                <a:solidFill>
                  <a:srgbClr val="145AC6"/>
                </a:solidFill>
                <a:latin typeface="Arial"/>
                <a:ea typeface="Arial"/>
                <a:cs typeface="Arial"/>
              </a:defRPr>
            </a:pPr>
            <a:r>
              <a:rPr sz="1313" b="0" u="sng">
                <a:solidFill>
                  <a:srgbClr val="145AC6"/>
                </a:solidFill>
                <a:latin typeface="Arial"/>
                <a:ea typeface="Arial"/>
                <a:cs typeface="Arial"/>
                <a:hlinkClick xmlns:r="http://schemas.openxmlformats.org/officeDocument/2006/relationships" r:id="R4b5b00a57e484bcd"/>
              </a:rPr>
              <a:t>Planned with Sarvam AI: Indian-language speech, translation and read-aloud.</a:t>
            </a:r>
          </a:p>
        </p:txBody>
      </p:sp>
      <p:sp>
        <p:nvSpPr>
          <p:cNvPr id="6" name="AI step 1">
            <a:extLst xmlns:a="http://schemas.openxmlformats.org/drawingml/2006/main">
              <a:ext uri="{FF2B5EF4-FFF2-40B4-BE49-F238E27FC236}">
                <a16:creationId xmlns:a16="http://schemas.microsoft.com/office/drawing/2014/main" id="{2F62543C-E6A3-45C8-9D7C-00BEDEE32EBB}"/>
              </a:ext>
            </a:extLst>
          </p:cNvPr>
          <p:cNvSpPr>
            <a:spLocks xmlns:a="http://schemas.openxmlformats.org/drawingml/2006/main" noGrp="1"/>
          </p:cNvSpPr>
          <p:nvPr/>
        </p:nvSpPr>
        <p:spPr>
          <a:xfrm xmlns:a="http://schemas.openxmlformats.org/drawingml/2006/main">
            <a:off x="9001125" y="16764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1. Record with permission.</a:t>
            </a:r>
          </a:p>
        </p:txBody>
      </p:sp>
      <p:sp>
        <p:nvSpPr>
          <p:cNvPr id="7" name="AI step 1 detail">
            <a:extLst xmlns:a="http://schemas.openxmlformats.org/drawingml/2006/main">
              <a:ext uri="{FF2B5EF4-FFF2-40B4-BE49-F238E27FC236}">
                <a16:creationId xmlns:a16="http://schemas.microsoft.com/office/drawing/2014/main" id="{A371CA76-71CA-48BE-A9A6-D0CBF700EB09}"/>
              </a:ext>
            </a:extLst>
          </p:cNvPr>
          <p:cNvSpPr>
            <a:spLocks xmlns:a="http://schemas.openxmlformats.org/drawingml/2006/main" noGrp="1"/>
          </p:cNvSpPr>
          <p:nvPr/>
        </p:nvSpPr>
        <p:spPr>
          <a:xfrm xmlns:a="http://schemas.openxmlformats.org/drawingml/2006/main">
            <a:off x="9001125" y="22479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Keep who said what in the conversation.</a:t>
            </a:r>
          </a:p>
        </p:txBody>
      </p:sp>
      <p:sp>
        <p:nvSpPr>
          <p:cNvPr id="8" name="AI step 2">
            <a:extLst xmlns:a="http://schemas.openxmlformats.org/drawingml/2006/main">
              <a:ext uri="{FF2B5EF4-FFF2-40B4-BE49-F238E27FC236}">
                <a16:creationId xmlns:a16="http://schemas.microsoft.com/office/drawing/2014/main" id="{7041D8B0-48C2-40E5-A06D-FF74FC6E974F}"/>
              </a:ext>
            </a:extLst>
          </p:cNvPr>
          <p:cNvSpPr>
            <a:spLocks xmlns:a="http://schemas.openxmlformats.org/drawingml/2006/main" noGrp="1"/>
          </p:cNvSpPr>
          <p:nvPr/>
        </p:nvSpPr>
        <p:spPr>
          <a:xfrm xmlns:a="http://schemas.openxmlformats.org/drawingml/2006/main">
            <a:off x="9001125" y="28384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2. AI prepares a draft.</a:t>
            </a:r>
          </a:p>
        </p:txBody>
      </p:sp>
      <p:sp>
        <p:nvSpPr>
          <p:cNvPr id="9" name="AI step 2 detail">
            <a:extLst xmlns:a="http://schemas.openxmlformats.org/drawingml/2006/main">
              <a:ext uri="{FF2B5EF4-FFF2-40B4-BE49-F238E27FC236}">
                <a16:creationId xmlns:a16="http://schemas.microsoft.com/office/drawing/2014/main" id="{053C8040-8DE7-4235-BA54-B05347374194}"/>
              </a:ext>
            </a:extLst>
          </p:cNvPr>
          <p:cNvSpPr>
            <a:spLocks xmlns:a="http://schemas.openxmlformats.org/drawingml/2006/main" noGrp="1"/>
          </p:cNvSpPr>
          <p:nvPr/>
        </p:nvSpPr>
        <p:spPr>
          <a:xfrm xmlns:a="http://schemas.openxmlformats.org/drawingml/2006/main">
            <a:off x="9001125" y="34099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Separate agreed points from unanswered questions.</a:t>
            </a:r>
          </a:p>
        </p:txBody>
      </p:sp>
      <p:sp>
        <p:nvSpPr>
          <p:cNvPr id="10" name="AI step 3">
            <a:extLst xmlns:a="http://schemas.openxmlformats.org/drawingml/2006/main">
              <a:ext uri="{FF2B5EF4-FFF2-40B4-BE49-F238E27FC236}">
                <a16:creationId xmlns:a16="http://schemas.microsoft.com/office/drawing/2014/main" id="{767D801E-163D-4127-AEDD-E1B6AAEB669D}"/>
              </a:ext>
            </a:extLst>
          </p:cNvPr>
          <p:cNvSpPr>
            <a:spLocks xmlns:a="http://schemas.openxmlformats.org/drawingml/2006/main" noGrp="1"/>
          </p:cNvSpPr>
          <p:nvPr/>
        </p:nvSpPr>
        <p:spPr>
          <a:xfrm xmlns:a="http://schemas.openxmlformats.org/drawingml/2006/main">
            <a:off x="9001125" y="40005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3. The doctor checks and signs.</a:t>
            </a:r>
          </a:p>
        </p:txBody>
      </p:sp>
      <p:sp>
        <p:nvSpPr>
          <p:cNvPr id="11" name="AI step 3 detail">
            <a:extLst xmlns:a="http://schemas.openxmlformats.org/drawingml/2006/main">
              <a:ext uri="{FF2B5EF4-FFF2-40B4-BE49-F238E27FC236}">
                <a16:creationId xmlns:a16="http://schemas.microsoft.com/office/drawing/2014/main" id="{1AC5BC56-6C7F-4158-9E8A-B7A55BFA3D58}"/>
              </a:ext>
            </a:extLst>
          </p:cNvPr>
          <p:cNvSpPr>
            <a:spLocks xmlns:a="http://schemas.openxmlformats.org/drawingml/2006/main" noGrp="1"/>
          </p:cNvSpPr>
          <p:nvPr/>
        </p:nvSpPr>
        <p:spPr>
          <a:xfrm xmlns:a="http://schemas.openxmlformats.org/drawingml/2006/main">
            <a:off x="9001125" y="45720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Correct the note and record clinical choices.</a:t>
            </a:r>
          </a:p>
        </p:txBody>
      </p:sp>
      <p:sp>
        <p:nvSpPr>
          <p:cNvPr id="12" name="AI step 4">
            <a:extLst xmlns:a="http://schemas.openxmlformats.org/drawingml/2006/main">
              <a:ext uri="{FF2B5EF4-FFF2-40B4-BE49-F238E27FC236}">
                <a16:creationId xmlns:a16="http://schemas.microsoft.com/office/drawing/2014/main" id="{1A748BDD-AA86-4B82-9E6D-F98040983E2C}"/>
              </a:ext>
            </a:extLst>
          </p:cNvPr>
          <p:cNvSpPr>
            <a:spLocks xmlns:a="http://schemas.openxmlformats.org/drawingml/2006/main" noGrp="1"/>
          </p:cNvSpPr>
          <p:nvPr/>
        </p:nvSpPr>
        <p:spPr>
          <a:xfrm xmlns:a="http://schemas.openxmlformats.org/drawingml/2006/main">
            <a:off x="9001125" y="51625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4. The patient signs that version.</a:t>
            </a:r>
          </a:p>
        </p:txBody>
      </p:sp>
      <p:sp>
        <p:nvSpPr>
          <p:cNvPr id="13" name="AI step 4 detail">
            <a:extLst xmlns:a="http://schemas.openxmlformats.org/drawingml/2006/main">
              <a:ext uri="{FF2B5EF4-FFF2-40B4-BE49-F238E27FC236}">
                <a16:creationId xmlns:a16="http://schemas.microsoft.com/office/drawing/2014/main" id="{80762F6B-BD17-4C9A-B8F9-30730B31BEC7}"/>
              </a:ext>
            </a:extLst>
          </p:cNvPr>
          <p:cNvSpPr>
            <a:spLocks xmlns:a="http://schemas.openxmlformats.org/drawingml/2006/main" noGrp="1"/>
          </p:cNvSpPr>
          <p:nvPr/>
        </p:nvSpPr>
        <p:spPr>
          <a:xfrm xmlns:a="http://schemas.openxmlformats.org/drawingml/2006/main">
            <a:off x="9001125" y="57340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Review the exact version. Keep earlier notes.</a:t>
            </a:r>
          </a:p>
        </p:txBody>
      </p:sp>
    </p:spTree>
    <p:extLst>
      <p:ext uri="{BB962C8B-B14F-4D97-AF65-F5344CB8AC3E}">
        <p14:creationId xmlns:p14="http://schemas.microsoft.com/office/powerpoint/2010/main" val="1779657811"/>
      </p:ext>
    </p:extLst>
  </p:cSld>
</p:sld>
</file>

<file path=ppt/slides/slide5.xml><?xml version="1.0" encoding="utf-8"?>
<p:sld xmlns:p="http://schemas.openxmlformats.org/presentationml/2006/main">
  <p:cSld>
    <p:bg>
      <p:bgPr>
        <a:solidFill xmlns:a="http://schemas.openxmlformats.org/drawingml/2006/main">
          <a:srgbClr val="E8F4F0"/>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30799EEE-135F-4275-BE8D-95F9C801EB56}"/>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AI helps the family use its own records.</a:t>
            </a:r>
          </a:p>
        </p:txBody>
      </p:sp>
      <p:sp>
        <p:nvSpPr>
          <p:cNvPr id="2" name="Records assistant purpose">
            <a:extLst xmlns:a="http://schemas.openxmlformats.org/drawingml/2006/main">
              <a:ext uri="{FF2B5EF4-FFF2-40B4-BE49-F238E27FC236}">
                <a16:creationId xmlns:a16="http://schemas.microsoft.com/office/drawing/2014/main" id="{F147C6F5-2DB9-4B3F-9A42-CA252B2DD0BA}"/>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53655C"/>
                </a:solidFill>
                <a:latin typeface="Arial"/>
                <a:ea typeface="Arial"/>
                <a:cs typeface="Arial"/>
              </a:defRPr>
            </a:pPr>
            <a:r>
              <a:rPr sz="1800" b="0">
                <a:solidFill>
                  <a:srgbClr val="53655C"/>
                </a:solidFill>
                <a:latin typeface="Arial"/>
                <a:ea typeface="Arial"/>
                <a:cs typeface="Arial"/>
              </a:rPr>
              <a:t>Ask about your own reports. See the original passage with the answer.</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4527554a8e3843ca"/>
          <a:stretch xmlns:a="http://schemas.openxmlformats.org/drawingml/2006/main"/>
        </p:blipFill>
        <p:spPr>
          <a:xfrm xmlns:a="http://schemas.openxmlformats.org/drawingml/2006/main">
            <a:off x="400050" y="1792673"/>
            <a:ext cx="8058150" cy="3825105"/>
          </a:xfrm>
          <a:prstGeom xmlns:a="http://schemas.openxmlformats.org/drawingml/2006/main" prst="rect">
            <a:avLst/>
          </a:prstGeom>
        </p:spPr>
      </p:pic>
      <p:sp>
        <p:nvSpPr>
          <p:cNvPr id="4" name="Records assistant 1">
            <a:extLst xmlns:a="http://schemas.openxmlformats.org/drawingml/2006/main">
              <a:ext uri="{FF2B5EF4-FFF2-40B4-BE49-F238E27FC236}">
                <a16:creationId xmlns:a16="http://schemas.microsoft.com/office/drawing/2014/main" id="{BE34FEFF-FC88-45CD-B9AE-980CA7A6068B}"/>
              </a:ext>
            </a:extLst>
          </p:cNvPr>
          <p:cNvSpPr>
            <a:spLocks xmlns:a="http://schemas.openxmlformats.org/drawingml/2006/main" noGrp="1"/>
          </p:cNvSpPr>
          <p:nvPr/>
        </p:nvSpPr>
        <p:spPr>
          <a:xfrm xmlns:a="http://schemas.openxmlformats.org/drawingml/2006/main">
            <a:off x="8763000" y="166687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Find an answer in a report</a:t>
            </a:r>
          </a:p>
        </p:txBody>
      </p:sp>
      <p:sp>
        <p:nvSpPr>
          <p:cNvPr id="5" name="Records assistant 1 detail">
            <a:extLst xmlns:a="http://schemas.openxmlformats.org/drawingml/2006/main">
              <a:ext uri="{FF2B5EF4-FFF2-40B4-BE49-F238E27FC236}">
                <a16:creationId xmlns:a16="http://schemas.microsoft.com/office/drawing/2014/main" id="{A2004826-E29C-4DF4-AB7E-6FEA67241407}"/>
              </a:ext>
            </a:extLst>
          </p:cNvPr>
          <p:cNvSpPr>
            <a:spLocks xmlns:a="http://schemas.openxmlformats.org/drawingml/2006/main" noGrp="1"/>
          </p:cNvSpPr>
          <p:nvPr/>
        </p:nvSpPr>
        <p:spPr>
          <a:xfrm xmlns:a="http://schemas.openxmlformats.org/drawingml/2006/main">
            <a:off x="8763000" y="224790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Ask a question. See the exact part of the report the answer came from. Say when it cannot be found.</a:t>
            </a:r>
          </a:p>
        </p:txBody>
      </p:sp>
      <p:sp>
        <p:nvSpPr>
          <p:cNvPr id="6" name="Records assistant 2">
            <a:extLst xmlns:a="http://schemas.openxmlformats.org/drawingml/2006/main">
              <a:ext uri="{FF2B5EF4-FFF2-40B4-BE49-F238E27FC236}">
                <a16:creationId xmlns:a16="http://schemas.microsoft.com/office/drawing/2014/main" id="{842C0ADA-8DAF-4992-A00B-F5B7D7B3C5B6}"/>
              </a:ext>
            </a:extLst>
          </p:cNvPr>
          <p:cNvSpPr>
            <a:spLocks xmlns:a="http://schemas.openxmlformats.org/drawingml/2006/main" noGrp="1"/>
          </p:cNvSpPr>
          <p:nvPr/>
        </p:nvSpPr>
        <p:spPr>
          <a:xfrm xmlns:a="http://schemas.openxmlformats.org/drawingml/2006/main">
            <a:off x="8763000" y="3276600"/>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See what happened when</a:t>
            </a:r>
          </a:p>
        </p:txBody>
      </p:sp>
      <p:sp>
        <p:nvSpPr>
          <p:cNvPr id="7" name="Records assistant 2 detail">
            <a:extLst xmlns:a="http://schemas.openxmlformats.org/drawingml/2006/main">
              <a:ext uri="{FF2B5EF4-FFF2-40B4-BE49-F238E27FC236}">
                <a16:creationId xmlns:a16="http://schemas.microsoft.com/office/drawing/2014/main" id="{E309FD23-9014-438A-A66F-D753CCE4E88D}"/>
              </a:ext>
            </a:extLst>
          </p:cNvPr>
          <p:cNvSpPr>
            <a:spLocks xmlns:a="http://schemas.openxmlformats.org/drawingml/2006/main" noGrp="1"/>
          </p:cNvSpPr>
          <p:nvPr/>
        </p:nvSpPr>
        <p:spPr>
          <a:xfrm xmlns:a="http://schemas.openxmlformats.org/drawingml/2006/main">
            <a:off x="8763000" y="3857625"/>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Confirm that treatment happened and enter its date. Keep the quoted record beside it.</a:t>
            </a:r>
          </a:p>
        </p:txBody>
      </p:sp>
      <p:sp>
        <p:nvSpPr>
          <p:cNvPr id="8" name="Records assistant 3">
            <a:extLst xmlns:a="http://schemas.openxmlformats.org/drawingml/2006/main">
              <a:ext uri="{FF2B5EF4-FFF2-40B4-BE49-F238E27FC236}">
                <a16:creationId xmlns:a16="http://schemas.microsoft.com/office/drawing/2014/main" id="{237661BD-BC41-41F1-A849-6242F36AEEF8}"/>
              </a:ext>
            </a:extLst>
          </p:cNvPr>
          <p:cNvSpPr>
            <a:spLocks xmlns:a="http://schemas.openxmlformats.org/drawingml/2006/main" noGrp="1"/>
          </p:cNvSpPr>
          <p:nvPr/>
        </p:nvSpPr>
        <p:spPr>
          <a:xfrm xmlns:a="http://schemas.openxmlformats.org/drawingml/2006/main">
            <a:off x="8763000" y="488632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Add medicine reminders</a:t>
            </a:r>
          </a:p>
        </p:txBody>
      </p:sp>
      <p:sp>
        <p:nvSpPr>
          <p:cNvPr id="9" name="Records assistant 3 detail">
            <a:extLst xmlns:a="http://schemas.openxmlformats.org/drawingml/2006/main">
              <a:ext uri="{FF2B5EF4-FFF2-40B4-BE49-F238E27FC236}">
                <a16:creationId xmlns:a16="http://schemas.microsoft.com/office/drawing/2014/main" id="{5B4A581B-15DB-4BC0-ACE1-F8F5F5D5CD4A}"/>
              </a:ext>
            </a:extLst>
          </p:cNvPr>
          <p:cNvSpPr>
            <a:spLocks xmlns:a="http://schemas.openxmlformats.org/drawingml/2006/main" noGrp="1"/>
          </p:cNvSpPr>
          <p:nvPr/>
        </p:nvSpPr>
        <p:spPr>
          <a:xfrm xmlns:a="http://schemas.openxmlformats.org/drawingml/2006/main">
            <a:off x="8763000" y="546735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Read the names and times from a printed prescription. Let a person check them before adding reminders.</a:t>
            </a:r>
          </a:p>
        </p:txBody>
      </p:sp>
      <p:sp>
        <p:nvSpPr>
          <p:cNvPr id="10" name="Clinical scope">
            <a:extLst xmlns:a="http://schemas.openxmlformats.org/drawingml/2006/main">
              <a:ext uri="{FF2B5EF4-FFF2-40B4-BE49-F238E27FC236}">
                <a16:creationId xmlns:a16="http://schemas.microsoft.com/office/drawing/2014/main" id="{F6934068-CF3D-4B01-9DF3-F1936CFB70C2}"/>
              </a:ext>
            </a:extLst>
          </p:cNvPr>
          <p:cNvSpPr>
            <a:spLocks xmlns:a="http://schemas.openxmlformats.org/drawingml/2006/main" noGrp="1"/>
          </p:cNvSpPr>
          <p:nvPr/>
        </p:nvSpPr>
        <p:spPr>
          <a:xfrm xmlns:a="http://schemas.openxmlformats.org/drawingml/2006/main">
            <a:off x="533400" y="5895975"/>
            <a:ext cx="7762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AI organises the records. The care team decides what treatment the patient needs.</a:t>
            </a:r>
          </a:p>
        </p:txBody>
      </p:sp>
    </p:spTree>
    <p:extLst>
      <p:ext uri="{BB962C8B-B14F-4D97-AF65-F5344CB8AC3E}">
        <p14:creationId xmlns:p14="http://schemas.microsoft.com/office/powerpoint/2010/main" val="1405124457"/>
      </p:ext>
    </p:extLst>
  </p:cSld>
</p:sld>
</file>

<file path=ppt/slides/slide6.xml><?xml version="1.0" encoding="utf-8"?>
<p:sld xmlns:p="http://schemas.openxmlformats.org/presentationml/2006/main">
  <p:cSld>
    <p:bg>
      <p:bgPr>
        <a:solidFill xmlns:a="http://schemas.openxmlformats.org/drawingml/2006/main">
          <a:srgbClr val="FCFAF4"/>
        </a:solidFill>
      </p:bgPr>
    </p:bg>
    <p:spTree>
      <p:nvGrpSpPr>
        <p:cNvPr id="1" name=""/>
        <p:cNvGrpSpPr/>
        <p:nvPr/>
      </p:nvGrpSpPr>
      <p:grpSpPr>
        <a:xfrm xmlns:a="http://schemas.openxmlformats.org/drawingml/2006/main"/>
      </p:grpSpPr>
      <p:sp>
        <p:nvSpPr>
          <p:cNvPr id="40" name="Slide title">
            <a:extLst xmlns:a="http://schemas.openxmlformats.org/drawingml/2006/main">
              <a:ext uri="{FF2B5EF4-FFF2-40B4-BE49-F238E27FC236}">
                <a16:creationId xmlns:a16="http://schemas.microsoft.com/office/drawing/2014/main" id="{B0F36175-AE72-47B1-AA63-7078DD5B7602}"/>
              </a:ext>
            </a:extLst>
          </p:cNvPr>
          <p:cNvSpPr>
            <a:spLocks xmlns:a="http://schemas.openxmlformats.org/drawingml/2006/main" noGrp="1"/>
          </p:cNvSpPr>
          <p:nvPr/>
        </p:nvSpPr>
        <p:spPr>
          <a:xfrm xmlns:a="http://schemas.openxmlformats.org/drawingml/2006/main">
            <a:off x="533400" y="361950"/>
            <a:ext cx="11125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Care keeps moving when everyone knows their part.</a:t>
            </a:r>
          </a:p>
        </p:txBody>
      </p:sp>
      <p:sp>
        <p:nvSpPr>
          <p:cNvPr id="2" name="Three sign-ins">
            <a:extLst xmlns:a="http://schemas.openxmlformats.org/drawingml/2006/main">
              <a:ext uri="{FF2B5EF4-FFF2-40B4-BE49-F238E27FC236}">
                <a16:creationId xmlns:a16="http://schemas.microsoft.com/office/drawing/2014/main" id="{EAB8FA50-10C2-45D3-8846-C6255BB61294}"/>
              </a:ext>
            </a:extLst>
          </p:cNvPr>
          <p:cNvSpPr>
            <a:spLocks xmlns:a="http://schemas.openxmlformats.org/drawingml/2006/main" noGrp="1"/>
          </p:cNvSpPr>
          <p:nvPr/>
        </p:nvSpPr>
        <p:spPr>
          <a:xfrm xmlns:a="http://schemas.openxmlformats.org/drawingml/2006/main">
            <a:off x="533400" y="1181100"/>
            <a:ext cx="17811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53655C"/>
                </a:solidFill>
                <a:latin typeface="Arial"/>
                <a:ea typeface="Arial"/>
                <a:cs typeface="Arial"/>
              </a:defRPr>
            </a:pPr>
            <a:r>
              <a:rPr sz="1575" b="1">
                <a:solidFill>
                  <a:srgbClr val="53655C"/>
                </a:solidFill>
                <a:latin typeface="Arial"/>
                <a:ea typeface="Arial"/>
                <a:cs typeface="Arial"/>
              </a:rPr>
              <a:t>Three sign-ins</a:t>
            </a:r>
          </a:p>
        </p:txBody>
      </p:sp>
      <p:sp>
        <p:nvSpPr>
          <p:cNvPr id="3" name="">
            <a:extLst xmlns:a="http://schemas.openxmlformats.org/drawingml/2006/main">
              <a:ext uri="{FF2B5EF4-FFF2-40B4-BE49-F238E27FC236}">
                <a16:creationId xmlns:a16="http://schemas.microsoft.com/office/drawing/2014/main" id="{896DEB04-9B9C-4511-9CC5-C7D283032D1A}"/>
              </a:ext>
            </a:extLst>
          </p:cNvPr>
          <p:cNvSpPr>
            <a:spLocks xmlns:a="http://schemas.openxmlformats.org/drawingml/2006/main" noGrp="1"/>
          </p:cNvSpPr>
          <p:nvPr/>
        </p:nvSpPr>
        <p:spPr>
          <a:xfrm xmlns:a="http://schemas.openxmlformats.org/drawingml/2006/main">
            <a:off x="2447925" y="1143000"/>
            <a:ext cx="1714500" cy="400050"/>
          </a:xfrm>
          <a:prstGeom xmlns:a="http://schemas.openxmlformats.org/drawingml/2006/main" prst="roundRect">
            <a:avLst>
              <a:gd name="adj" fmla="val 19048"/>
            </a:avLst>
          </a:prstGeom>
          <a:solidFill xmlns:a="http://schemas.openxmlformats.org/drawingml/2006/main">
            <a:srgbClr val="E8F4F0"/>
          </a:solidFill>
          <a:ln xmlns:a="http://schemas.openxmlformats.org/drawingml/2006/main" w="0">
            <a:noFill/>
          </a:ln>
        </p:spPr>
      </p:sp>
      <p:sp>
        <p:nvSpPr>
          <p:cNvPr id="4" name="Patient sign-in">
            <a:extLst xmlns:a="http://schemas.openxmlformats.org/drawingml/2006/main">
              <a:ext uri="{FF2B5EF4-FFF2-40B4-BE49-F238E27FC236}">
                <a16:creationId xmlns:a16="http://schemas.microsoft.com/office/drawing/2014/main" id="{E56BBB50-0315-4410-B31B-FE6417F80982}"/>
              </a:ext>
            </a:extLst>
          </p:cNvPr>
          <p:cNvSpPr>
            <a:spLocks xmlns:a="http://schemas.openxmlformats.org/drawingml/2006/main" noGrp="1"/>
          </p:cNvSpPr>
          <p:nvPr/>
        </p:nvSpPr>
        <p:spPr>
          <a:xfrm xmlns:a="http://schemas.openxmlformats.org/drawingml/2006/main">
            <a:off x="2619375" y="1209675"/>
            <a:ext cx="144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73F33"/>
                </a:solidFill>
                <a:latin typeface="Arial"/>
                <a:ea typeface="Arial"/>
                <a:cs typeface="Arial"/>
              </a:defRPr>
            </a:pPr>
            <a:r>
              <a:rPr sz="1575" b="1">
                <a:solidFill>
                  <a:srgbClr val="173F33"/>
                </a:solidFill>
                <a:latin typeface="Arial"/>
                <a:ea typeface="Arial"/>
                <a:cs typeface="Arial"/>
              </a:rPr>
              <a:t>Patient</a:t>
            </a:r>
          </a:p>
        </p:txBody>
      </p:sp>
      <p:sp>
        <p:nvSpPr>
          <p:cNvPr id="5" name="">
            <a:extLst xmlns:a="http://schemas.openxmlformats.org/drawingml/2006/main">
              <a:ext uri="{FF2B5EF4-FFF2-40B4-BE49-F238E27FC236}">
                <a16:creationId xmlns:a16="http://schemas.microsoft.com/office/drawing/2014/main" id="{6E3F5DFE-E700-413B-8526-3A25F37D3262}"/>
              </a:ext>
            </a:extLst>
          </p:cNvPr>
          <p:cNvSpPr>
            <a:spLocks xmlns:a="http://schemas.openxmlformats.org/drawingml/2006/main" noGrp="1"/>
          </p:cNvSpPr>
          <p:nvPr/>
        </p:nvSpPr>
        <p:spPr>
          <a:xfrm xmlns:a="http://schemas.openxmlformats.org/drawingml/2006/main">
            <a:off x="4400550" y="1143000"/>
            <a:ext cx="1714500" cy="400050"/>
          </a:xfrm>
          <a:prstGeom xmlns:a="http://schemas.openxmlformats.org/drawingml/2006/main" prst="roundRect">
            <a:avLst>
              <a:gd name="adj" fmla="val 19048"/>
            </a:avLst>
          </a:prstGeom>
          <a:solidFill xmlns:a="http://schemas.openxmlformats.org/drawingml/2006/main">
            <a:srgbClr val="EEE7FA"/>
          </a:solidFill>
          <a:ln xmlns:a="http://schemas.openxmlformats.org/drawingml/2006/main" w="0">
            <a:noFill/>
          </a:ln>
        </p:spPr>
      </p:sp>
      <p:sp>
        <p:nvSpPr>
          <p:cNvPr id="6" name="Family sign-in">
            <a:extLst xmlns:a="http://schemas.openxmlformats.org/drawingml/2006/main">
              <a:ext uri="{FF2B5EF4-FFF2-40B4-BE49-F238E27FC236}">
                <a16:creationId xmlns:a16="http://schemas.microsoft.com/office/drawing/2014/main" id="{5D8A22C6-36B0-4404-9081-C646D2C5AD1C}"/>
              </a:ext>
            </a:extLst>
          </p:cNvPr>
          <p:cNvSpPr>
            <a:spLocks xmlns:a="http://schemas.openxmlformats.org/drawingml/2006/main" noGrp="1"/>
          </p:cNvSpPr>
          <p:nvPr/>
        </p:nvSpPr>
        <p:spPr>
          <a:xfrm xmlns:a="http://schemas.openxmlformats.org/drawingml/2006/main">
            <a:off x="4572000" y="1209675"/>
            <a:ext cx="144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73F33"/>
                </a:solidFill>
                <a:latin typeface="Arial"/>
                <a:ea typeface="Arial"/>
                <a:cs typeface="Arial"/>
              </a:defRPr>
            </a:pPr>
            <a:r>
              <a:rPr sz="1575" b="1">
                <a:solidFill>
                  <a:srgbClr val="173F33"/>
                </a:solidFill>
                <a:latin typeface="Arial"/>
                <a:ea typeface="Arial"/>
                <a:cs typeface="Arial"/>
              </a:rPr>
              <a:t>Family</a:t>
            </a:r>
          </a:p>
        </p:txBody>
      </p:sp>
      <p:sp>
        <p:nvSpPr>
          <p:cNvPr id="7" name="">
            <a:extLst xmlns:a="http://schemas.openxmlformats.org/drawingml/2006/main">
              <a:ext uri="{FF2B5EF4-FFF2-40B4-BE49-F238E27FC236}">
                <a16:creationId xmlns:a16="http://schemas.microsoft.com/office/drawing/2014/main" id="{3F031A52-0D4C-4FFC-91CC-D048F2EC2C67}"/>
              </a:ext>
            </a:extLst>
          </p:cNvPr>
          <p:cNvSpPr>
            <a:spLocks xmlns:a="http://schemas.openxmlformats.org/drawingml/2006/main" noGrp="1"/>
          </p:cNvSpPr>
          <p:nvPr/>
        </p:nvSpPr>
        <p:spPr>
          <a:xfrm xmlns:a="http://schemas.openxmlformats.org/drawingml/2006/main">
            <a:off x="6353175" y="1143000"/>
            <a:ext cx="1714500" cy="400050"/>
          </a:xfrm>
          <a:prstGeom xmlns:a="http://schemas.openxmlformats.org/drawingml/2006/main" prst="roundRect">
            <a:avLst>
              <a:gd name="adj" fmla="val 19048"/>
            </a:avLst>
          </a:prstGeom>
          <a:solidFill xmlns:a="http://schemas.openxmlformats.org/drawingml/2006/main">
            <a:srgbClr val="FFF0C6"/>
          </a:solidFill>
          <a:ln xmlns:a="http://schemas.openxmlformats.org/drawingml/2006/main" w="0">
            <a:noFill/>
          </a:ln>
        </p:spPr>
      </p:sp>
      <p:sp>
        <p:nvSpPr>
          <p:cNvPr id="8" name="Doctor sign-in">
            <a:extLst xmlns:a="http://schemas.openxmlformats.org/drawingml/2006/main">
              <a:ext uri="{FF2B5EF4-FFF2-40B4-BE49-F238E27FC236}">
                <a16:creationId xmlns:a16="http://schemas.microsoft.com/office/drawing/2014/main" id="{A03967EE-1BAA-4D13-96D4-AC88597133A4}"/>
              </a:ext>
            </a:extLst>
          </p:cNvPr>
          <p:cNvSpPr>
            <a:spLocks xmlns:a="http://schemas.openxmlformats.org/drawingml/2006/main" noGrp="1"/>
          </p:cNvSpPr>
          <p:nvPr/>
        </p:nvSpPr>
        <p:spPr>
          <a:xfrm xmlns:a="http://schemas.openxmlformats.org/drawingml/2006/main">
            <a:off x="6524625" y="1209675"/>
            <a:ext cx="144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73F33"/>
                </a:solidFill>
                <a:latin typeface="Arial"/>
                <a:ea typeface="Arial"/>
                <a:cs typeface="Arial"/>
              </a:defRPr>
            </a:pPr>
            <a:r>
              <a:rPr sz="1575" b="1">
                <a:solidFill>
                  <a:srgbClr val="173F33"/>
                </a:solidFill>
                <a:latin typeface="Arial"/>
                <a:ea typeface="Arial"/>
                <a:cs typeface="Arial"/>
              </a:rPr>
              <a:t>Doctor</a:t>
            </a:r>
          </a:p>
        </p:txBody>
      </p:sp>
      <p:sp>
        <p:nvSpPr>
          <p:cNvPr id="9" name="Before the visit">
            <a:extLst xmlns:a="http://schemas.openxmlformats.org/drawingml/2006/main">
              <a:ext uri="{FF2B5EF4-FFF2-40B4-BE49-F238E27FC236}">
                <a16:creationId xmlns:a16="http://schemas.microsoft.com/office/drawing/2014/main" id="{AC48D1C9-CBE2-4AA8-8BC7-75F5FFFCEE60}"/>
              </a:ext>
            </a:extLst>
          </p:cNvPr>
          <p:cNvSpPr>
            <a:spLocks xmlns:a="http://schemas.openxmlformats.org/drawingml/2006/main" noGrp="1"/>
          </p:cNvSpPr>
          <p:nvPr/>
        </p:nvSpPr>
        <p:spPr>
          <a:xfrm xmlns:a="http://schemas.openxmlformats.org/drawingml/2006/main">
            <a:off x="381000" y="1809750"/>
            <a:ext cx="11430000" cy="2095500"/>
          </a:xfrm>
          <a:prstGeom xmlns:a="http://schemas.openxmlformats.org/drawingml/2006/main" prst="rect">
            <a:avLst/>
          </a:prstGeom>
          <a:solidFill xmlns:a="http://schemas.openxmlformats.org/drawingml/2006/main">
            <a:srgbClr val="E8F4F0"/>
          </a:solidFill>
          <a:ln xmlns:a="http://schemas.openxmlformats.org/drawingml/2006/main" w="0">
            <a:noFill/>
          </a:ln>
        </p:spPr>
      </p:sp>
      <p:sp>
        <p:nvSpPr>
          <p:cNvPr id="10" name="Between visits">
            <a:extLst xmlns:a="http://schemas.openxmlformats.org/drawingml/2006/main">
              <a:ext uri="{FF2B5EF4-FFF2-40B4-BE49-F238E27FC236}">
                <a16:creationId xmlns:a16="http://schemas.microsoft.com/office/drawing/2014/main" id="{911A306D-AC5A-46B9-A6B3-2AA6FDAAD1C0}"/>
              </a:ext>
            </a:extLst>
          </p:cNvPr>
          <p:cNvSpPr>
            <a:spLocks xmlns:a="http://schemas.openxmlformats.org/drawingml/2006/main" noGrp="1"/>
          </p:cNvSpPr>
          <p:nvPr/>
        </p:nvSpPr>
        <p:spPr>
          <a:xfrm xmlns:a="http://schemas.openxmlformats.org/drawingml/2006/main">
            <a:off x="381000" y="4219575"/>
            <a:ext cx="11430000" cy="2095500"/>
          </a:xfrm>
          <a:prstGeom xmlns:a="http://schemas.openxmlformats.org/drawingml/2006/main" prst="rect">
            <a:avLst/>
          </a:prstGeom>
          <a:solidFill xmlns:a="http://schemas.openxmlformats.org/drawingml/2006/main">
            <a:srgbClr val="FFF0D8"/>
          </a:solidFill>
          <a:ln xmlns:a="http://schemas.openxmlformats.org/drawingml/2006/main" w="0">
            <a:noFill/>
          </a:ln>
        </p:spPr>
      </p:sp>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5366dd923ca74b10">
            <a:extLst>
              <a:ext uri="{96DAC541-7B7A-43D3-8B79-37D633B846F1}">
                <asvg:svgBlip xmlns:asvg="http://schemas.microsoft.com/office/drawing/2016/SVG/main" r:embed="R20fd0ab06e6a423f"/>
              </a:ext>
            </a:extLst>
          </a:blip>
          <a:stretch xmlns:a="http://schemas.openxmlformats.org/drawingml/2006/main"/>
        </p:blipFill>
        <p:spPr>
          <a:xfrm xmlns:a="http://schemas.openxmlformats.org/drawingml/2006/main">
            <a:off x="533400" y="1981200"/>
            <a:ext cx="371475" cy="371475"/>
          </a:xfrm>
          <a:prstGeom xmlns:a="http://schemas.openxmlformats.org/drawingml/2006/main" prst="rect">
            <a:avLst/>
          </a:prstGeom>
        </p:spPr>
      </p:pic>
      <p:sp>
        <p:nvSpPr>
          <p:cNvPr id="12" name="Family journey number 1">
            <a:extLst xmlns:a="http://schemas.openxmlformats.org/drawingml/2006/main">
              <a:ext uri="{FF2B5EF4-FFF2-40B4-BE49-F238E27FC236}">
                <a16:creationId xmlns:a16="http://schemas.microsoft.com/office/drawing/2014/main" id="{6C092F34-8871-4A76-AACD-E6D8BABAC465}"/>
              </a:ext>
            </a:extLst>
          </p:cNvPr>
          <p:cNvSpPr>
            <a:spLocks xmlns:a="http://schemas.openxmlformats.org/drawingml/2006/main" noGrp="1"/>
          </p:cNvSpPr>
          <p:nvPr/>
        </p:nvSpPr>
        <p:spPr>
          <a:xfrm xmlns:a="http://schemas.openxmlformats.org/drawingml/2006/main">
            <a:off x="1028700" y="2019300"/>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57B68"/>
                </a:solidFill>
                <a:latin typeface="Arial"/>
                <a:ea typeface="Arial"/>
                <a:cs typeface="Arial"/>
              </a:defRPr>
            </a:pPr>
            <a:r>
              <a:rPr sz="1725" b="1">
                <a:solidFill>
                  <a:srgbClr val="157B68"/>
                </a:solidFill>
                <a:latin typeface="Arial"/>
                <a:ea typeface="Arial"/>
                <a:cs typeface="Arial"/>
              </a:rPr>
              <a:t>01</a:t>
            </a:r>
          </a:p>
        </p:txBody>
      </p:sp>
      <p:sp>
        <p:nvSpPr>
          <p:cNvPr id="13" name="Family journey 1">
            <a:extLst xmlns:a="http://schemas.openxmlformats.org/drawingml/2006/main">
              <a:ext uri="{FF2B5EF4-FFF2-40B4-BE49-F238E27FC236}">
                <a16:creationId xmlns:a16="http://schemas.microsoft.com/office/drawing/2014/main" id="{AFE22432-9DC9-45A3-AACE-0D903470E90A}"/>
              </a:ext>
            </a:extLst>
          </p:cNvPr>
          <p:cNvSpPr>
            <a:spLocks xmlns:a="http://schemas.openxmlformats.org/drawingml/2006/main" noGrp="1"/>
          </p:cNvSpPr>
          <p:nvPr/>
        </p:nvSpPr>
        <p:spPr>
          <a:xfrm xmlns:a="http://schemas.openxmlformats.org/drawingml/2006/main">
            <a:off x="533400" y="250507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Keep the conversation together.</a:t>
            </a:r>
          </a:p>
        </p:txBody>
      </p:sp>
      <p:sp>
        <p:nvSpPr>
          <p:cNvPr id="14" name="Family journey 1 detail">
            <a:extLst xmlns:a="http://schemas.openxmlformats.org/drawingml/2006/main">
              <a:ext uri="{FF2B5EF4-FFF2-40B4-BE49-F238E27FC236}">
                <a16:creationId xmlns:a16="http://schemas.microsoft.com/office/drawing/2014/main" id="{DEFEAE2F-70BA-426A-A71B-A0D0DACF6488}"/>
              </a:ext>
            </a:extLst>
          </p:cNvPr>
          <p:cNvSpPr>
            <a:spLocks xmlns:a="http://schemas.openxmlformats.org/drawingml/2006/main" noGrp="1"/>
          </p:cNvSpPr>
          <p:nvPr/>
        </p:nvSpPr>
        <p:spPr>
          <a:xfrm xmlns:a="http://schemas.openxmlformats.org/drawingml/2006/main">
            <a:off x="533400" y="310515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The family opens the latest signed Care Note and keeps questions for the next visit.</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a1981f84f06445a6">
            <a:extLst>
              <a:ext uri="{96DAC541-7B7A-43D3-8B79-37D633B846F1}">
                <asvg:svgBlip xmlns:asvg="http://schemas.microsoft.com/office/drawing/2016/SVG/main" r:embed="Rbf173c406cdf49ad"/>
              </a:ext>
            </a:extLst>
          </a:blip>
          <a:stretch xmlns:a="http://schemas.openxmlformats.org/drawingml/2006/main"/>
        </p:blipFill>
        <p:spPr>
          <a:xfrm xmlns:a="http://schemas.openxmlformats.org/drawingml/2006/main">
            <a:off x="3952875" y="2028825"/>
            <a:ext cx="266700" cy="266700"/>
          </a:xfrm>
          <a:prstGeom xmlns:a="http://schemas.openxmlformats.org/drawingml/2006/main" prst="rect">
            <a:avLst/>
          </a:prstGeom>
        </p:spPr>
      </p:pic>
      <p:pic>
        <p:nvPicPr>
          <p:cNvPr id="55" name=""/>
          <p:cNvPicPr>
            <a:picLocks xmlns:a="http://schemas.openxmlformats.org/drawingml/2006/main" noChangeAspect="1"/>
          </p:cNvPicPr>
          <p:nvPr/>
        </p:nvPicPr>
        <p:blipFill>
          <a:blip xmlns:r="http://schemas.openxmlformats.org/officeDocument/2006/relationships" xmlns:a="http://schemas.openxmlformats.org/drawingml/2006/main" r:embed="Rb04799ddf1d449de">
            <a:extLst>
              <a:ext uri="{96DAC541-7B7A-43D3-8B79-37D633B846F1}">
                <asvg:svgBlip xmlns:asvg="http://schemas.microsoft.com/office/drawing/2016/SVG/main" r:embed="R53bf81545e9a463d"/>
              </a:ext>
            </a:extLst>
          </a:blip>
          <a:stretch xmlns:a="http://schemas.openxmlformats.org/drawingml/2006/main"/>
        </p:blipFill>
        <p:spPr>
          <a:xfrm xmlns:a="http://schemas.openxmlformats.org/drawingml/2006/main">
            <a:off x="4343400" y="1981200"/>
            <a:ext cx="371475" cy="371475"/>
          </a:xfrm>
          <a:prstGeom xmlns:a="http://schemas.openxmlformats.org/drawingml/2006/main" prst="rect">
            <a:avLst/>
          </a:prstGeom>
        </p:spPr>
      </p:pic>
      <p:sp>
        <p:nvSpPr>
          <p:cNvPr id="17" name="Family journey number 2">
            <a:extLst xmlns:a="http://schemas.openxmlformats.org/drawingml/2006/main">
              <a:ext uri="{FF2B5EF4-FFF2-40B4-BE49-F238E27FC236}">
                <a16:creationId xmlns:a16="http://schemas.microsoft.com/office/drawing/2014/main" id="{01118313-4510-4A07-AA26-FD3354784EA0}"/>
              </a:ext>
            </a:extLst>
          </p:cNvPr>
          <p:cNvSpPr>
            <a:spLocks xmlns:a="http://schemas.openxmlformats.org/drawingml/2006/main" noGrp="1"/>
          </p:cNvSpPr>
          <p:nvPr/>
        </p:nvSpPr>
        <p:spPr>
          <a:xfrm xmlns:a="http://schemas.openxmlformats.org/drawingml/2006/main">
            <a:off x="4838700" y="2019300"/>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7353AC"/>
                </a:solidFill>
                <a:latin typeface="Arial"/>
                <a:ea typeface="Arial"/>
                <a:cs typeface="Arial"/>
              </a:defRPr>
            </a:pPr>
            <a:r>
              <a:rPr sz="1725" b="1">
                <a:solidFill>
                  <a:srgbClr val="7353AC"/>
                </a:solidFill>
                <a:latin typeface="Arial"/>
                <a:ea typeface="Arial"/>
                <a:cs typeface="Arial"/>
              </a:rPr>
              <a:t>02</a:t>
            </a:r>
          </a:p>
        </p:txBody>
      </p:sp>
      <p:sp>
        <p:nvSpPr>
          <p:cNvPr id="18" name="Family journey 2">
            <a:extLst xmlns:a="http://schemas.openxmlformats.org/drawingml/2006/main">
              <a:ext uri="{FF2B5EF4-FFF2-40B4-BE49-F238E27FC236}">
                <a16:creationId xmlns:a16="http://schemas.microsoft.com/office/drawing/2014/main" id="{0DE6B8B7-9B32-4665-BF43-6523E36B29D4}"/>
              </a:ext>
            </a:extLst>
          </p:cNvPr>
          <p:cNvSpPr>
            <a:spLocks xmlns:a="http://schemas.openxmlformats.org/drawingml/2006/main" noGrp="1"/>
          </p:cNvSpPr>
          <p:nvPr/>
        </p:nvSpPr>
        <p:spPr>
          <a:xfrm xmlns:a="http://schemas.openxmlformats.org/drawingml/2006/main">
            <a:off x="4343400" y="250507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Bring the right records.</a:t>
            </a:r>
          </a:p>
        </p:txBody>
      </p:sp>
      <p:sp>
        <p:nvSpPr>
          <p:cNvPr id="19" name="Family journey 2 detail">
            <a:extLst xmlns:a="http://schemas.openxmlformats.org/drawingml/2006/main">
              <a:ext uri="{FF2B5EF4-FFF2-40B4-BE49-F238E27FC236}">
                <a16:creationId xmlns:a16="http://schemas.microsoft.com/office/drawing/2014/main" id="{E85B8DA3-9484-4EC6-9FD8-0968A30EA18E}"/>
              </a:ext>
            </a:extLst>
          </p:cNvPr>
          <p:cNvSpPr>
            <a:spLocks xmlns:a="http://schemas.openxmlformats.org/drawingml/2006/main" noGrp="1"/>
          </p:cNvSpPr>
          <p:nvPr/>
        </p:nvSpPr>
        <p:spPr>
          <a:xfrm xmlns:a="http://schemas.openxmlformats.org/drawingml/2006/main">
            <a:off x="4343400" y="310515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Priya gathers reports and checks the quoted sources and confirmed treatment dates.</a:t>
            </a:r>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f118d60c9da245f8">
            <a:extLst>
              <a:ext uri="{96DAC541-7B7A-43D3-8B79-37D633B846F1}">
                <asvg:svgBlip xmlns:asvg="http://schemas.microsoft.com/office/drawing/2016/SVG/main" r:embed="R3dbcc2b1018f40fc"/>
              </a:ext>
            </a:extLst>
          </a:blip>
          <a:stretch xmlns:a="http://schemas.openxmlformats.org/drawingml/2006/main"/>
        </p:blipFill>
        <p:spPr>
          <a:xfrm xmlns:a="http://schemas.openxmlformats.org/drawingml/2006/main">
            <a:off x="7762875" y="2028825"/>
            <a:ext cx="266700" cy="266700"/>
          </a:xfrm>
          <a:prstGeom xmlns:a="http://schemas.openxmlformats.org/drawingml/2006/main" prst="rect">
            <a:avLst/>
          </a:prstGeom>
        </p:spPr>
      </p:pic>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9317a7ce87b546e7">
            <a:extLst>
              <a:ext uri="{96DAC541-7B7A-43D3-8B79-37D633B846F1}">
                <asvg:svgBlip xmlns:asvg="http://schemas.microsoft.com/office/drawing/2016/SVG/main" r:embed="R92b39c266a0140c3"/>
              </a:ext>
            </a:extLst>
          </a:blip>
          <a:stretch xmlns:a="http://schemas.openxmlformats.org/drawingml/2006/main"/>
        </p:blipFill>
        <p:spPr>
          <a:xfrm xmlns:a="http://schemas.openxmlformats.org/drawingml/2006/main">
            <a:off x="8153400" y="1981200"/>
            <a:ext cx="371475" cy="371475"/>
          </a:xfrm>
          <a:prstGeom xmlns:a="http://schemas.openxmlformats.org/drawingml/2006/main" prst="rect">
            <a:avLst/>
          </a:prstGeom>
        </p:spPr>
      </p:pic>
      <p:sp>
        <p:nvSpPr>
          <p:cNvPr id="22" name="Family journey number 3">
            <a:extLst xmlns:a="http://schemas.openxmlformats.org/drawingml/2006/main">
              <a:ext uri="{FF2B5EF4-FFF2-40B4-BE49-F238E27FC236}">
                <a16:creationId xmlns:a16="http://schemas.microsoft.com/office/drawing/2014/main" id="{70DA3DA0-D62F-4317-AC83-89EC6198BBF3}"/>
              </a:ext>
            </a:extLst>
          </p:cNvPr>
          <p:cNvSpPr>
            <a:spLocks xmlns:a="http://schemas.openxmlformats.org/drawingml/2006/main" noGrp="1"/>
          </p:cNvSpPr>
          <p:nvPr/>
        </p:nvSpPr>
        <p:spPr>
          <a:xfrm xmlns:a="http://schemas.openxmlformats.org/drawingml/2006/main">
            <a:off x="8648700" y="2019300"/>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03</a:t>
            </a:r>
          </a:p>
        </p:txBody>
      </p:sp>
      <p:sp>
        <p:nvSpPr>
          <p:cNvPr id="23" name="Family journey 3">
            <a:extLst xmlns:a="http://schemas.openxmlformats.org/drawingml/2006/main">
              <a:ext uri="{FF2B5EF4-FFF2-40B4-BE49-F238E27FC236}">
                <a16:creationId xmlns:a16="http://schemas.microsoft.com/office/drawing/2014/main" id="{7D5C4A83-5AB1-4F96-94B6-8E52B0004B8E}"/>
              </a:ext>
            </a:extLst>
          </p:cNvPr>
          <p:cNvSpPr>
            <a:spLocks xmlns:a="http://schemas.openxmlformats.org/drawingml/2006/main" noGrp="1"/>
          </p:cNvSpPr>
          <p:nvPr/>
        </p:nvSpPr>
        <p:spPr>
          <a:xfrm xmlns:a="http://schemas.openxmlformats.org/drawingml/2006/main">
            <a:off x="8153400" y="250507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Plan medicines and visits.</a:t>
            </a:r>
          </a:p>
        </p:txBody>
      </p:sp>
      <p:sp>
        <p:nvSpPr>
          <p:cNvPr id="24" name="Family journey 3 detail">
            <a:extLst xmlns:a="http://schemas.openxmlformats.org/drawingml/2006/main">
              <a:ext uri="{FF2B5EF4-FFF2-40B4-BE49-F238E27FC236}">
                <a16:creationId xmlns:a16="http://schemas.microsoft.com/office/drawing/2014/main" id="{8F4D1E93-34FA-4CC9-A768-AB7EB7ED042C}"/>
              </a:ext>
            </a:extLst>
          </p:cNvPr>
          <p:cNvSpPr>
            <a:spLocks xmlns:a="http://schemas.openxmlformats.org/drawingml/2006/main" noGrp="1"/>
          </p:cNvSpPr>
          <p:nvPr/>
        </p:nvSpPr>
        <p:spPr>
          <a:xfrm xmlns:a="http://schemas.openxmlformats.org/drawingml/2006/main">
            <a:off x="8153400" y="310515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Arjun checks reminders against the prescription and adds the next appointment.</a:t>
            </a:r>
          </a:p>
        </p:txBody>
      </p:sp>
      <p:pic>
        <p:nvPicPr>
          <p:cNvPr id="64" name=""/>
          <p:cNvPicPr>
            <a:picLocks xmlns:a="http://schemas.openxmlformats.org/drawingml/2006/main" noChangeAspect="1"/>
          </p:cNvPicPr>
          <p:nvPr/>
        </p:nvPicPr>
        <p:blipFill>
          <a:blip xmlns:r="http://schemas.openxmlformats.org/officeDocument/2006/relationships" xmlns:a="http://schemas.openxmlformats.org/drawingml/2006/main" r:embed="R9cf4905d615c4a62">
            <a:extLst>
              <a:ext uri="{96DAC541-7B7A-43D3-8B79-37D633B846F1}">
                <asvg:svgBlip xmlns:asvg="http://schemas.microsoft.com/office/drawing/2016/SVG/main" r:embed="R2cb45655ee47419b"/>
              </a:ext>
            </a:extLst>
          </a:blip>
          <a:stretch xmlns:a="http://schemas.openxmlformats.org/drawingml/2006/main"/>
        </p:blipFill>
        <p:spPr>
          <a:xfrm xmlns:a="http://schemas.openxmlformats.org/drawingml/2006/main">
            <a:off x="533400" y="4391025"/>
            <a:ext cx="371475" cy="371475"/>
          </a:xfrm>
          <a:prstGeom xmlns:a="http://schemas.openxmlformats.org/drawingml/2006/main" prst="rect">
            <a:avLst/>
          </a:prstGeom>
        </p:spPr>
      </p:pic>
      <p:sp>
        <p:nvSpPr>
          <p:cNvPr id="26" name="Family journey number 4">
            <a:extLst xmlns:a="http://schemas.openxmlformats.org/drawingml/2006/main">
              <a:ext uri="{FF2B5EF4-FFF2-40B4-BE49-F238E27FC236}">
                <a16:creationId xmlns:a16="http://schemas.microsoft.com/office/drawing/2014/main" id="{B643CBCC-6C6F-4640-BA19-ABBFE4919127}"/>
              </a:ext>
            </a:extLst>
          </p:cNvPr>
          <p:cNvSpPr>
            <a:spLocks xmlns:a="http://schemas.openxmlformats.org/drawingml/2006/main" noGrp="1"/>
          </p:cNvSpPr>
          <p:nvPr/>
        </p:nvSpPr>
        <p:spPr>
          <a:xfrm xmlns:a="http://schemas.openxmlformats.org/drawingml/2006/main">
            <a:off x="1028700" y="4429125"/>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04</a:t>
            </a:r>
          </a:p>
        </p:txBody>
      </p:sp>
      <p:sp>
        <p:nvSpPr>
          <p:cNvPr id="27" name="Family journey 4">
            <a:extLst xmlns:a="http://schemas.openxmlformats.org/drawingml/2006/main">
              <a:ext uri="{FF2B5EF4-FFF2-40B4-BE49-F238E27FC236}">
                <a16:creationId xmlns:a16="http://schemas.microsoft.com/office/drawing/2014/main" id="{64D286EB-4325-40E1-A043-8AA13AB32CD5}"/>
              </a:ext>
            </a:extLst>
          </p:cNvPr>
          <p:cNvSpPr>
            <a:spLocks xmlns:a="http://schemas.openxmlformats.org/drawingml/2006/main" noGrp="1"/>
          </p:cNvSpPr>
          <p:nvPr/>
        </p:nvSpPr>
        <p:spPr>
          <a:xfrm xmlns:a="http://schemas.openxmlformats.org/drawingml/2006/main">
            <a:off x="533400" y="49149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Arrange help before leaving.</a:t>
            </a:r>
          </a:p>
        </p:txBody>
      </p:sp>
      <p:sp>
        <p:nvSpPr>
          <p:cNvPr id="28" name="Family journey 4 detail">
            <a:extLst xmlns:a="http://schemas.openxmlformats.org/drawingml/2006/main">
              <a:ext uri="{FF2B5EF4-FFF2-40B4-BE49-F238E27FC236}">
                <a16:creationId xmlns:a16="http://schemas.microsoft.com/office/drawing/2014/main" id="{BDC85B54-9C07-4EDA-9B1C-95D64E35A547}"/>
              </a:ext>
            </a:extLst>
          </p:cNvPr>
          <p:cNvSpPr>
            <a:spLocks xmlns:a="http://schemas.openxmlformats.org/drawingml/2006/main" noGrp="1"/>
          </p:cNvSpPr>
          <p:nvPr/>
        </p:nvSpPr>
        <p:spPr>
          <a:xfrm xmlns:a="http://schemas.openxmlformats.org/drawingml/2006/main">
            <a:off x="533400" y="55149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Priya arranges a ride. Arjun calls to confirm home-care support and prescribed medicine availability.</a:t>
            </a:r>
          </a:p>
        </p:txBody>
      </p:sp>
      <p:pic>
        <p:nvPicPr>
          <p:cNvPr id="68" name=""/>
          <p:cNvPicPr>
            <a:picLocks xmlns:a="http://schemas.openxmlformats.org/drawingml/2006/main" noChangeAspect="1"/>
          </p:cNvPicPr>
          <p:nvPr/>
        </p:nvPicPr>
        <p:blipFill>
          <a:blip xmlns:r="http://schemas.openxmlformats.org/officeDocument/2006/relationships" xmlns:a="http://schemas.openxmlformats.org/drawingml/2006/main" r:embed="R10653ffa980048cc">
            <a:extLst>
              <a:ext uri="{96DAC541-7B7A-43D3-8B79-37D633B846F1}">
                <asvg:svgBlip xmlns:asvg="http://schemas.microsoft.com/office/drawing/2016/SVG/main" r:embed="Re7c578e44e7f4d19"/>
              </a:ext>
            </a:extLst>
          </a:blip>
          <a:stretch xmlns:a="http://schemas.openxmlformats.org/drawingml/2006/main"/>
        </p:blipFill>
        <p:spPr>
          <a:xfrm xmlns:a="http://schemas.openxmlformats.org/drawingml/2006/main">
            <a:off x="3952875" y="4438650"/>
            <a:ext cx="266700" cy="266700"/>
          </a:xfrm>
          <a:prstGeom xmlns:a="http://schemas.openxmlformats.org/drawingml/2006/main" prst="rect">
            <a:avLst/>
          </a:prstGeom>
        </p:spPr>
      </p:pic>
      <p:pic>
        <p:nvPicPr>
          <p:cNvPr id="69" name=""/>
          <p:cNvPicPr>
            <a:picLocks xmlns:a="http://schemas.openxmlformats.org/drawingml/2006/main" noChangeAspect="1"/>
          </p:cNvPicPr>
          <p:nvPr/>
        </p:nvPicPr>
        <p:blipFill>
          <a:blip xmlns:r="http://schemas.openxmlformats.org/officeDocument/2006/relationships" xmlns:a="http://schemas.openxmlformats.org/drawingml/2006/main" r:embed="R27a1b96e85434fe5">
            <a:extLst>
              <a:ext uri="{96DAC541-7B7A-43D3-8B79-37D633B846F1}">
                <asvg:svgBlip xmlns:asvg="http://schemas.microsoft.com/office/drawing/2016/SVG/main" r:embed="Rd9ae1781679242b0"/>
              </a:ext>
            </a:extLst>
          </a:blip>
          <a:stretch xmlns:a="http://schemas.openxmlformats.org/drawingml/2006/main"/>
        </p:blipFill>
        <p:spPr>
          <a:xfrm xmlns:a="http://schemas.openxmlformats.org/drawingml/2006/main">
            <a:off x="4343400" y="4391025"/>
            <a:ext cx="371475" cy="371475"/>
          </a:xfrm>
          <a:prstGeom xmlns:a="http://schemas.openxmlformats.org/drawingml/2006/main" prst="rect">
            <a:avLst/>
          </a:prstGeom>
        </p:spPr>
      </p:pic>
      <p:sp>
        <p:nvSpPr>
          <p:cNvPr id="31" name="Family journey number 5">
            <a:extLst xmlns:a="http://schemas.openxmlformats.org/drawingml/2006/main">
              <a:ext uri="{FF2B5EF4-FFF2-40B4-BE49-F238E27FC236}">
                <a16:creationId xmlns:a16="http://schemas.microsoft.com/office/drawing/2014/main" id="{F3DDCCBB-5B1B-42BD-BE62-45315A3FF904}"/>
              </a:ext>
            </a:extLst>
          </p:cNvPr>
          <p:cNvSpPr>
            <a:spLocks xmlns:a="http://schemas.openxmlformats.org/drawingml/2006/main" noGrp="1"/>
          </p:cNvSpPr>
          <p:nvPr/>
        </p:nvSpPr>
        <p:spPr>
          <a:xfrm xmlns:a="http://schemas.openxmlformats.org/drawingml/2006/main">
            <a:off x="4838700" y="4429125"/>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7353AC"/>
                </a:solidFill>
                <a:latin typeface="Arial"/>
                <a:ea typeface="Arial"/>
                <a:cs typeface="Arial"/>
              </a:defRPr>
            </a:pPr>
            <a:r>
              <a:rPr sz="1725" b="1">
                <a:solidFill>
                  <a:srgbClr val="7353AC"/>
                </a:solidFill>
                <a:latin typeface="Arial"/>
                <a:ea typeface="Arial"/>
                <a:cs typeface="Arial"/>
              </a:rPr>
              <a:t>05</a:t>
            </a:r>
          </a:p>
        </p:txBody>
      </p:sp>
      <p:sp>
        <p:nvSpPr>
          <p:cNvPr id="32" name="Family journey 5">
            <a:extLst xmlns:a="http://schemas.openxmlformats.org/drawingml/2006/main">
              <a:ext uri="{FF2B5EF4-FFF2-40B4-BE49-F238E27FC236}">
                <a16:creationId xmlns:a16="http://schemas.microsoft.com/office/drawing/2014/main" id="{7488ACA1-9190-42BD-AC87-E2039152C058}"/>
              </a:ext>
            </a:extLst>
          </p:cNvPr>
          <p:cNvSpPr>
            <a:spLocks xmlns:a="http://schemas.openxmlformats.org/drawingml/2006/main" noGrp="1"/>
          </p:cNvSpPr>
          <p:nvPr/>
        </p:nvSpPr>
        <p:spPr>
          <a:xfrm xmlns:a="http://schemas.openxmlformats.org/drawingml/2006/main">
            <a:off x="4343400" y="49149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Keep costs and papers together.</a:t>
            </a:r>
          </a:p>
        </p:txBody>
      </p:sp>
      <p:sp>
        <p:nvSpPr>
          <p:cNvPr id="33" name="Family journey 5 detail">
            <a:extLst xmlns:a="http://schemas.openxmlformats.org/drawingml/2006/main">
              <a:ext uri="{FF2B5EF4-FFF2-40B4-BE49-F238E27FC236}">
                <a16:creationId xmlns:a16="http://schemas.microsoft.com/office/drawing/2014/main" id="{A72C1ABE-F3E1-4887-9E5D-E0ADDD784BA9}"/>
              </a:ext>
            </a:extLst>
          </p:cNvPr>
          <p:cNvSpPr>
            <a:spLocks xmlns:a="http://schemas.openxmlformats.org/drawingml/2006/main" noGrp="1"/>
          </p:cNvSpPr>
          <p:nvPr/>
        </p:nvSpPr>
        <p:spPr>
          <a:xfrm xmlns:a="http://schemas.openxmlformats.org/drawingml/2006/main">
            <a:off x="4343400" y="55149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Arjun keeps receipts, expenses and the paperwork needed to ask for financial help.</a:t>
            </a:r>
          </a:p>
        </p:txBody>
      </p:sp>
      <p:pic>
        <p:nvPicPr>
          <p:cNvPr id="73" name=""/>
          <p:cNvPicPr>
            <a:picLocks xmlns:a="http://schemas.openxmlformats.org/drawingml/2006/main" noChangeAspect="1"/>
          </p:cNvPicPr>
          <p:nvPr/>
        </p:nvPicPr>
        <p:blipFill>
          <a:blip xmlns:r="http://schemas.openxmlformats.org/officeDocument/2006/relationships" xmlns:a="http://schemas.openxmlformats.org/drawingml/2006/main" r:embed="Reddcefe6054848ad">
            <a:extLst>
              <a:ext uri="{96DAC541-7B7A-43D3-8B79-37D633B846F1}">
                <asvg:svgBlip xmlns:asvg="http://schemas.microsoft.com/office/drawing/2016/SVG/main" r:embed="Ra262f0da205e420b"/>
              </a:ext>
            </a:extLst>
          </a:blip>
          <a:stretch xmlns:a="http://schemas.openxmlformats.org/drawingml/2006/main"/>
        </p:blipFill>
        <p:spPr>
          <a:xfrm xmlns:a="http://schemas.openxmlformats.org/drawingml/2006/main">
            <a:off x="7762875" y="4438650"/>
            <a:ext cx="266700" cy="266700"/>
          </a:xfrm>
          <a:prstGeom xmlns:a="http://schemas.openxmlformats.org/drawingml/2006/main" prst="rect">
            <a:avLst/>
          </a:prstGeom>
        </p:spPr>
      </p:pic>
      <p:pic>
        <p:nvPicPr>
          <p:cNvPr id="74" name=""/>
          <p:cNvPicPr>
            <a:picLocks xmlns:a="http://schemas.openxmlformats.org/drawingml/2006/main" noChangeAspect="1"/>
          </p:cNvPicPr>
          <p:nvPr/>
        </p:nvPicPr>
        <p:blipFill>
          <a:blip xmlns:r="http://schemas.openxmlformats.org/officeDocument/2006/relationships" xmlns:a="http://schemas.openxmlformats.org/drawingml/2006/main" r:embed="R8c384d842e314711">
            <a:extLst>
              <a:ext uri="{96DAC541-7B7A-43D3-8B79-37D633B846F1}">
                <asvg:svgBlip xmlns:asvg="http://schemas.microsoft.com/office/drawing/2016/SVG/main" r:embed="Rdd635a956c61407b"/>
              </a:ext>
            </a:extLst>
          </a:blip>
          <a:stretch xmlns:a="http://schemas.openxmlformats.org/drawingml/2006/main"/>
        </p:blipFill>
        <p:spPr>
          <a:xfrm xmlns:a="http://schemas.openxmlformats.org/drawingml/2006/main">
            <a:off x="8153400" y="4391025"/>
            <a:ext cx="371475" cy="371475"/>
          </a:xfrm>
          <a:prstGeom xmlns:a="http://schemas.openxmlformats.org/drawingml/2006/main" prst="rect">
            <a:avLst/>
          </a:prstGeom>
        </p:spPr>
      </p:pic>
      <p:sp>
        <p:nvSpPr>
          <p:cNvPr id="36" name="Family journey number 6">
            <a:extLst xmlns:a="http://schemas.openxmlformats.org/drawingml/2006/main">
              <a:ext uri="{FF2B5EF4-FFF2-40B4-BE49-F238E27FC236}">
                <a16:creationId xmlns:a16="http://schemas.microsoft.com/office/drawing/2014/main" id="{2149B374-A890-4095-957E-C057E306D576}"/>
              </a:ext>
            </a:extLst>
          </p:cNvPr>
          <p:cNvSpPr>
            <a:spLocks xmlns:a="http://schemas.openxmlformats.org/drawingml/2006/main" noGrp="1"/>
          </p:cNvSpPr>
          <p:nvPr/>
        </p:nvSpPr>
        <p:spPr>
          <a:xfrm xmlns:a="http://schemas.openxmlformats.org/drawingml/2006/main">
            <a:off x="8648700" y="4429125"/>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57B68"/>
                </a:solidFill>
                <a:latin typeface="Arial"/>
                <a:ea typeface="Arial"/>
                <a:cs typeface="Arial"/>
              </a:defRPr>
            </a:pPr>
            <a:r>
              <a:rPr sz="1725" b="1">
                <a:solidFill>
                  <a:srgbClr val="157B68"/>
                </a:solidFill>
                <a:latin typeface="Arial"/>
                <a:ea typeface="Arial"/>
                <a:cs typeface="Arial"/>
              </a:rPr>
              <a:t>06</a:t>
            </a:r>
          </a:p>
        </p:txBody>
      </p:sp>
      <p:sp>
        <p:nvSpPr>
          <p:cNvPr id="37" name="Family journey 6">
            <a:extLst xmlns:a="http://schemas.openxmlformats.org/drawingml/2006/main">
              <a:ext uri="{FF2B5EF4-FFF2-40B4-BE49-F238E27FC236}">
                <a16:creationId xmlns:a16="http://schemas.microsoft.com/office/drawing/2014/main" id="{0C67A111-83DF-4A88-8FB8-A69994C50286}"/>
              </a:ext>
            </a:extLst>
          </p:cNvPr>
          <p:cNvSpPr>
            <a:spLocks xmlns:a="http://schemas.openxmlformats.org/drawingml/2006/main" noGrp="1"/>
          </p:cNvSpPr>
          <p:nvPr/>
        </p:nvSpPr>
        <p:spPr>
          <a:xfrm xmlns:a="http://schemas.openxmlformats.org/drawingml/2006/main">
            <a:off x="8153400" y="49149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Make space for the caregiver.</a:t>
            </a:r>
          </a:p>
        </p:txBody>
      </p:sp>
      <p:sp>
        <p:nvSpPr>
          <p:cNvPr id="38" name="Family journey 6 detail">
            <a:extLst xmlns:a="http://schemas.openxmlformats.org/drawingml/2006/main">
              <a:ext uri="{FF2B5EF4-FFF2-40B4-BE49-F238E27FC236}">
                <a16:creationId xmlns:a16="http://schemas.microsoft.com/office/drawing/2014/main" id="{30F7E9D0-6520-4387-A795-D101748D443A}"/>
              </a:ext>
            </a:extLst>
          </p:cNvPr>
          <p:cNvSpPr>
            <a:spLocks xmlns:a="http://schemas.openxmlformats.org/drawingml/2006/main" noGrp="1"/>
          </p:cNvSpPr>
          <p:nvPr/>
        </p:nvSpPr>
        <p:spPr>
          <a:xfrm xmlns:a="http://schemas.openxmlformats.org/drawingml/2006/main">
            <a:off x="8153400" y="55149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Priya records what feels difficult. The family shares tasks and looks for emotional support.</a:t>
            </a:r>
          </a:p>
        </p:txBody>
      </p:sp>
      <p:sp>
        <p:nvSpPr>
          <p:cNvPr id="39" name="Support directory">
            <a:extLst xmlns:a="http://schemas.openxmlformats.org/drawingml/2006/main">
              <a:ext uri="{FF2B5EF4-FFF2-40B4-BE49-F238E27FC236}">
                <a16:creationId xmlns:a16="http://schemas.microsoft.com/office/drawing/2014/main" id="{2E75A865-6C0F-4135-97A4-B02C7C959E9B}"/>
              </a:ext>
            </a:extLst>
          </p:cNvPr>
          <p:cNvSpPr>
            <a:spLocks xmlns:a="http://schemas.openxmlformats.org/drawingml/2006/main" noGrp="1"/>
          </p:cNvSpPr>
          <p:nvPr/>
        </p:nvSpPr>
        <p:spPr>
          <a:xfrm xmlns:a="http://schemas.openxmlformats.org/drawingml/2006/main">
            <a:off x="533400" y="6505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25" b="0">
                <a:solidFill>
                  <a:srgbClr val="145AC6"/>
                </a:solidFill>
                <a:latin typeface="Arial"/>
                <a:ea typeface="Arial"/>
                <a:cs typeface="Arial"/>
              </a:defRPr>
            </a:pPr>
            <a:r>
              <a:rPr sz="1425" b="0" u="sng">
                <a:solidFill>
                  <a:srgbClr val="145AC6"/>
                </a:solidFill>
                <a:latin typeface="Arial"/>
                <a:ea typeface="Arial"/>
                <a:cs typeface="Arial"/>
                <a:hlinkClick xmlns:r="http://schemas.openxmlformats.org/officeDocument/2006/relationships" r:id="Rb22a101764e445d0"/>
              </a:rPr>
              <a:t>Find a centre → call to confirm → keep the contact and visit plan.</a:t>
            </a:r>
          </a:p>
        </p:txBody>
      </p:sp>
    </p:spTree>
    <p:extLst>
      <p:ext uri="{BB962C8B-B14F-4D97-AF65-F5344CB8AC3E}">
        <p14:creationId xmlns:p14="http://schemas.microsoft.com/office/powerpoint/2010/main" val="221085739"/>
      </p:ext>
    </p:extLst>
  </p:cSld>
</p:sld>
</file>

<file path=ppt/slides/slide7.xml><?xml version="1.0" encoding="utf-8"?>
<p:sld xmlns:p="http://schemas.openxmlformats.org/presentationml/2006/main">
  <p:cSld>
    <p:bg>
      <p:bgPr>
        <a:solidFill xmlns:a="http://schemas.openxmlformats.org/drawingml/2006/main">
          <a:srgbClr val="EFE8F8"/>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E6D97D31-6C7C-45AF-BE21-179D8B6D4DF5}"/>
              </a:ext>
            </a:extLst>
          </p:cNvPr>
          <p:cNvSpPr>
            <a:spLocks xmlns:a="http://schemas.openxmlformats.org/drawingml/2006/main" noGrp="1"/>
          </p:cNvSpPr>
          <p:nvPr/>
        </p:nvSpPr>
        <p:spPr>
          <a:xfrm xmlns:a="http://schemas.openxmlformats.org/drawingml/2006/main">
            <a:off x="533400" y="361950"/>
            <a:ext cx="11125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Does Saathi help more care conversations happen?</a:t>
            </a:r>
          </a:p>
        </p:txBody>
      </p:sp>
      <p:sp>
        <p:nvSpPr>
          <p:cNvPr id="2" name="Trial design">
            <a:extLst xmlns:a="http://schemas.openxmlformats.org/drawingml/2006/main">
              <a:ext uri="{FF2B5EF4-FFF2-40B4-BE49-F238E27FC236}">
                <a16:creationId xmlns:a16="http://schemas.microsoft.com/office/drawing/2014/main" id="{6CFD42F9-A91B-40DD-9950-C19D46FCCAE7}"/>
              </a:ext>
            </a:extLst>
          </p:cNvPr>
          <p:cNvSpPr>
            <a:spLocks xmlns:a="http://schemas.openxmlformats.org/drawingml/2006/main" noGrp="1"/>
          </p:cNvSpPr>
          <p:nvPr/>
        </p:nvSpPr>
        <p:spPr>
          <a:xfrm xmlns:a="http://schemas.openxmlformats.org/drawingml/2006/main">
            <a:off x="533400" y="1390650"/>
            <a:ext cx="1112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We propose a 60–90 day study in a clinic, comparing care conversations before and after Saathi.</a:t>
            </a:r>
          </a:p>
        </p:txBody>
      </p:sp>
      <p:sp>
        <p:nvSpPr>
          <p:cNvPr id="3" name="Primary measure 1">
            <a:extLst xmlns:a="http://schemas.openxmlformats.org/drawingml/2006/main">
              <a:ext uri="{FF2B5EF4-FFF2-40B4-BE49-F238E27FC236}">
                <a16:creationId xmlns:a16="http://schemas.microsoft.com/office/drawing/2014/main" id="{C35FA485-5687-420D-9417-C02BEEAA354B}"/>
              </a:ext>
            </a:extLst>
          </p:cNvPr>
          <p:cNvSpPr>
            <a:spLocks xmlns:a="http://schemas.openxmlformats.org/drawingml/2006/main" noGrp="1"/>
          </p:cNvSpPr>
          <p:nvPr/>
        </p:nvSpPr>
        <p:spPr>
          <a:xfrm xmlns:a="http://schemas.openxmlformats.org/drawingml/2006/main">
            <a:off x="5334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B75E43"/>
                </a:solidFill>
                <a:latin typeface="Arial"/>
                <a:ea typeface="Arial"/>
                <a:cs typeface="Arial"/>
              </a:defRPr>
            </a:pPr>
            <a:r>
              <a:rPr sz="2175" b="1">
                <a:solidFill>
                  <a:srgbClr val="B75E43"/>
                </a:solidFill>
                <a:latin typeface="Arial"/>
                <a:ea typeface="Arial"/>
                <a:cs typeface="Arial"/>
              </a:rPr>
              <a:t>Patient requests</a:t>
            </a:r>
          </a:p>
        </p:txBody>
      </p:sp>
      <p:sp>
        <p:nvSpPr>
          <p:cNvPr id="4" name="Primary measure 1 detail">
            <a:extLst xmlns:a="http://schemas.openxmlformats.org/drawingml/2006/main">
              <a:ext uri="{FF2B5EF4-FFF2-40B4-BE49-F238E27FC236}">
                <a16:creationId xmlns:a16="http://schemas.microsoft.com/office/drawing/2014/main" id="{83121768-9075-4539-8941-CBA00F9FDCD6}"/>
              </a:ext>
            </a:extLst>
          </p:cNvPr>
          <p:cNvSpPr>
            <a:spLocks xmlns:a="http://schemas.openxmlformats.org/drawingml/2006/main" noGrp="1"/>
          </p:cNvSpPr>
          <p:nvPr/>
        </p:nvSpPr>
        <p:spPr>
          <a:xfrm xmlns:a="http://schemas.openxmlformats.org/drawingml/2006/main">
            <a:off x="5334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patients who ask for a conversation about their care and wishes. Record family requests separately.</a:t>
            </a:r>
          </a:p>
        </p:txBody>
      </p:sp>
      <p:sp>
        <p:nvSpPr>
          <p:cNvPr id="5" name="Primary measure 2">
            <a:extLst xmlns:a="http://schemas.openxmlformats.org/drawingml/2006/main">
              <a:ext uri="{FF2B5EF4-FFF2-40B4-BE49-F238E27FC236}">
                <a16:creationId xmlns:a16="http://schemas.microsoft.com/office/drawing/2014/main" id="{27F26141-ADD9-4BDB-8054-3DDC31E7728B}"/>
              </a:ext>
            </a:extLst>
          </p:cNvPr>
          <p:cNvSpPr>
            <a:spLocks xmlns:a="http://schemas.openxmlformats.org/drawingml/2006/main" noGrp="1"/>
          </p:cNvSpPr>
          <p:nvPr/>
        </p:nvSpPr>
        <p:spPr>
          <a:xfrm xmlns:a="http://schemas.openxmlformats.org/drawingml/2006/main">
            <a:off x="436245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7353AC"/>
                </a:solidFill>
                <a:latin typeface="Arial"/>
                <a:ea typeface="Arial"/>
                <a:cs typeface="Arial"/>
              </a:defRPr>
            </a:pPr>
            <a:r>
              <a:rPr sz="2175" b="1">
                <a:solidFill>
                  <a:srgbClr val="7353AC"/>
                </a:solidFill>
                <a:latin typeface="Arial"/>
                <a:ea typeface="Arial"/>
                <a:cs typeface="Arial"/>
              </a:rPr>
              <a:t>Doctor-started discussions</a:t>
            </a:r>
          </a:p>
        </p:txBody>
      </p:sp>
      <p:sp>
        <p:nvSpPr>
          <p:cNvPr id="6" name="Primary measure 2 detail">
            <a:extLst xmlns:a="http://schemas.openxmlformats.org/drawingml/2006/main">
              <a:ext uri="{FF2B5EF4-FFF2-40B4-BE49-F238E27FC236}">
                <a16:creationId xmlns:a16="http://schemas.microsoft.com/office/drawing/2014/main" id="{91EFCE1F-8F9E-43A2-A8BC-F75C17E83C31}"/>
              </a:ext>
            </a:extLst>
          </p:cNvPr>
          <p:cNvSpPr>
            <a:spLocks xmlns:a="http://schemas.openxmlformats.org/drawingml/2006/main" noGrp="1"/>
          </p:cNvSpPr>
          <p:nvPr/>
        </p:nvSpPr>
        <p:spPr>
          <a:xfrm xmlns:a="http://schemas.openxmlformats.org/drawingml/2006/main">
            <a:off x="436245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a doctor starts. Keep these separate from invitations that did not lead to a conversation.</a:t>
            </a:r>
          </a:p>
        </p:txBody>
      </p:sp>
      <p:sp>
        <p:nvSpPr>
          <p:cNvPr id="7" name="Primary measure 3">
            <a:extLst xmlns:a="http://schemas.openxmlformats.org/drawingml/2006/main">
              <a:ext uri="{FF2B5EF4-FFF2-40B4-BE49-F238E27FC236}">
                <a16:creationId xmlns:a16="http://schemas.microsoft.com/office/drawing/2014/main" id="{0A674C49-2D60-445F-ADA3-EA4CA5D3094A}"/>
              </a:ext>
            </a:extLst>
          </p:cNvPr>
          <p:cNvSpPr>
            <a:spLocks xmlns:a="http://schemas.openxmlformats.org/drawingml/2006/main" noGrp="1"/>
          </p:cNvSpPr>
          <p:nvPr/>
        </p:nvSpPr>
        <p:spPr>
          <a:xfrm xmlns:a="http://schemas.openxmlformats.org/drawingml/2006/main">
            <a:off x="81915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57B68"/>
                </a:solidFill>
                <a:latin typeface="Arial"/>
                <a:ea typeface="Arial"/>
                <a:cs typeface="Arial"/>
              </a:defRPr>
            </a:pPr>
            <a:r>
              <a:rPr sz="2175" b="1">
                <a:solidFill>
                  <a:srgbClr val="157B68"/>
                </a:solidFill>
                <a:latin typeface="Arial"/>
                <a:ea typeface="Arial"/>
                <a:cs typeface="Arial"/>
              </a:rPr>
              <a:t>Conversations written down</a:t>
            </a:r>
          </a:p>
        </p:txBody>
      </p:sp>
      <p:sp>
        <p:nvSpPr>
          <p:cNvPr id="8" name="Primary measure 3 detail">
            <a:extLst xmlns:a="http://schemas.openxmlformats.org/drawingml/2006/main">
              <a:ext uri="{FF2B5EF4-FFF2-40B4-BE49-F238E27FC236}">
                <a16:creationId xmlns:a16="http://schemas.microsoft.com/office/drawing/2014/main" id="{54826EAA-B40E-4A5C-AA7E-4AEA588A3E62}"/>
              </a:ext>
            </a:extLst>
          </p:cNvPr>
          <p:cNvSpPr>
            <a:spLocks xmlns:a="http://schemas.openxmlformats.org/drawingml/2006/main" noGrp="1"/>
          </p:cNvSpPr>
          <p:nvPr/>
        </p:nvSpPr>
        <p:spPr>
          <a:xfrm xmlns:a="http://schemas.openxmlformats.org/drawingml/2006/main">
            <a:off x="81915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with a saved Care Note. Record how many the doctor has checked and signed.</a:t>
            </a:r>
          </a:p>
        </p:txBody>
      </p:sp>
      <p:sp>
        <p:nvSpPr>
          <p:cNvPr id="9" name="">
            <a:extLst xmlns:a="http://schemas.openxmlformats.org/drawingml/2006/main">
              <a:ext uri="{FF2B5EF4-FFF2-40B4-BE49-F238E27FC236}">
                <a16:creationId xmlns:a16="http://schemas.microsoft.com/office/drawing/2014/main" id="{1E9FDB96-2510-4907-9C66-7267FEC71439}"/>
              </a:ext>
            </a:extLst>
          </p:cNvPr>
          <p:cNvSpPr>
            <a:spLocks xmlns:a="http://schemas.openxmlformats.org/drawingml/2006/main" noGrp="1"/>
          </p:cNvSpPr>
          <p:nvPr/>
        </p:nvSpPr>
        <p:spPr>
          <a:xfrm xmlns:a="http://schemas.openxmlformats.org/drawingml/2006/main">
            <a:off x="533400" y="4781550"/>
            <a:ext cx="11125200" cy="0"/>
          </a:xfrm>
          <a:prstGeom xmlns:a="http://schemas.openxmlformats.org/drawingml/2006/main" prst="line">
            <a:avLst/>
          </a:prstGeom>
          <a:ln xmlns:a="http://schemas.openxmlformats.org/drawingml/2006/main" w="9525">
            <a:solidFill>
              <a:srgbClr val="D9D4C7"/>
            </a:solidFill>
          </a:ln>
        </p:spPr>
      </p:sp>
      <p:sp>
        <p:nvSpPr>
          <p:cNvPr id="10" name="Comparison">
            <a:extLst xmlns:a="http://schemas.openxmlformats.org/drawingml/2006/main">
              <a:ext uri="{FF2B5EF4-FFF2-40B4-BE49-F238E27FC236}">
                <a16:creationId xmlns:a16="http://schemas.microsoft.com/office/drawing/2014/main" id="{B9EDF9CF-E661-45D8-8291-CF8EA58E0E2B}"/>
              </a:ext>
            </a:extLst>
          </p:cNvPr>
          <p:cNvSpPr>
            <a:spLocks xmlns:a="http://schemas.openxmlformats.org/drawingml/2006/main" noGrp="1"/>
          </p:cNvSpPr>
          <p:nvPr/>
        </p:nvSpPr>
        <p:spPr>
          <a:xfrm xmlns:a="http://schemas.openxmlformats.org/drawingml/2006/main">
            <a:off x="533400" y="5076825"/>
            <a:ext cx="2838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75" b="1">
                <a:solidFill>
                  <a:srgbClr val="173F33"/>
                </a:solidFill>
                <a:latin typeface="Arial"/>
                <a:ea typeface="Arial"/>
                <a:cs typeface="Arial"/>
              </a:defRPr>
            </a:pPr>
            <a:r>
              <a:rPr sz="2475" b="1">
                <a:solidFill>
                  <a:srgbClr val="173F33"/>
                </a:solidFill>
                <a:latin typeface="Arial"/>
                <a:ea typeface="Arial"/>
                <a:cs typeface="Arial"/>
              </a:rPr>
              <a:t>Before vs after</a:t>
            </a:r>
          </a:p>
        </p:txBody>
      </p:sp>
      <p:sp>
        <p:nvSpPr>
          <p:cNvPr id="11" name="Primary outcome definition">
            <a:extLst xmlns:a="http://schemas.openxmlformats.org/drawingml/2006/main">
              <a:ext uri="{FF2B5EF4-FFF2-40B4-BE49-F238E27FC236}">
                <a16:creationId xmlns:a16="http://schemas.microsoft.com/office/drawing/2014/main" id="{F1547387-A7F0-4E7C-8C05-84E4485429F7}"/>
              </a:ext>
            </a:extLst>
          </p:cNvPr>
          <p:cNvSpPr>
            <a:spLocks xmlns:a="http://schemas.openxmlformats.org/drawingml/2006/main" noGrp="1"/>
          </p:cNvSpPr>
          <p:nvPr/>
        </p:nvSpPr>
        <p:spPr>
          <a:xfrm xmlns:a="http://schemas.openxmlformats.org/drawingml/2006/main">
            <a:off x="3686175" y="5076825"/>
            <a:ext cx="79724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Patients whose care discussion was written down ÷ all patients who fit the study’s agreed rules</a:t>
            </a:r>
          </a:p>
        </p:txBody>
      </p:sp>
      <p:sp>
        <p:nvSpPr>
          <p:cNvPr id="12" name="Additional measures">
            <a:extLst xmlns:a="http://schemas.openxmlformats.org/drawingml/2006/main">
              <a:ext uri="{FF2B5EF4-FFF2-40B4-BE49-F238E27FC236}">
                <a16:creationId xmlns:a16="http://schemas.microsoft.com/office/drawing/2014/main" id="{1E753437-09E3-4E69-81EA-D9C870226C04}"/>
              </a:ext>
            </a:extLst>
          </p:cNvPr>
          <p:cNvSpPr>
            <a:spLocks xmlns:a="http://schemas.openxmlformats.org/drawingml/2006/main" noGrp="1"/>
          </p:cNvSpPr>
          <p:nvPr/>
        </p:nvSpPr>
        <p:spPr>
          <a:xfrm xmlns:a="http://schemas.openxmlformats.org/drawingml/2006/main">
            <a:off x="533400" y="5924550"/>
            <a:ext cx="11125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53655C"/>
                </a:solidFill>
                <a:latin typeface="Arial"/>
                <a:ea typeface="Arial"/>
                <a:cs typeface="Arial"/>
              </a:defRPr>
            </a:pPr>
            <a:r>
              <a:rPr sz="1575" b="0">
                <a:solidFill>
                  <a:srgbClr val="53655C"/>
                </a:solidFill>
                <a:latin typeface="Arial"/>
                <a:ea typeface="Arial"/>
                <a:cs typeface="Arial"/>
              </a:rPr>
              <a:t>Also measure how long the work takes, what details were missed and whether doctors have more work.</a:t>
            </a:r>
          </a:p>
        </p:txBody>
      </p:sp>
      <p:sp>
        <p:nvSpPr>
          <p:cNvPr id="13" name="Implementation status">
            <a:extLst xmlns:a="http://schemas.openxmlformats.org/drawingml/2006/main">
              <a:ext uri="{FF2B5EF4-FFF2-40B4-BE49-F238E27FC236}">
                <a16:creationId xmlns:a16="http://schemas.microsoft.com/office/drawing/2014/main" id="{A6FBFEFF-5BF4-4E38-A19F-2F038010FF63}"/>
              </a:ext>
            </a:extLst>
          </p:cNvPr>
          <p:cNvSpPr>
            <a:spLocks xmlns:a="http://schemas.openxmlformats.org/drawingml/2006/main" noGrp="1"/>
          </p:cNvSpPr>
          <p:nvPr/>
        </p:nvSpPr>
        <p:spPr>
          <a:xfrm xmlns:a="http://schemas.openxmlformats.org/drawingml/2006/main">
            <a:off x="533400" y="65341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The linked app shows the workflow. AI, verified sign-in and sharing between phones still need connecting.</a:t>
            </a:r>
          </a:p>
        </p:txBody>
      </p:sp>
    </p:spTree>
    <p:extLst>
      <p:ext uri="{BB962C8B-B14F-4D97-AF65-F5344CB8AC3E}">
        <p14:creationId xmlns:p14="http://schemas.microsoft.com/office/powerpoint/2010/main" val="1410585306"/>
      </p:ext>
    </p:extLst>
  </p:cSld>
</p:sld>
</file>

<file path=ppt/slides/slide8.xml><?xml version="1.0" encoding="utf-8"?>
<p:sld xmlns:p="http://schemas.openxmlformats.org/presentationml/2006/main">
  <p:cSld>
    <p:bg>
      <p:bgPr>
        <a:solidFill xmlns:a="http://schemas.openxmlformats.org/drawingml/2006/main">
          <a:srgbClr val="0B1744"/>
        </a:solidFill>
      </p:bgPr>
    </p:bg>
    <p:spTree>
      <p:nvGrpSpPr>
        <p:cNvPr id="1" name=""/>
        <p:cNvGrpSpPr/>
        <p:nvPr/>
      </p:nvGrpSpPr>
      <p:grpSpPr>
        <a:xfrm xmlns:a="http://schemas.openxmlformats.org/drawingml/2006/main"/>
      </p:grpSpPr>
      <p:sp>
        <p:nvSpPr>
          <p:cNvPr id="31" name="References title">
            <a:extLst xmlns:a="http://schemas.openxmlformats.org/drawingml/2006/main">
              <a:ext uri="{FF2B5EF4-FFF2-40B4-BE49-F238E27FC236}">
                <a16:creationId xmlns:a16="http://schemas.microsoft.com/office/drawing/2014/main" id="{B57EC4D1-4F16-4FBE-84F7-75A0E7724977}"/>
              </a:ext>
            </a:extLst>
          </p:cNvPr>
          <p:cNvSpPr>
            <a:spLocks xmlns:a="http://schemas.openxmlformats.org/drawingml/2006/main" noGrp="1"/>
          </p:cNvSpPr>
          <p:nvPr/>
        </p:nvSpPr>
        <p:spPr>
          <a:xfrm xmlns:a="http://schemas.openxmlformats.org/drawingml/2006/main">
            <a:off x="533400" y="285750"/>
            <a:ext cx="1112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450" b="1">
                <a:solidFill>
                  <a:srgbClr val="FFD154"/>
                </a:solidFill>
                <a:latin typeface="Arial"/>
                <a:ea typeface="Arial"/>
                <a:cs typeface="Arial"/>
              </a:defRPr>
            </a:pPr>
            <a:r>
              <a:rPr sz="3450" b="1">
                <a:solidFill>
                  <a:srgbClr val="FFD154"/>
                </a:solidFill>
                <a:latin typeface="Arial"/>
                <a:ea typeface="Arial"/>
                <a:cs typeface="Arial"/>
              </a:rPr>
              <a:t>References</a:t>
            </a:r>
          </a:p>
        </p:txBody>
      </p:sp>
      <p:sp>
        <p:nvSpPr>
          <p:cNvPr id="2" name="References one to four">
            <a:extLst xmlns:a="http://schemas.openxmlformats.org/drawingml/2006/main">
              <a:ext uri="{FF2B5EF4-FFF2-40B4-BE49-F238E27FC236}">
                <a16:creationId xmlns:a16="http://schemas.microsoft.com/office/drawing/2014/main" id="{67EC1266-D103-45BD-BD0A-BEDDCD076E1F}"/>
              </a:ext>
            </a:extLst>
          </p:cNvPr>
          <p:cNvSpPr>
            <a:spLocks xmlns:a="http://schemas.openxmlformats.org/drawingml/2006/main" noGrp="1"/>
          </p:cNvSpPr>
          <p:nvPr/>
        </p:nvSpPr>
        <p:spPr>
          <a:xfrm xmlns:a="http://schemas.openxmlformats.org/drawingml/2006/main">
            <a:off x="381000" y="981075"/>
            <a:ext cx="5638800" cy="5810250"/>
          </a:xfrm>
          <a:prstGeom xmlns:a="http://schemas.openxmlformats.org/drawingml/2006/main" prst="rect">
            <a:avLst/>
          </a:prstGeom>
          <a:solidFill xmlns:a="http://schemas.openxmlformats.org/drawingml/2006/main">
            <a:srgbClr val="E8F4F0"/>
          </a:solidFill>
          <a:ln xmlns:a="http://schemas.openxmlformats.org/drawingml/2006/main" w="0">
            <a:noFill/>
          </a:ln>
        </p:spPr>
      </p:sp>
      <p:sp>
        <p:nvSpPr>
          <p:cNvPr id="3" name="References five to nine">
            <a:extLst xmlns:a="http://schemas.openxmlformats.org/drawingml/2006/main">
              <a:ext uri="{FF2B5EF4-FFF2-40B4-BE49-F238E27FC236}">
                <a16:creationId xmlns:a16="http://schemas.microsoft.com/office/drawing/2014/main" id="{2E13A932-098E-4C4E-9268-DA224A3A6D34}"/>
              </a:ext>
            </a:extLst>
          </p:cNvPr>
          <p:cNvSpPr>
            <a:spLocks xmlns:a="http://schemas.openxmlformats.org/drawingml/2006/main" noGrp="1"/>
          </p:cNvSpPr>
          <p:nvPr/>
        </p:nvSpPr>
        <p:spPr>
          <a:xfrm xmlns:a="http://schemas.openxmlformats.org/drawingml/2006/main">
            <a:off x="6096000" y="981075"/>
            <a:ext cx="5638800" cy="5810250"/>
          </a:xfrm>
          <a:prstGeom xmlns:a="http://schemas.openxmlformats.org/drawingml/2006/main" prst="rect">
            <a:avLst/>
          </a:prstGeom>
          <a:solidFill xmlns:a="http://schemas.openxmlformats.org/drawingml/2006/main">
            <a:srgbClr val="EEE7FA"/>
          </a:solidFill>
          <a:ln xmlns:a="http://schemas.openxmlformats.org/drawingml/2006/main" w="0">
            <a:noFill/>
          </a:ln>
        </p:spPr>
      </p:sp>
      <p:sp>
        <p:nvSpPr>
          <p:cNvPr id="4" name="Reference 1 author">
            <a:extLst xmlns:a="http://schemas.openxmlformats.org/drawingml/2006/main">
              <a:ext uri="{FF2B5EF4-FFF2-40B4-BE49-F238E27FC236}">
                <a16:creationId xmlns:a16="http://schemas.microsoft.com/office/drawing/2014/main" id="{72B7F9DA-4241-4F52-8898-602D87ED79D3}"/>
              </a:ext>
            </a:extLst>
          </p:cNvPr>
          <p:cNvSpPr>
            <a:spLocks xmlns:a="http://schemas.openxmlformats.org/drawingml/2006/main" noGrp="1"/>
          </p:cNvSpPr>
          <p:nvPr/>
        </p:nvSpPr>
        <p:spPr>
          <a:xfrm xmlns:a="http://schemas.openxmlformats.org/drawingml/2006/main">
            <a:off x="533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1. IARC. Global Cancer Observatory, 2024.</a:t>
            </a:r>
          </a:p>
        </p:txBody>
      </p:sp>
      <p:sp>
        <p:nvSpPr>
          <p:cNvPr id="5" name="Reference 1 title">
            <a:extLst xmlns:a="http://schemas.openxmlformats.org/drawingml/2006/main">
              <a:ext uri="{FF2B5EF4-FFF2-40B4-BE49-F238E27FC236}">
                <a16:creationId xmlns:a16="http://schemas.microsoft.com/office/drawing/2014/main" id="{6B23E8D3-C2A9-4BB1-A7B0-C6D862701A64}"/>
              </a:ext>
            </a:extLst>
          </p:cNvPr>
          <p:cNvSpPr>
            <a:spLocks xmlns:a="http://schemas.openxmlformats.org/drawingml/2006/main" noGrp="1"/>
          </p:cNvSpPr>
          <p:nvPr/>
        </p:nvSpPr>
        <p:spPr>
          <a:xfrm xmlns:a="http://schemas.openxmlformats.org/drawingml/2006/main">
            <a:off x="533400" y="1323975"/>
            <a:ext cx="539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4dc226c9244d40ec"/>
              </a:rPr>
              <a:t>India: GLOBOCAN 2024 Fact Sheet</a:t>
            </a:r>
          </a:p>
        </p:txBody>
      </p:sp>
      <p:sp>
        <p:nvSpPr>
          <p:cNvPr id="6" name="Reference 1 link">
            <a:extLst xmlns:a="http://schemas.openxmlformats.org/drawingml/2006/main">
              <a:ext uri="{FF2B5EF4-FFF2-40B4-BE49-F238E27FC236}">
                <a16:creationId xmlns:a16="http://schemas.microsoft.com/office/drawing/2014/main" id="{2548D416-875D-4F11-BF03-05BFAAD160E8}"/>
              </a:ext>
            </a:extLst>
          </p:cNvPr>
          <p:cNvSpPr>
            <a:spLocks xmlns:a="http://schemas.openxmlformats.org/drawingml/2006/main" noGrp="1"/>
          </p:cNvSpPr>
          <p:nvPr/>
        </p:nvSpPr>
        <p:spPr>
          <a:xfrm xmlns:a="http://schemas.openxmlformats.org/drawingml/2006/main">
            <a:off x="533400" y="1685925"/>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a45fe59619454f63"/>
              </a:rPr>
              <a:t>https://gco.iarc.who.int/media/globocan/factsheets/populations/356-india-fact-sheet.pdf</a:t>
            </a:r>
          </a:p>
        </p:txBody>
      </p:sp>
      <p:sp>
        <p:nvSpPr>
          <p:cNvPr id="7" name="Reference 2 author">
            <a:extLst xmlns:a="http://schemas.openxmlformats.org/drawingml/2006/main">
              <a:ext uri="{FF2B5EF4-FFF2-40B4-BE49-F238E27FC236}">
                <a16:creationId xmlns:a16="http://schemas.microsoft.com/office/drawing/2014/main" id="{BC774ACA-919E-4244-8D83-5A35491C73A0}"/>
              </a:ext>
            </a:extLst>
          </p:cNvPr>
          <p:cNvSpPr>
            <a:spLocks xmlns:a="http://schemas.openxmlformats.org/drawingml/2006/main" noGrp="1"/>
          </p:cNvSpPr>
          <p:nvPr/>
        </p:nvSpPr>
        <p:spPr>
          <a:xfrm xmlns:a="http://schemas.openxmlformats.org/drawingml/2006/main">
            <a:off x="533400" y="234315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2. Patil S, et al. BMJ Support Palliat Care, 2024.</a:t>
            </a:r>
          </a:p>
        </p:txBody>
      </p:sp>
      <p:sp>
        <p:nvSpPr>
          <p:cNvPr id="8" name="Reference 2 title">
            <a:extLst xmlns:a="http://schemas.openxmlformats.org/drawingml/2006/main">
              <a:ext uri="{FF2B5EF4-FFF2-40B4-BE49-F238E27FC236}">
                <a16:creationId xmlns:a16="http://schemas.microsoft.com/office/drawing/2014/main" id="{165D9109-CE91-4956-9F1A-80B477B86AA6}"/>
              </a:ext>
            </a:extLst>
          </p:cNvPr>
          <p:cNvSpPr>
            <a:spLocks xmlns:a="http://schemas.openxmlformats.org/drawingml/2006/main" noGrp="1"/>
          </p:cNvSpPr>
          <p:nvPr/>
        </p:nvSpPr>
        <p:spPr>
          <a:xfrm xmlns:a="http://schemas.openxmlformats.org/drawingml/2006/main">
            <a:off x="533400" y="26003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0e42d417d82746b2"/>
              </a:rPr>
              <a:t>Unmet need for cancer palliative care in India</a:t>
            </a:r>
          </a:p>
        </p:txBody>
      </p:sp>
      <p:sp>
        <p:nvSpPr>
          <p:cNvPr id="9" name="Reference 2 link">
            <a:extLst xmlns:a="http://schemas.openxmlformats.org/drawingml/2006/main">
              <a:ext uri="{FF2B5EF4-FFF2-40B4-BE49-F238E27FC236}">
                <a16:creationId xmlns:a16="http://schemas.microsoft.com/office/drawing/2014/main" id="{2FBF3253-661F-48D3-9341-F76AD9D1659F}"/>
              </a:ext>
            </a:extLst>
          </p:cNvPr>
          <p:cNvSpPr>
            <a:spLocks xmlns:a="http://schemas.openxmlformats.org/drawingml/2006/main" noGrp="1"/>
          </p:cNvSpPr>
          <p:nvPr/>
        </p:nvSpPr>
        <p:spPr>
          <a:xfrm xmlns:a="http://schemas.openxmlformats.org/drawingml/2006/main">
            <a:off x="533400" y="30289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29b7dc52f1b4493c"/>
              </a:rPr>
              <a:t>https://doi.org/10.1136/spcare-2024-004978</a:t>
            </a:r>
          </a:p>
        </p:txBody>
      </p:sp>
      <p:sp>
        <p:nvSpPr>
          <p:cNvPr id="10" name="Reference 3 author">
            <a:extLst xmlns:a="http://schemas.openxmlformats.org/drawingml/2006/main">
              <a:ext uri="{FF2B5EF4-FFF2-40B4-BE49-F238E27FC236}">
                <a16:creationId xmlns:a16="http://schemas.microsoft.com/office/drawing/2014/main" id="{C76D97F5-C03E-46F2-BF8E-175793FF11A2}"/>
              </a:ext>
            </a:extLst>
          </p:cNvPr>
          <p:cNvSpPr>
            <a:spLocks xmlns:a="http://schemas.openxmlformats.org/drawingml/2006/main" noGrp="1"/>
          </p:cNvSpPr>
          <p:nvPr/>
        </p:nvSpPr>
        <p:spPr>
          <a:xfrm xmlns:a="http://schemas.openxmlformats.org/drawingml/2006/main">
            <a:off x="533400" y="34385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3. Aslam N, Hayat A. J Pain Symptom Manage, 2024.</a:t>
            </a:r>
          </a:p>
        </p:txBody>
      </p:sp>
      <p:sp>
        <p:nvSpPr>
          <p:cNvPr id="11" name="Reference 3 title">
            <a:extLst xmlns:a="http://schemas.openxmlformats.org/drawingml/2006/main">
              <a:ext uri="{FF2B5EF4-FFF2-40B4-BE49-F238E27FC236}">
                <a16:creationId xmlns:a16="http://schemas.microsoft.com/office/drawing/2014/main" id="{2315F4F2-DB4C-4AC9-BF1F-E2865085A476}"/>
              </a:ext>
            </a:extLst>
          </p:cNvPr>
          <p:cNvSpPr>
            <a:spLocks xmlns:a="http://schemas.openxmlformats.org/drawingml/2006/main" noGrp="1"/>
          </p:cNvSpPr>
          <p:nvPr/>
        </p:nvSpPr>
        <p:spPr>
          <a:xfrm xmlns:a="http://schemas.openxmlformats.org/drawingml/2006/main">
            <a:off x="533400" y="3695700"/>
            <a:ext cx="53911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554027444ecc4dac"/>
              </a:rPr>
              <a:t>Early Goal of Care Discussions in Healthcare: A Survey Case Report on Benefits and Perceptions</a:t>
            </a:r>
          </a:p>
        </p:txBody>
      </p:sp>
      <p:sp>
        <p:nvSpPr>
          <p:cNvPr id="12" name="Reference 3 link">
            <a:extLst xmlns:a="http://schemas.openxmlformats.org/drawingml/2006/main">
              <a:ext uri="{FF2B5EF4-FFF2-40B4-BE49-F238E27FC236}">
                <a16:creationId xmlns:a16="http://schemas.microsoft.com/office/drawing/2014/main" id="{93FE5718-7896-4E6A-80B4-55EBB13D110A}"/>
              </a:ext>
            </a:extLst>
          </p:cNvPr>
          <p:cNvSpPr>
            <a:spLocks xmlns:a="http://schemas.openxmlformats.org/drawingml/2006/main" noGrp="1"/>
          </p:cNvSpPr>
          <p:nvPr/>
        </p:nvSpPr>
        <p:spPr>
          <a:xfrm xmlns:a="http://schemas.openxmlformats.org/drawingml/2006/main">
            <a:off x="533400" y="4257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5520ba3d31c6415d"/>
              </a:rPr>
              <a:t>https://doi.org/10.1016/j.jpainsymman.2024.02.030</a:t>
            </a:r>
          </a:p>
        </p:txBody>
      </p:sp>
      <p:sp>
        <p:nvSpPr>
          <p:cNvPr id="13" name="Reference 4 author">
            <a:extLst xmlns:a="http://schemas.openxmlformats.org/drawingml/2006/main">
              <a:ext uri="{FF2B5EF4-FFF2-40B4-BE49-F238E27FC236}">
                <a16:creationId xmlns:a16="http://schemas.microsoft.com/office/drawing/2014/main" id="{32BA84EE-300C-48CE-A22A-7571A7FDDAEB}"/>
              </a:ext>
            </a:extLst>
          </p:cNvPr>
          <p:cNvSpPr>
            <a:spLocks xmlns:a="http://schemas.openxmlformats.org/drawingml/2006/main" noGrp="1"/>
          </p:cNvSpPr>
          <p:nvPr/>
        </p:nvSpPr>
        <p:spPr>
          <a:xfrm xmlns:a="http://schemas.openxmlformats.org/drawingml/2006/main">
            <a:off x="533400" y="46863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4. Thangasamy DRJ, et al. Palliat Med Rep, 2025.</a:t>
            </a:r>
          </a:p>
        </p:txBody>
      </p:sp>
      <p:sp>
        <p:nvSpPr>
          <p:cNvPr id="14" name="Reference 4 title">
            <a:extLst xmlns:a="http://schemas.openxmlformats.org/drawingml/2006/main">
              <a:ext uri="{FF2B5EF4-FFF2-40B4-BE49-F238E27FC236}">
                <a16:creationId xmlns:a16="http://schemas.microsoft.com/office/drawing/2014/main" id="{E7E1390B-79DF-4113-9A6C-E822BFEF47F7}"/>
              </a:ext>
            </a:extLst>
          </p:cNvPr>
          <p:cNvSpPr>
            <a:spLocks xmlns:a="http://schemas.openxmlformats.org/drawingml/2006/main" noGrp="1"/>
          </p:cNvSpPr>
          <p:nvPr/>
        </p:nvSpPr>
        <p:spPr>
          <a:xfrm xmlns:a="http://schemas.openxmlformats.org/drawingml/2006/main">
            <a:off x="533400" y="4943475"/>
            <a:ext cx="53911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4cc117fb0b804dd1"/>
              </a:rPr>
              <a:t>Initiating and Documenting Goals of Care Discussion in Patients with Advanced Pancreatic and Colorectal Cancers: A Quality Improvement Project in a Low Resource Setting</a:t>
            </a:r>
          </a:p>
        </p:txBody>
      </p:sp>
      <p:sp>
        <p:nvSpPr>
          <p:cNvPr id="15" name="Reference 4 link">
            <a:extLst xmlns:a="http://schemas.openxmlformats.org/drawingml/2006/main">
              <a:ext uri="{FF2B5EF4-FFF2-40B4-BE49-F238E27FC236}">
                <a16:creationId xmlns:a16="http://schemas.microsoft.com/office/drawing/2014/main" id="{6BC7A654-2AFB-4A9E-AE9D-8B0A78334239}"/>
              </a:ext>
            </a:extLst>
          </p:cNvPr>
          <p:cNvSpPr>
            <a:spLocks xmlns:a="http://schemas.openxmlformats.org/drawingml/2006/main" noGrp="1"/>
          </p:cNvSpPr>
          <p:nvPr/>
        </p:nvSpPr>
        <p:spPr>
          <a:xfrm xmlns:a="http://schemas.openxmlformats.org/drawingml/2006/main">
            <a:off x="533400" y="60198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15cc88d79754926"/>
              </a:rPr>
              <a:t>https://doi.org/10.1177/26892820251392545</a:t>
            </a:r>
          </a:p>
        </p:txBody>
      </p:sp>
      <p:sp>
        <p:nvSpPr>
          <p:cNvPr id="16" name="Reference 5 author">
            <a:extLst xmlns:a="http://schemas.openxmlformats.org/drawingml/2006/main">
              <a:ext uri="{FF2B5EF4-FFF2-40B4-BE49-F238E27FC236}">
                <a16:creationId xmlns:a16="http://schemas.microsoft.com/office/drawing/2014/main" id="{FF5CB745-D041-41CD-BF78-10E8008361D2}"/>
              </a:ext>
            </a:extLst>
          </p:cNvPr>
          <p:cNvSpPr>
            <a:spLocks xmlns:a="http://schemas.openxmlformats.org/drawingml/2006/main" noGrp="1"/>
          </p:cNvSpPr>
          <p:nvPr/>
        </p:nvSpPr>
        <p:spPr>
          <a:xfrm xmlns:a="http://schemas.openxmlformats.org/drawingml/2006/main">
            <a:off x="6248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5. Sharma P. IndiaSpend / Scroll.in, 2019.</a:t>
            </a:r>
          </a:p>
        </p:txBody>
      </p:sp>
      <p:sp>
        <p:nvSpPr>
          <p:cNvPr id="17" name="Reference 5 title">
            <a:extLst xmlns:a="http://schemas.openxmlformats.org/drawingml/2006/main">
              <a:ext uri="{FF2B5EF4-FFF2-40B4-BE49-F238E27FC236}">
                <a16:creationId xmlns:a16="http://schemas.microsoft.com/office/drawing/2014/main" id="{FB25FF3E-2C87-44F5-9A10-1F4DDA899873}"/>
              </a:ext>
            </a:extLst>
          </p:cNvPr>
          <p:cNvSpPr>
            <a:spLocks xmlns:a="http://schemas.openxmlformats.org/drawingml/2006/main" noGrp="1"/>
          </p:cNvSpPr>
          <p:nvPr/>
        </p:nvSpPr>
        <p:spPr>
          <a:xfrm xmlns:a="http://schemas.openxmlformats.org/drawingml/2006/main">
            <a:off x="6248400" y="1323975"/>
            <a:ext cx="5391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2d98ea2adcf5492e"/>
              </a:rPr>
              <a:t>73% urban Indians do not know about their right to make a living will, finds a survey</a:t>
            </a:r>
          </a:p>
        </p:txBody>
      </p:sp>
      <p:sp>
        <p:nvSpPr>
          <p:cNvPr id="18" name="Reference 5 link">
            <a:extLst xmlns:a="http://schemas.openxmlformats.org/drawingml/2006/main">
              <a:ext uri="{FF2B5EF4-FFF2-40B4-BE49-F238E27FC236}">
                <a16:creationId xmlns:a16="http://schemas.microsoft.com/office/drawing/2014/main" id="{462FC475-6C8E-4C1E-9FA8-5F1E22BFF081}"/>
              </a:ext>
            </a:extLst>
          </p:cNvPr>
          <p:cNvSpPr>
            <a:spLocks xmlns:a="http://schemas.openxmlformats.org/drawingml/2006/main" noGrp="1"/>
          </p:cNvSpPr>
          <p:nvPr/>
        </p:nvSpPr>
        <p:spPr>
          <a:xfrm xmlns:a="http://schemas.openxmlformats.org/drawingml/2006/main">
            <a:off x="6248400" y="17716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59ef83456d6341bc"/>
              </a:rPr>
              <a:t>https://scroll.in/article/925875/73-urban-indians-do-not-know-about-their-right-to-make-a-living-will-finds-a-survey</a:t>
            </a:r>
          </a:p>
        </p:txBody>
      </p:sp>
      <p:sp>
        <p:nvSpPr>
          <p:cNvPr id="19" name="Reference 6 author">
            <a:extLst xmlns:a="http://schemas.openxmlformats.org/drawingml/2006/main">
              <a:ext uri="{FF2B5EF4-FFF2-40B4-BE49-F238E27FC236}">
                <a16:creationId xmlns:a16="http://schemas.microsoft.com/office/drawing/2014/main" id="{99E71B0E-97E8-49F6-9F8C-B091ED98417B}"/>
              </a:ext>
            </a:extLst>
          </p:cNvPr>
          <p:cNvSpPr>
            <a:spLocks xmlns:a="http://schemas.openxmlformats.org/drawingml/2006/main" noGrp="1"/>
          </p:cNvSpPr>
          <p:nvPr/>
        </p:nvSpPr>
        <p:spPr>
          <a:xfrm xmlns:a="http://schemas.openxmlformats.org/drawingml/2006/main">
            <a:off x="6248400" y="235267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6. Jacob JA, et al. Natl Med J India, 2026.</a:t>
            </a:r>
          </a:p>
        </p:txBody>
      </p:sp>
      <p:sp>
        <p:nvSpPr>
          <p:cNvPr id="20" name="Reference 6 title">
            <a:extLst xmlns:a="http://schemas.openxmlformats.org/drawingml/2006/main">
              <a:ext uri="{FF2B5EF4-FFF2-40B4-BE49-F238E27FC236}">
                <a16:creationId xmlns:a16="http://schemas.microsoft.com/office/drawing/2014/main" id="{DC4807CF-BA93-452A-878C-165483D9E6FD}"/>
              </a:ext>
            </a:extLst>
          </p:cNvPr>
          <p:cNvSpPr>
            <a:spLocks xmlns:a="http://schemas.openxmlformats.org/drawingml/2006/main" noGrp="1"/>
          </p:cNvSpPr>
          <p:nvPr/>
        </p:nvSpPr>
        <p:spPr>
          <a:xfrm xmlns:a="http://schemas.openxmlformats.org/drawingml/2006/main">
            <a:off x="6248400" y="2609850"/>
            <a:ext cx="5391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c99b2de02fea4fcc"/>
              </a:rPr>
              <a:t>Knowledge and attitude towards advance directives for patients with terminal illnesses among doctors working in a tertiary care hospital</a:t>
            </a:r>
          </a:p>
        </p:txBody>
      </p:sp>
      <p:sp>
        <p:nvSpPr>
          <p:cNvPr id="21" name="Reference 6 link">
            <a:extLst xmlns:a="http://schemas.openxmlformats.org/drawingml/2006/main">
              <a:ext uri="{FF2B5EF4-FFF2-40B4-BE49-F238E27FC236}">
                <a16:creationId xmlns:a16="http://schemas.microsoft.com/office/drawing/2014/main" id="{532CB3F1-AD4B-4163-9A10-C6F94AE88C56}"/>
              </a:ext>
            </a:extLst>
          </p:cNvPr>
          <p:cNvSpPr>
            <a:spLocks xmlns:a="http://schemas.openxmlformats.org/drawingml/2006/main" noGrp="1"/>
          </p:cNvSpPr>
          <p:nvPr/>
        </p:nvSpPr>
        <p:spPr>
          <a:xfrm xmlns:a="http://schemas.openxmlformats.org/drawingml/2006/main">
            <a:off x="6248400" y="3114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e4c86d7427a44f06"/>
              </a:rPr>
              <a:t>https://doi.org/10.25259/NMJI_817_2023</a:t>
            </a:r>
          </a:p>
        </p:txBody>
      </p:sp>
      <p:sp>
        <p:nvSpPr>
          <p:cNvPr id="22" name="Reference 7 author">
            <a:extLst xmlns:a="http://schemas.openxmlformats.org/drawingml/2006/main">
              <a:ext uri="{FF2B5EF4-FFF2-40B4-BE49-F238E27FC236}">
                <a16:creationId xmlns:a16="http://schemas.microsoft.com/office/drawing/2014/main" id="{A251DDDE-B9AB-47E6-A420-597CC700BFAB}"/>
              </a:ext>
            </a:extLst>
          </p:cNvPr>
          <p:cNvSpPr>
            <a:spLocks xmlns:a="http://schemas.openxmlformats.org/drawingml/2006/main" noGrp="1"/>
          </p:cNvSpPr>
          <p:nvPr/>
        </p:nvSpPr>
        <p:spPr>
          <a:xfrm xmlns:a="http://schemas.openxmlformats.org/drawingml/2006/main">
            <a:off x="6248400" y="34766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7. Singh P, et al. medRxiv, 2025. Preprint.</a:t>
            </a:r>
          </a:p>
        </p:txBody>
      </p:sp>
      <p:sp>
        <p:nvSpPr>
          <p:cNvPr id="23" name="Reference 7 title">
            <a:extLst xmlns:a="http://schemas.openxmlformats.org/drawingml/2006/main">
              <a:ext uri="{FF2B5EF4-FFF2-40B4-BE49-F238E27FC236}">
                <a16:creationId xmlns:a16="http://schemas.microsoft.com/office/drawing/2014/main" id="{53D16A98-581E-4F8F-8321-6DFDCE834CCE}"/>
              </a:ext>
            </a:extLst>
          </p:cNvPr>
          <p:cNvSpPr>
            <a:spLocks xmlns:a="http://schemas.openxmlformats.org/drawingml/2006/main" noGrp="1"/>
          </p:cNvSpPr>
          <p:nvPr/>
        </p:nvSpPr>
        <p:spPr>
          <a:xfrm xmlns:a="http://schemas.openxmlformats.org/drawingml/2006/main">
            <a:off x="6248400" y="3733800"/>
            <a:ext cx="5391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337869d4c1aa4b9e"/>
              </a:rPr>
              <a:t>Barriers and Facilitators to Advance Care Planning Implementation for Patients with Neurodegenerative Diseases among Indian Physicians: A Mixed-Methods Analysis</a:t>
            </a:r>
          </a:p>
        </p:txBody>
      </p:sp>
      <p:sp>
        <p:nvSpPr>
          <p:cNvPr id="24" name="Reference 7 link">
            <a:extLst xmlns:a="http://schemas.openxmlformats.org/drawingml/2006/main">
              <a:ext uri="{FF2B5EF4-FFF2-40B4-BE49-F238E27FC236}">
                <a16:creationId xmlns:a16="http://schemas.microsoft.com/office/drawing/2014/main" id="{B7B77071-8B9C-4248-AB3E-59A57113761A}"/>
              </a:ext>
            </a:extLst>
          </p:cNvPr>
          <p:cNvSpPr>
            <a:spLocks xmlns:a="http://schemas.openxmlformats.org/drawingml/2006/main" noGrp="1"/>
          </p:cNvSpPr>
          <p:nvPr/>
        </p:nvSpPr>
        <p:spPr>
          <a:xfrm xmlns:a="http://schemas.openxmlformats.org/drawingml/2006/main">
            <a:off x="6248400" y="43815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5919be9b485044c4"/>
              </a:rPr>
              <a:t>https://doi.org/10.1101/2025.10.17.25338242</a:t>
            </a:r>
          </a:p>
        </p:txBody>
      </p:sp>
      <p:sp>
        <p:nvSpPr>
          <p:cNvPr id="25" name="Reference 8 author">
            <a:extLst xmlns:a="http://schemas.openxmlformats.org/drawingml/2006/main">
              <a:ext uri="{FF2B5EF4-FFF2-40B4-BE49-F238E27FC236}">
                <a16:creationId xmlns:a16="http://schemas.microsoft.com/office/drawing/2014/main" id="{C4975B5C-C56D-4AD5-8E65-798E4F6A6D9E}"/>
              </a:ext>
            </a:extLst>
          </p:cNvPr>
          <p:cNvSpPr>
            <a:spLocks xmlns:a="http://schemas.openxmlformats.org/drawingml/2006/main" noGrp="1"/>
          </p:cNvSpPr>
          <p:nvPr/>
        </p:nvSpPr>
        <p:spPr>
          <a:xfrm xmlns:a="http://schemas.openxmlformats.org/drawingml/2006/main">
            <a:off x="6248400" y="47244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8. LeBaron V, et al. The Oncologist, 2014.</a:t>
            </a:r>
          </a:p>
        </p:txBody>
      </p:sp>
      <p:sp>
        <p:nvSpPr>
          <p:cNvPr id="26" name="Reference 8 title">
            <a:extLst xmlns:a="http://schemas.openxmlformats.org/drawingml/2006/main">
              <a:ext uri="{FF2B5EF4-FFF2-40B4-BE49-F238E27FC236}">
                <a16:creationId xmlns:a16="http://schemas.microsoft.com/office/drawing/2014/main" id="{244A1FCE-0B3C-46A4-A37D-5EA127F6DC34}"/>
              </a:ext>
            </a:extLst>
          </p:cNvPr>
          <p:cNvSpPr>
            <a:spLocks xmlns:a="http://schemas.openxmlformats.org/drawingml/2006/main" noGrp="1"/>
          </p:cNvSpPr>
          <p:nvPr/>
        </p:nvSpPr>
        <p:spPr>
          <a:xfrm xmlns:a="http://schemas.openxmlformats.org/drawingml/2006/main">
            <a:off x="6248400" y="49815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a397577d3cf341a2"/>
              </a:rPr>
              <a:t>An Ethnographic Study of Barriers to Cancer Pain Management and Opioid Availability in India</a:t>
            </a:r>
          </a:p>
        </p:txBody>
      </p:sp>
      <p:sp>
        <p:nvSpPr>
          <p:cNvPr id="27" name="Reference 8 link">
            <a:extLst xmlns:a="http://schemas.openxmlformats.org/drawingml/2006/main">
              <a:ext uri="{FF2B5EF4-FFF2-40B4-BE49-F238E27FC236}">
                <a16:creationId xmlns:a16="http://schemas.microsoft.com/office/drawing/2014/main" id="{325B0C27-9E2B-4CA8-A3DB-80EA57E1C40E}"/>
              </a:ext>
            </a:extLst>
          </p:cNvPr>
          <p:cNvSpPr>
            <a:spLocks xmlns:a="http://schemas.openxmlformats.org/drawingml/2006/main" noGrp="1"/>
          </p:cNvSpPr>
          <p:nvPr/>
        </p:nvSpPr>
        <p:spPr>
          <a:xfrm xmlns:a="http://schemas.openxmlformats.org/drawingml/2006/main">
            <a:off x="6248400" y="54102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5bb9e085a56442f1"/>
              </a:rPr>
              <a:t>https://doi.org/10.1634/theoncologist.2013-0435</a:t>
            </a:r>
          </a:p>
        </p:txBody>
      </p:sp>
      <p:sp>
        <p:nvSpPr>
          <p:cNvPr id="28" name="Reference 9 author">
            <a:extLst xmlns:a="http://schemas.openxmlformats.org/drawingml/2006/main">
              <a:ext uri="{FF2B5EF4-FFF2-40B4-BE49-F238E27FC236}">
                <a16:creationId xmlns:a16="http://schemas.microsoft.com/office/drawing/2014/main" id="{E7979A23-1D43-4F3F-8D50-DBB64BD84B8A}"/>
              </a:ext>
            </a:extLst>
          </p:cNvPr>
          <p:cNvSpPr>
            <a:spLocks xmlns:a="http://schemas.openxmlformats.org/drawingml/2006/main" noGrp="1"/>
          </p:cNvSpPr>
          <p:nvPr/>
        </p:nvSpPr>
        <p:spPr>
          <a:xfrm xmlns:a="http://schemas.openxmlformats.org/drawingml/2006/main">
            <a:off x="6248400" y="58007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9. Forsythe LP, et al. J Clin Oncol, 2013. U.S. cohort.</a:t>
            </a:r>
          </a:p>
        </p:txBody>
      </p:sp>
      <p:sp>
        <p:nvSpPr>
          <p:cNvPr id="29" name="Reference 9 title">
            <a:extLst xmlns:a="http://schemas.openxmlformats.org/drawingml/2006/main">
              <a:ext uri="{FF2B5EF4-FFF2-40B4-BE49-F238E27FC236}">
                <a16:creationId xmlns:a16="http://schemas.microsoft.com/office/drawing/2014/main" id="{713701DA-1269-48C6-8CBD-57E85D624787}"/>
              </a:ext>
            </a:extLst>
          </p:cNvPr>
          <p:cNvSpPr>
            <a:spLocks xmlns:a="http://schemas.openxmlformats.org/drawingml/2006/main" noGrp="1"/>
          </p:cNvSpPr>
          <p:nvPr/>
        </p:nvSpPr>
        <p:spPr>
          <a:xfrm xmlns:a="http://schemas.openxmlformats.org/drawingml/2006/main">
            <a:off x="6248400" y="60579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beb1385177ad4367"/>
              </a:rPr>
              <a:t>Receipt of Psychosocial Care Among Cancer Survivors in the United States</a:t>
            </a:r>
          </a:p>
        </p:txBody>
      </p:sp>
      <p:sp>
        <p:nvSpPr>
          <p:cNvPr id="30" name="Reference 9 link">
            <a:extLst xmlns:a="http://schemas.openxmlformats.org/drawingml/2006/main">
              <a:ext uri="{FF2B5EF4-FFF2-40B4-BE49-F238E27FC236}">
                <a16:creationId xmlns:a16="http://schemas.microsoft.com/office/drawing/2014/main" id="{023BFF9C-FF78-49E4-BD65-71C744E7C88D}"/>
              </a:ext>
            </a:extLst>
          </p:cNvPr>
          <p:cNvSpPr>
            <a:spLocks xmlns:a="http://schemas.openxmlformats.org/drawingml/2006/main" noGrp="1"/>
          </p:cNvSpPr>
          <p:nvPr/>
        </p:nvSpPr>
        <p:spPr>
          <a:xfrm xmlns:a="http://schemas.openxmlformats.org/drawingml/2006/main">
            <a:off x="6248400" y="65341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584764cb0c64d3c"/>
              </a:rPr>
              <a:t>https://doi.org/10.1200/JCO.2012.46.2101</a:t>
            </a:r>
          </a:p>
        </p:txBody>
      </p:sp>
    </p:spTree>
    <p:extLst>
      <p:ext uri="{BB962C8B-B14F-4D97-AF65-F5344CB8AC3E}">
        <p14:creationId xmlns:p14="http://schemas.microsoft.com/office/powerpoint/2010/main" val="382509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2026-09-24T10:13:42.9690000Z</dcterms:created>
  <dcterms:modified xsi:type="dcterms:W3CDTF">2026-09-24T10:13:42.9690000Z</dcterms:modified>
</coreProperties>
</file>