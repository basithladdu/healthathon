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b637197d2c4a31" /><Relationship Type="http://schemas.openxmlformats.org/officeDocument/2006/relationships/extended-properties" Target="/docProps/app.xml" Id="R6f8eb1147a004911" /><Relationship Type="http://schemas.openxmlformats.org/officeDocument/2006/relationships/officeDocument" Target="/ppt/presentation.xml" Id="Rba40eff2ece74a20" /></Relationships>
</file>

<file path=ppt/presentation.xml><?xml version="1.0" encoding="utf-8"?>
<p:presentation xmlns:p="http://schemas.openxmlformats.org/presentationml/2006/main">
  <p:sldMasterIdLst>
    <p:sldMasterId xmlns:r="http://schemas.openxmlformats.org/officeDocument/2006/relationships" id="2147483648" r:id="R0738df7bf2b14457"/>
  </p:sldMasterIdLst>
  <p:notesMasterIdLst>
    <p:notesMasterId xmlns:r="http://schemas.openxmlformats.org/officeDocument/2006/relationships" r:id="R69fe60a015f24a4e"/>
  </p:notesMasterIdLst>
  <p:sldIdLst>
    <p:sldId xmlns:r="http://schemas.openxmlformats.org/officeDocument/2006/relationships" id="256" r:id="Rbcd3dd41e6804ba4"/>
    <p:sldId xmlns:r="http://schemas.openxmlformats.org/officeDocument/2006/relationships" id="257" r:id="Re71abc2a35c147de"/>
    <p:sldId xmlns:r="http://schemas.openxmlformats.org/officeDocument/2006/relationships" id="258" r:id="Rb13e91eb62744700"/>
    <p:sldId xmlns:r="http://schemas.openxmlformats.org/officeDocument/2006/relationships" id="259" r:id="Rbc1ad3c4007940dc"/>
    <p:sldId xmlns:r="http://schemas.openxmlformats.org/officeDocument/2006/relationships" id="260" r:id="R133a2e43d50f4e9f"/>
    <p:sldId xmlns:r="http://schemas.openxmlformats.org/officeDocument/2006/relationships" id="261" r:id="R783f9e2dba214e46"/>
    <p:sldId xmlns:r="http://schemas.openxmlformats.org/officeDocument/2006/relationships" id="262" r:id="Rf5661f1e75e44da2"/>
    <p:sldId xmlns:r="http://schemas.openxmlformats.org/officeDocument/2006/relationships" id="263" r:id="Ra9f878628d6d46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f4b4bc01724879" /><Relationship Type="http://schemas.openxmlformats.org/officeDocument/2006/relationships/slideMaster" Target="/ppt/slideMasters/slideMaster1.xml" Id="R0738df7bf2b14457" /><Relationship Type="http://schemas.openxmlformats.org/officeDocument/2006/relationships/notesMaster" Target="/ppt/notesMasters/notesMaster1.xml" Id="R69fe60a015f24a4e" /><Relationship Type="http://schemas.openxmlformats.org/officeDocument/2006/relationships/presProps" Target="/ppt/presProps.xml" Id="R8f158cc376084df2" /><Relationship Type="http://schemas.openxmlformats.org/officeDocument/2006/relationships/tableStyles" Target="/ppt/tableStyles.xml" Id="R30927e77437146bf" /><Relationship Type="http://schemas.openxmlformats.org/officeDocument/2006/relationships/slide" Target="/ppt/slides/slide1.xml" Id="Rbcd3dd41e6804ba4" /><Relationship Type="http://schemas.openxmlformats.org/officeDocument/2006/relationships/slide" Target="/ppt/slides/slide2.xml" Id="Re71abc2a35c147de" /><Relationship Type="http://schemas.openxmlformats.org/officeDocument/2006/relationships/slide" Target="/ppt/slides/slide3.xml" Id="Rb13e91eb62744700" /><Relationship Type="http://schemas.openxmlformats.org/officeDocument/2006/relationships/slide" Target="/ppt/slides/slide4.xml" Id="Rbc1ad3c4007940dc" /><Relationship Type="http://schemas.openxmlformats.org/officeDocument/2006/relationships/slide" Target="/ppt/slides/slide5.xml" Id="R133a2e43d50f4e9f" /><Relationship Type="http://schemas.openxmlformats.org/officeDocument/2006/relationships/slide" Target="/ppt/slides/slide6.xml" Id="R783f9e2dba214e46" /><Relationship Type="http://schemas.openxmlformats.org/officeDocument/2006/relationships/slide" Target="/ppt/slides/slide7.xml" Id="Rf5661f1e75e44da2" /><Relationship Type="http://schemas.openxmlformats.org/officeDocument/2006/relationships/slide" Target="/ppt/slides/slide8.xml" Id="Ra9f878628d6d46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97e5d5366c43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c693ec07df46b6" /><Relationship Type="http://schemas.openxmlformats.org/officeDocument/2006/relationships/notesMaster" Target="/ppt/notesMasters/notesMaster1.xml" Id="R9daf7cfb0fa546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c940d3683d4f24" /><Relationship Type="http://schemas.openxmlformats.org/officeDocument/2006/relationships/notesMaster" Target="/ppt/notesMasters/notesMaster1.xml" Id="Rbe8de517149540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e18c37bf204487" /><Relationship Type="http://schemas.openxmlformats.org/officeDocument/2006/relationships/notesMaster" Target="/ppt/notesMasters/notesMaster1.xml" Id="R63cc2b60e8d34c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b94d95d84e4ae0" /><Relationship Type="http://schemas.openxmlformats.org/officeDocument/2006/relationships/notesMaster" Target="/ppt/notesMasters/notesMaster1.xml" Id="R91b00bfd0ae84c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e8c392b6c94612" /><Relationship Type="http://schemas.openxmlformats.org/officeDocument/2006/relationships/notesMaster" Target="/ppt/notesMasters/notesMaster1.xml" Id="Rb531f3fdf59243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e214717f2e4e97" /><Relationship Type="http://schemas.openxmlformats.org/officeDocument/2006/relationships/notesMaster" Target="/ppt/notesMasters/notesMaster1.xml" Id="Rdbe92b8cc67547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b0b09bc6ca4370" /><Relationship Type="http://schemas.openxmlformats.org/officeDocument/2006/relationships/notesMaster" Target="/ppt/notesMasters/notesMaster1.xml" Id="Rc41c98c2ef794e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bd7a6974794a5f" /><Relationship Type="http://schemas.openxmlformats.org/officeDocument/2006/relationships/notesMaster" Target="/ppt/notesMasters/notesMaster1.xml" Id="Re5b9f48e0cbc43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Saathi (साथी) means companion.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https://saathi.wedevit.in/. GitHub opens the public project repository; WhatsApp is a contact for questions, not an access request. Entry: Cancer / Patient and Caregiver / Family &amp; Caregiver Support. The cover frames Saathi as a palliative care companion centred on patient values and access to cancer care.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Saathi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Saathi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Saathi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Saathi.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bc5234dd4b4c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4c4406d3a540ec" /><Relationship Type="http://schemas.openxmlformats.org/officeDocument/2006/relationships/slideLayout" Target="/ppt/slideLayouts/slideLayout1.xml" Id="R30126c81de0347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126c81de0347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3148e679774047" /><Relationship Type="http://schemas.openxmlformats.org/officeDocument/2006/relationships/image" Target="/ppt/media/image.png" Id="R03bf2790e2f44239" /><Relationship Type="http://schemas.openxmlformats.org/officeDocument/2006/relationships/image" Target="/ppt/media/image.svg" Id="Rbd2a664e052f4674" /><Relationship Type="http://schemas.openxmlformats.org/officeDocument/2006/relationships/image" Target="/ppt/media/image2.png" Id="Rebb2e722a2e24804" /><Relationship Type="http://schemas.openxmlformats.org/officeDocument/2006/relationships/hyperlink" Target="https://saathi.wedevit.in/" TargetMode="External" Id="Rfa75906067ee4c4d" /><Relationship Type="http://schemas.openxmlformats.org/officeDocument/2006/relationships/image" Target="/ppt/media/image3.png" Id="R62bebf78c9234ec7" /><Relationship Type="http://schemas.openxmlformats.org/officeDocument/2006/relationships/image" Target="/ppt/media/image2.svg" Id="R0443838e48744d80" /><Relationship Type="http://schemas.openxmlformats.org/officeDocument/2006/relationships/hyperlink" Target="https://github.com/basithladdu/healthathon" TargetMode="External" Id="Ra76b6370f0904df3" /><Relationship Type="http://schemas.openxmlformats.org/officeDocument/2006/relationships/image" Target="/ppt/media/image4.png" Id="Rf104aa52a0704892" /><Relationship Type="http://schemas.openxmlformats.org/officeDocument/2006/relationships/image" Target="/ppt/media/image3.svg" Id="Rc92376742bcb4662" /><Relationship Type="http://schemas.openxmlformats.org/officeDocument/2006/relationships/hyperlink" Target="https://wa.me/919553321211" TargetMode="External" Id="R8510b460bfba4b7a" /><Relationship Type="http://schemas.openxmlformats.org/officeDocument/2006/relationships/hyperlink" Target="https://wa.me/919553321211" TargetMode="External" Id="Rb94c2c7070404de1" /><Relationship Type="http://schemas.openxmlformats.org/officeDocument/2006/relationships/image" Target="/ppt/media/image.jpeg" Id="Rbdad5572afc6459b" /><Relationship Type="http://schemas.openxmlformats.org/officeDocument/2006/relationships/image" Target="/ppt/media/image2.jpeg" Id="R86d4bebde48f43e3" /><Relationship Type="http://schemas.openxmlformats.org/officeDocument/2006/relationships/image" Target="/ppt/media/image5.png" Id="R8055adaa71f547d9" /><Relationship Type="http://schemas.openxmlformats.org/officeDocument/2006/relationships/image" Target="/ppt/media/image6.png" Id="R3dc554432f8a471f" /><Relationship Type="http://schemas.openxmlformats.org/officeDocument/2006/relationships/notesSlide" Target="/ppt/notesSlides/notesSlide1.xml" Id="R72be3e5ab59748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9b2e3edeb54606" /><Relationship Type="http://schemas.openxmlformats.org/officeDocument/2006/relationships/image" Target="/ppt/media/image3.jpeg" Id="Rc8f5ebfb6e104514" /><Relationship Type="http://schemas.openxmlformats.org/officeDocument/2006/relationships/image" Target="/ppt/media/image7.png" Id="R3a88d9e06e994389" /><Relationship Type="http://schemas.openxmlformats.org/officeDocument/2006/relationships/image" Target="/ppt/media/image4.svg" Id="Rb13c77b0350b4b90" /><Relationship Type="http://schemas.openxmlformats.org/officeDocument/2006/relationships/image" Target="/ppt/media/image8.png" Id="Rd02e57a981b94cbe" /><Relationship Type="http://schemas.openxmlformats.org/officeDocument/2006/relationships/image" Target="/ppt/media/image5.svg" Id="R7a596aad20c346e0" /><Relationship Type="http://schemas.openxmlformats.org/officeDocument/2006/relationships/image" Target="/ppt/media/image9.png" Id="Re696ba8d71d141ea" /><Relationship Type="http://schemas.openxmlformats.org/officeDocument/2006/relationships/image" Target="/ppt/media/image6.svg" Id="R926c479986d64725" /><Relationship Type="http://schemas.openxmlformats.org/officeDocument/2006/relationships/notesSlide" Target="/ppt/notesSlides/notesSlide2.xml" Id="Rb976884d5b9547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cfc142deec499f" /><Relationship Type="http://schemas.openxmlformats.org/officeDocument/2006/relationships/chart" Target="/ppt/slides/charts/chart1.xml" Id="R4580f66bb150472f" /><Relationship Type="http://schemas.openxmlformats.org/officeDocument/2006/relationships/image" Target="/ppt/media/image10.png" Id="R7150cbefd5504004" /><Relationship Type="http://schemas.openxmlformats.org/officeDocument/2006/relationships/image" Target="/ppt/media/image7.svg" Id="R09e776f29a0744bc" /><Relationship Type="http://schemas.openxmlformats.org/officeDocument/2006/relationships/hyperlink" Target="https://gco.iarc.who.int/media/globocan/factsheets/populations/356-india-fact-sheet.pdf" TargetMode="External" Id="R6bc23427d434483e" /><Relationship Type="http://schemas.openxmlformats.org/officeDocument/2006/relationships/image" Target="/ppt/media/image11.png" Id="R64ee78426015492e" /><Relationship Type="http://schemas.openxmlformats.org/officeDocument/2006/relationships/image" Target="/ppt/media/image8.svg" Id="Recdb3597996745f1" /><Relationship Type="http://schemas.openxmlformats.org/officeDocument/2006/relationships/hyperlink" Target="https://doi.org/10.1136/spcare-2024-004978" TargetMode="External" Id="R29c3a5a628494cdc" /><Relationship Type="http://schemas.openxmlformats.org/officeDocument/2006/relationships/image" Target="/ppt/media/image12.png" Id="R7efb40b4498543ca" /><Relationship Type="http://schemas.openxmlformats.org/officeDocument/2006/relationships/image" Target="/ppt/media/image9.svg" Id="R8ee76a58d5984c0d" /><Relationship Type="http://schemas.openxmlformats.org/officeDocument/2006/relationships/hyperlink" Target="https://scroll.in/article/925875/73-urban-indians-do-not-know-about-their-right-to-make-a-living-will-finds-a-survey" TargetMode="External" Id="R975bb0e6219b4681" /><Relationship Type="http://schemas.openxmlformats.org/officeDocument/2006/relationships/image" Target="/ppt/media/image13.png" Id="Rfba9231bd1524901" /><Relationship Type="http://schemas.openxmlformats.org/officeDocument/2006/relationships/image" Target="/ppt/media/image10.svg" Id="Rd860c742033444c0" /><Relationship Type="http://schemas.openxmlformats.org/officeDocument/2006/relationships/hyperlink" Target="https://doi.org/10.25259/NMJI_817_2023" TargetMode="External" Id="R54154b00ef054d3f" /><Relationship Type="http://schemas.openxmlformats.org/officeDocument/2006/relationships/hyperlink" Target="https://doi.org/10.1177/26892820251392545" TargetMode="External" Id="R53a5d5c6424540e0" /><Relationship Type="http://schemas.openxmlformats.org/officeDocument/2006/relationships/notesSlide" Target="/ppt/notesSlides/notesSlide3.xml" Id="R83235da81b994d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747bdcafd94c28" /><Relationship Type="http://schemas.openxmlformats.org/officeDocument/2006/relationships/image" Target="/ppt/media/image14.png" Id="R631218226f1a44e1" /><Relationship Type="http://schemas.openxmlformats.org/officeDocument/2006/relationships/image" Target="/ppt/media/image15.png" Id="Ra10f1701025440c1" /><Relationship Type="http://schemas.openxmlformats.org/officeDocument/2006/relationships/image" Target="/ppt/media/image16.png" Id="Rbe1fd99c9f3d4aa0" /><Relationship Type="http://schemas.openxmlformats.org/officeDocument/2006/relationships/image" Target="/ppt/media/image11.svg" Id="R7ddd8cbd61174ba0" /><Relationship Type="http://schemas.openxmlformats.org/officeDocument/2006/relationships/image" Target="/ppt/media/image17.png" Id="R014dbc229e32422c" /><Relationship Type="http://schemas.openxmlformats.org/officeDocument/2006/relationships/image" Target="/ppt/media/image12.svg" Id="R771349b6c3d749c8" /><Relationship Type="http://schemas.openxmlformats.org/officeDocument/2006/relationships/image" Target="/ppt/media/image18.png" Id="Rf2cbf050c7084176" /><Relationship Type="http://schemas.openxmlformats.org/officeDocument/2006/relationships/image" Target="/ppt/media/image13.svg" Id="Rb527029bf508486b" /><Relationship Type="http://schemas.openxmlformats.org/officeDocument/2006/relationships/image" Target="/ppt/media/image19.png" Id="Rf29f6e0b67a14b7c" /><Relationship Type="http://schemas.openxmlformats.org/officeDocument/2006/relationships/image" Target="/ppt/media/image14.svg" Id="Rb92f34b245434b53" /><Relationship Type="http://schemas.openxmlformats.org/officeDocument/2006/relationships/image" Target="/ppt/media/image20.png" Id="Re5ea6d427d0a4574" /><Relationship Type="http://schemas.openxmlformats.org/officeDocument/2006/relationships/image" Target="/ppt/media/image15.svg" Id="R7c209e729be64915" /><Relationship Type="http://schemas.openxmlformats.org/officeDocument/2006/relationships/hyperlink" Target="https://docs.sarvam.ai/api/getting-started/building-for-india" TargetMode="External" Id="R9607f55fc43f4eea" /><Relationship Type="http://schemas.openxmlformats.org/officeDocument/2006/relationships/notesSlide" Target="/ppt/notesSlides/notesSlide4.xml" Id="R6667530c7b2a41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1675a6443a4157" /><Relationship Type="http://schemas.openxmlformats.org/officeDocument/2006/relationships/image" Target="/ppt/media/image4.jpeg" Id="R3495eb24a83f4c81" /><Relationship Type="http://schemas.openxmlformats.org/officeDocument/2006/relationships/hyperlink" Target="https://saathi.wedevit.in/find-support" TargetMode="External" Id="R9843db8929da44e9" /><Relationship Type="http://schemas.openxmlformats.org/officeDocument/2006/relationships/hyperlink" Target="https://palliumindia.org/clinics/telangana" TargetMode="External" Id="R498250e049f441ff" /><Relationship Type="http://schemas.openxmlformats.org/officeDocument/2006/relationships/hyperlink" Target="https://www.openstreetmap.org/copyright" TargetMode="External" Id="R08b6cb66533842ac" /><Relationship Type="http://schemas.openxmlformats.org/officeDocument/2006/relationships/image" Target="/ppt/media/image21.png" Id="R909a3b2abc26488f" /><Relationship Type="http://schemas.openxmlformats.org/officeDocument/2006/relationships/image" Target="/ppt/media/image16.svg" Id="R869cdf5e4e684462" /><Relationship Type="http://schemas.openxmlformats.org/officeDocument/2006/relationships/hyperlink" Target="https://saathi.wedevit.in/find-support" TargetMode="External" Id="R46b61dc1ea804099" /><Relationship Type="http://schemas.openxmlformats.org/officeDocument/2006/relationships/image" Target="/ppt/media/image22.png" Id="R9b14477ded094724" /><Relationship Type="http://schemas.openxmlformats.org/officeDocument/2006/relationships/image" Target="/ppt/media/image17.svg" Id="R1e352bc0222640c4" /><Relationship Type="http://schemas.openxmlformats.org/officeDocument/2006/relationships/hyperlink" Target="https://saathi.wedevit.in/medicine-access" TargetMode="External" Id="Rbef9bae5d7514b7e" /><Relationship Type="http://schemas.openxmlformats.org/officeDocument/2006/relationships/image" Target="/ppt/media/image23.png" Id="Re0c85cd1bf6c4c16" /><Relationship Type="http://schemas.openxmlformats.org/officeDocument/2006/relationships/image" Target="/ppt/media/image18.svg" Id="R17eacfd45fb54102" /><Relationship Type="http://schemas.openxmlformats.org/officeDocument/2006/relationships/hyperlink" Target="https://saathi.wedevit.in/support-groups" TargetMode="External" Id="Raa86644ba47340b2" /><Relationship Type="http://schemas.openxmlformats.org/officeDocument/2006/relationships/image" Target="/ppt/media/image24.png" Id="R97787cf5ea694ed9" /><Relationship Type="http://schemas.openxmlformats.org/officeDocument/2006/relationships/image" Target="/ppt/media/image19.svg" Id="Rd84c9205003f48f6" /><Relationship Type="http://schemas.openxmlformats.org/officeDocument/2006/relationships/hyperlink" Target="https://saathi.wedevit.in/help-at-home" TargetMode="External" Id="Raa6659c1abee49c6" /><Relationship Type="http://schemas.openxmlformats.org/officeDocument/2006/relationships/notesSlide" Target="/ppt/notesSlides/notesSlide5.xml" Id="Ra3343c59adb346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c58b8269f64272" /><Relationship Type="http://schemas.openxmlformats.org/officeDocument/2006/relationships/image" Target="/ppt/media/image25.png" Id="R298ef53d591c4690" /><Relationship Type="http://schemas.openxmlformats.org/officeDocument/2006/relationships/image" Target="/ppt/media/image26.png" Id="Rdd6cf94ae6084bb5" /><Relationship Type="http://schemas.openxmlformats.org/officeDocument/2006/relationships/image" Target="/ppt/media/image20.svg" Id="R23d87118e0b749dd" /><Relationship Type="http://schemas.openxmlformats.org/officeDocument/2006/relationships/image" Target="/ppt/media/image27.png" Id="R7fb059cb0cc5476e" /><Relationship Type="http://schemas.openxmlformats.org/officeDocument/2006/relationships/image" Target="/ppt/media/image21.svg" Id="R4aeb887dfba64212" /><Relationship Type="http://schemas.openxmlformats.org/officeDocument/2006/relationships/image" Target="/ppt/media/image28.png" Id="Rbb96c63375f34708" /><Relationship Type="http://schemas.openxmlformats.org/officeDocument/2006/relationships/image" Target="/ppt/media/image22.svg" Id="Ra0e0c89ee7be4b5a" /><Relationship Type="http://schemas.openxmlformats.org/officeDocument/2006/relationships/image" Target="/ppt/media/image29.png" Id="R07dc01792dda4d41" /><Relationship Type="http://schemas.openxmlformats.org/officeDocument/2006/relationships/image" Target="/ppt/media/image23.svg" Id="R3df7960991104e8b" /><Relationship Type="http://schemas.openxmlformats.org/officeDocument/2006/relationships/image" Target="/ppt/media/image30.png" Id="R47367089626348d5" /><Relationship Type="http://schemas.openxmlformats.org/officeDocument/2006/relationships/image" Target="/ppt/media/image24.svg" Id="Rec99c7537c4d489b" /><Relationship Type="http://schemas.openxmlformats.org/officeDocument/2006/relationships/image" Target="/ppt/media/image31.png" Id="Rc3dd696bb80d4df5" /><Relationship Type="http://schemas.openxmlformats.org/officeDocument/2006/relationships/image" Target="/ppt/media/image25.svg" Id="R3346b5551d2d4b24" /><Relationship Type="http://schemas.openxmlformats.org/officeDocument/2006/relationships/image" Target="/ppt/media/image32.png" Id="R98561110d7a8479a" /><Relationship Type="http://schemas.openxmlformats.org/officeDocument/2006/relationships/image" Target="/ppt/media/image26.svg" Id="R3a2c505892274681" /><Relationship Type="http://schemas.openxmlformats.org/officeDocument/2006/relationships/notesSlide" Target="/ppt/notesSlides/notesSlide6.xml" Id="Rf483ba4e66b445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b9af5591da44ef" /><Relationship Type="http://schemas.openxmlformats.org/officeDocument/2006/relationships/image" Target="/ppt/media/image5.jpeg" Id="R7fb78890f8e54f6b" /><Relationship Type="http://schemas.openxmlformats.org/officeDocument/2006/relationships/image" Target="/ppt/media/image6.jpeg" Id="Rfd3554b222424047" /><Relationship Type="http://schemas.openxmlformats.org/officeDocument/2006/relationships/image" Target="/ppt/media/image33.png" Id="Rc3350f15ae5f434f" /><Relationship Type="http://schemas.openxmlformats.org/officeDocument/2006/relationships/image" Target="/ppt/media/image27.svg" Id="R53c8abe211c246fc" /><Relationship Type="http://schemas.openxmlformats.org/officeDocument/2006/relationships/hyperlink" Target="https://saathi.wedevit.in/medicines" TargetMode="External" Id="Rd82ae1d7912f40a9" /><Relationship Type="http://schemas.openxmlformats.org/officeDocument/2006/relationships/image" Target="/ppt/media/image34.png" Id="R9d5a9b7e7348444f" /><Relationship Type="http://schemas.openxmlformats.org/officeDocument/2006/relationships/image" Target="/ppt/media/image28.svg" Id="R5a9df30dae6147f3" /><Relationship Type="http://schemas.openxmlformats.org/officeDocument/2006/relationships/hyperlink" Target="https://saathi.wedevit.in/calendar" TargetMode="External" Id="R94a266376d8a406a" /><Relationship Type="http://schemas.openxmlformats.org/officeDocument/2006/relationships/image" Target="/ppt/media/image35.png" Id="R243703f4fc054959" /><Relationship Type="http://schemas.openxmlformats.org/officeDocument/2006/relationships/image" Target="/ppt/media/image29.svg" Id="Ra5fd448a59d24c42" /><Relationship Type="http://schemas.openxmlformats.org/officeDocument/2006/relationships/hyperlink" Target="https://saathi.wedevit.in/my-space" TargetMode="External" Id="Ra0fca341500343fe" /><Relationship Type="http://schemas.openxmlformats.org/officeDocument/2006/relationships/image" Target="/ppt/media/image36.png" Id="R8a745f7efce240fd" /><Relationship Type="http://schemas.openxmlformats.org/officeDocument/2006/relationships/image" Target="/ppt/media/image30.svg" Id="R364997ffb68b45d9" /><Relationship Type="http://schemas.openxmlformats.org/officeDocument/2006/relationships/hyperlink" Target="https://saathi.wedevit.in/costs" TargetMode="External" Id="R67978e6da7194709" /><Relationship Type="http://schemas.openxmlformats.org/officeDocument/2006/relationships/image" Target="/ppt/media/image7.jpeg" Id="R6b4b880480804d4e" /><Relationship Type="http://schemas.openxmlformats.org/officeDocument/2006/relationships/hyperlink" Target="https://saathi.wedevit.in/" TargetMode="External" Id="R925af90d8de14f9b" /><Relationship Type="http://schemas.openxmlformats.org/officeDocument/2006/relationships/notesSlide" Target="/ppt/notesSlides/notesSlide7.xml" Id="R03ff5ed900734e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b02a31c3bd4e62" /><Relationship Type="http://schemas.openxmlformats.org/officeDocument/2006/relationships/hyperlink" Target="https://gco.iarc.who.int/media/globocan/factsheets/populations/356-india-fact-sheet.pdf" TargetMode="External" Id="R885edb59707149b4" /><Relationship Type="http://schemas.openxmlformats.org/officeDocument/2006/relationships/hyperlink" Target="https://gco.iarc.who.int/media/globocan/factsheets/populations/356-india-fact-sheet.pdf" TargetMode="External" Id="R1220e4c854364077" /><Relationship Type="http://schemas.openxmlformats.org/officeDocument/2006/relationships/hyperlink" Target="https://doi.org/10.1136/spcare-2024-004978" TargetMode="External" Id="R791afef0106047c8" /><Relationship Type="http://schemas.openxmlformats.org/officeDocument/2006/relationships/hyperlink" Target="https://doi.org/10.1136/spcare-2024-004978" TargetMode="External" Id="R797b552f1fed417b" /><Relationship Type="http://schemas.openxmlformats.org/officeDocument/2006/relationships/hyperlink" Target="https://doi.org/10.1016/j.jpainsymman.2024.02.030" TargetMode="External" Id="R65ea349185044202" /><Relationship Type="http://schemas.openxmlformats.org/officeDocument/2006/relationships/hyperlink" Target="https://doi.org/10.1016/j.jpainsymman.2024.02.030" TargetMode="External" Id="R0d5f0b99dff241e7" /><Relationship Type="http://schemas.openxmlformats.org/officeDocument/2006/relationships/hyperlink" Target="https://doi.org/10.1177/26892820251392545" TargetMode="External" Id="Ra5b3e618edbb4a74" /><Relationship Type="http://schemas.openxmlformats.org/officeDocument/2006/relationships/hyperlink" Target="https://doi.org/10.1177/26892820251392545" TargetMode="External" Id="R3f693aad60564304" /><Relationship Type="http://schemas.openxmlformats.org/officeDocument/2006/relationships/hyperlink" Target="https://scroll.in/article/925875/73-urban-indians-do-not-know-about-their-right-to-make-a-living-will-finds-a-survey" TargetMode="External" Id="Re6b0a42eaea84bc5" /><Relationship Type="http://schemas.openxmlformats.org/officeDocument/2006/relationships/hyperlink" Target="https://scroll.in/article/925875/73-urban-indians-do-not-know-about-their-right-to-make-a-living-will-finds-a-survey" TargetMode="External" Id="R0bb47f92802c4df4" /><Relationship Type="http://schemas.openxmlformats.org/officeDocument/2006/relationships/hyperlink" Target="https://doi.org/10.25259/NMJI_817_2023" TargetMode="External" Id="R9b15a23efd8b4281" /><Relationship Type="http://schemas.openxmlformats.org/officeDocument/2006/relationships/hyperlink" Target="https://doi.org/10.25259/NMJI_817_2023" TargetMode="External" Id="R93bc92255b5a44b1" /><Relationship Type="http://schemas.openxmlformats.org/officeDocument/2006/relationships/hyperlink" Target="https://doi.org/10.1101/2025.10.17.25338242" TargetMode="External" Id="Rb5995591698e4917" /><Relationship Type="http://schemas.openxmlformats.org/officeDocument/2006/relationships/hyperlink" Target="https://doi.org/10.1101/2025.10.17.25338242" TargetMode="External" Id="R76a9a00093d645ac" /><Relationship Type="http://schemas.openxmlformats.org/officeDocument/2006/relationships/hyperlink" Target="https://doi.org/10.1634/theoncologist.2013-0435" TargetMode="External" Id="R4d8f05bb7a104795" /><Relationship Type="http://schemas.openxmlformats.org/officeDocument/2006/relationships/hyperlink" Target="https://doi.org/10.1634/theoncologist.2013-0435" TargetMode="External" Id="Ra1dca8bc904544b2" /><Relationship Type="http://schemas.openxmlformats.org/officeDocument/2006/relationships/hyperlink" Target="https://doi.org/10.1200/JCO.2012.46.2101" TargetMode="External" Id="Rca6130f10bc54d31" /><Relationship Type="http://schemas.openxmlformats.org/officeDocument/2006/relationships/hyperlink" Target="https://doi.org/10.1200/JCO.2012.46.2101" TargetMode="External" Id="R68ed5580bd0847d8" /><Relationship Type="http://schemas.openxmlformats.org/officeDocument/2006/relationships/notesSlide" Target="/ppt/notesSlides/notesSlide8.xml" Id="Rc4b19f101306439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a="http://schemas.openxmlformats.org/drawingml/2006/main" xmlns:ns3="http://schemas.microsoft.com/office/drawing/2016/SVG/main" xmlns:ns4="http://schemas.microsoft.com/office/drawing/2014/main" xmlns:ns5="http://schemas.microsoft.com/office/powerpoint/2010/main" xmlns:p="http://schemas.openxmlformats.org/presentationml/2006/main" xmlns:r="http://schemas.openxmlformats.org/officeDocument/2006/relationships">
  <p:cSld>
    <p:bg>
      <p:bgPr>
        <a:solidFill>
          <a:srgbClr val="FFF6E5"/>
        </a:solidFill>
      </p:bgPr>
    </p:bg>
    <p:spTree>
      <p:nvGrpSpPr>
        <p:cNvPr id="1" name=""/>
        <p:cNvGrpSpPr/>
        <p:nvPr/>
      </p:nvGrpSpPr>
      <p:grpSpPr>
        <a:xfrm/>
      </p:grpSpPr>
      <p:pic>
        <p:nvPicPr>
          <p:cNvPr id="30" name=""/>
          <p:cNvPicPr>
            <a:picLocks noChangeAspect="1"/>
          </p:cNvPicPr>
          <p:nvPr/>
        </p:nvPicPr>
        <p:blipFill>
          <a:blip r:embed="R03bf2790e2f44239">
            <a:extLst>
              <a:ext uri="{96DAC541-7B7A-43D3-8B79-37D633B846F1}">
                <ns3:svgBlip r:embed="Rbd2a664e052f4674"/>
              </a:ext>
            </a:extLst>
          </a:blip>
          <a:stretch/>
        </p:blipFill>
        <p:spPr>
          <a:xfrm>
            <a:off x="533400" y="485775"/>
            <a:ext cx="828675" cy="828675"/>
          </a:xfrm>
          <a:prstGeom prst="rect">
            <a:avLst/>
          </a:prstGeom>
        </p:spPr>
      </p:pic>
      <p:sp>
        <p:nvSpPr>
          <p:cNvPr id="2" name="Brand">
            <a:extLst>
              <a:ext uri="{FF2B5EF4-FFF2-40B4-BE49-F238E27FC236}">
                <ns4:creationId id="{AED03697-8DF3-401C-99C9-03460BDE18E7}"/>
              </a:ext>
            </a:extLst>
          </p:cNvPr>
          <p:cNvSpPr>
            <a:spLocks noGrp="1"/>
          </p:cNvSpPr>
          <p:nvPr/>
        </p:nvSpPr>
        <p:spPr>
          <a:xfrm>
            <a:off x="1581150" y="381000"/>
            <a:ext cx="3019425" cy="895350"/>
          </a:xfrm>
          <a:prstGeom prst="rect">
            <a:avLst/>
          </a:prstGeom>
          <a:noFill/>
          <a:ln w="0">
            <a:noFill/>
          </a:ln>
        </p:spPr>
        <p:txBody>
          <a:bodyPr wrap="square" lIns="0" tIns="0" rIns="0" bIns="0">
            <a:normAutofit fontScale="100000"/>
          </a:bodyPr>
          <a:lstStyle/>
          <a:p>
            <a:pPr>
              <a:defRPr sz="5775" b="1">
                <a:solidFill>
                  <a:srgbClr val="173F33"/>
                </a:solidFill>
                <a:latin typeface="Arial"/>
                <a:ea typeface="Arial"/>
                <a:cs typeface="Arial"/>
              </a:defRPr>
            </a:pPr>
            <a:r>
              <a:rPr sz="5775" b="1">
                <a:solidFill>
                  <a:srgbClr val="173F33"/>
                </a:solidFill>
                <a:latin typeface="Arial"/>
                <a:ea typeface="Arial"/>
                <a:cs typeface="Arial"/>
              </a:rPr>
              <a:t>Saathi</a:t>
            </a:r>
          </a:p>
        </p:txBody>
      </p:sp>
      <p:sp>
        <p:nvSpPr>
          <p:cNvPr id="3" name="Hindi name">
            <a:extLst>
              <a:ext uri="{FF2B5EF4-FFF2-40B4-BE49-F238E27FC236}">
                <ns4:creationId id="{8CC91E0C-B6BC-44E8-937B-151CD731BB7B}"/>
              </a:ext>
            </a:extLst>
          </p:cNvPr>
          <p:cNvSpPr>
            <a:spLocks noGrp="1"/>
          </p:cNvSpPr>
          <p:nvPr/>
        </p:nvSpPr>
        <p:spPr>
          <a:xfrm>
            <a:off x="4867275" y="504825"/>
            <a:ext cx="2162175" cy="781050"/>
          </a:xfrm>
          <a:prstGeom prst="rect">
            <a:avLst/>
          </a:prstGeom>
          <a:noFill/>
          <a:ln w="0">
            <a:noFill/>
          </a:ln>
        </p:spPr>
        <p:txBody>
          <a:bodyPr wrap="square" lIns="0" tIns="0" rIns="0" bIns="0">
            <a:normAutofit fontScale="100000"/>
          </a:bodyPr>
          <a:lstStyle/>
          <a:p>
            <a:pPr>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साथी</a:t>
            </a:r>
          </a:p>
        </p:txBody>
      </p:sp>
      <p:sp>
        <p:nvSpPr>
          <p:cNvPr id="4" name="Name meaning">
            <a:extLst>
              <a:ext uri="{FF2B5EF4-FFF2-40B4-BE49-F238E27FC236}">
                <ns4:creationId id="{4F5EC78B-2D4E-4D0B-B8B9-9DB90FDDE2F2}"/>
              </a:ext>
            </a:extLst>
          </p:cNvPr>
          <p:cNvSpPr>
            <a:spLocks noGrp="1"/>
          </p:cNvSpPr>
          <p:nvPr/>
        </p:nvSpPr>
        <p:spPr>
          <a:xfrm>
            <a:off x="7362825" y="695325"/>
            <a:ext cx="4295775" cy="457200"/>
          </a:xfrm>
          <a:prstGeom prst="rect">
            <a:avLst/>
          </a:prstGeom>
          <a:noFill/>
          <a:ln w="0">
            <a:noFill/>
          </a:ln>
        </p:spPr>
        <p:txBody>
          <a:bodyPr wrap="square" lIns="0" tIns="0" rIns="0" bIns="0">
            <a:normAutofit fontScale="100000"/>
          </a:bodyPr>
          <a:lstStyle/>
          <a:p>
            <a:pPr>
              <a:defRPr sz="2400" b="0">
                <a:solidFill>
                  <a:srgbClr val="B75E43"/>
                </a:solidFill>
                <a:latin typeface="Arial"/>
                <a:ea typeface="Arial"/>
                <a:cs typeface="Arial"/>
              </a:defRPr>
            </a:pPr>
            <a:r>
              <a:rPr sz="2400" b="0">
                <a:solidFill>
                  <a:srgbClr val="B75E43"/>
                </a:solidFill>
                <a:latin typeface="Arial"/>
                <a:ea typeface="Arial"/>
                <a:cs typeface="Arial"/>
              </a:rPr>
              <a:t>Companion</a:t>
            </a:r>
          </a:p>
        </p:txBody>
      </p:sp>
      <p:sp>
        <p:nvSpPr>
          <p:cNvPr id="5" name="Purpose">
            <a:extLst>
              <a:ext uri="{FF2B5EF4-FFF2-40B4-BE49-F238E27FC236}">
                <ns4:creationId id="{45EAC722-6A49-4604-9FD7-B4233F219A2B}"/>
              </a:ext>
            </a:extLst>
          </p:cNvPr>
          <p:cNvSpPr>
            <a:spLocks noGrp="1"/>
          </p:cNvSpPr>
          <p:nvPr/>
        </p:nvSpPr>
        <p:spPr>
          <a:xfrm>
            <a:off x="533400" y="1552575"/>
            <a:ext cx="11125200" cy="838200"/>
          </a:xfrm>
          <a:prstGeom prst="rect">
            <a:avLst/>
          </a:prstGeom>
          <a:noFill/>
          <a:ln w="0">
            <a:noFill/>
          </a:ln>
        </p:spPr>
        <p:txBody>
          <a:bodyPr wrap="square" lIns="0" tIns="0" rIns="0" bIns="0">
            <a:normAutofit fontScale="100000"/>
          </a:bodyPr>
          <a:lstStyle/>
          <a:p>
            <a:pPr>
              <a:defRPr sz="2250" b="1">
                <a:solidFill>
                  <a:srgbClr val="173F33"/>
                </a:solidFill>
                <a:latin typeface="Arial"/>
                <a:ea typeface="Arial"/>
                <a:cs typeface="Arial"/>
              </a:defRPr>
            </a:pPr>
            <a:r>
              <a:rPr sz="2250" b="1">
                <a:solidFill>
                  <a:srgbClr val="173F33"/>
                </a:solidFill>
                <a:latin typeface="Arial"/>
                <a:ea typeface="Arial"/>
                <a:cs typeface="Arial"/>
              </a:rPr>
              <a:t>Saathi is a palliative care companion that helps align cancer care with the patient’s values and makes care easier to access.</a:t>
            </a:r>
          </a:p>
        </p:txBody>
      </p:sp>
      <p:pic>
        <p:nvPicPr>
          <p:cNvPr id="35" name=""/>
          <p:cNvPicPr>
            <a:picLocks noChangeAspect="1"/>
          </p:cNvPicPr>
          <p:nvPr/>
        </p:nvPicPr>
        <p:blipFill>
          <a:blip r:embed="Rebb2e722a2e24804"/>
          <a:stretch/>
        </p:blipFill>
        <p:spPr>
          <a:xfrm>
            <a:off x="533400" y="2619375"/>
            <a:ext cx="1219200" cy="1219200"/>
          </a:xfrm>
          <a:prstGeom prst="rect">
            <a:avLst/>
          </a:prstGeom>
        </p:spPr>
      </p:pic>
      <p:sp>
        <p:nvSpPr>
          <p:cNvPr id="7" name="Website link">
            <a:extLst>
              <a:ext uri="{FF2B5EF4-FFF2-40B4-BE49-F238E27FC236}">
                <ns4:creationId id="{F30C12A6-1431-4C25-8F09-D72336669791}"/>
              </a:ext>
            </a:extLst>
          </p:cNvPr>
          <p:cNvSpPr>
            <a:spLocks noGrp="1"/>
          </p:cNvSpPr>
          <p:nvPr/>
        </p:nvSpPr>
        <p:spPr>
          <a:xfrm>
            <a:off x="2124075" y="2828925"/>
            <a:ext cx="9534525" cy="942975"/>
          </a:xfrm>
          <a:prstGeom prst="rect">
            <a:avLst/>
          </a:prstGeom>
          <a:noFill/>
          <a:ln w="0">
            <a:noFill/>
          </a:ln>
        </p:spPr>
        <p:txBody>
          <a:bodyPr wrap="square" lIns="0" tIns="0" rIns="0" bIns="0">
            <a:normAutofit fontScale="100000"/>
          </a:bodyPr>
          <a:lstStyle/>
          <a:p>
            <a:pPr>
              <a:defRPr sz="3600" b="1">
                <a:solidFill>
                  <a:srgbClr val="145AC6"/>
                </a:solidFill>
                <a:latin typeface="Arial"/>
                <a:ea typeface="Arial"/>
                <a:cs typeface="Arial"/>
              </a:defRPr>
            </a:pPr>
            <a:r>
              <a:rPr sz="3600" b="1" u="sng">
                <a:solidFill>
                  <a:srgbClr val="145AC6"/>
                </a:solidFill>
                <a:latin typeface="Arial"/>
                <a:ea typeface="Arial"/>
                <a:cs typeface="Arial"/>
                <a:hlinkClick r:id="Rfa75906067ee4c4d"/>
              </a:rPr>
              <a:t>OPEN THE WEBSITE - saathi.wedevit.in</a:t>
            </a:r>
          </a:p>
        </p:txBody>
      </p:sp>
      <p:pic>
        <p:nvPicPr>
          <p:cNvPr id="37" name=""/>
          <p:cNvPicPr>
            <a:picLocks noChangeAspect="1"/>
          </p:cNvPicPr>
          <p:nvPr/>
        </p:nvPicPr>
        <p:blipFill>
          <a:blip r:embed="R62bebf78c9234ec7">
            <a:extLst>
              <a:ext uri="{96DAC541-7B7A-43D3-8B79-37D633B846F1}">
                <ns3:svgBlip r:embed="R0443838e48744d80"/>
              </a:ext>
            </a:extLst>
          </a:blip>
          <a:stretch/>
        </p:blipFill>
        <p:spPr>
          <a:xfrm>
            <a:off x="533400" y="4257675"/>
            <a:ext cx="285750" cy="285750"/>
          </a:xfrm>
          <a:prstGeom prst="rect">
            <a:avLst/>
          </a:prstGeom>
        </p:spPr>
      </p:pic>
      <p:sp>
        <p:nvSpPr>
          <p:cNvPr id="9" name="Repository link">
            <a:extLst>
              <a:ext uri="{FF2B5EF4-FFF2-40B4-BE49-F238E27FC236}">
                <ns4:creationId id="{4506C395-16CD-4B44-B4D9-568613FF9975}"/>
              </a:ext>
            </a:extLst>
          </p:cNvPr>
          <p:cNvSpPr>
            <a:spLocks noGrp="1"/>
          </p:cNvSpPr>
          <p:nvPr/>
        </p:nvSpPr>
        <p:spPr>
          <a:xfrm>
            <a:off x="962025" y="4257675"/>
            <a:ext cx="5048250" cy="352425"/>
          </a:xfrm>
          <a:prstGeom prst="rect">
            <a:avLst/>
          </a:prstGeom>
          <a:noFill/>
          <a:ln w="0">
            <a:noFill/>
          </a:ln>
        </p:spPr>
        <p:txBody>
          <a:bodyPr wrap="square" lIns="0" tIns="0" rIns="0" bIns="0">
            <a:normAutofit fontScale="100000"/>
          </a:bodyPr>
          <a:lstStyle/>
          <a:p>
            <a:pPr>
              <a:defRPr sz="1575" b="1">
                <a:solidFill>
                  <a:srgbClr val="145AC6"/>
                </a:solidFill>
                <a:latin typeface="Arial"/>
                <a:ea typeface="Arial"/>
                <a:cs typeface="Arial"/>
              </a:defRPr>
            </a:pPr>
            <a:r>
              <a:rPr sz="1575" b="1" u="sng">
                <a:solidFill>
                  <a:srgbClr val="145AC6"/>
                </a:solidFill>
                <a:latin typeface="Arial"/>
                <a:ea typeface="Arial"/>
                <a:cs typeface="Arial"/>
                <a:hlinkClick r:id="Ra76b6370f0904df3"/>
              </a:rPr>
              <a:t>github.com/basithladdu/healthathon</a:t>
            </a:r>
          </a:p>
        </p:txBody>
      </p:sp>
      <p:pic>
        <p:nvPicPr>
          <p:cNvPr id="39" name=""/>
          <p:cNvPicPr>
            <a:picLocks noChangeAspect="1"/>
          </p:cNvPicPr>
          <p:nvPr/>
        </p:nvPicPr>
        <p:blipFill>
          <a:blip r:embed="Rf104aa52a0704892">
            <a:extLst>
              <a:ext uri="{96DAC541-7B7A-43D3-8B79-37D633B846F1}">
                <ns3:svgBlip r:embed="Rc92376742bcb4662"/>
              </a:ext>
            </a:extLst>
          </a:blip>
          <a:stretch/>
        </p:blipFill>
        <p:spPr>
          <a:xfrm>
            <a:off x="6810375" y="4257675"/>
            <a:ext cx="285750" cy="285750"/>
          </a:xfrm>
          <a:prstGeom prst="rect">
            <a:avLst/>
          </a:prstGeom>
        </p:spPr>
      </p:pic>
      <p:sp>
        <p:nvSpPr>
          <p:cNvPr id="11" name="Questions contact">
            <a:extLst>
              <a:ext uri="{FF2B5EF4-FFF2-40B4-BE49-F238E27FC236}">
                <ns4:creationId id="{E11BD72C-B7BB-49EB-A706-452F0AD8FA8C}"/>
              </a:ext>
            </a:extLst>
          </p:cNvPr>
          <p:cNvSpPr>
            <a:spLocks noGrp="1"/>
          </p:cNvSpPr>
          <p:nvPr/>
        </p:nvSpPr>
        <p:spPr>
          <a:xfrm>
            <a:off x="7239000" y="4133850"/>
            <a:ext cx="4419600" cy="304800"/>
          </a:xfrm>
          <a:prstGeom prst="rect">
            <a:avLst/>
          </a:prstGeom>
          <a:noFill/>
          <a:ln w="0">
            <a:noFill/>
          </a:ln>
        </p:spPr>
        <p:txBody>
          <a:bodyPr wrap="square" lIns="0" tIns="0" rIns="0" bIns="0">
            <a:normAutofit fontScale="100000"/>
          </a:bodyPr>
          <a:lstStyle/>
          <a:p>
            <a:pPr>
              <a:defRPr sz="1725" b="1">
                <a:solidFill>
                  <a:srgbClr val="128C4A"/>
                </a:solidFill>
                <a:latin typeface="Arial"/>
                <a:ea typeface="Arial"/>
                <a:cs typeface="Arial"/>
              </a:defRPr>
            </a:pPr>
            <a:r>
              <a:rPr sz="1725" b="1" u="sng">
                <a:solidFill>
                  <a:srgbClr val="128C4A"/>
                </a:solidFill>
                <a:latin typeface="Arial"/>
                <a:ea typeface="Arial"/>
                <a:cs typeface="Arial"/>
                <a:hlinkClick r:id="R8510b460bfba4b7a"/>
              </a:rPr>
              <a:t>Questions? Contact us</a:t>
            </a:r>
          </a:p>
        </p:txBody>
      </p:sp>
      <p:sp>
        <p:nvSpPr>
          <p:cNvPr id="12" name="WhatsApp link">
            <a:extLst>
              <a:ext uri="{FF2B5EF4-FFF2-40B4-BE49-F238E27FC236}">
                <ns4:creationId id="{6E97E47B-4A76-4F44-8B28-93EC7E84161D}"/>
              </a:ext>
            </a:extLst>
          </p:cNvPr>
          <p:cNvSpPr>
            <a:spLocks noGrp="1"/>
          </p:cNvSpPr>
          <p:nvPr/>
        </p:nvSpPr>
        <p:spPr>
          <a:xfrm>
            <a:off x="7239000" y="4505325"/>
            <a:ext cx="4419600" cy="266700"/>
          </a:xfrm>
          <a:prstGeom prst="rect">
            <a:avLst/>
          </a:prstGeom>
          <a:noFill/>
          <a:ln w="0">
            <a:noFill/>
          </a:ln>
        </p:spPr>
        <p:txBody>
          <a:bodyPr wrap="square" lIns="0" tIns="0" rIns="0" bIns="0">
            <a:normAutofit fontScale="100000"/>
          </a:bodyPr>
          <a:lstStyle/>
          <a:p>
            <a:pPr>
              <a:defRPr sz="1500" b="0">
                <a:solidFill>
                  <a:srgbClr val="128C4A"/>
                </a:solidFill>
                <a:latin typeface="Arial"/>
                <a:ea typeface="Arial"/>
                <a:cs typeface="Arial"/>
              </a:defRPr>
            </a:pPr>
            <a:r>
              <a:rPr sz="1500" b="0" u="sng">
                <a:solidFill>
                  <a:srgbClr val="128C4A"/>
                </a:solidFill>
                <a:latin typeface="Arial"/>
                <a:ea typeface="Arial"/>
                <a:cs typeface="Arial"/>
                <a:hlinkClick r:id="Rb94c2c7070404de1"/>
              </a:rPr>
              <a:t>wa.me/919553321211</a:t>
            </a:r>
          </a:p>
        </p:txBody>
      </p:sp>
      <p:sp>
        <p:nvSpPr>
          <p:cNvPr id="13" name="">
            <a:extLst>
              <a:ext uri="{FF2B5EF4-FFF2-40B4-BE49-F238E27FC236}">
                <ns4:creationId id="{228B913E-34BF-40FB-A416-07C4E84822F7}"/>
              </a:ext>
            </a:extLst>
          </p:cNvPr>
          <p:cNvSpPr>
            <a:spLocks noGrp="1"/>
          </p:cNvSpPr>
          <p:nvPr/>
        </p:nvSpPr>
        <p:spPr>
          <a:xfrm>
            <a:off x="533400" y="4857750"/>
            <a:ext cx="11125200" cy="0"/>
          </a:xfrm>
          <a:prstGeom prst="line">
            <a:avLst/>
          </a:prstGeom>
          <a:ln w="9525">
            <a:solidFill>
              <a:srgbClr val="D9D4C7"/>
            </a:solidFill>
          </a:ln>
        </p:spPr>
      </p:sp>
      <p:sp>
        <p:nvSpPr>
          <p:cNvPr id="14" name="Team heading">
            <a:extLst>
              <a:ext uri="{FF2B5EF4-FFF2-40B4-BE49-F238E27FC236}">
                <ns4:creationId id="{430584D3-4EB0-4EFF-BD1D-E964E829562F}"/>
              </a:ext>
            </a:extLst>
          </p:cNvPr>
          <p:cNvSpPr>
            <a:spLocks noGrp="1"/>
          </p:cNvSpPr>
          <p:nvPr/>
        </p:nvSpPr>
        <p:spPr>
          <a:xfrm>
            <a:off x="533400" y="5057775"/>
            <a:ext cx="11125200" cy="276225"/>
          </a:xfrm>
          <a:prstGeom prst="rect">
            <a:avLst/>
          </a:prstGeom>
          <a:noFill/>
          <a:ln w="0">
            <a:noFill/>
          </a:ln>
        </p:spPr>
        <p:txBody>
          <a:bodyPr wrap="square" lIns="0" tIns="0" rIns="0" bIns="0">
            <a:normAutofit fontScale="100000"/>
          </a:bodyPr>
          <a:lstStyle/>
          <a:p>
            <a:pPr>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44" name=""/>
          <p:cNvPicPr>
            <a:picLocks noChangeAspect="1"/>
          </p:cNvPicPr>
          <p:nvPr/>
        </p:nvPicPr>
        <p:blipFill>
          <a:blip r:embed="Rbdad5572afc6459b"/>
          <a:srcRect l="0" t="5331" r="0" b="5331"/>
          <a:stretch>
            <a:fillRect l="0" t="0" r="0" b="0"/>
          </a:stretch>
        </p:blipFill>
        <p:spPr>
          <a:xfrm>
            <a:off x="533400" y="5495925"/>
            <a:ext cx="647700" cy="771525"/>
          </a:xfrm>
          <a:prstGeom prst="rect">
            <a:avLst/>
          </a:prstGeom>
        </p:spPr>
      </p:pic>
      <p:sp>
        <p:nvSpPr>
          <p:cNvPr id="16" name="Team member 1">
            <a:extLst>
              <a:ext uri="{FF2B5EF4-FFF2-40B4-BE49-F238E27FC236}">
                <ns4:creationId id="{0E56383F-EA88-4F31-920C-1DD2F731F0C9}"/>
              </a:ext>
            </a:extLst>
          </p:cNvPr>
          <p:cNvSpPr>
            <a:spLocks noGrp="1"/>
          </p:cNvSpPr>
          <p:nvPr/>
        </p:nvSpPr>
        <p:spPr>
          <a:xfrm>
            <a:off x="1285875" y="5514975"/>
            <a:ext cx="1447800" cy="571500"/>
          </a:xfrm>
          <a:prstGeom prst="rect">
            <a:avLst/>
          </a:prstGeom>
          <a:noFill/>
          <a:ln w="0">
            <a:noFill/>
          </a:ln>
        </p:spPr>
        <p:txBody>
          <a:bodyPr wrap="square" lIns="0" tIns="0" rIns="0" bIns="0">
            <a:normAutofit fontScale="100000"/>
          </a:bodyPr>
          <a:lstStyle/>
          <a:p>
            <a:pPr>
              <a:defRPr sz="1313" b="1">
                <a:solidFill>
                  <a:srgbClr val="173F33"/>
                </a:solidFill>
                <a:latin typeface="Arial"/>
                <a:ea typeface="Arial"/>
                <a:cs typeface="Arial"/>
              </a:defRPr>
            </a:pPr>
            <a:r>
              <a:rPr sz="1313" b="1">
                <a:solidFill>
                  <a:srgbClr val="173F33"/>
                </a:solidFill>
                <a:latin typeface="Arial"/>
                <a:ea typeface="Arial"/>
                <a:cs typeface="Arial"/>
              </a:rPr>
              <a:t>Shaik Abdul</a:t>
            </a:r>
          </a:p>
          <a:p>
            <a:pPr>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7" name="Team role 1">
            <a:extLst>
              <a:ext uri="{FF2B5EF4-FFF2-40B4-BE49-F238E27FC236}">
                <ns4:creationId id="{49A09F84-6216-4F84-9FB8-B951E9BABA2A}"/>
              </a:ext>
            </a:extLst>
          </p:cNvPr>
          <p:cNvSpPr>
            <a:spLocks noGrp="1"/>
          </p:cNvSpPr>
          <p:nvPr/>
        </p:nvSpPr>
        <p:spPr>
          <a:xfrm>
            <a:off x="1285875" y="6153150"/>
            <a:ext cx="1447800" cy="342900"/>
          </a:xfrm>
          <a:prstGeom prst="rect">
            <a:avLst/>
          </a:prstGeom>
          <a:noFill/>
          <a:ln w="0">
            <a:noFill/>
          </a:ln>
        </p:spPr>
        <p:txBody>
          <a:bodyPr wrap="square" lIns="0" tIns="0" rIns="0" bIns="0">
            <a:normAutofit fontScale="100000"/>
          </a:bodyPr>
          <a:lstStyle/>
          <a:p>
            <a:pPr>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47" name=""/>
          <p:cNvPicPr>
            <a:picLocks noChangeAspect="1"/>
          </p:cNvPicPr>
          <p:nvPr/>
        </p:nvPicPr>
        <p:blipFill>
          <a:blip r:embed="R86d4bebde48f43e3"/>
          <a:srcRect l="0" t="19104" r="0" b="19104"/>
          <a:stretch>
            <a:fillRect l="0" t="0" r="0" b="0"/>
          </a:stretch>
        </p:blipFill>
        <p:spPr>
          <a:xfrm>
            <a:off x="2781300" y="5495925"/>
            <a:ext cx="647700" cy="771525"/>
          </a:xfrm>
          <a:prstGeom prst="rect">
            <a:avLst/>
          </a:prstGeom>
        </p:spPr>
      </p:pic>
      <p:sp>
        <p:nvSpPr>
          <p:cNvPr id="19" name="Team member 2">
            <a:extLst>
              <a:ext uri="{FF2B5EF4-FFF2-40B4-BE49-F238E27FC236}">
                <ns4:creationId id="{6A5BCE61-A66B-473C-B80B-751546940D37}"/>
              </a:ext>
            </a:extLst>
          </p:cNvPr>
          <p:cNvSpPr>
            <a:spLocks noGrp="1"/>
          </p:cNvSpPr>
          <p:nvPr/>
        </p:nvSpPr>
        <p:spPr>
          <a:xfrm>
            <a:off x="3533775" y="5514975"/>
            <a:ext cx="1447800" cy="571500"/>
          </a:xfrm>
          <a:prstGeom prst="rect">
            <a:avLst/>
          </a:prstGeom>
          <a:noFill/>
          <a:ln w="0">
            <a:noFill/>
          </a:ln>
        </p:spPr>
        <p:txBody>
          <a:bodyPr wrap="square" lIns="0" tIns="0" rIns="0" bIns="0">
            <a:normAutofit fontScale="100000"/>
          </a:bodyPr>
          <a:lstStyle/>
          <a:p>
            <a:pPr>
              <a:defRPr sz="1313" b="1">
                <a:solidFill>
                  <a:srgbClr val="173F33"/>
                </a:solidFill>
                <a:latin typeface="Arial"/>
                <a:ea typeface="Arial"/>
                <a:cs typeface="Arial"/>
              </a:defRPr>
            </a:pPr>
            <a:r>
              <a:rPr sz="1313" b="1">
                <a:solidFill>
                  <a:srgbClr val="173F33"/>
                </a:solidFill>
                <a:latin typeface="Arial"/>
                <a:ea typeface="Arial"/>
                <a:cs typeface="Arial"/>
              </a:rPr>
              <a:t>Shaik Muhammad</a:t>
            </a:r>
          </a:p>
          <a:p>
            <a:pPr>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0" name="Team role 2">
            <a:extLst>
              <a:ext uri="{FF2B5EF4-FFF2-40B4-BE49-F238E27FC236}">
                <ns4:creationId id="{C7103BBF-E9A8-4A2E-8925-A22CBB18E2C6}"/>
              </a:ext>
            </a:extLst>
          </p:cNvPr>
          <p:cNvSpPr>
            <a:spLocks noGrp="1"/>
          </p:cNvSpPr>
          <p:nvPr/>
        </p:nvSpPr>
        <p:spPr>
          <a:xfrm>
            <a:off x="3533775" y="6153150"/>
            <a:ext cx="1447800" cy="342900"/>
          </a:xfrm>
          <a:prstGeom prst="rect">
            <a:avLst/>
          </a:prstGeom>
          <a:noFill/>
          <a:ln w="0">
            <a:noFill/>
          </a:ln>
        </p:spPr>
        <p:txBody>
          <a:bodyPr wrap="square" lIns="0" tIns="0" rIns="0" bIns="0">
            <a:normAutofit fontScale="100000"/>
          </a:bodyPr>
          <a:lstStyle/>
          <a:p>
            <a:pPr>
              <a:defRPr sz="1125" b="0">
                <a:solidFill>
                  <a:srgbClr val="53655C"/>
                </a:solidFill>
                <a:latin typeface="Arial"/>
                <a:ea typeface="Arial"/>
                <a:cs typeface="Arial"/>
              </a:defRPr>
            </a:pPr>
            <a:r>
              <a:rPr sz="1125" b="0">
                <a:solidFill>
                  <a:srgbClr val="53655C"/>
                </a:solidFill>
                <a:latin typeface="Arial"/>
                <a:ea typeface="Arial"/>
                <a:cs typeface="Arial"/>
              </a:rPr>
              <a:t>Technical member</a:t>
            </a:r>
          </a:p>
        </p:txBody>
      </p:sp>
      <p:sp>
        <p:nvSpPr>
          <p:cNvPr id="21" name="Photo space for Dr Sharada&#10;Vinod Kutty">
            <a:extLst>
              <a:ext uri="{FF2B5EF4-FFF2-40B4-BE49-F238E27FC236}">
                <ns4:creationId id="{A953BBD6-B7E3-4CA6-83F3-5B947A87C0F5}"/>
              </a:ext>
            </a:extLst>
          </p:cNvPr>
          <p:cNvSpPr>
            <a:spLocks noGrp="1"/>
          </p:cNvSpPr>
          <p:nvPr/>
        </p:nvSpPr>
        <p:spPr>
          <a:xfrm>
            <a:off x="5029200" y="5495925"/>
            <a:ext cx="647700" cy="771525"/>
          </a:xfrm>
          <a:prstGeom prst="rect">
            <a:avLst/>
          </a:prstGeom>
          <a:solidFill>
            <a:srgbClr val="F0ECE2"/>
          </a:solidFill>
          <a:ln w="9525">
            <a:solidFill>
              <a:srgbClr val="D9D4C7"/>
            </a:solidFill>
          </a:ln>
        </p:spPr>
      </p:sp>
      <p:sp>
        <p:nvSpPr>
          <p:cNvPr id="22" name="Team member 3">
            <a:extLst>
              <a:ext uri="{FF2B5EF4-FFF2-40B4-BE49-F238E27FC236}">
                <ns4:creationId id="{78B03224-4566-452F-8501-D3DF4A005F49}"/>
              </a:ext>
            </a:extLst>
          </p:cNvPr>
          <p:cNvSpPr>
            <a:spLocks noGrp="1"/>
          </p:cNvSpPr>
          <p:nvPr/>
        </p:nvSpPr>
        <p:spPr>
          <a:xfrm>
            <a:off x="5781675" y="5514975"/>
            <a:ext cx="1447800" cy="571500"/>
          </a:xfrm>
          <a:prstGeom prst="rect">
            <a:avLst/>
          </a:prstGeom>
          <a:noFill/>
          <a:ln w="0">
            <a:noFill/>
          </a:ln>
        </p:spPr>
        <p:txBody>
          <a:bodyPr wrap="square" lIns="0" tIns="0" rIns="0" bIns="0">
            <a:normAutofit fontScale="100000"/>
          </a:bodyPr>
          <a:lstStyle/>
          <a:p>
            <a:pPr>
              <a:defRPr sz="1313" b="1">
                <a:solidFill>
                  <a:srgbClr val="173F33"/>
                </a:solidFill>
                <a:latin typeface="Arial"/>
                <a:ea typeface="Arial"/>
                <a:cs typeface="Arial"/>
              </a:defRPr>
            </a:pPr>
            <a:r>
              <a:rPr sz="1313" b="1">
                <a:solidFill>
                  <a:srgbClr val="173F33"/>
                </a:solidFill>
                <a:latin typeface="Arial"/>
                <a:ea typeface="Arial"/>
                <a:cs typeface="Arial"/>
              </a:rPr>
              <a:t>Dr Sharada</a:t>
            </a:r>
          </a:p>
          <a:p>
            <a:pPr>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3" name="Team role 3">
            <a:extLst>
              <a:ext uri="{FF2B5EF4-FFF2-40B4-BE49-F238E27FC236}">
                <ns4:creationId id="{7E172EEF-6C21-43B8-BCE4-8FA91A807141}"/>
              </a:ext>
            </a:extLst>
          </p:cNvPr>
          <p:cNvSpPr>
            <a:spLocks noGrp="1"/>
          </p:cNvSpPr>
          <p:nvPr/>
        </p:nvSpPr>
        <p:spPr>
          <a:xfrm>
            <a:off x="5781675" y="6153150"/>
            <a:ext cx="1447800" cy="342900"/>
          </a:xfrm>
          <a:prstGeom prst="rect">
            <a:avLst/>
          </a:prstGeom>
          <a:noFill/>
          <a:ln w="0">
            <a:noFill/>
          </a:ln>
        </p:spPr>
        <p:txBody>
          <a:bodyPr wrap="square" lIns="0" tIns="0" rIns="0" bIns="0">
            <a:normAutofit fontScale="100000"/>
          </a:bodyPr>
          <a:lstStyle/>
          <a:p>
            <a:pPr>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pic>
        <p:nvPicPr>
          <p:cNvPr id="53" name="Portrait of Dr Sujay Halkur Shankar" descr="Portrait of Dr Sujay Halkur Shankar"/>
          <p:cNvPicPr>
            <a:picLocks noChangeAspect="1"/>
          </p:cNvPicPr>
          <p:nvPr/>
        </p:nvPicPr>
        <p:blipFill>
          <a:blip r:embed="R8055adaa71f547d9"/>
          <a:srcRect l="12868" t="13793" r="12868" b="19793"/>
          <a:stretch>
            <a:fillRect/>
          </a:stretch>
        </p:blipFill>
        <p:spPr>
          <a:xfrm>
            <a:off x="7277100" y="5495925"/>
            <a:ext cx="647700" cy="771525"/>
          </a:xfrm>
          <a:prstGeom prst="rect">
            <a:avLst/>
          </a:prstGeom>
        </p:spPr>
      </p:pic>
      <p:sp>
        <p:nvSpPr>
          <p:cNvPr id="25" name="Team member 4">
            <a:extLst>
              <a:ext uri="{FF2B5EF4-FFF2-40B4-BE49-F238E27FC236}">
                <ns4:creationId id="{904A1194-27D0-493A-828D-2917527FA6F7}"/>
              </a:ext>
            </a:extLst>
          </p:cNvPr>
          <p:cNvSpPr>
            <a:spLocks noGrp="1"/>
          </p:cNvSpPr>
          <p:nvPr/>
        </p:nvSpPr>
        <p:spPr>
          <a:xfrm>
            <a:off x="8029575" y="5514975"/>
            <a:ext cx="1447800" cy="571500"/>
          </a:xfrm>
          <a:prstGeom prst="rect">
            <a:avLst/>
          </a:prstGeom>
          <a:noFill/>
          <a:ln w="0">
            <a:noFill/>
          </a:ln>
        </p:spPr>
        <p:txBody>
          <a:bodyPr wrap="square" lIns="0" tIns="0" rIns="0" bIns="0">
            <a:normAutofit fontScale="100000"/>
          </a:bodyPr>
          <a:lstStyle/>
          <a:p>
            <a:pPr>
              <a:defRPr sz="1313" b="1">
                <a:solidFill>
                  <a:srgbClr val="173F33"/>
                </a:solidFill>
                <a:latin typeface="Arial"/>
                <a:ea typeface="Arial"/>
                <a:cs typeface="Arial"/>
              </a:defRPr>
            </a:pPr>
            <a:r>
              <a:rPr sz="1313" b="1">
                <a:solidFill>
                  <a:srgbClr val="173F33"/>
                </a:solidFill>
                <a:latin typeface="Arial"/>
                <a:ea typeface="Arial"/>
                <a:cs typeface="Arial"/>
              </a:rPr>
              <a:t>Dr Sujay</a:t>
            </a:r>
          </a:p>
          <a:p>
            <a:pPr>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6" name="Team role 4">
            <a:extLst>
              <a:ext uri="{FF2B5EF4-FFF2-40B4-BE49-F238E27FC236}">
                <ns4:creationId id="{5D05C0FB-7723-4899-AE8B-ED6EC79BB077}"/>
              </a:ext>
            </a:extLst>
          </p:cNvPr>
          <p:cNvSpPr>
            <a:spLocks noGrp="1"/>
          </p:cNvSpPr>
          <p:nvPr/>
        </p:nvSpPr>
        <p:spPr>
          <a:xfrm>
            <a:off x="8029575" y="6153150"/>
            <a:ext cx="1447800" cy="342900"/>
          </a:xfrm>
          <a:prstGeom prst="rect">
            <a:avLst/>
          </a:prstGeom>
          <a:noFill/>
          <a:ln w="0">
            <a:noFill/>
          </a:ln>
        </p:spPr>
        <p:txBody>
          <a:bodyPr wrap="square" lIns="0" tIns="0" rIns="0" bIns="0">
            <a:normAutofit fontScale="100000"/>
          </a:bodyPr>
          <a:lstStyle/>
          <a:p>
            <a:pPr>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pic>
        <p:nvPicPr>
          <p:cNvPr id="56" name="Portrait of Shirin Ayub" descr="Portrait of Shirin Ayub"/>
          <p:cNvPicPr>
            <a:picLocks noChangeAspect="1"/>
          </p:cNvPicPr>
          <p:nvPr/>
        </p:nvPicPr>
        <p:blipFill>
          <a:blip r:embed="R3dc554432f8a471f"/>
          <a:srcRect l="22778" t="32188" r="22778" b="31312"/>
          <a:stretch>
            <a:fillRect/>
          </a:stretch>
        </p:blipFill>
        <p:spPr>
          <a:xfrm>
            <a:off x="9525000" y="5495925"/>
            <a:ext cx="647700" cy="771525"/>
          </a:xfrm>
          <a:prstGeom prst="rect">
            <a:avLst/>
          </a:prstGeom>
        </p:spPr>
      </p:pic>
      <p:sp>
        <p:nvSpPr>
          <p:cNvPr id="28" name="Team member 5">
            <a:extLst>
              <a:ext uri="{FF2B5EF4-FFF2-40B4-BE49-F238E27FC236}">
                <ns4:creationId id="{8AAE5AC2-40FB-44B2-99D6-A8C0D8882653}"/>
              </a:ext>
            </a:extLst>
          </p:cNvPr>
          <p:cNvSpPr>
            <a:spLocks noGrp="1"/>
          </p:cNvSpPr>
          <p:nvPr/>
        </p:nvSpPr>
        <p:spPr>
          <a:xfrm>
            <a:off x="10277475" y="5514975"/>
            <a:ext cx="1447800" cy="571500"/>
          </a:xfrm>
          <a:prstGeom prst="rect">
            <a:avLst/>
          </a:prstGeom>
          <a:noFill/>
          <a:ln w="0">
            <a:noFill/>
          </a:ln>
        </p:spPr>
        <p:txBody>
          <a:bodyPr wrap="square" lIns="0" tIns="0" rIns="0" bIns="0">
            <a:normAutofit fontScale="100000"/>
          </a:bodyPr>
          <a:lstStyle/>
          <a:p>
            <a:pPr>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29" name="Team role 5">
            <a:extLst>
              <a:ext uri="{FF2B5EF4-FFF2-40B4-BE49-F238E27FC236}">
                <ns4:creationId id="{C1197E28-0052-4E00-B161-8E7357A270C4}"/>
              </a:ext>
            </a:extLst>
          </p:cNvPr>
          <p:cNvSpPr>
            <a:spLocks noGrp="1"/>
          </p:cNvSpPr>
          <p:nvPr/>
        </p:nvSpPr>
        <p:spPr>
          <a:xfrm>
            <a:off x="10277475" y="6153150"/>
            <a:ext cx="1447800" cy="342900"/>
          </a:xfrm>
          <a:prstGeom prst="rect">
            <a:avLst/>
          </a:prstGeom>
          <a:noFill/>
          <a:ln w="0">
            <a:noFill/>
          </a:ln>
        </p:spPr>
        <p:txBody>
          <a:bodyPr wrap="square" lIns="0" tIns="0" rIns="0" bIns="0">
            <a:normAutofit fontScale="100000"/>
          </a:bodyPr>
          <a:lstStyle/>
          <a:p>
            <a:pPr>
              <a:defRPr sz="1125" b="0">
                <a:solidFill>
                  <a:srgbClr val="53655C"/>
                </a:solidFill>
                <a:latin typeface="Arial"/>
                <a:ea typeface="Arial"/>
                <a:cs typeface="Arial"/>
              </a:defRPr>
            </a:pPr>
            <a:r>
              <a:rPr sz="1125" b="0">
                <a:solidFill>
                  <a:srgbClr val="53655C"/>
                </a:solidFill>
                <a:latin typeface="Arial"/>
                <a:ea typeface="Arial"/>
                <a:cs typeface="Arial"/>
              </a:rPr>
              <a:t>Medical student</a:t>
            </a:r>
          </a:p>
        </p:txBody>
      </p:sp>
    </p:spTree>
    <p:extLst>
      <p:ext uri="{BB962C8B-B14F-4D97-AF65-F5344CB8AC3E}">
        <ns5:creationId val="1441420215"/>
      </p:ext>
    </p:extLst>
  </p:cSld>
</p:sld>
</file>

<file path=ppt/slides/slide2.xml><?xml version="1.0" encoding="utf-8"?>
<p:sld xmlns:a="http://schemas.openxmlformats.org/drawingml/2006/main" xmlns:ns2="http://schemas.microsoft.com/office/drawing/2014/main" xmlns:ns4="http://schemas.microsoft.com/office/drawing/2016/SVG/main" xmlns:ns5="http://schemas.microsoft.com/office/powerpoint/2010/main" xmlns:p="http://schemas.openxmlformats.org/presentationml/2006/main" xmlns:r="http://schemas.openxmlformats.org/officeDocument/2006/relationships">
  <p:cSld>
    <p:bg>
      <p:bgPr>
        <a:solidFill>
          <a:srgbClr val="006C7C"/>
        </a:solidFill>
      </p:bgPr>
    </p:bg>
    <p:spTree>
      <p:nvGrpSpPr>
        <p:cNvPr id="1" name=""/>
        <p:cNvGrpSpPr/>
        <p:nvPr/>
      </p:nvGrpSpPr>
      <p:grpSpPr>
        <a:xfrm/>
      </p:grpSpPr>
      <p:sp>
        <p:nvSpPr>
          <p:cNvPr id="16" name="Slide title">
            <a:extLst>
              <a:ext uri="{FF2B5EF4-FFF2-40B4-BE49-F238E27FC236}">
                <ns2:creationId id="{4D2290DF-E9AD-4BE2-ABE4-CEE99251BA43}"/>
              </a:ext>
            </a:extLst>
          </p:cNvPr>
          <p:cNvSpPr>
            <a:spLocks noGrp="1"/>
          </p:cNvSpPr>
          <p:nvPr/>
        </p:nvSpPr>
        <p:spPr>
          <a:xfrm>
            <a:off x="533400" y="361950"/>
            <a:ext cx="11125200" cy="647700"/>
          </a:xfrm>
          <a:prstGeom prst="rect">
            <a:avLst/>
          </a:prstGeom>
          <a:noFill/>
          <a:ln w="0">
            <a:noFill/>
          </a:ln>
        </p:spPr>
        <p:txBody>
          <a:bodyPr wrap="square" lIns="0" tIns="0" rIns="0" bIns="0">
            <a:normAutofit fontScale="100000"/>
          </a:bodyPr>
          <a:lstStyle/>
          <a:p>
            <a:pPr>
              <a:defRPr sz="3075" b="1">
                <a:solidFill>
                  <a:srgbClr val="FFFFFF"/>
                </a:solidFill>
                <a:latin typeface="Arial"/>
                <a:ea typeface="Arial"/>
                <a:cs typeface="Arial"/>
              </a:defRPr>
            </a:pPr>
            <a:r>
              <a:rPr sz="3075" b="1">
                <a:solidFill>
                  <a:srgbClr val="FFFFFF"/>
                </a:solidFill>
                <a:latin typeface="Arial"/>
                <a:ea typeface="Arial"/>
                <a:cs typeface="Arial"/>
              </a:rPr>
              <a:t>When the patient’s voice is lost</a:t>
            </a:r>
          </a:p>
        </p:txBody>
      </p:sp>
      <p:sp>
        <p:nvSpPr>
          <p:cNvPr id="2" name="Illustrative patient">
            <a:extLst>
              <a:ext uri="{FF2B5EF4-FFF2-40B4-BE49-F238E27FC236}">
                <ns2:creationId id="{E46F361C-3ED0-467E-9ACA-4E243C0DC4A4}"/>
              </a:ext>
            </a:extLst>
          </p:cNvPr>
          <p:cNvSpPr>
            <a:spLocks noGrp="1"/>
          </p:cNvSpPr>
          <p:nvPr/>
        </p:nvSpPr>
        <p:spPr>
          <a:xfrm>
            <a:off x="533400" y="1133475"/>
            <a:ext cx="11125200" cy="733425"/>
          </a:xfrm>
          <a:prstGeom prst="rect">
            <a:avLst/>
          </a:prstGeom>
          <a:noFill/>
          <a:ln w="0">
            <a:noFill/>
          </a:ln>
        </p:spPr>
        <p:txBody>
          <a:bodyPr wrap="square" lIns="0" tIns="0" rIns="0" bIns="0">
            <a:normAutofit fontScale="100000"/>
          </a:bodyPr>
          <a:lstStyle/>
          <a:p>
            <a:pPr>
              <a:defRPr sz="2175" b="1">
                <a:solidFill>
                  <a:srgbClr val="FFFFFF"/>
                </a:solidFill>
                <a:latin typeface="Arial"/>
                <a:ea typeface="Arial"/>
                <a:cs typeface="Arial"/>
              </a:defRPr>
            </a:pPr>
            <a:r>
              <a:rPr sz="2175" b="1">
                <a:solidFill>
                  <a:srgbClr val="FFFFFF"/>
                </a:solidFill>
                <a:latin typeface="Arial"/>
                <a:ea typeface="Arial"/>
                <a:cs typeface="Arial"/>
              </a:rPr>
              <a:t>A 62-year-old woman with advanced breast cancer receives best supportive care.</a:t>
            </a:r>
          </a:p>
        </p:txBody>
      </p:sp>
      <p:pic>
        <p:nvPicPr>
          <p:cNvPr id="18" name=""/>
          <p:cNvPicPr>
            <a:picLocks noChangeAspect="1"/>
          </p:cNvPicPr>
          <p:nvPr/>
        </p:nvPicPr>
        <p:blipFill>
          <a:blip r:embed="Rc8f5ebfb6e104514"/>
          <a:stretch/>
        </p:blipFill>
        <p:spPr>
          <a:xfrm>
            <a:off x="533400" y="2076822"/>
            <a:ext cx="5219700" cy="3466355"/>
          </a:xfrm>
          <a:prstGeom prst="rect">
            <a:avLst/>
          </a:prstGeom>
        </p:spPr>
      </p:pic>
      <p:sp>
        <p:nvSpPr>
          <p:cNvPr id="4" name="Care photo context">
            <a:extLst>
              <a:ext uri="{FF2B5EF4-FFF2-40B4-BE49-F238E27FC236}">
                <ns2:creationId id="{5606414A-611B-4F76-BD0E-F83728AFE8B8}"/>
              </a:ext>
            </a:extLst>
          </p:cNvPr>
          <p:cNvSpPr>
            <a:spLocks noGrp="1"/>
          </p:cNvSpPr>
          <p:nvPr/>
        </p:nvSpPr>
        <p:spPr>
          <a:xfrm>
            <a:off x="533400" y="5648325"/>
            <a:ext cx="5219700" cy="352425"/>
          </a:xfrm>
          <a:prstGeom prst="rect">
            <a:avLst/>
          </a:prstGeom>
          <a:noFill/>
          <a:ln w="0">
            <a:noFill/>
          </a:ln>
        </p:spPr>
        <p:txBody>
          <a:bodyPr wrap="square" lIns="0" tIns="0" rIns="0" bIns="0">
            <a:normAutofit fontScale="100000"/>
          </a:bodyPr>
          <a:lstStyle/>
          <a:p>
            <a:pPr>
              <a:defRPr sz="1163" b="0">
                <a:solidFill>
                  <a:srgbClr val="DAEDEF"/>
                </a:solidFill>
                <a:latin typeface="Arial"/>
                <a:ea typeface="Arial"/>
                <a:cs typeface="Arial"/>
              </a:defRPr>
            </a:pPr>
            <a:r>
              <a:rPr sz="1163" b="0">
                <a:solidFill>
                  <a:srgbClr val="DAEDEF"/>
                </a:solidFill>
                <a:latin typeface="Arial"/>
                <a:ea typeface="Arial"/>
                <a:cs typeface="Arial"/>
              </a:rPr>
              <a:t>Mannar, Kerala · PIB photograph, 2011 · Not the story patient.</a:t>
            </a:r>
          </a:p>
        </p:txBody>
      </p:sp>
      <p:pic>
        <p:nvPicPr>
          <p:cNvPr id="20" name=""/>
          <p:cNvPicPr>
            <a:picLocks noChangeAspect="1"/>
          </p:cNvPicPr>
          <p:nvPr/>
        </p:nvPicPr>
        <p:blipFill>
          <a:blip r:embed="R3a88d9e06e994389">
            <a:extLst>
              <a:ext uri="{96DAC541-7B7A-43D3-8B79-37D633B846F1}">
                <ns4:svgBlip r:embed="Rb13c77b0350b4b90"/>
              </a:ext>
            </a:extLst>
          </a:blip>
          <a:stretch/>
        </p:blipFill>
        <p:spPr>
          <a:xfrm>
            <a:off x="6191250" y="1990725"/>
            <a:ext cx="381000" cy="381000"/>
          </a:xfrm>
          <a:prstGeom prst="rect">
            <a:avLst/>
          </a:prstGeom>
        </p:spPr>
      </p:pic>
      <p:sp>
        <p:nvSpPr>
          <p:cNvPr id="6" name="Story step 1">
            <a:extLst>
              <a:ext uri="{FF2B5EF4-FFF2-40B4-BE49-F238E27FC236}">
                <ns2:creationId id="{E1BFA0F2-6D23-43E5-A8E7-E7D34B565ABC}"/>
              </a:ext>
            </a:extLst>
          </p:cNvPr>
          <p:cNvSpPr>
            <a:spLocks noGrp="1"/>
          </p:cNvSpPr>
          <p:nvPr/>
        </p:nvSpPr>
        <p:spPr>
          <a:xfrm>
            <a:off x="6753225" y="1990725"/>
            <a:ext cx="4905375" cy="400050"/>
          </a:xfrm>
          <a:prstGeom prst="rect">
            <a:avLst/>
          </a:prstGeom>
          <a:noFill/>
          <a:ln w="0">
            <a:noFill/>
          </a:ln>
        </p:spPr>
        <p:txBody>
          <a:bodyPr wrap="square" lIns="0" tIns="0" rIns="0" bIns="0">
            <a:normAutofit fontScale="100000"/>
          </a:bodyPr>
          <a:lstStyle/>
          <a:p>
            <a:pPr>
              <a:defRPr sz="2100" b="1">
                <a:solidFill>
                  <a:srgbClr val="FFD154"/>
                </a:solidFill>
                <a:latin typeface="Arial"/>
                <a:ea typeface="Arial"/>
                <a:cs typeface="Arial"/>
              </a:defRPr>
            </a:pPr>
            <a:r>
              <a:rPr sz="2100" b="1">
                <a:solidFill>
                  <a:srgbClr val="FFD154"/>
                </a:solidFill>
                <a:latin typeface="Arial"/>
                <a:ea typeface="Arial"/>
                <a:cs typeface="Arial"/>
              </a:rPr>
              <a:t>At the clinic</a:t>
            </a:r>
          </a:p>
        </p:txBody>
      </p:sp>
      <p:sp>
        <p:nvSpPr>
          <p:cNvPr id="7" name="Story step 1 detail">
            <a:extLst>
              <a:ext uri="{FF2B5EF4-FFF2-40B4-BE49-F238E27FC236}">
                <ns2:creationId id="{E18B961B-9ED7-4410-9AD0-7A14D2927D2A}"/>
              </a:ext>
            </a:extLst>
          </p:cNvPr>
          <p:cNvSpPr>
            <a:spLocks noGrp="1"/>
          </p:cNvSpPr>
          <p:nvPr/>
        </p:nvSpPr>
        <p:spPr>
          <a:xfrm>
            <a:off x="6753225" y="2486025"/>
            <a:ext cx="4905375" cy="1000125"/>
          </a:xfrm>
          <a:prstGeom prst="rect">
            <a:avLst/>
          </a:prstGeom>
          <a:noFill/>
          <a:ln w="0">
            <a:noFill/>
          </a:ln>
        </p:spPr>
        <p:txBody>
          <a:bodyPr wrap="square" lIns="0" tIns="0" rIns="0" bIns="0">
            <a:normAutofit fontScale="100000"/>
          </a:bodyPr>
          <a:lstStyle/>
          <a:p>
            <a:pPr>
              <a:defRPr sz="1725" b="0">
                <a:solidFill>
                  <a:srgbClr val="FFFFFF"/>
                </a:solidFill>
                <a:latin typeface="Arial"/>
                <a:ea typeface="Arial"/>
                <a:cs typeface="Arial"/>
              </a:defRPr>
            </a:pPr>
            <a:r>
              <a:rPr sz="1725" b="0">
                <a:solidFill>
                  <a:srgbClr val="FFFFFF"/>
                </a:solidFill>
                <a:latin typeface="Arial"/>
                <a:ea typeface="Arial"/>
                <a:cs typeface="Arial"/>
              </a:rPr>
              <a:t>Her doctor discusses her wishes. Only her husband attends.</a:t>
            </a:r>
          </a:p>
        </p:txBody>
      </p:sp>
      <p:pic>
        <p:nvPicPr>
          <p:cNvPr id="23" name=""/>
          <p:cNvPicPr>
            <a:picLocks noChangeAspect="1"/>
          </p:cNvPicPr>
          <p:nvPr/>
        </p:nvPicPr>
        <p:blipFill>
          <a:blip r:embed="Rd02e57a981b94cbe">
            <a:extLst>
              <a:ext uri="{96DAC541-7B7A-43D3-8B79-37D633B846F1}">
                <ns4:svgBlip r:embed="R7a596aad20c346e0"/>
              </a:ext>
            </a:extLst>
          </a:blip>
          <a:stretch/>
        </p:blipFill>
        <p:spPr>
          <a:xfrm>
            <a:off x="6191250" y="3371850"/>
            <a:ext cx="381000" cy="381000"/>
          </a:xfrm>
          <a:prstGeom prst="rect">
            <a:avLst/>
          </a:prstGeom>
        </p:spPr>
      </p:pic>
      <p:sp>
        <p:nvSpPr>
          <p:cNvPr id="9" name="Story step 2">
            <a:extLst>
              <a:ext uri="{FF2B5EF4-FFF2-40B4-BE49-F238E27FC236}">
                <ns2:creationId id="{EEFC35A6-3BF3-423E-B3B2-91B0239D9197}"/>
              </a:ext>
            </a:extLst>
          </p:cNvPr>
          <p:cNvSpPr>
            <a:spLocks noGrp="1"/>
          </p:cNvSpPr>
          <p:nvPr/>
        </p:nvSpPr>
        <p:spPr>
          <a:xfrm>
            <a:off x="6753225" y="3371850"/>
            <a:ext cx="4905375" cy="400050"/>
          </a:xfrm>
          <a:prstGeom prst="rect">
            <a:avLst/>
          </a:prstGeom>
          <a:noFill/>
          <a:ln w="0">
            <a:noFill/>
          </a:ln>
        </p:spPr>
        <p:txBody>
          <a:bodyPr wrap="square" lIns="0" tIns="0" rIns="0" bIns="0">
            <a:normAutofit fontScale="100000"/>
          </a:bodyPr>
          <a:lstStyle/>
          <a:p>
            <a:pPr>
              <a:defRPr sz="2100" b="1">
                <a:solidFill>
                  <a:srgbClr val="E0D7FF"/>
                </a:solidFill>
                <a:latin typeface="Arial"/>
                <a:ea typeface="Arial"/>
                <a:cs typeface="Arial"/>
              </a:defRPr>
            </a:pPr>
            <a:r>
              <a:rPr sz="2100" b="1">
                <a:solidFill>
                  <a:srgbClr val="E0D7FF"/>
                </a:solidFill>
                <a:latin typeface="Arial"/>
                <a:ea typeface="Arial"/>
                <a:cs typeface="Arial"/>
              </a:rPr>
              <a:t>Two months later</a:t>
            </a:r>
          </a:p>
        </p:txBody>
      </p:sp>
      <p:sp>
        <p:nvSpPr>
          <p:cNvPr id="10" name="Story step 2 detail">
            <a:extLst>
              <a:ext uri="{FF2B5EF4-FFF2-40B4-BE49-F238E27FC236}">
                <ns2:creationId id="{F7597F94-D63D-4F8A-8802-A869C9DABF57}"/>
              </a:ext>
            </a:extLst>
          </p:cNvPr>
          <p:cNvSpPr>
            <a:spLocks noGrp="1"/>
          </p:cNvSpPr>
          <p:nvPr/>
        </p:nvSpPr>
        <p:spPr>
          <a:xfrm>
            <a:off x="6753225" y="3867150"/>
            <a:ext cx="4905375" cy="1000125"/>
          </a:xfrm>
          <a:prstGeom prst="rect">
            <a:avLst/>
          </a:prstGeom>
          <a:noFill/>
          <a:ln w="0">
            <a:noFill/>
          </a:ln>
        </p:spPr>
        <p:txBody>
          <a:bodyPr wrap="square" lIns="0" tIns="0" rIns="0" bIns="0">
            <a:normAutofit fontScale="100000"/>
          </a:bodyPr>
          <a:lstStyle/>
          <a:p>
            <a:pPr>
              <a:defRPr sz="1725" b="0">
                <a:solidFill>
                  <a:srgbClr val="FFFFFF"/>
                </a:solidFill>
                <a:latin typeface="Arial"/>
                <a:ea typeface="Arial"/>
                <a:cs typeface="Arial"/>
              </a:defRPr>
            </a:pPr>
            <a:r>
              <a:rPr sz="1725" b="0">
                <a:solidFill>
                  <a:srgbClr val="FFFFFF"/>
                </a:solidFill>
                <a:latin typeface="Arial"/>
                <a:ea typeface="Arial"/>
                <a:cs typeface="Arial"/>
              </a:rPr>
              <a:t>She becomes unconscious and reaches the Emergency Department. The doctor asks if she wanted CPR if her heart stopped.</a:t>
            </a:r>
          </a:p>
        </p:txBody>
      </p:sp>
      <p:pic>
        <p:nvPicPr>
          <p:cNvPr id="26" name=""/>
          <p:cNvPicPr>
            <a:picLocks noChangeAspect="1"/>
          </p:cNvPicPr>
          <p:nvPr/>
        </p:nvPicPr>
        <p:blipFill>
          <a:blip r:embed="Re696ba8d71d141ea">
            <a:extLst>
              <a:ext uri="{96DAC541-7B7A-43D3-8B79-37D633B846F1}">
                <ns4:svgBlip r:embed="R926c479986d64725"/>
              </a:ext>
            </a:extLst>
          </a:blip>
          <a:stretch/>
        </p:blipFill>
        <p:spPr>
          <a:xfrm>
            <a:off x="6191250" y="4752975"/>
            <a:ext cx="381000" cy="381000"/>
          </a:xfrm>
          <a:prstGeom prst="rect">
            <a:avLst/>
          </a:prstGeom>
        </p:spPr>
      </p:pic>
      <p:sp>
        <p:nvSpPr>
          <p:cNvPr id="12" name="Story step 3">
            <a:extLst>
              <a:ext uri="{FF2B5EF4-FFF2-40B4-BE49-F238E27FC236}">
                <ns2:creationId id="{ACE2060F-4CA4-4713-BCAB-481470B01F4F}"/>
              </a:ext>
            </a:extLst>
          </p:cNvPr>
          <p:cNvSpPr>
            <a:spLocks noGrp="1"/>
          </p:cNvSpPr>
          <p:nvPr/>
        </p:nvSpPr>
        <p:spPr>
          <a:xfrm>
            <a:off x="6753225" y="4752975"/>
            <a:ext cx="4905375" cy="400050"/>
          </a:xfrm>
          <a:prstGeom prst="rect">
            <a:avLst/>
          </a:prstGeom>
          <a:noFill/>
          <a:ln w="0">
            <a:noFill/>
          </a:ln>
        </p:spPr>
        <p:txBody>
          <a:bodyPr wrap="square" lIns="0" tIns="0" rIns="0" bIns="0">
            <a:normAutofit fontScale="100000"/>
          </a:bodyPr>
          <a:lstStyle/>
          <a:p>
            <a:pPr>
              <a:defRPr sz="2100" b="1">
                <a:solidFill>
                  <a:srgbClr val="FDBA74"/>
                </a:solidFill>
                <a:latin typeface="Arial"/>
                <a:ea typeface="Arial"/>
                <a:cs typeface="Arial"/>
              </a:defRPr>
            </a:pPr>
            <a:r>
              <a:rPr sz="2100" b="1">
                <a:solidFill>
                  <a:srgbClr val="FDBA74"/>
                </a:solidFill>
                <a:latin typeface="Arial"/>
                <a:ea typeface="Arial"/>
                <a:cs typeface="Arial"/>
              </a:rPr>
              <a:t>The family disagrees</a:t>
            </a:r>
          </a:p>
        </p:txBody>
      </p:sp>
      <p:sp>
        <p:nvSpPr>
          <p:cNvPr id="13" name="Story step 3 detail">
            <a:extLst>
              <a:ext uri="{FF2B5EF4-FFF2-40B4-BE49-F238E27FC236}">
                <ns2:creationId id="{FD757984-482D-4B30-9EDA-D5D07420EE82}"/>
              </a:ext>
            </a:extLst>
          </p:cNvPr>
          <p:cNvSpPr>
            <a:spLocks noGrp="1"/>
          </p:cNvSpPr>
          <p:nvPr/>
        </p:nvSpPr>
        <p:spPr>
          <a:xfrm>
            <a:off x="6753225" y="5248275"/>
            <a:ext cx="4905375" cy="1000125"/>
          </a:xfrm>
          <a:prstGeom prst="rect">
            <a:avLst/>
          </a:prstGeom>
          <a:noFill/>
          <a:ln w="0">
            <a:noFill/>
          </a:ln>
        </p:spPr>
        <p:txBody>
          <a:bodyPr wrap="square" lIns="0" tIns="0" rIns="0" bIns="0">
            <a:normAutofit fontScale="100000"/>
          </a:bodyPr>
          <a:lstStyle/>
          <a:p>
            <a:pPr>
              <a:defRPr sz="1725" b="0">
                <a:solidFill>
                  <a:srgbClr val="FFFFFF"/>
                </a:solidFill>
                <a:latin typeface="Arial"/>
                <a:ea typeface="Arial"/>
                <a:cs typeface="Arial"/>
              </a:defRPr>
            </a:pPr>
            <a:r>
              <a:rPr sz="1725" b="0">
                <a:solidFill>
                  <a:srgbClr val="FFFFFF"/>
                </a:solidFill>
                <a:latin typeface="Arial"/>
                <a:ea typeface="Arial"/>
                <a:cs typeface="Arial"/>
              </a:rPr>
              <a:t>Her husband says yes. Her daughter says no. Her son calls from another city. No one can find the earlier discussion.</a:t>
            </a:r>
          </a:p>
        </p:txBody>
      </p:sp>
      <p:sp>
        <p:nvSpPr>
          <p:cNvPr id="14" name="Shared record takeaway">
            <a:extLst>
              <a:ext uri="{FF2B5EF4-FFF2-40B4-BE49-F238E27FC236}">
                <ns2:creationId id="{1A856099-6E43-41EE-918E-4C9D2B9E3B1B}"/>
              </a:ext>
            </a:extLst>
          </p:cNvPr>
          <p:cNvSpPr>
            <a:spLocks noGrp="1"/>
          </p:cNvSpPr>
          <p:nvPr/>
        </p:nvSpPr>
        <p:spPr>
          <a:xfrm>
            <a:off x="381000" y="6296025"/>
            <a:ext cx="11430000" cy="561975"/>
          </a:xfrm>
          <a:prstGeom prst="rect">
            <a:avLst/>
          </a:prstGeom>
          <a:solidFill>
            <a:srgbClr val="073F49"/>
          </a:solidFill>
          <a:ln w="0">
            <a:noFill/>
          </a:ln>
        </p:spPr>
      </p:sp>
      <p:sp>
        <p:nvSpPr>
          <p:cNvPr id="15" name="Closing thought">
            <a:extLst>
              <a:ext uri="{FF2B5EF4-FFF2-40B4-BE49-F238E27FC236}">
                <ns2:creationId id="{05A448ED-61A1-462B-91B4-94D437BF6485}"/>
              </a:ext>
            </a:extLst>
          </p:cNvPr>
          <p:cNvSpPr>
            <a:spLocks noGrp="1"/>
          </p:cNvSpPr>
          <p:nvPr/>
        </p:nvSpPr>
        <p:spPr>
          <a:xfrm>
            <a:off x="533400" y="6410325"/>
            <a:ext cx="11125200" cy="371475"/>
          </a:xfrm>
          <a:prstGeom prst="rect">
            <a:avLst/>
          </a:prstGeom>
          <a:noFill/>
          <a:ln w="0">
            <a:noFill/>
          </a:ln>
        </p:spPr>
        <p:txBody>
          <a:bodyPr wrap="square" lIns="0" tIns="0" rIns="0" bIns="0">
            <a:normAutofit fontScale="100000"/>
          </a:bodyPr>
          <a:lstStyle/>
          <a:p>
            <a:pPr>
              <a:defRPr sz="2025" b="1">
                <a:solidFill>
                  <a:srgbClr val="FFFFFF"/>
                </a:solidFill>
                <a:latin typeface="Arial"/>
                <a:ea typeface="Arial"/>
                <a:cs typeface="Arial"/>
              </a:defRPr>
            </a:pPr>
            <a:r>
              <a:rPr sz="2025" b="1">
                <a:solidFill>
                  <a:srgbClr val="FFFFFF"/>
                </a:solidFill>
                <a:latin typeface="Arial"/>
                <a:ea typeface="Arial"/>
                <a:cs typeface="Arial"/>
              </a:rPr>
              <a:t>Families need the patient’s wishes to guide care when the patient cannot speak.</a:t>
            </a:r>
          </a:p>
        </p:txBody>
      </p:sp>
    </p:spTree>
    <p:extLst>
      <p:ext uri="{BB962C8B-B14F-4D97-AF65-F5344CB8AC3E}">
        <ns5:creationId val="486496822"/>
      </p:ext>
    </p:extLst>
  </p:cSld>
</p:sld>
</file>

<file path=ppt/slides/slide3.xml><?xml version="1.0" encoding="utf-8"?>
<p:sld xmlns:a="http://schemas.openxmlformats.org/drawingml/2006/main" xmlns:ns2="http://schemas.openxmlformats.org/drawingml/2006/chart" xmlns:ns4="http://schemas.microsoft.com/office/drawing/2014/main" xmlns:ns5="http://schemas.microsoft.com/office/drawing/2016/SVG/main" xmlns:ns6="http://schemas.microsoft.com/office/powerpoint/2010/main" xmlns:p="http://schemas.openxmlformats.org/presentationml/2006/main" xmlns:r="http://schemas.openxmlformats.org/officeDocument/2006/relationships">
  <p:cSld>
    <p:bg>
      <p:bgPr>
        <a:solidFill>
          <a:srgbClr val="CAD8ED"/>
        </a:solidFill>
      </p:bgPr>
    </p:bg>
    <p:spTree>
      <p:nvGrpSpPr>
        <p:cNvPr id="1" name=""/>
        <p:cNvGrpSpPr/>
        <p:nvPr/>
      </p:nvGrpSpPr>
      <p:grpSpPr>
        <a:xfrm/>
      </p:grpSpPr>
      <p:graphicFrame>
        <p:nvGraphicFramePr>
          <p:cNvPr id="44" name="Chart"/>
          <p:cNvGraphicFramePr/>
          <p:nvPr/>
        </p:nvGraphicFramePr>
        <p:xfrm>
          <a:off x="7372350" y="2657475"/>
          <a:ext cx="4057650" cy="1619250"/>
        </p:xfrm>
        <a:graphic>
          <a:graphicData uri="http://schemas.openxmlformats.org/drawingml/2006/chart">
            <ns2:chart r:id="R4580f66bb150472f"/>
          </a:graphicData>
        </a:graphic>
      </p:graphicFrame>
      <p:sp>
        <p:nvSpPr>
          <p:cNvPr id="15" name="Slide title">
            <a:extLst>
              <a:ext uri="{FF2B5EF4-FFF2-40B4-BE49-F238E27FC236}">
                <ns4:creationId id="{60CD0C70-7B6B-417B-8251-A230503B2094}"/>
              </a:ext>
            </a:extLst>
          </p:cNvPr>
          <p:cNvSpPr>
            <a:spLocks noGrp="1"/>
          </p:cNvSpPr>
          <p:nvPr/>
        </p:nvSpPr>
        <p:spPr>
          <a:xfrm>
            <a:off x="533400" y="304800"/>
            <a:ext cx="11125200" cy="609600"/>
          </a:xfrm>
          <a:prstGeom prst="rect">
            <a:avLst/>
          </a:prstGeom>
          <a:noFill/>
          <a:ln w="0">
            <a:noFill/>
          </a:ln>
        </p:spPr>
        <p:txBody>
          <a:bodyPr wrap="square" lIns="0" tIns="0" rIns="0" bIns="0">
            <a:normAutofit fontScale="100000"/>
          </a:bodyPr>
          <a:lstStyle/>
          <a:p>
            <a:pPr>
              <a:defRPr sz="3075" b="1">
                <a:solidFill>
                  <a:srgbClr val="173F33"/>
                </a:solidFill>
                <a:latin typeface="Arial"/>
                <a:ea typeface="Arial"/>
                <a:cs typeface="Arial"/>
              </a:defRPr>
            </a:pPr>
            <a:r>
              <a:rPr sz="3075" b="1">
                <a:solidFill>
                  <a:srgbClr val="173F33"/>
                </a:solidFill>
                <a:latin typeface="Arial"/>
                <a:ea typeface="Arial"/>
                <a:cs typeface="Arial"/>
              </a:rPr>
              <a:t>Why a palliative care companion is needed</a:t>
            </a:r>
          </a:p>
        </p:txBody>
      </p:sp>
      <p:pic>
        <p:nvPicPr>
          <p:cNvPr id="46" name=""/>
          <p:cNvPicPr>
            <a:picLocks noChangeAspect="1"/>
          </p:cNvPicPr>
          <p:nvPr/>
        </p:nvPicPr>
        <p:blipFill>
          <a:blip r:embed="R7150cbefd5504004">
            <a:extLst>
              <a:ext uri="{96DAC541-7B7A-43D3-8B79-37D633B846F1}">
                <ns5:svgBlip r:embed="R09e776f29a0744bc"/>
              </a:ext>
            </a:extLst>
          </a:blip>
          <a:stretch/>
        </p:blipFill>
        <p:spPr>
          <a:xfrm>
            <a:off x="533400" y="1257300"/>
            <a:ext cx="361950" cy="361950"/>
          </a:xfrm>
          <a:prstGeom prst="rect">
            <a:avLst/>
          </a:prstGeom>
        </p:spPr>
      </p:pic>
      <p:sp>
        <p:nvSpPr>
          <p:cNvPr id="17" name="Evidence 15.6 lakh">
            <a:extLst>
              <a:ext uri="{FF2B5EF4-FFF2-40B4-BE49-F238E27FC236}">
                <ns4:creationId id="{24987B7E-8832-4110-A7BD-4B4BED9FDAE5}"/>
              </a:ext>
            </a:extLst>
          </p:cNvPr>
          <p:cNvSpPr>
            <a:spLocks noGrp="1"/>
          </p:cNvSpPr>
          <p:nvPr/>
        </p:nvSpPr>
        <p:spPr>
          <a:xfrm>
            <a:off x="1000125" y="1181100"/>
            <a:ext cx="2466975" cy="561975"/>
          </a:xfrm>
          <a:prstGeom prst="rect">
            <a:avLst/>
          </a:prstGeom>
          <a:noFill/>
          <a:ln w="0">
            <a:noFill/>
          </a:ln>
        </p:spPr>
        <p:txBody>
          <a:bodyPr wrap="square" lIns="0" tIns="0" rIns="0" bIns="0">
            <a:normAutofit fontScale="100000"/>
          </a:bodyPr>
          <a:lstStyle/>
          <a:p>
            <a:pPr>
              <a:defRPr sz="3300" b="1">
                <a:solidFill>
                  <a:srgbClr val="B75E43"/>
                </a:solidFill>
                <a:latin typeface="Arial"/>
                <a:ea typeface="Arial"/>
                <a:cs typeface="Arial"/>
              </a:defRPr>
            </a:pPr>
            <a:r>
              <a:rPr sz="3300" b="1">
                <a:solidFill>
                  <a:srgbClr val="B75E43"/>
                </a:solidFill>
                <a:latin typeface="Arial"/>
                <a:ea typeface="Arial"/>
                <a:cs typeface="Arial"/>
              </a:rPr>
              <a:t>15.6 lakh</a:t>
            </a:r>
          </a:p>
        </p:txBody>
      </p:sp>
      <p:sp>
        <p:nvSpPr>
          <p:cNvPr id="18" name="Evidence 15.6 lakh scope">
            <a:extLst>
              <a:ext uri="{FF2B5EF4-FFF2-40B4-BE49-F238E27FC236}">
                <ns4:creationId id="{42CAF70C-B982-46DC-926B-37F3A8E5639C}"/>
              </a:ext>
            </a:extLst>
          </p:cNvPr>
          <p:cNvSpPr>
            <a:spLocks noGrp="1"/>
          </p:cNvSpPr>
          <p:nvPr/>
        </p:nvSpPr>
        <p:spPr>
          <a:xfrm>
            <a:off x="533400" y="1800225"/>
            <a:ext cx="2933700" cy="1114425"/>
          </a:xfrm>
          <a:prstGeom prst="rect">
            <a:avLst/>
          </a:prstGeom>
          <a:noFill/>
          <a:ln w="0">
            <a:noFill/>
          </a:ln>
        </p:spPr>
        <p:txBody>
          <a:bodyPr wrap="square" lIns="0" tIns="0" rIns="0" bIns="0">
            <a:normAutofit fontScale="100000"/>
          </a:bodyPr>
          <a:lstStyle/>
          <a:p>
            <a:pPr>
              <a:defRPr sz="1575" b="0">
                <a:solidFill>
                  <a:srgbClr val="173F33"/>
                </a:solidFill>
                <a:latin typeface="Arial"/>
                <a:ea typeface="Arial"/>
                <a:cs typeface="Arial"/>
              </a:defRPr>
            </a:pPr>
            <a:r>
              <a:rPr sz="1575" b="0">
                <a:solidFill>
                  <a:srgbClr val="173F33"/>
                </a:solidFill>
                <a:latin typeface="Arial"/>
                <a:ea typeface="Arial"/>
                <a:cs typeface="Arial"/>
              </a:rPr>
              <a:t>Estimated new cancer cases in India in 2024.</a:t>
            </a:r>
          </a:p>
        </p:txBody>
      </p:sp>
      <p:sp>
        <p:nvSpPr>
          <p:cNvPr id="19" name="Evidence 15.6 lakh source">
            <a:extLst>
              <a:ext uri="{FF2B5EF4-FFF2-40B4-BE49-F238E27FC236}">
                <ns4:creationId id="{73B33E90-3035-48FC-9042-712D7D53E04A}"/>
              </a:ext>
            </a:extLst>
          </p:cNvPr>
          <p:cNvSpPr>
            <a:spLocks noGrp="1"/>
          </p:cNvSpPr>
          <p:nvPr/>
        </p:nvSpPr>
        <p:spPr>
          <a:xfrm>
            <a:off x="533400" y="2933700"/>
            <a:ext cx="2933700" cy="285750"/>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6bc23427d434483e"/>
              </a:rPr>
              <a:t>IARC, GLOBOCAN 2024</a:t>
            </a:r>
          </a:p>
        </p:txBody>
      </p:sp>
      <p:pic>
        <p:nvPicPr>
          <p:cNvPr id="50" name=""/>
          <p:cNvPicPr>
            <a:picLocks noChangeAspect="1"/>
          </p:cNvPicPr>
          <p:nvPr/>
        </p:nvPicPr>
        <p:blipFill>
          <a:blip r:embed="R64ee78426015492e">
            <a:extLst>
              <a:ext uri="{96DAC541-7B7A-43D3-8B79-37D633B846F1}">
                <ns5:svgBlip r:embed="Recdb3597996745f1"/>
              </a:ext>
            </a:extLst>
          </a:blip>
          <a:stretch/>
        </p:blipFill>
        <p:spPr>
          <a:xfrm>
            <a:off x="3857625" y="1257300"/>
            <a:ext cx="361950" cy="361950"/>
          </a:xfrm>
          <a:prstGeom prst="rect">
            <a:avLst/>
          </a:prstGeom>
        </p:spPr>
      </p:pic>
      <p:sp>
        <p:nvSpPr>
          <p:cNvPr id="21" name="Evidence 98.39%">
            <a:extLst>
              <a:ext uri="{FF2B5EF4-FFF2-40B4-BE49-F238E27FC236}">
                <ns4:creationId id="{92F62799-9EB2-41D4-A980-3E44BF96D7FD}"/>
              </a:ext>
            </a:extLst>
          </p:cNvPr>
          <p:cNvSpPr>
            <a:spLocks noGrp="1"/>
          </p:cNvSpPr>
          <p:nvPr/>
        </p:nvSpPr>
        <p:spPr>
          <a:xfrm>
            <a:off x="4324350" y="1181100"/>
            <a:ext cx="2466975" cy="561975"/>
          </a:xfrm>
          <a:prstGeom prst="rect">
            <a:avLst/>
          </a:prstGeom>
          <a:noFill/>
          <a:ln w="0">
            <a:noFill/>
          </a:ln>
        </p:spPr>
        <p:txBody>
          <a:bodyPr wrap="square" lIns="0" tIns="0" rIns="0" bIns="0">
            <a:normAutofit fontScale="100000"/>
          </a:bodyPr>
          <a:lstStyle/>
          <a:p>
            <a:pPr>
              <a:defRPr sz="3300" b="1">
                <a:solidFill>
                  <a:srgbClr val="157B68"/>
                </a:solidFill>
                <a:latin typeface="Arial"/>
                <a:ea typeface="Arial"/>
                <a:cs typeface="Arial"/>
              </a:defRPr>
            </a:pPr>
            <a:r>
              <a:rPr sz="3300" b="1">
                <a:solidFill>
                  <a:srgbClr val="157B68"/>
                </a:solidFill>
                <a:latin typeface="Arial"/>
                <a:ea typeface="Arial"/>
                <a:cs typeface="Arial"/>
              </a:rPr>
              <a:t>98.39%</a:t>
            </a:r>
          </a:p>
        </p:txBody>
      </p:sp>
      <p:sp>
        <p:nvSpPr>
          <p:cNvPr id="22" name="Evidence 98.39% scope">
            <a:extLst>
              <a:ext uri="{FF2B5EF4-FFF2-40B4-BE49-F238E27FC236}">
                <ns4:creationId id="{6DD807BB-6DAE-4C17-B07E-2F8A6A2DC9F3}"/>
              </a:ext>
            </a:extLst>
          </p:cNvPr>
          <p:cNvSpPr>
            <a:spLocks noGrp="1"/>
          </p:cNvSpPr>
          <p:nvPr/>
        </p:nvSpPr>
        <p:spPr>
          <a:xfrm>
            <a:off x="3857625" y="1800225"/>
            <a:ext cx="2933700" cy="1114425"/>
          </a:xfrm>
          <a:prstGeom prst="rect">
            <a:avLst/>
          </a:prstGeom>
          <a:noFill/>
          <a:ln w="0">
            <a:noFill/>
          </a:ln>
        </p:spPr>
        <p:txBody>
          <a:bodyPr wrap="square" lIns="0" tIns="0" rIns="0" bIns="0">
            <a:normAutofit fontScale="100000"/>
          </a:bodyPr>
          <a:lstStyle/>
          <a:p>
            <a:pPr>
              <a:defRPr sz="1575" b="0">
                <a:solidFill>
                  <a:srgbClr val="173F33"/>
                </a:solidFill>
                <a:latin typeface="Arial"/>
                <a:ea typeface="Arial"/>
                <a:cs typeface="Arial"/>
              </a:defRPr>
            </a:pPr>
            <a:r>
              <a:rPr sz="1575" b="0">
                <a:solidFill>
                  <a:srgbClr val="173F33"/>
                </a:solidFill>
                <a:latin typeface="Arial"/>
                <a:ea typeface="Arial"/>
                <a:cs typeface="Arial"/>
              </a:rPr>
              <a:t>Estimated unmet palliative-care need in metastatic disease across 10 cancer types.</a:t>
            </a:r>
          </a:p>
        </p:txBody>
      </p:sp>
      <p:sp>
        <p:nvSpPr>
          <p:cNvPr id="23" name="Evidence 98.39% source">
            <a:extLst>
              <a:ext uri="{FF2B5EF4-FFF2-40B4-BE49-F238E27FC236}">
                <ns4:creationId id="{570CF731-D8E6-4F6C-A97B-5198F0BEA49E}"/>
              </a:ext>
            </a:extLst>
          </p:cNvPr>
          <p:cNvSpPr>
            <a:spLocks noGrp="1"/>
          </p:cNvSpPr>
          <p:nvPr/>
        </p:nvSpPr>
        <p:spPr>
          <a:xfrm>
            <a:off x="3857625" y="2933700"/>
            <a:ext cx="2933700" cy="285750"/>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29c3a5a628494cdc"/>
              </a:rPr>
              <a:t>Patil et al., 2024</a:t>
            </a:r>
          </a:p>
        </p:txBody>
      </p:sp>
      <p:pic>
        <p:nvPicPr>
          <p:cNvPr id="54" name=""/>
          <p:cNvPicPr>
            <a:picLocks noChangeAspect="1"/>
          </p:cNvPicPr>
          <p:nvPr/>
        </p:nvPicPr>
        <p:blipFill>
          <a:blip r:embed="R7efb40b4498543ca">
            <a:extLst>
              <a:ext uri="{96DAC541-7B7A-43D3-8B79-37D633B846F1}">
                <ns5:svgBlip r:embed="R8ee76a58d5984c0d"/>
              </a:ext>
            </a:extLst>
          </a:blip>
          <a:stretch/>
        </p:blipFill>
        <p:spPr>
          <a:xfrm>
            <a:off x="533400" y="3390900"/>
            <a:ext cx="361950" cy="361950"/>
          </a:xfrm>
          <a:prstGeom prst="rect">
            <a:avLst/>
          </a:prstGeom>
        </p:spPr>
      </p:pic>
      <p:sp>
        <p:nvSpPr>
          <p:cNvPr id="25" name="Evidence 88%">
            <a:extLst>
              <a:ext uri="{FF2B5EF4-FFF2-40B4-BE49-F238E27FC236}">
                <ns4:creationId id="{18F0D7CE-ABE1-4F61-A6C5-C4089D8AF653}"/>
              </a:ext>
            </a:extLst>
          </p:cNvPr>
          <p:cNvSpPr>
            <a:spLocks noGrp="1"/>
          </p:cNvSpPr>
          <p:nvPr/>
        </p:nvSpPr>
        <p:spPr>
          <a:xfrm>
            <a:off x="1000125" y="3314700"/>
            <a:ext cx="2466975" cy="561975"/>
          </a:xfrm>
          <a:prstGeom prst="rect">
            <a:avLst/>
          </a:prstGeom>
          <a:noFill/>
          <a:ln w="0">
            <a:noFill/>
          </a:ln>
        </p:spPr>
        <p:txBody>
          <a:bodyPr wrap="square" lIns="0" tIns="0" rIns="0" bIns="0">
            <a:normAutofit fontScale="100000"/>
          </a:bodyPr>
          <a:lstStyle/>
          <a:p>
            <a:pPr>
              <a:defRPr sz="3300" b="1">
                <a:solidFill>
                  <a:srgbClr val="7353AC"/>
                </a:solidFill>
                <a:latin typeface="Arial"/>
                <a:ea typeface="Arial"/>
                <a:cs typeface="Arial"/>
              </a:defRPr>
            </a:pPr>
            <a:r>
              <a:rPr sz="3300" b="1">
                <a:solidFill>
                  <a:srgbClr val="7353AC"/>
                </a:solidFill>
                <a:latin typeface="Arial"/>
                <a:ea typeface="Arial"/>
                <a:cs typeface="Arial"/>
              </a:rPr>
              <a:t>88%</a:t>
            </a:r>
          </a:p>
        </p:txBody>
      </p:sp>
      <p:sp>
        <p:nvSpPr>
          <p:cNvPr id="26" name="Evidence 88% scope">
            <a:extLst>
              <a:ext uri="{FF2B5EF4-FFF2-40B4-BE49-F238E27FC236}">
                <ns4:creationId id="{D5B76F32-4339-4891-A2C0-BC1B89A8B1CF}"/>
              </a:ext>
            </a:extLst>
          </p:cNvPr>
          <p:cNvSpPr>
            <a:spLocks noGrp="1"/>
          </p:cNvSpPr>
          <p:nvPr/>
        </p:nvSpPr>
        <p:spPr>
          <a:xfrm>
            <a:off x="533400" y="3933825"/>
            <a:ext cx="2933700" cy="1114425"/>
          </a:xfrm>
          <a:prstGeom prst="rect">
            <a:avLst/>
          </a:prstGeom>
          <a:noFill/>
          <a:ln w="0">
            <a:noFill/>
          </a:ln>
        </p:spPr>
        <p:txBody>
          <a:bodyPr wrap="square" lIns="0" tIns="0" rIns="0" bIns="0">
            <a:normAutofit fontScale="98331"/>
          </a:bodyPr>
          <a:lstStyle/>
          <a:p>
            <a:pPr>
              <a:defRPr sz="1575" b="0">
                <a:solidFill>
                  <a:srgbClr val="173F33"/>
                </a:solidFill>
                <a:latin typeface="Arial"/>
                <a:ea typeface="Arial"/>
                <a:cs typeface="Arial"/>
              </a:defRPr>
            </a:pPr>
            <a:r>
              <a:rPr sz="1575" b="0">
                <a:solidFill>
                  <a:srgbClr val="173F33"/>
                </a:solidFill>
                <a:latin typeface="Arial"/>
                <a:ea typeface="Arial"/>
                <a:cs typeface="Arial"/>
              </a:rPr>
              <a:t>Surveyed patients wanted to choose their end-of-life treatment. 2,400+ urban respondents with a recent hospital stay (2019).</a:t>
            </a:r>
          </a:p>
        </p:txBody>
      </p:sp>
      <p:sp>
        <p:nvSpPr>
          <p:cNvPr id="27" name="Evidence 88% source">
            <a:extLst>
              <a:ext uri="{FF2B5EF4-FFF2-40B4-BE49-F238E27FC236}">
                <ns4:creationId id="{972BBEEE-7A8A-4800-A953-DB42BFD92532}"/>
              </a:ext>
            </a:extLst>
          </p:cNvPr>
          <p:cNvSpPr>
            <a:spLocks noGrp="1"/>
          </p:cNvSpPr>
          <p:nvPr/>
        </p:nvSpPr>
        <p:spPr>
          <a:xfrm>
            <a:off x="533400" y="5067300"/>
            <a:ext cx="2933700" cy="285750"/>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975bb0e6219b4681"/>
              </a:rPr>
              <a:t>IndiaSpend; seven-city survey</a:t>
            </a:r>
          </a:p>
        </p:txBody>
      </p:sp>
      <p:pic>
        <p:nvPicPr>
          <p:cNvPr id="58" name=""/>
          <p:cNvPicPr>
            <a:picLocks noChangeAspect="1"/>
          </p:cNvPicPr>
          <p:nvPr/>
        </p:nvPicPr>
        <p:blipFill>
          <a:blip r:embed="Rfba9231bd1524901">
            <a:extLst>
              <a:ext uri="{96DAC541-7B7A-43D3-8B79-37D633B846F1}">
                <ns5:svgBlip r:embed="Rd860c742033444c0"/>
              </a:ext>
            </a:extLst>
          </a:blip>
          <a:stretch/>
        </p:blipFill>
        <p:spPr>
          <a:xfrm>
            <a:off x="3857625" y="3390900"/>
            <a:ext cx="361950" cy="361950"/>
          </a:xfrm>
          <a:prstGeom prst="rect">
            <a:avLst/>
          </a:prstGeom>
        </p:spPr>
      </p:pic>
      <p:sp>
        <p:nvSpPr>
          <p:cNvPr id="29" name="Evidence 11.5%">
            <a:extLst>
              <a:ext uri="{FF2B5EF4-FFF2-40B4-BE49-F238E27FC236}">
                <ns4:creationId id="{D9315E79-7051-4CFE-A5BE-3F8B2608BCD5}"/>
              </a:ext>
            </a:extLst>
          </p:cNvPr>
          <p:cNvSpPr>
            <a:spLocks noGrp="1"/>
          </p:cNvSpPr>
          <p:nvPr/>
        </p:nvSpPr>
        <p:spPr>
          <a:xfrm>
            <a:off x="4324350" y="3314700"/>
            <a:ext cx="2466975" cy="561975"/>
          </a:xfrm>
          <a:prstGeom prst="rect">
            <a:avLst/>
          </a:prstGeom>
          <a:noFill/>
          <a:ln w="0">
            <a:noFill/>
          </a:ln>
        </p:spPr>
        <p:txBody>
          <a:bodyPr wrap="square" lIns="0" tIns="0" rIns="0" bIns="0">
            <a:normAutofit fontScale="100000"/>
          </a:bodyPr>
          <a:lstStyle/>
          <a:p>
            <a:pPr>
              <a:defRPr sz="3300" b="1">
                <a:solidFill>
                  <a:srgbClr val="4357C7"/>
                </a:solidFill>
                <a:latin typeface="Arial"/>
                <a:ea typeface="Arial"/>
                <a:cs typeface="Arial"/>
              </a:defRPr>
            </a:pPr>
            <a:r>
              <a:rPr sz="3300" b="1">
                <a:solidFill>
                  <a:srgbClr val="4357C7"/>
                </a:solidFill>
                <a:latin typeface="Arial"/>
                <a:ea typeface="Arial"/>
                <a:cs typeface="Arial"/>
              </a:rPr>
              <a:t>11.5%</a:t>
            </a:r>
          </a:p>
        </p:txBody>
      </p:sp>
      <p:sp>
        <p:nvSpPr>
          <p:cNvPr id="30" name="Evidence 11.5% scope">
            <a:extLst>
              <a:ext uri="{FF2B5EF4-FFF2-40B4-BE49-F238E27FC236}">
                <ns4:creationId id="{D1C690C8-FA1D-4E00-ADF8-EF2CA51E6FFE}"/>
              </a:ext>
            </a:extLst>
          </p:cNvPr>
          <p:cNvSpPr>
            <a:spLocks noGrp="1"/>
          </p:cNvSpPr>
          <p:nvPr/>
        </p:nvSpPr>
        <p:spPr>
          <a:xfrm>
            <a:off x="3857625" y="3933825"/>
            <a:ext cx="2933700" cy="1114425"/>
          </a:xfrm>
          <a:prstGeom prst="rect">
            <a:avLst/>
          </a:prstGeom>
          <a:noFill/>
          <a:ln w="0">
            <a:noFill/>
          </a:ln>
        </p:spPr>
        <p:txBody>
          <a:bodyPr wrap="square" lIns="0" tIns="0" rIns="0" bIns="0">
            <a:normAutofit fontScale="100000"/>
          </a:bodyPr>
          <a:lstStyle/>
          <a:p>
            <a:pPr>
              <a:defRPr sz="1575" b="0">
                <a:solidFill>
                  <a:srgbClr val="173F33"/>
                </a:solidFill>
                <a:latin typeface="Arial"/>
                <a:ea typeface="Arial"/>
                <a:cs typeface="Arial"/>
              </a:defRPr>
            </a:pPr>
            <a:r>
              <a:rPr sz="1575" b="0">
                <a:solidFill>
                  <a:srgbClr val="173F33"/>
                </a:solidFill>
                <a:latin typeface="Arial"/>
                <a:ea typeface="Arial"/>
                <a:cs typeface="Arial"/>
              </a:rPr>
              <a:t>45/391 doctors had training in advance directives and their practical aspects. One hospital.</a:t>
            </a:r>
          </a:p>
        </p:txBody>
      </p:sp>
      <p:sp>
        <p:nvSpPr>
          <p:cNvPr id="31" name="Evidence 11.5% source">
            <a:extLst>
              <a:ext uri="{FF2B5EF4-FFF2-40B4-BE49-F238E27FC236}">
                <ns4:creationId id="{80C1B682-B9A4-46C4-A603-CE8937D1418D}"/>
              </a:ext>
            </a:extLst>
          </p:cNvPr>
          <p:cNvSpPr>
            <a:spLocks noGrp="1"/>
          </p:cNvSpPr>
          <p:nvPr/>
        </p:nvSpPr>
        <p:spPr>
          <a:xfrm>
            <a:off x="3857625" y="5067300"/>
            <a:ext cx="2933700" cy="285750"/>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54154b00ef054d3f"/>
              </a:rPr>
              <a:t>Jacob et al., CMC Vellore, 2026</a:t>
            </a:r>
          </a:p>
        </p:txBody>
      </p:sp>
      <p:sp>
        <p:nvSpPr>
          <p:cNvPr id="32" name="Goals of care definition">
            <a:extLst>
              <a:ext uri="{FF2B5EF4-FFF2-40B4-BE49-F238E27FC236}">
                <ns4:creationId id="{EA34D0C4-CE6A-490A-8EEE-D508FD33EE98}"/>
              </a:ext>
            </a:extLst>
          </p:cNvPr>
          <p:cNvSpPr>
            <a:spLocks noGrp="1"/>
          </p:cNvSpPr>
          <p:nvPr/>
        </p:nvSpPr>
        <p:spPr>
          <a:xfrm>
            <a:off x="7143750" y="1104900"/>
            <a:ext cx="4514850" cy="1438275"/>
          </a:xfrm>
          <a:prstGeom prst="rect">
            <a:avLst/>
          </a:prstGeom>
          <a:solidFill>
            <a:srgbClr val="F3F6FA"/>
          </a:solidFill>
          <a:ln w="0">
            <a:noFill/>
          </a:ln>
        </p:spPr>
      </p:sp>
      <p:sp>
        <p:nvSpPr>
          <p:cNvPr id="33" name="Definition title">
            <a:extLst>
              <a:ext uri="{FF2B5EF4-FFF2-40B4-BE49-F238E27FC236}">
                <ns4:creationId id="{A1E1DCC2-B636-4CE6-8386-1DEC52FE3EE1}"/>
              </a:ext>
            </a:extLst>
          </p:cNvPr>
          <p:cNvSpPr>
            <a:spLocks noGrp="1"/>
          </p:cNvSpPr>
          <p:nvPr/>
        </p:nvSpPr>
        <p:spPr>
          <a:xfrm>
            <a:off x="7334250" y="1228725"/>
            <a:ext cx="4143375" cy="333375"/>
          </a:xfrm>
          <a:prstGeom prst="rect">
            <a:avLst/>
          </a:prstGeom>
          <a:noFill/>
          <a:ln w="0">
            <a:noFill/>
          </a:ln>
        </p:spPr>
        <p:txBody>
          <a:bodyPr wrap="square" lIns="0" tIns="0" rIns="0" bIns="0">
            <a:normAutofit fontScale="100000"/>
          </a:bodyPr>
          <a:lstStyle/>
          <a:p>
            <a:pPr>
              <a:defRPr sz="1950" b="1">
                <a:solidFill>
                  <a:srgbClr val="173F33"/>
                </a:solidFill>
                <a:latin typeface="Arial"/>
                <a:ea typeface="Arial"/>
                <a:cs typeface="Arial"/>
              </a:defRPr>
            </a:pPr>
            <a:r>
              <a:rPr sz="1950" b="1">
                <a:solidFill>
                  <a:srgbClr val="173F33"/>
                </a:solidFill>
                <a:latin typeface="Arial"/>
                <a:ea typeface="Arial"/>
                <a:cs typeface="Arial"/>
              </a:rPr>
              <a:t>Goals-of-care discussion</a:t>
            </a:r>
          </a:p>
        </p:txBody>
      </p:sp>
      <p:sp>
        <p:nvSpPr>
          <p:cNvPr id="34" name="Goals of care definition">
            <a:extLst>
              <a:ext uri="{FF2B5EF4-FFF2-40B4-BE49-F238E27FC236}">
                <ns4:creationId id="{6B9E964A-1E4D-4226-BAF5-A0C0F1FBBBBD}"/>
              </a:ext>
            </a:extLst>
          </p:cNvPr>
          <p:cNvSpPr>
            <a:spLocks noGrp="1"/>
          </p:cNvSpPr>
          <p:nvPr/>
        </p:nvSpPr>
        <p:spPr>
          <a:xfrm>
            <a:off x="7334250" y="1609725"/>
            <a:ext cx="4143375" cy="866775"/>
          </a:xfrm>
          <a:prstGeom prst="rect">
            <a:avLst/>
          </a:prstGeom>
          <a:noFill/>
          <a:ln w="0">
            <a:noFill/>
          </a:ln>
        </p:spPr>
        <p:txBody>
          <a:bodyPr wrap="square" lIns="0" tIns="0" rIns="0" bIns="0">
            <a:normAutofit fontScale="92450"/>
          </a:bodyPr>
          <a:lstStyle/>
          <a:p>
            <a:pPr>
              <a:defRPr sz="1538" b="0">
                <a:solidFill>
                  <a:srgbClr val="173F33"/>
                </a:solidFill>
                <a:latin typeface="Arial"/>
                <a:ea typeface="Arial"/>
                <a:cs typeface="Arial"/>
              </a:defRPr>
            </a:pPr>
            <a:r>
              <a:rPr sz="1538" b="0">
                <a:solidFill>
                  <a:srgbClr val="173F33"/>
                </a:solidFill>
                <a:latin typeface="Arial"/>
                <a:ea typeface="Arial"/>
                <a:cs typeface="Arial"/>
              </a:rPr>
              <a:t>A clinician-led conversation about a patient’s values, priorities and care preferences, used to agree care goals with the patient and, with consent, their family.</a:t>
            </a:r>
          </a:p>
        </p:txBody>
      </p:sp>
      <p:sp>
        <p:nvSpPr>
          <p:cNvPr id="35" name="QI finding">
            <a:extLst>
              <a:ext uri="{FF2B5EF4-FFF2-40B4-BE49-F238E27FC236}">
                <ns4:creationId id="{2F03E078-4D25-4F20-B880-684B58BC7BC6}"/>
              </a:ext>
            </a:extLst>
          </p:cNvPr>
          <p:cNvSpPr>
            <a:spLocks noGrp="1"/>
          </p:cNvSpPr>
          <p:nvPr/>
        </p:nvSpPr>
        <p:spPr>
          <a:xfrm>
            <a:off x="7372350" y="4333875"/>
            <a:ext cx="4057650" cy="790575"/>
          </a:xfrm>
          <a:prstGeom prst="rect">
            <a:avLst/>
          </a:prstGeom>
          <a:noFill/>
          <a:ln w="0">
            <a:noFill/>
          </a:ln>
        </p:spPr>
        <p:txBody>
          <a:bodyPr wrap="square" lIns="0" tIns="0" rIns="0" bIns="0">
            <a:normAutofit fontScale="100000"/>
          </a:bodyPr>
          <a:lstStyle/>
          <a:p>
            <a:pPr>
              <a:defRPr sz="1650" b="0">
                <a:solidFill>
                  <a:srgbClr val="173F33"/>
                </a:solidFill>
                <a:latin typeface="Arial"/>
                <a:ea typeface="Arial"/>
                <a:cs typeface="Arial"/>
              </a:defRPr>
            </a:pPr>
            <a:r>
              <a:rPr sz="1650" b="0">
                <a:solidFill>
                  <a:srgbClr val="173F33"/>
                </a:solidFill>
                <a:latin typeface="Arial"/>
                <a:ea typeface="Arial"/>
                <a:cs typeface="Arial"/>
              </a:rPr>
              <a:t>A standard procedure improved goals-of-care documentation to 92% (24/26 eligible patients).</a:t>
            </a:r>
          </a:p>
        </p:txBody>
      </p:sp>
      <p:sp>
        <p:nvSpPr>
          <p:cNvPr id="36" name="QI scope">
            <a:extLst>
              <a:ext uri="{FF2B5EF4-FFF2-40B4-BE49-F238E27FC236}">
                <ns4:creationId id="{E6980F6E-CF5A-438B-A274-F7E7F3520EED}"/>
              </a:ext>
            </a:extLst>
          </p:cNvPr>
          <p:cNvSpPr>
            <a:spLocks noGrp="1"/>
          </p:cNvSpPr>
          <p:nvPr/>
        </p:nvSpPr>
        <p:spPr>
          <a:xfrm>
            <a:off x="7372350" y="5133975"/>
            <a:ext cx="4057650" cy="200025"/>
          </a:xfrm>
          <a:prstGeom prst="rect">
            <a:avLst/>
          </a:prstGeom>
          <a:noFill/>
          <a:ln w="0">
            <a:noFill/>
          </a:ln>
        </p:spPr>
        <p:txBody>
          <a:bodyPr wrap="square" lIns="0" tIns="0" rIns="0" bIns="0">
            <a:normAutofit fontScale="100000"/>
          </a:bodyPr>
          <a:lstStyle/>
          <a:p>
            <a:pPr>
              <a:defRPr sz="1163" b="0">
                <a:solidFill>
                  <a:srgbClr val="53655C"/>
                </a:solidFill>
                <a:latin typeface="Arial"/>
                <a:ea typeface="Arial"/>
                <a:cs typeface="Arial"/>
              </a:defRPr>
            </a:pPr>
            <a:r>
              <a:rPr sz="1163" b="0">
                <a:solidFill>
                  <a:srgbClr val="53655C"/>
                </a:solidFill>
                <a:latin typeface="Arial"/>
                <a:ea typeface="Arial"/>
                <a:cs typeface="Arial"/>
              </a:rPr>
              <a:t>Advanced pancreatic / colorectal cancer, Chennai.</a:t>
            </a:r>
          </a:p>
        </p:txBody>
      </p:sp>
      <p:sp>
        <p:nvSpPr>
          <p:cNvPr id="37" name="QI source">
            <a:extLst>
              <a:ext uri="{FF2B5EF4-FFF2-40B4-BE49-F238E27FC236}">
                <ns4:creationId id="{24F37220-99F4-4E87-9782-ED0E96D7E7BC}"/>
              </a:ext>
            </a:extLst>
          </p:cNvPr>
          <p:cNvSpPr>
            <a:spLocks noGrp="1"/>
          </p:cNvSpPr>
          <p:nvPr/>
        </p:nvSpPr>
        <p:spPr>
          <a:xfrm>
            <a:off x="7372350" y="5362575"/>
            <a:ext cx="4057650" cy="209550"/>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53a5d5c6424540e0"/>
              </a:rPr>
              <a:t>Thangasamy et al., 2025</a:t>
            </a:r>
          </a:p>
        </p:txBody>
      </p:sp>
      <p:sp>
        <p:nvSpPr>
          <p:cNvPr id="38" name="Evidence boundary">
            <a:extLst>
              <a:ext uri="{FF2B5EF4-FFF2-40B4-BE49-F238E27FC236}">
                <ns4:creationId id="{086EFB5F-F72D-4B2D-BE06-0FE711079C73}"/>
              </a:ext>
            </a:extLst>
          </p:cNvPr>
          <p:cNvSpPr>
            <a:spLocks noGrp="1"/>
          </p:cNvSpPr>
          <p:nvPr/>
        </p:nvSpPr>
        <p:spPr>
          <a:xfrm>
            <a:off x="533400" y="5476875"/>
            <a:ext cx="11125200" cy="209550"/>
          </a:xfrm>
          <a:prstGeom prst="rect">
            <a:avLst/>
          </a:prstGeom>
          <a:noFill/>
          <a:ln w="0">
            <a:noFill/>
          </a:ln>
        </p:spPr>
        <p:txBody>
          <a:bodyPr wrap="square" lIns="0" tIns="0" rIns="0" bIns="0">
            <a:normAutofit fontScale="100000"/>
          </a:bodyPr>
          <a:lstStyle/>
          <a:p>
            <a:pPr>
              <a:defRPr sz="1200" b="0">
                <a:solidFill>
                  <a:srgbClr val="53655C"/>
                </a:solidFill>
                <a:latin typeface="Arial"/>
                <a:ea typeface="Arial"/>
                <a:cs typeface="Arial"/>
              </a:defRPr>
            </a:pPr>
            <a:r>
              <a:rPr sz="1200" b="0">
                <a:solidFill>
                  <a:srgbClr val="53655C"/>
                </a:solidFill>
                <a:latin typeface="Arial"/>
                <a:ea typeface="Arial"/>
                <a:cs typeface="Arial"/>
              </a:rPr>
              <a:t>Different study groups. These are not results from Saathi.</a:t>
            </a:r>
          </a:p>
        </p:txBody>
      </p:sp>
      <p:sp>
        <p:nvSpPr>
          <p:cNvPr id="39" name="Planned impact study">
            <a:extLst>
              <a:ext uri="{FF2B5EF4-FFF2-40B4-BE49-F238E27FC236}">
                <ns4:creationId id="{8441278B-1591-4A93-B43E-589C1DCDC020}"/>
              </a:ext>
            </a:extLst>
          </p:cNvPr>
          <p:cNvSpPr>
            <a:spLocks noGrp="1"/>
          </p:cNvSpPr>
          <p:nvPr/>
        </p:nvSpPr>
        <p:spPr>
          <a:xfrm>
            <a:off x="381000" y="5791200"/>
            <a:ext cx="11430000" cy="1066800"/>
          </a:xfrm>
          <a:prstGeom prst="rect">
            <a:avLst/>
          </a:prstGeom>
          <a:solidFill>
            <a:srgbClr val="EFE8F8"/>
          </a:solidFill>
          <a:ln w="0">
            <a:noFill/>
          </a:ln>
        </p:spPr>
      </p:sp>
      <p:sp>
        <p:nvSpPr>
          <p:cNvPr id="40" name="Study length and design">
            <a:extLst>
              <a:ext uri="{FF2B5EF4-FFF2-40B4-BE49-F238E27FC236}">
                <ns4:creationId id="{7C193DA8-AAEA-410A-A93C-7CF61FB4BF1C}"/>
              </a:ext>
            </a:extLst>
          </p:cNvPr>
          <p:cNvSpPr>
            <a:spLocks noGrp="1"/>
          </p:cNvSpPr>
          <p:nvPr/>
        </p:nvSpPr>
        <p:spPr>
          <a:xfrm>
            <a:off x="533400" y="5867400"/>
            <a:ext cx="11125200" cy="295275"/>
          </a:xfrm>
          <a:prstGeom prst="rect">
            <a:avLst/>
          </a:prstGeom>
          <a:noFill/>
          <a:ln w="0">
            <a:noFill/>
          </a:ln>
        </p:spPr>
        <p:txBody>
          <a:bodyPr wrap="square" lIns="0" tIns="0" rIns="0" bIns="0">
            <a:normAutofit fontScale="100000"/>
          </a:bodyPr>
          <a:lstStyle/>
          <a:p>
            <a:pPr>
              <a:defRPr sz="1800" b="1">
                <a:solidFill>
                  <a:srgbClr val="7353AC"/>
                </a:solidFill>
                <a:latin typeface="Arial"/>
                <a:ea typeface="Arial"/>
                <a:cs typeface="Arial"/>
              </a:defRPr>
            </a:pPr>
            <a:r>
              <a:rPr sz="1800" b="1">
                <a:solidFill>
                  <a:srgbClr val="7353AC"/>
                </a:solidFill>
                <a:latin typeface="Arial"/>
                <a:ea typeface="Arial"/>
                <a:cs typeface="Arial"/>
              </a:rPr>
              <a:t>Proposed 60-90 day study: compare before and after</a:t>
            </a:r>
          </a:p>
        </p:txBody>
      </p:sp>
      <p:sp>
        <p:nvSpPr>
          <p:cNvPr id="41" name="Pilot measure 1">
            <a:extLst>
              <a:ext uri="{FF2B5EF4-FFF2-40B4-BE49-F238E27FC236}">
                <ns4:creationId id="{27C00BA3-3D07-4919-AB24-9EE5CFFB8486}"/>
              </a:ext>
            </a:extLst>
          </p:cNvPr>
          <p:cNvSpPr>
            <a:spLocks noGrp="1"/>
          </p:cNvSpPr>
          <p:nvPr/>
        </p:nvSpPr>
        <p:spPr>
          <a:xfrm>
            <a:off x="533400" y="6238875"/>
            <a:ext cx="3486150" cy="590550"/>
          </a:xfrm>
          <a:prstGeom prst="rect">
            <a:avLst/>
          </a:prstGeom>
          <a:noFill/>
          <a:ln w="0">
            <a:noFill/>
          </a:ln>
        </p:spPr>
        <p:txBody>
          <a:bodyPr wrap="square" lIns="0" tIns="0" rIns="0" bIns="0">
            <a:normAutofit fontScale="100000"/>
          </a:bodyPr>
          <a:lstStyle/>
          <a:p>
            <a:pPr>
              <a:defRPr sz="1500" b="0">
                <a:solidFill>
                  <a:srgbClr val="173F33"/>
                </a:solidFill>
                <a:latin typeface="Arial"/>
                <a:ea typeface="Arial"/>
                <a:cs typeface="Arial"/>
              </a:defRPr>
            </a:pPr>
            <a:r>
              <a:rPr sz="1500" b="0">
                <a:solidFill>
                  <a:srgbClr val="173F33"/>
                </a:solidFill>
                <a:latin typeface="Arial"/>
                <a:ea typeface="Arial"/>
                <a:cs typeface="Arial"/>
              </a:rPr>
              <a:t>Number of patient- and doctor-initiated goals-of-care discussions.</a:t>
            </a:r>
          </a:p>
        </p:txBody>
      </p:sp>
      <p:sp>
        <p:nvSpPr>
          <p:cNvPr id="42" name="Pilot measure 2">
            <a:extLst>
              <a:ext uri="{FF2B5EF4-FFF2-40B4-BE49-F238E27FC236}">
                <ns4:creationId id="{F04F106B-5EEF-471C-A774-4DF7C6A75D5A}"/>
              </a:ext>
            </a:extLst>
          </p:cNvPr>
          <p:cNvSpPr>
            <a:spLocks noGrp="1"/>
          </p:cNvSpPr>
          <p:nvPr/>
        </p:nvSpPr>
        <p:spPr>
          <a:xfrm>
            <a:off x="4352925" y="6238875"/>
            <a:ext cx="3314700" cy="590550"/>
          </a:xfrm>
          <a:prstGeom prst="rect">
            <a:avLst/>
          </a:prstGeom>
          <a:noFill/>
          <a:ln w="0">
            <a:noFill/>
          </a:ln>
        </p:spPr>
        <p:txBody>
          <a:bodyPr wrap="square" lIns="0" tIns="0" rIns="0" bIns="0">
            <a:normAutofit fontScale="100000"/>
          </a:bodyPr>
          <a:lstStyle/>
          <a:p>
            <a:pPr>
              <a:defRPr sz="1500" b="0">
                <a:solidFill>
                  <a:srgbClr val="173F33"/>
                </a:solidFill>
                <a:latin typeface="Arial"/>
                <a:ea typeface="Arial"/>
                <a:cs typeface="Arial"/>
              </a:defRPr>
            </a:pPr>
            <a:r>
              <a:rPr sz="1500" b="0">
                <a:solidFill>
                  <a:srgbClr val="173F33"/>
                </a:solidFill>
                <a:latin typeface="Arial"/>
                <a:ea typeface="Arial"/>
                <a:cs typeface="Arial"/>
              </a:rPr>
              <a:t>Number of written and signed Care Notes per cancer facility.</a:t>
            </a:r>
          </a:p>
        </p:txBody>
      </p:sp>
      <p:sp>
        <p:nvSpPr>
          <p:cNvPr id="43" name="Pilot measure 3">
            <a:extLst>
              <a:ext uri="{FF2B5EF4-FFF2-40B4-BE49-F238E27FC236}">
                <ns4:creationId id="{24EAA74D-6EFC-4A63-A9B6-0B74176D7E05}"/>
              </a:ext>
            </a:extLst>
          </p:cNvPr>
          <p:cNvSpPr>
            <a:spLocks noGrp="1"/>
          </p:cNvSpPr>
          <p:nvPr/>
        </p:nvSpPr>
        <p:spPr>
          <a:xfrm>
            <a:off x="8172450" y="6238875"/>
            <a:ext cx="3486150" cy="590550"/>
          </a:xfrm>
          <a:prstGeom prst="rect">
            <a:avLst/>
          </a:prstGeom>
          <a:noFill/>
          <a:ln w="0">
            <a:noFill/>
          </a:ln>
        </p:spPr>
        <p:txBody>
          <a:bodyPr wrap="square" lIns="0" tIns="0" rIns="0" bIns="0">
            <a:normAutofit fontScale="100000"/>
          </a:bodyPr>
          <a:lstStyle/>
          <a:p>
            <a:pPr>
              <a:defRPr sz="1500" b="0">
                <a:solidFill>
                  <a:srgbClr val="173F33"/>
                </a:solidFill>
                <a:latin typeface="Arial"/>
                <a:ea typeface="Arial"/>
                <a:cs typeface="Arial"/>
              </a:defRPr>
            </a:pPr>
            <a:r>
              <a:rPr sz="1500" b="0">
                <a:solidFill>
                  <a:srgbClr val="173F33"/>
                </a:solidFill>
                <a:latin typeface="Arial"/>
                <a:ea typeface="Arial"/>
                <a:cs typeface="Arial"/>
              </a:rPr>
              <a:t>Time to retrieve goals-of-care discussions during an emergency.</a:t>
            </a:r>
          </a:p>
        </p:txBody>
      </p:sp>
    </p:spTree>
    <p:extLst>
      <p:ext uri="{BB962C8B-B14F-4D97-AF65-F5344CB8AC3E}">
        <ns6:creationId val="1299123762"/>
      </p:ext>
    </p:extLst>
  </p:cSld>
</p:sld>
</file>

<file path=ppt/slides/slide4.xml><?xml version="1.0" encoding="utf-8"?>
<p:sld xmlns:a="http://schemas.openxmlformats.org/drawingml/2006/main" xmlns:ns2="http://schemas.microsoft.com/office/drawing/2014/main" xmlns:ns4="http://schemas.microsoft.com/office/drawing/2016/SVG/main" xmlns:ns5="http://schemas.microsoft.com/office/powerpoint/2010/main" xmlns:p="http://schemas.openxmlformats.org/presentationml/2006/main" xmlns:r="http://schemas.openxmlformats.org/officeDocument/2006/relationships">
  <p:cSld>
    <p:bg>
      <p:bgPr>
        <a:solidFill>
          <a:srgbClr val="FFC799"/>
        </a:solidFill>
      </p:bgPr>
    </p:bg>
    <p:spTree>
      <p:nvGrpSpPr>
        <p:cNvPr id="1" name=""/>
        <p:cNvGrpSpPr/>
        <p:nvPr/>
      </p:nvGrpSpPr>
      <p:grpSpPr>
        <a:xfrm/>
      </p:grpSpPr>
      <p:sp>
        <p:nvSpPr>
          <p:cNvPr id="18" name="Slide title">
            <a:extLst>
              <a:ext uri="{FF2B5EF4-FFF2-40B4-BE49-F238E27FC236}">
                <ns2:creationId id="{A86320D0-E8FA-4265-90A4-5A6CAFC675BC}"/>
              </a:ext>
            </a:extLst>
          </p:cNvPr>
          <p:cNvSpPr>
            <a:spLocks noGrp="1"/>
          </p:cNvSpPr>
          <p:nvPr/>
        </p:nvSpPr>
        <p:spPr>
          <a:xfrm>
            <a:off x="533400" y="361950"/>
            <a:ext cx="11125200" cy="600075"/>
          </a:xfrm>
          <a:prstGeom prst="rect">
            <a:avLst/>
          </a:prstGeom>
          <a:noFill/>
          <a:ln w="0">
            <a:noFill/>
          </a:ln>
        </p:spPr>
        <p:txBody>
          <a:bodyPr wrap="square" lIns="0" tIns="0" rIns="0" bIns="0">
            <a:normAutofit fontScale="100000"/>
          </a:bodyPr>
          <a:lstStyle/>
          <a:p>
            <a:pPr>
              <a:defRPr sz="2925" b="1">
                <a:solidFill>
                  <a:srgbClr val="173F33"/>
                </a:solidFill>
                <a:latin typeface="Arial"/>
                <a:ea typeface="Arial"/>
                <a:cs typeface="Arial"/>
              </a:defRPr>
            </a:pPr>
            <a:r>
              <a:rPr sz="2925" b="1">
                <a:solidFill>
                  <a:srgbClr val="173F33"/>
                </a:solidFill>
                <a:latin typeface="Arial"/>
                <a:ea typeface="Arial"/>
                <a:cs typeface="Arial"/>
              </a:rPr>
              <a:t>Physician leads. AI assists</a:t>
            </a:r>
          </a:p>
        </p:txBody>
      </p:sp>
      <p:sp>
        <p:nvSpPr>
          <p:cNvPr id="2" name="Conversation purpose">
            <a:extLst>
              <a:ext uri="{FF2B5EF4-FFF2-40B4-BE49-F238E27FC236}">
                <ns2:creationId id="{71976BE0-5448-491F-8CB0-70AC862966ED}"/>
              </a:ext>
            </a:extLst>
          </p:cNvPr>
          <p:cNvSpPr>
            <a:spLocks noGrp="1"/>
          </p:cNvSpPr>
          <p:nvPr/>
        </p:nvSpPr>
        <p:spPr>
          <a:xfrm>
            <a:off x="533400" y="1028700"/>
            <a:ext cx="11125200" cy="400050"/>
          </a:xfrm>
          <a:prstGeom prst="rect">
            <a:avLst/>
          </a:prstGeom>
          <a:noFill/>
          <a:ln w="0">
            <a:noFill/>
          </a:ln>
        </p:spPr>
        <p:txBody>
          <a:bodyPr wrap="square" lIns="0" tIns="0" rIns="0" bIns="0">
            <a:normAutofit fontScale="100000"/>
          </a:bodyPr>
          <a:lstStyle/>
          <a:p>
            <a:pPr>
              <a:defRPr sz="1875" b="0">
                <a:solidFill>
                  <a:srgbClr val="53655C"/>
                </a:solidFill>
                <a:latin typeface="Arial"/>
                <a:ea typeface="Arial"/>
                <a:cs typeface="Arial"/>
              </a:defRPr>
            </a:pPr>
            <a:r>
              <a:rPr sz="1875" b="0">
                <a:solidFill>
                  <a:srgbClr val="53655C"/>
                </a:solidFill>
                <a:latin typeface="Arial"/>
                <a:ea typeface="Arial"/>
                <a:cs typeface="Arial"/>
              </a:rPr>
              <a:t>The physician initiates the goals-of-care discussion. AI provides a structured guide.</a:t>
            </a:r>
          </a:p>
        </p:txBody>
      </p:sp>
      <p:pic>
        <p:nvPicPr>
          <p:cNvPr id="20" name="Generated consultation illustration with a phone recording the conversation" descr="Generated consultation illustration with a phone recording the conversation"/>
          <p:cNvPicPr>
            <a:picLocks noChangeAspect="1"/>
          </p:cNvPicPr>
          <p:nvPr/>
        </p:nvPicPr>
        <p:blipFill>
          <a:blip r:embed="R631218226f1a44e1"/>
          <a:srcRect l="5251" t="0" r="5251" b="0"/>
          <a:stretch>
            <a:fillRect/>
          </a:stretch>
        </p:blipFill>
        <p:spPr>
          <a:xfrm>
            <a:off x="533400" y="1733550"/>
            <a:ext cx="3733800" cy="4171950"/>
          </a:xfrm>
          <a:prstGeom prst="rect">
            <a:avLst/>
          </a:prstGeom>
        </p:spPr>
      </p:pic>
      <p:pic>
        <p:nvPicPr>
          <p:cNvPr id="21" name="Saathi recording consent and voice controls" descr="Saathi recording consent and voice controls"/>
          <p:cNvPicPr>
            <a:picLocks noChangeAspect="1"/>
          </p:cNvPicPr>
          <p:nvPr/>
        </p:nvPicPr>
        <p:blipFill>
          <a:blip r:embed="Ra10f1701025440c1"/>
          <a:srcRect l="1354" t="34298" r="65403" b="0"/>
          <a:stretch>
            <a:fillRect/>
          </a:stretch>
        </p:blipFill>
        <p:spPr>
          <a:xfrm>
            <a:off x="4552950" y="1733550"/>
            <a:ext cx="2914650" cy="2695575"/>
          </a:xfrm>
          <a:prstGeom prst="rect">
            <a:avLst/>
          </a:prstGeom>
        </p:spPr>
      </p:pic>
      <p:sp>
        <p:nvSpPr>
          <p:cNvPr id="5" name="Source traceability">
            <a:extLst>
              <a:ext uri="{FF2B5EF4-FFF2-40B4-BE49-F238E27FC236}">
                <ns2:creationId id="{1985393D-7C3D-4786-B2E0-CD7A6CD87D33}"/>
              </a:ext>
            </a:extLst>
          </p:cNvPr>
          <p:cNvSpPr>
            <a:spLocks noGrp="1"/>
          </p:cNvSpPr>
          <p:nvPr/>
        </p:nvSpPr>
        <p:spPr>
          <a:xfrm>
            <a:off x="4552950" y="4686300"/>
            <a:ext cx="2914650" cy="1057275"/>
          </a:xfrm>
          <a:prstGeom prst="rect">
            <a:avLst/>
          </a:prstGeom>
          <a:noFill/>
          <a:ln w="0">
            <a:noFill/>
          </a:ln>
        </p:spPr>
        <p:txBody>
          <a:bodyPr wrap="square" lIns="0" tIns="0" rIns="0" bIns="0">
            <a:normAutofit fontScale="92500"/>
          </a:bodyPr>
          <a:lstStyle/>
          <a:p>
            <a:pPr>
              <a:defRPr sz="1875" b="1">
                <a:solidFill>
                  <a:srgbClr val="173F33"/>
                </a:solidFill>
                <a:latin typeface="Arial"/>
                <a:ea typeface="Arial"/>
                <a:cs typeface="Arial"/>
              </a:defRPr>
            </a:pPr>
            <a:r>
              <a:rPr sz="1875" b="1">
                <a:solidFill>
                  <a:srgbClr val="173F33"/>
                </a:solidFill>
                <a:latin typeface="Arial"/>
                <a:ea typeface="Arial"/>
                <a:cs typeface="Arial"/>
              </a:rPr>
              <a:t>Every version of the goals-of-care discussion stays in the Care Note history.</a:t>
            </a:r>
          </a:p>
        </p:txBody>
      </p:sp>
      <p:pic>
        <p:nvPicPr>
          <p:cNvPr id="23" name=""/>
          <p:cNvPicPr>
            <a:picLocks noChangeAspect="1"/>
          </p:cNvPicPr>
          <p:nvPr/>
        </p:nvPicPr>
        <p:blipFill>
          <a:blip r:embed="Rbe1fd99c9f3d4aa0">
            <a:extLst>
              <a:ext uri="{96DAC541-7B7A-43D3-8B79-37D633B846F1}">
                <ns4:svgBlip r:embed="R7ddd8cbd61174ba0"/>
              </a:ext>
            </a:extLst>
          </a:blip>
          <a:stretch/>
        </p:blipFill>
        <p:spPr>
          <a:xfrm>
            <a:off x="7810500" y="1724025"/>
            <a:ext cx="361950" cy="361950"/>
          </a:xfrm>
          <a:prstGeom prst="rect">
            <a:avLst/>
          </a:prstGeom>
        </p:spPr>
      </p:pic>
      <p:sp>
        <p:nvSpPr>
          <p:cNvPr id="7" name="AI step 1">
            <a:extLst>
              <a:ext uri="{FF2B5EF4-FFF2-40B4-BE49-F238E27FC236}">
                <ns2:creationId id="{DC574EE3-5BE7-4D8C-90D3-CCA836955FC5}"/>
              </a:ext>
            </a:extLst>
          </p:cNvPr>
          <p:cNvSpPr>
            <a:spLocks noGrp="1"/>
          </p:cNvSpPr>
          <p:nvPr/>
        </p:nvSpPr>
        <p:spPr>
          <a:xfrm>
            <a:off x="8305800" y="1676400"/>
            <a:ext cx="3352800" cy="809625"/>
          </a:xfrm>
          <a:prstGeom prst="rect">
            <a:avLst/>
          </a:prstGeom>
          <a:noFill/>
          <a:ln w="0">
            <a:noFill/>
          </a:ln>
        </p:spPr>
        <p:txBody>
          <a:bodyPr wrap="square" lIns="0" tIns="0" rIns="0" bIns="0">
            <a:normAutofit fontScale="100000"/>
          </a:bodyPr>
          <a:lstStyle/>
          <a:p>
            <a:pPr>
              <a:defRPr sz="1800" b="1">
                <a:solidFill>
                  <a:srgbClr val="173F33"/>
                </a:solidFill>
                <a:latin typeface="Arial"/>
                <a:ea typeface="Arial"/>
                <a:cs typeface="Arial"/>
              </a:defRPr>
            </a:pPr>
            <a:r>
              <a:rPr sz="1800" b="1">
                <a:solidFill>
                  <a:srgbClr val="173F33"/>
                </a:solidFill>
                <a:latin typeface="Arial"/>
                <a:ea typeface="Arial"/>
                <a:cs typeface="Arial"/>
              </a:rPr>
              <a:t>1. Record with consent.</a:t>
            </a:r>
          </a:p>
        </p:txBody>
      </p:sp>
      <p:pic>
        <p:nvPicPr>
          <p:cNvPr id="25" name=""/>
          <p:cNvPicPr>
            <a:picLocks noChangeAspect="1"/>
          </p:cNvPicPr>
          <p:nvPr/>
        </p:nvPicPr>
        <p:blipFill>
          <a:blip r:embed="R014dbc229e32422c">
            <a:extLst>
              <a:ext uri="{96DAC541-7B7A-43D3-8B79-37D633B846F1}">
                <ns4:svgBlip r:embed="R771349b6c3d749c8"/>
              </a:ext>
            </a:extLst>
          </a:blip>
          <a:stretch/>
        </p:blipFill>
        <p:spPr>
          <a:xfrm>
            <a:off x="7810500" y="2466975"/>
            <a:ext cx="361950" cy="361950"/>
          </a:xfrm>
          <a:prstGeom prst="rect">
            <a:avLst/>
          </a:prstGeom>
        </p:spPr>
      </p:pic>
      <p:sp>
        <p:nvSpPr>
          <p:cNvPr id="9" name="AI step 2">
            <a:extLst>
              <a:ext uri="{FF2B5EF4-FFF2-40B4-BE49-F238E27FC236}">
                <ns2:creationId id="{CC3847D7-DFFF-4BE6-87F4-A81E42D8654F}"/>
              </a:ext>
            </a:extLst>
          </p:cNvPr>
          <p:cNvSpPr>
            <a:spLocks noGrp="1"/>
          </p:cNvSpPr>
          <p:nvPr/>
        </p:nvSpPr>
        <p:spPr>
          <a:xfrm>
            <a:off x="8305800" y="2419350"/>
            <a:ext cx="3352800" cy="962025"/>
          </a:xfrm>
          <a:prstGeom prst="rect">
            <a:avLst/>
          </a:prstGeom>
          <a:noFill/>
          <a:ln w="0">
            <a:noFill/>
          </a:ln>
        </p:spPr>
        <p:txBody>
          <a:bodyPr wrap="square" lIns="0" tIns="0" rIns="0" bIns="0">
            <a:normAutofit fontScale="100000"/>
          </a:bodyPr>
          <a:lstStyle/>
          <a:p>
            <a:pPr>
              <a:defRPr sz="1800" b="1">
                <a:solidFill>
                  <a:srgbClr val="173F33"/>
                </a:solidFill>
                <a:latin typeface="Arial"/>
                <a:ea typeface="Arial"/>
                <a:cs typeface="Arial"/>
              </a:defRPr>
            </a:pPr>
            <a:r>
              <a:rPr sz="1800" b="1">
                <a:solidFill>
                  <a:srgbClr val="173F33"/>
                </a:solidFill>
                <a:latin typeface="Arial"/>
                <a:ea typeface="Arial"/>
                <a:cs typeface="Arial"/>
              </a:rPr>
              <a:t>2. AI guides the physician through a structured goals-of-care discussion.</a:t>
            </a:r>
          </a:p>
        </p:txBody>
      </p:sp>
      <p:pic>
        <p:nvPicPr>
          <p:cNvPr id="27" name=""/>
          <p:cNvPicPr>
            <a:picLocks noChangeAspect="1"/>
          </p:cNvPicPr>
          <p:nvPr/>
        </p:nvPicPr>
        <p:blipFill>
          <a:blip r:embed="Rf2cbf050c7084176">
            <a:extLst>
              <a:ext uri="{96DAC541-7B7A-43D3-8B79-37D633B846F1}">
                <ns4:svgBlip r:embed="Rb527029bf508486b"/>
              </a:ext>
            </a:extLst>
          </a:blip>
          <a:stretch/>
        </p:blipFill>
        <p:spPr>
          <a:xfrm>
            <a:off x="7810500" y="3495675"/>
            <a:ext cx="361950" cy="361950"/>
          </a:xfrm>
          <a:prstGeom prst="rect">
            <a:avLst/>
          </a:prstGeom>
        </p:spPr>
      </p:pic>
      <p:sp>
        <p:nvSpPr>
          <p:cNvPr id="11" name="AI step 3">
            <a:extLst>
              <a:ext uri="{FF2B5EF4-FFF2-40B4-BE49-F238E27FC236}">
                <ns2:creationId id="{2B3FDCB5-102A-4060-86E4-E84EBCAF0231}"/>
              </a:ext>
            </a:extLst>
          </p:cNvPr>
          <p:cNvSpPr>
            <a:spLocks noGrp="1"/>
          </p:cNvSpPr>
          <p:nvPr/>
        </p:nvSpPr>
        <p:spPr>
          <a:xfrm>
            <a:off x="8305800" y="3448050"/>
            <a:ext cx="3352800" cy="809625"/>
          </a:xfrm>
          <a:prstGeom prst="rect">
            <a:avLst/>
          </a:prstGeom>
          <a:noFill/>
          <a:ln w="0">
            <a:noFill/>
          </a:ln>
        </p:spPr>
        <p:txBody>
          <a:bodyPr wrap="square" lIns="0" tIns="0" rIns="0" bIns="0">
            <a:normAutofit fontScale="100000"/>
          </a:bodyPr>
          <a:lstStyle/>
          <a:p>
            <a:pPr>
              <a:defRPr sz="1800" b="1">
                <a:solidFill>
                  <a:srgbClr val="173F33"/>
                </a:solidFill>
                <a:latin typeface="Arial"/>
                <a:ea typeface="Arial"/>
                <a:cs typeface="Arial"/>
              </a:defRPr>
            </a:pPr>
            <a:r>
              <a:rPr sz="1800" b="1">
                <a:solidFill>
                  <a:srgbClr val="173F33"/>
                </a:solidFill>
                <a:latin typeface="Arial"/>
                <a:ea typeface="Arial"/>
                <a:cs typeface="Arial"/>
              </a:rPr>
              <a:t>3. AI drafts the Care Note.</a:t>
            </a:r>
          </a:p>
        </p:txBody>
      </p:sp>
      <p:pic>
        <p:nvPicPr>
          <p:cNvPr id="29" name=""/>
          <p:cNvPicPr>
            <a:picLocks noChangeAspect="1"/>
          </p:cNvPicPr>
          <p:nvPr/>
        </p:nvPicPr>
        <p:blipFill>
          <a:blip r:embed="Rf29f6e0b67a14b7c">
            <a:extLst>
              <a:ext uri="{96DAC541-7B7A-43D3-8B79-37D633B846F1}">
                <ns4:svgBlip r:embed="Rb92f34b245434b53"/>
              </a:ext>
            </a:extLst>
          </a:blip>
          <a:stretch/>
        </p:blipFill>
        <p:spPr>
          <a:xfrm>
            <a:off x="7810500" y="4238625"/>
            <a:ext cx="361950" cy="361950"/>
          </a:xfrm>
          <a:prstGeom prst="rect">
            <a:avLst/>
          </a:prstGeom>
        </p:spPr>
      </p:pic>
      <p:sp>
        <p:nvSpPr>
          <p:cNvPr id="13" name="AI step 4">
            <a:extLst>
              <a:ext uri="{FF2B5EF4-FFF2-40B4-BE49-F238E27FC236}">
                <ns2:creationId id="{B3ADCC34-0CC8-4C8B-BFCB-085124FC60F0}"/>
              </a:ext>
            </a:extLst>
          </p:cNvPr>
          <p:cNvSpPr>
            <a:spLocks noGrp="1"/>
          </p:cNvSpPr>
          <p:nvPr/>
        </p:nvSpPr>
        <p:spPr>
          <a:xfrm>
            <a:off x="8305800" y="4191000"/>
            <a:ext cx="3352800" cy="809625"/>
          </a:xfrm>
          <a:prstGeom prst="rect">
            <a:avLst/>
          </a:prstGeom>
          <a:noFill/>
          <a:ln w="0">
            <a:noFill/>
          </a:ln>
        </p:spPr>
        <p:txBody>
          <a:bodyPr wrap="square" lIns="0" tIns="0" rIns="0" bIns="0">
            <a:normAutofit fontScale="100000"/>
          </a:bodyPr>
          <a:lstStyle/>
          <a:p>
            <a:pPr>
              <a:defRPr sz="1800" b="1">
                <a:solidFill>
                  <a:srgbClr val="173F33"/>
                </a:solidFill>
                <a:latin typeface="Arial"/>
                <a:ea typeface="Arial"/>
                <a:cs typeface="Arial"/>
              </a:defRPr>
            </a:pPr>
            <a:r>
              <a:rPr sz="1800" b="1">
                <a:solidFill>
                  <a:srgbClr val="173F33"/>
                </a:solidFill>
                <a:latin typeface="Arial"/>
                <a:ea typeface="Arial"/>
                <a:cs typeface="Arial"/>
              </a:rPr>
              <a:t>4. The physician reviews, edits and signs.</a:t>
            </a:r>
          </a:p>
        </p:txBody>
      </p:sp>
      <p:pic>
        <p:nvPicPr>
          <p:cNvPr id="31" name=""/>
          <p:cNvPicPr>
            <a:picLocks noChangeAspect="1"/>
          </p:cNvPicPr>
          <p:nvPr/>
        </p:nvPicPr>
        <p:blipFill>
          <a:blip r:embed="Re5ea6d427d0a4574">
            <a:extLst>
              <a:ext uri="{96DAC541-7B7A-43D3-8B79-37D633B846F1}">
                <ns4:svgBlip r:embed="R7c209e729be64915"/>
              </a:ext>
            </a:extLst>
          </a:blip>
          <a:stretch/>
        </p:blipFill>
        <p:spPr>
          <a:xfrm>
            <a:off x="7810500" y="5095875"/>
            <a:ext cx="361950" cy="361950"/>
          </a:xfrm>
          <a:prstGeom prst="rect">
            <a:avLst/>
          </a:prstGeom>
        </p:spPr>
      </p:pic>
      <p:sp>
        <p:nvSpPr>
          <p:cNvPr id="15" name="AI step 5">
            <a:extLst>
              <a:ext uri="{FF2B5EF4-FFF2-40B4-BE49-F238E27FC236}">
                <ns2:creationId id="{E9C7771F-9176-47F2-B1B4-2672CA0816AE}"/>
              </a:ext>
            </a:extLst>
          </p:cNvPr>
          <p:cNvSpPr>
            <a:spLocks noGrp="1"/>
          </p:cNvSpPr>
          <p:nvPr/>
        </p:nvSpPr>
        <p:spPr>
          <a:xfrm>
            <a:off x="8305800" y="5048250"/>
            <a:ext cx="3352800" cy="809625"/>
          </a:xfrm>
          <a:prstGeom prst="rect">
            <a:avLst/>
          </a:prstGeom>
          <a:noFill/>
          <a:ln w="0">
            <a:noFill/>
          </a:ln>
        </p:spPr>
        <p:txBody>
          <a:bodyPr wrap="square" lIns="0" tIns="0" rIns="0" bIns="0">
            <a:normAutofit fontScale="100000"/>
          </a:bodyPr>
          <a:lstStyle/>
          <a:p>
            <a:pPr>
              <a:defRPr sz="1800" b="1">
                <a:solidFill>
                  <a:srgbClr val="173F33"/>
                </a:solidFill>
                <a:latin typeface="Arial"/>
                <a:ea typeface="Arial"/>
                <a:cs typeface="Arial"/>
              </a:defRPr>
            </a:pPr>
            <a:r>
              <a:rPr sz="1800" b="1">
                <a:solidFill>
                  <a:srgbClr val="173F33"/>
                </a:solidFill>
                <a:latin typeface="Arial"/>
                <a:ea typeface="Arial"/>
                <a:cs typeface="Arial"/>
              </a:rPr>
              <a:t>5. The patient reviews and signs.</a:t>
            </a:r>
          </a:p>
        </p:txBody>
      </p:sp>
      <p:sp>
        <p:nvSpPr>
          <p:cNvPr id="16" name="Encrypted emergency handoff">
            <a:extLst>
              <a:ext uri="{FF2B5EF4-FFF2-40B4-BE49-F238E27FC236}">
                <ns2:creationId id="{9741D901-F2BF-4B6E-902D-BA00A15663C6}"/>
              </a:ext>
            </a:extLst>
          </p:cNvPr>
          <p:cNvSpPr>
            <a:spLocks noGrp="1"/>
          </p:cNvSpPr>
          <p:nvPr/>
        </p:nvSpPr>
        <p:spPr>
          <a:xfrm>
            <a:off x="533400" y="6048375"/>
            <a:ext cx="11125200" cy="419100"/>
          </a:xfrm>
          <a:prstGeom prst="rect">
            <a:avLst/>
          </a:prstGeom>
          <a:noFill/>
          <a:ln w="0">
            <a:noFill/>
          </a:ln>
        </p:spPr>
        <p:txBody>
          <a:bodyPr wrap="square" lIns="0" tIns="0" rIns="0" bIns="0">
            <a:normAutofit fontScale="100000"/>
          </a:bodyPr>
          <a:lstStyle/>
          <a:p>
            <a:pPr>
              <a:defRPr sz="1875" b="1">
                <a:solidFill>
                  <a:srgbClr val="173F33"/>
                </a:solidFill>
                <a:latin typeface="Arial"/>
                <a:ea typeface="Arial"/>
                <a:cs typeface="Arial"/>
              </a:defRPr>
            </a:pPr>
            <a:r>
              <a:rPr sz="1875" b="1">
                <a:solidFill>
                  <a:srgbClr val="173F33"/>
                </a:solidFill>
                <a:latin typeface="Arial"/>
                <a:ea typeface="Arial"/>
                <a:cs typeface="Arial"/>
              </a:rPr>
              <a:t>Planned: an encrypted Care Note for the patient to keep for emergencies.</a:t>
            </a:r>
          </a:p>
        </p:txBody>
      </p:sp>
      <p:sp>
        <p:nvSpPr>
          <p:cNvPr id="17" name="Proposed voice provider">
            <a:extLst>
              <a:ext uri="{FF2B5EF4-FFF2-40B4-BE49-F238E27FC236}">
                <ns2:creationId id="{DD4627F3-38B3-4D3B-AC32-5327DE32E655}"/>
              </a:ext>
            </a:extLst>
          </p:cNvPr>
          <p:cNvSpPr>
            <a:spLocks noGrp="1"/>
          </p:cNvSpPr>
          <p:nvPr/>
        </p:nvSpPr>
        <p:spPr>
          <a:xfrm>
            <a:off x="533400" y="6562725"/>
            <a:ext cx="11125200" cy="228600"/>
          </a:xfrm>
          <a:prstGeom prst="rect">
            <a:avLst/>
          </a:prstGeom>
          <a:noFill/>
          <a:ln w="0">
            <a:noFill/>
          </a:ln>
        </p:spPr>
        <p:txBody>
          <a:bodyPr wrap="square" lIns="0" tIns="0" rIns="0" bIns="0">
            <a:normAutofit fontScale="100000"/>
          </a:bodyPr>
          <a:lstStyle/>
          <a:p>
            <a:pPr>
              <a:defRPr sz="1313" b="0">
                <a:solidFill>
                  <a:srgbClr val="145AC6"/>
                </a:solidFill>
                <a:latin typeface="Arial"/>
                <a:ea typeface="Arial"/>
                <a:cs typeface="Arial"/>
              </a:defRPr>
            </a:pPr>
            <a:r>
              <a:rPr sz="1313" b="0" u="sng">
                <a:solidFill>
                  <a:srgbClr val="145AC6"/>
                </a:solidFill>
                <a:latin typeface="Arial"/>
                <a:ea typeface="Arial"/>
                <a:cs typeface="Arial"/>
                <a:hlinkClick r:id="R9607f55fc43f4eea"/>
              </a:rPr>
              <a:t>Planned with Sarvam AI: Indian-language speech, translation and read-aloud.</a:t>
            </a:r>
          </a:p>
        </p:txBody>
      </p:sp>
    </p:spTree>
    <p:extLst>
      <p:ext uri="{BB962C8B-B14F-4D97-AF65-F5344CB8AC3E}">
        <ns5:creationId val="1779657811"/>
      </p:ext>
    </p:extLst>
  </p:cSld>
</p:sld>
</file>

<file path=ppt/slides/slide5.xml><?xml version="1.0" encoding="utf-8"?>
<p:sld xmlns:a="http://schemas.openxmlformats.org/drawingml/2006/main" xmlns:ns2="http://schemas.microsoft.com/office/drawing/2014/main" xmlns:ns4="http://schemas.microsoft.com/office/drawing/2016/SVG/main" xmlns:ns5="http://schemas.microsoft.com/office/powerpoint/2010/main" xmlns:p="http://schemas.openxmlformats.org/presentationml/2006/main" xmlns:r="http://schemas.openxmlformats.org/officeDocument/2006/relationships">
  <p:cSld>
    <p:bg>
      <p:bgPr>
        <a:solidFill>
          <a:srgbClr val="F3EAF8"/>
        </a:solidFill>
      </p:bgPr>
    </p:bg>
    <p:spTree>
      <p:nvGrpSpPr>
        <p:cNvPr id="1" name=""/>
        <p:cNvGrpSpPr/>
        <p:nvPr/>
      </p:nvGrpSpPr>
      <p:grpSpPr>
        <a:xfrm/>
      </p:grpSpPr>
      <p:sp>
        <p:nvSpPr>
          <p:cNvPr id="18" name="Slide title">
            <a:extLst>
              <a:ext uri="{FF2B5EF4-FFF2-40B4-BE49-F238E27FC236}">
                <ns2:creationId id="{810C13B3-543E-4FB7-A494-19AEE4D5F9D4}"/>
              </a:ext>
            </a:extLst>
          </p:cNvPr>
          <p:cNvSpPr>
            <a:spLocks noGrp="1"/>
          </p:cNvSpPr>
          <p:nvPr/>
        </p:nvSpPr>
        <p:spPr>
          <a:xfrm>
            <a:off x="533400" y="304800"/>
            <a:ext cx="11125200" cy="619125"/>
          </a:xfrm>
          <a:prstGeom prst="rect">
            <a:avLst/>
          </a:prstGeom>
          <a:noFill/>
          <a:ln w="0">
            <a:noFill/>
          </a:ln>
        </p:spPr>
        <p:txBody>
          <a:bodyPr wrap="square" lIns="0" tIns="0" rIns="0" bIns="0">
            <a:normAutofit fontScale="100000"/>
          </a:bodyPr>
          <a:lstStyle/>
          <a:p>
            <a:pPr>
              <a:defRPr sz="3075" b="1">
                <a:solidFill>
                  <a:srgbClr val="173F33"/>
                </a:solidFill>
                <a:latin typeface="Arial"/>
                <a:ea typeface="Arial"/>
                <a:cs typeface="Arial"/>
              </a:defRPr>
            </a:pPr>
            <a:r>
              <a:rPr sz="3075" b="1">
                <a:solidFill>
                  <a:srgbClr val="173F33"/>
                </a:solidFill>
                <a:latin typeface="Arial"/>
                <a:ea typeface="Arial"/>
                <a:cs typeface="Arial"/>
              </a:rPr>
              <a:t>Help with palliative care near you</a:t>
            </a:r>
          </a:p>
        </p:txBody>
      </p:sp>
      <p:pic>
        <p:nvPicPr>
          <p:cNvPr id="19" name="Actual MapLibre care map with hospital markers, call and directions" descr="Actual MapLibre care map with hospital markers, call and directions"/>
          <p:cNvPicPr>
            <a:picLocks noChangeAspect="1"/>
          </p:cNvPicPr>
          <p:nvPr/>
        </p:nvPicPr>
        <p:blipFill>
          <a:blip r:embed="R3495eb24a83f4c81"/>
          <a:srcRect l="3670" t="39922" r="23591" b="16570"/>
          <a:stretch>
            <a:fillRect/>
          </a:stretch>
        </p:blipFill>
        <p:spPr>
          <a:xfrm>
            <a:off x="533400" y="1333500"/>
            <a:ext cx="5943600" cy="4810125"/>
          </a:xfrm>
          <a:prstGeom prst="rect">
            <a:avLst/>
          </a:prstGeom>
        </p:spPr>
      </p:pic>
      <p:sp>
        <p:nvSpPr>
          <p:cNvPr id="3" name="Live map link">
            <a:extLst>
              <a:ext uri="{FF2B5EF4-FFF2-40B4-BE49-F238E27FC236}">
                <ns2:creationId id="{F9286181-CBF1-46D2-BFAD-A16A938D7023}"/>
              </a:ext>
            </a:extLst>
          </p:cNvPr>
          <p:cNvSpPr>
            <a:spLocks noGrp="1"/>
          </p:cNvSpPr>
          <p:nvPr/>
        </p:nvSpPr>
        <p:spPr>
          <a:xfrm>
            <a:off x="533400" y="6438900"/>
            <a:ext cx="2886075" cy="276225"/>
          </a:xfrm>
          <a:prstGeom prst="rect">
            <a:avLst/>
          </a:prstGeom>
          <a:noFill/>
          <a:ln w="0">
            <a:noFill/>
          </a:ln>
        </p:spPr>
        <p:txBody>
          <a:bodyPr wrap="square" lIns="0" tIns="0" rIns="0" bIns="0">
            <a:normAutofit fontScale="100000"/>
          </a:bodyPr>
          <a:lstStyle/>
          <a:p>
            <a:pPr>
              <a:defRPr sz="1575" b="1">
                <a:solidFill>
                  <a:srgbClr val="145AC6"/>
                </a:solidFill>
                <a:latin typeface="Arial"/>
                <a:ea typeface="Arial"/>
                <a:cs typeface="Arial"/>
              </a:defRPr>
            </a:pPr>
            <a:r>
              <a:rPr sz="1575" b="1" u="sng">
                <a:solidFill>
                  <a:srgbClr val="145AC6"/>
                </a:solidFill>
                <a:latin typeface="Arial"/>
                <a:ea typeface="Arial"/>
                <a:cs typeface="Arial"/>
                <a:hlinkClick r:id="R9843db8929da44e9"/>
              </a:rPr>
              <a:t>Open the care map</a:t>
            </a:r>
          </a:p>
        </p:txBody>
      </p:sp>
      <p:sp>
        <p:nvSpPr>
          <p:cNvPr id="4" name="Care directory source">
            <a:extLst>
              <a:ext uri="{FF2B5EF4-FFF2-40B4-BE49-F238E27FC236}">
                <ns2:creationId id="{343C6913-1B8A-458F-AF78-EEF9CCFF0961}"/>
              </a:ext>
            </a:extLst>
          </p:cNvPr>
          <p:cNvSpPr>
            <a:spLocks noGrp="1"/>
          </p:cNvSpPr>
          <p:nvPr/>
        </p:nvSpPr>
        <p:spPr>
          <a:xfrm>
            <a:off x="3609975" y="6438900"/>
            <a:ext cx="2867025" cy="276225"/>
          </a:xfrm>
          <a:prstGeom prst="rect">
            <a:avLst/>
          </a:prstGeom>
          <a:noFill/>
          <a:ln w="0">
            <a:noFill/>
          </a:ln>
        </p:spPr>
        <p:txBody>
          <a:bodyPr wrap="square" lIns="0" tIns="0" rIns="0" bIns="0">
            <a:normAutofit fontScale="100000"/>
          </a:bodyPr>
          <a:lstStyle/>
          <a:p>
            <a:pPr>
              <a:defRPr sz="1425" b="0">
                <a:solidFill>
                  <a:srgbClr val="145AC6"/>
                </a:solidFill>
                <a:latin typeface="Arial"/>
                <a:ea typeface="Arial"/>
                <a:cs typeface="Arial"/>
              </a:defRPr>
            </a:pPr>
            <a:r>
              <a:rPr sz="1425" b="0" u="sng">
                <a:solidFill>
                  <a:srgbClr val="145AC6"/>
                </a:solidFill>
                <a:latin typeface="Arial"/>
                <a:ea typeface="Arial"/>
                <a:cs typeface="Arial"/>
                <a:hlinkClick r:id="R498250e049f441ff"/>
              </a:rPr>
              <a:t>Pallium India directory</a:t>
            </a:r>
          </a:p>
        </p:txBody>
      </p:sp>
      <p:sp>
        <p:nvSpPr>
          <p:cNvPr id="5" name="Map attribution">
            <a:extLst>
              <a:ext uri="{FF2B5EF4-FFF2-40B4-BE49-F238E27FC236}">
                <ns2:creationId id="{B2F88B1C-B6FB-48F2-B0D8-B499C765DF33}"/>
              </a:ext>
            </a:extLst>
          </p:cNvPr>
          <p:cNvSpPr>
            <a:spLocks noGrp="1"/>
          </p:cNvSpPr>
          <p:nvPr/>
        </p:nvSpPr>
        <p:spPr>
          <a:xfrm>
            <a:off x="533400" y="6172200"/>
            <a:ext cx="5943600" cy="190500"/>
          </a:xfrm>
          <a:prstGeom prst="rect">
            <a:avLst/>
          </a:prstGeom>
          <a:noFill/>
          <a:ln w="0">
            <a:noFill/>
          </a:ln>
        </p:spPr>
        <p:txBody>
          <a:bodyPr wrap="square" lIns="0" tIns="0" rIns="0" bIns="0">
            <a:normAutofit fontScale="100000"/>
          </a:bodyPr>
          <a:lstStyle/>
          <a:p>
            <a:pPr>
              <a:defRPr sz="975" b="0">
                <a:solidFill>
                  <a:srgbClr val="145AC6"/>
                </a:solidFill>
                <a:latin typeface="Arial"/>
                <a:ea typeface="Arial"/>
                <a:cs typeface="Arial"/>
              </a:defRPr>
            </a:pPr>
            <a:r>
              <a:rPr sz="975" b="0" u="sng">
                <a:solidFill>
                  <a:srgbClr val="145AC6"/>
                </a:solidFill>
                <a:latin typeface="Arial"/>
                <a:ea typeface="Arial"/>
                <a:cs typeface="Arial"/>
                <a:hlinkClick r:id="R08b6cb66533842ac"/>
              </a:rPr>
              <a:t>Map data: © OpenStreetMap contributors</a:t>
            </a:r>
          </a:p>
        </p:txBody>
      </p:sp>
      <p:pic>
        <p:nvPicPr>
          <p:cNvPr id="23" name=""/>
          <p:cNvPicPr>
            <a:picLocks noChangeAspect="1"/>
          </p:cNvPicPr>
          <p:nvPr/>
        </p:nvPicPr>
        <p:blipFill>
          <a:blip r:embed="R909a3b2abc26488f">
            <a:extLst>
              <a:ext uri="{96DAC541-7B7A-43D3-8B79-37D633B846F1}">
                <ns4:svgBlip r:embed="R869cdf5e4e684462"/>
              </a:ext>
            </a:extLst>
          </a:blip>
          <a:stretch/>
        </p:blipFill>
        <p:spPr>
          <a:xfrm>
            <a:off x="6838950" y="1276350"/>
            <a:ext cx="400050" cy="400050"/>
          </a:xfrm>
          <a:prstGeom prst="rect">
            <a:avLst/>
          </a:prstGeom>
        </p:spPr>
      </p:pic>
      <p:sp>
        <p:nvSpPr>
          <p:cNvPr id="7" name="Family support 1">
            <a:extLst>
              <a:ext uri="{FF2B5EF4-FFF2-40B4-BE49-F238E27FC236}">
                <ns2:creationId id="{631231EB-C716-4D61-A187-AFE9A3E85949}"/>
              </a:ext>
            </a:extLst>
          </p:cNvPr>
          <p:cNvSpPr>
            <a:spLocks noGrp="1"/>
          </p:cNvSpPr>
          <p:nvPr/>
        </p:nvSpPr>
        <p:spPr>
          <a:xfrm>
            <a:off x="7400925" y="1247775"/>
            <a:ext cx="4257675" cy="381000"/>
          </a:xfrm>
          <a:prstGeom prst="rect">
            <a:avLst/>
          </a:prstGeom>
          <a:noFill/>
          <a:ln w="0">
            <a:noFill/>
          </a:ln>
        </p:spPr>
        <p:txBody>
          <a:bodyPr wrap="square" lIns="0" tIns="0" rIns="0" bIns="0">
            <a:normAutofit fontScale="100000"/>
          </a:bodyPr>
          <a:lstStyle/>
          <a:p>
            <a:pPr>
              <a:defRPr sz="1875" b="1">
                <a:solidFill>
                  <a:srgbClr val="145AC6"/>
                </a:solidFill>
                <a:latin typeface="Arial"/>
                <a:ea typeface="Arial"/>
                <a:cs typeface="Arial"/>
              </a:defRPr>
            </a:pPr>
            <a:r>
              <a:rPr sz="1875" b="1" u="sng">
                <a:solidFill>
                  <a:srgbClr val="145AC6"/>
                </a:solidFill>
                <a:latin typeface="Arial"/>
                <a:ea typeface="Arial"/>
                <a:cs typeface="Arial"/>
                <a:hlinkClick r:id="R46b61dc1ea804099"/>
              </a:rPr>
              <a:t>1. Find palliative care nearby</a:t>
            </a:r>
          </a:p>
        </p:txBody>
      </p:sp>
      <p:sp>
        <p:nvSpPr>
          <p:cNvPr id="8" name="Family support 1 description">
            <a:extLst>
              <a:ext uri="{FF2B5EF4-FFF2-40B4-BE49-F238E27FC236}">
                <ns2:creationId id="{CE08D8E6-0466-4C64-A444-12DC69C96F87}"/>
              </a:ext>
            </a:extLst>
          </p:cNvPr>
          <p:cNvSpPr>
            <a:spLocks noGrp="1"/>
          </p:cNvSpPr>
          <p:nvPr/>
        </p:nvSpPr>
        <p:spPr>
          <a:xfrm>
            <a:off x="7400925" y="1695450"/>
            <a:ext cx="4257675" cy="742950"/>
          </a:xfrm>
          <a:prstGeom prst="rect">
            <a:avLst/>
          </a:prstGeom>
          <a:noFill/>
          <a:ln w="0">
            <a:noFill/>
          </a:ln>
        </p:spPr>
        <p:txBody>
          <a:bodyPr wrap="square" lIns="0" tIns="0" rIns="0" bIns="0">
            <a:normAutofit fontScale="100000"/>
          </a:bodyPr>
          <a:lstStyle/>
          <a:p>
            <a:pPr>
              <a:defRPr sz="1650" b="0">
                <a:solidFill>
                  <a:srgbClr val="173F33"/>
                </a:solidFill>
                <a:latin typeface="Arial"/>
                <a:ea typeface="Arial"/>
                <a:cs typeface="Arial"/>
              </a:defRPr>
            </a:pPr>
            <a:r>
              <a:rPr sz="1650" b="0">
                <a:solidFill>
                  <a:srgbClr val="173F33"/>
                </a:solidFill>
                <a:latin typeface="Arial"/>
                <a:ea typeface="Arial"/>
                <a:cs typeface="Arial"/>
              </a:rPr>
              <a:t>Find palliative-care centres and hospitals, with phone numbers and directions.</a:t>
            </a:r>
          </a:p>
        </p:txBody>
      </p:sp>
      <p:pic>
        <p:nvPicPr>
          <p:cNvPr id="26" name=""/>
          <p:cNvPicPr>
            <a:picLocks noChangeAspect="1"/>
          </p:cNvPicPr>
          <p:nvPr/>
        </p:nvPicPr>
        <p:blipFill>
          <a:blip r:embed="R9b14477ded094724">
            <a:extLst>
              <a:ext uri="{96DAC541-7B7A-43D3-8B79-37D633B846F1}">
                <ns4:svgBlip r:embed="R1e352bc0222640c4"/>
              </a:ext>
            </a:extLst>
          </a:blip>
          <a:stretch/>
        </p:blipFill>
        <p:spPr>
          <a:xfrm>
            <a:off x="6838950" y="2571750"/>
            <a:ext cx="400050" cy="400050"/>
          </a:xfrm>
          <a:prstGeom prst="rect">
            <a:avLst/>
          </a:prstGeom>
        </p:spPr>
      </p:pic>
      <p:sp>
        <p:nvSpPr>
          <p:cNvPr id="10" name="Family support 2">
            <a:extLst>
              <a:ext uri="{FF2B5EF4-FFF2-40B4-BE49-F238E27FC236}">
                <ns2:creationId id="{26893C00-FFC0-42B6-AFE1-033AA3760046}"/>
              </a:ext>
            </a:extLst>
          </p:cNvPr>
          <p:cNvSpPr>
            <a:spLocks noGrp="1"/>
          </p:cNvSpPr>
          <p:nvPr/>
        </p:nvSpPr>
        <p:spPr>
          <a:xfrm>
            <a:off x="7400925" y="2543175"/>
            <a:ext cx="4257675" cy="381000"/>
          </a:xfrm>
          <a:prstGeom prst="rect">
            <a:avLst/>
          </a:prstGeom>
          <a:noFill/>
          <a:ln w="0">
            <a:noFill/>
          </a:ln>
        </p:spPr>
        <p:txBody>
          <a:bodyPr wrap="square" lIns="0" tIns="0" rIns="0" bIns="0">
            <a:normAutofit fontScale="100000"/>
          </a:bodyPr>
          <a:lstStyle/>
          <a:p>
            <a:pPr>
              <a:defRPr sz="1875" b="1">
                <a:solidFill>
                  <a:srgbClr val="145AC6"/>
                </a:solidFill>
                <a:latin typeface="Arial"/>
                <a:ea typeface="Arial"/>
                <a:cs typeface="Arial"/>
              </a:defRPr>
            </a:pPr>
            <a:r>
              <a:rPr sz="1875" b="1" u="sng">
                <a:solidFill>
                  <a:srgbClr val="145AC6"/>
                </a:solidFill>
                <a:latin typeface="Arial"/>
                <a:ea typeface="Arial"/>
                <a:cs typeface="Arial"/>
                <a:hlinkClick r:id="Rbef9bae5d7514b7e"/>
              </a:rPr>
              <a:t>2. Access to prescribed opioids</a:t>
            </a:r>
          </a:p>
        </p:txBody>
      </p:sp>
      <p:sp>
        <p:nvSpPr>
          <p:cNvPr id="11" name="Family support 2 description">
            <a:extLst>
              <a:ext uri="{FF2B5EF4-FFF2-40B4-BE49-F238E27FC236}">
                <ns2:creationId id="{A916A27C-EE7A-48F2-BC8C-A419236A49CB}"/>
              </a:ext>
            </a:extLst>
          </p:cNvPr>
          <p:cNvSpPr>
            <a:spLocks noGrp="1"/>
          </p:cNvSpPr>
          <p:nvPr/>
        </p:nvSpPr>
        <p:spPr>
          <a:xfrm>
            <a:off x="7400925" y="2990850"/>
            <a:ext cx="4257675" cy="742950"/>
          </a:xfrm>
          <a:prstGeom prst="rect">
            <a:avLst/>
          </a:prstGeom>
          <a:noFill/>
          <a:ln w="0">
            <a:noFill/>
          </a:ln>
        </p:spPr>
        <p:txBody>
          <a:bodyPr wrap="square" lIns="0" tIns="0" rIns="0" bIns="0">
            <a:normAutofit fontScale="98485"/>
          </a:bodyPr>
          <a:lstStyle/>
          <a:p>
            <a:pPr>
              <a:defRPr sz="1650" b="0">
                <a:solidFill>
                  <a:srgbClr val="173F33"/>
                </a:solidFill>
                <a:latin typeface="Arial"/>
                <a:ea typeface="Arial"/>
                <a:cs typeface="Arial"/>
              </a:defRPr>
            </a:pPr>
            <a:r>
              <a:rPr sz="1650" b="0">
                <a:solidFill>
                  <a:srgbClr val="173F33"/>
                </a:solidFill>
                <a:latin typeface="Arial"/>
                <a:ea typeface="Arial"/>
                <a:cs typeface="Arial"/>
              </a:rPr>
              <a:t>Ask about oral morphine, prescription documents and collection hours before travelling.</a:t>
            </a:r>
          </a:p>
        </p:txBody>
      </p:sp>
      <p:pic>
        <p:nvPicPr>
          <p:cNvPr id="29" name=""/>
          <p:cNvPicPr>
            <a:picLocks noChangeAspect="1"/>
          </p:cNvPicPr>
          <p:nvPr/>
        </p:nvPicPr>
        <p:blipFill>
          <a:blip r:embed="Re0c85cd1bf6c4c16">
            <a:extLst>
              <a:ext uri="{96DAC541-7B7A-43D3-8B79-37D633B846F1}">
                <ns4:svgBlip r:embed="R17eacfd45fb54102"/>
              </a:ext>
            </a:extLst>
          </a:blip>
          <a:stretch/>
        </p:blipFill>
        <p:spPr>
          <a:xfrm>
            <a:off x="6838950" y="3867150"/>
            <a:ext cx="400050" cy="400050"/>
          </a:xfrm>
          <a:prstGeom prst="rect">
            <a:avLst/>
          </a:prstGeom>
        </p:spPr>
      </p:pic>
      <p:sp>
        <p:nvSpPr>
          <p:cNvPr id="13" name="Family support 3">
            <a:extLst>
              <a:ext uri="{FF2B5EF4-FFF2-40B4-BE49-F238E27FC236}">
                <ns2:creationId id="{C16B9867-2BC7-4D7A-8A2B-5E846AAFB64E}"/>
              </a:ext>
            </a:extLst>
          </p:cNvPr>
          <p:cNvSpPr>
            <a:spLocks noGrp="1"/>
          </p:cNvSpPr>
          <p:nvPr/>
        </p:nvSpPr>
        <p:spPr>
          <a:xfrm>
            <a:off x="7400925" y="3838575"/>
            <a:ext cx="4257675" cy="609600"/>
          </a:xfrm>
          <a:prstGeom prst="rect">
            <a:avLst/>
          </a:prstGeom>
          <a:noFill/>
          <a:ln w="0">
            <a:noFill/>
          </a:ln>
        </p:spPr>
        <p:txBody>
          <a:bodyPr wrap="square" lIns="0" tIns="0" rIns="0" bIns="0">
            <a:normAutofit fontScale="100000"/>
          </a:bodyPr>
          <a:lstStyle/>
          <a:p>
            <a:pPr>
              <a:defRPr sz="1875" b="1">
                <a:solidFill>
                  <a:srgbClr val="145AC6"/>
                </a:solidFill>
                <a:latin typeface="Arial"/>
                <a:ea typeface="Arial"/>
                <a:cs typeface="Arial"/>
              </a:defRPr>
            </a:pPr>
            <a:r>
              <a:rPr sz="1875" b="1" u="sng">
                <a:solidFill>
                  <a:srgbClr val="145AC6"/>
                </a:solidFill>
                <a:latin typeface="Arial"/>
                <a:ea typeface="Arial"/>
                <a:cs typeface="Arial"/>
                <a:hlinkClick r:id="Raa86644ba47340b2"/>
              </a:rPr>
              <a:t>3. Find your cancer-specific support group</a:t>
            </a:r>
          </a:p>
        </p:txBody>
      </p:sp>
      <p:sp>
        <p:nvSpPr>
          <p:cNvPr id="14" name="Family support 3 description">
            <a:extLst>
              <a:ext uri="{FF2B5EF4-FFF2-40B4-BE49-F238E27FC236}">
                <ns2:creationId id="{DDACB552-D9E8-448F-9651-724326636C82}"/>
              </a:ext>
            </a:extLst>
          </p:cNvPr>
          <p:cNvSpPr>
            <a:spLocks noGrp="1"/>
          </p:cNvSpPr>
          <p:nvPr/>
        </p:nvSpPr>
        <p:spPr>
          <a:xfrm>
            <a:off x="7400925" y="4486275"/>
            <a:ext cx="4257675" cy="742950"/>
          </a:xfrm>
          <a:prstGeom prst="rect">
            <a:avLst/>
          </a:prstGeom>
          <a:noFill/>
          <a:ln w="0">
            <a:noFill/>
          </a:ln>
        </p:spPr>
        <p:txBody>
          <a:bodyPr wrap="square" lIns="0" tIns="0" rIns="0" bIns="0">
            <a:normAutofit fontScale="100000"/>
          </a:bodyPr>
          <a:lstStyle/>
          <a:p>
            <a:pPr>
              <a:defRPr sz="1650" b="0">
                <a:solidFill>
                  <a:srgbClr val="173F33"/>
                </a:solidFill>
                <a:latin typeface="Arial"/>
                <a:ea typeface="Arial"/>
                <a:cs typeface="Arial"/>
              </a:defRPr>
            </a:pPr>
            <a:r>
              <a:rPr sz="1650" b="0">
                <a:solidFill>
                  <a:srgbClr val="173F33"/>
                </a:solidFill>
                <a:latin typeface="Arial"/>
                <a:ea typeface="Arial"/>
                <a:cs typeface="Arial"/>
              </a:rPr>
              <a:t>Find patient and caregiver groups for your cancer type, locally or online.</a:t>
            </a:r>
          </a:p>
        </p:txBody>
      </p:sp>
      <p:pic>
        <p:nvPicPr>
          <p:cNvPr id="32" name=""/>
          <p:cNvPicPr>
            <a:picLocks noChangeAspect="1"/>
          </p:cNvPicPr>
          <p:nvPr/>
        </p:nvPicPr>
        <p:blipFill>
          <a:blip r:embed="R97787cf5ea694ed9">
            <a:extLst>
              <a:ext uri="{96DAC541-7B7A-43D3-8B79-37D633B846F1}">
                <ns4:svgBlip r:embed="Rd84c9205003f48f6"/>
              </a:ext>
            </a:extLst>
          </a:blip>
          <a:stretch/>
        </p:blipFill>
        <p:spPr>
          <a:xfrm>
            <a:off x="6838950" y="5162550"/>
            <a:ext cx="400050" cy="400050"/>
          </a:xfrm>
          <a:prstGeom prst="rect">
            <a:avLst/>
          </a:prstGeom>
        </p:spPr>
      </p:pic>
      <p:sp>
        <p:nvSpPr>
          <p:cNvPr id="16" name="Family support 4">
            <a:extLst>
              <a:ext uri="{FF2B5EF4-FFF2-40B4-BE49-F238E27FC236}">
                <ns2:creationId id="{7516B8E2-F14E-4585-A912-B7677ECD0D9D}"/>
              </a:ext>
            </a:extLst>
          </p:cNvPr>
          <p:cNvSpPr>
            <a:spLocks noGrp="1"/>
          </p:cNvSpPr>
          <p:nvPr/>
        </p:nvSpPr>
        <p:spPr>
          <a:xfrm>
            <a:off x="7400925" y="5133975"/>
            <a:ext cx="4257675" cy="381000"/>
          </a:xfrm>
          <a:prstGeom prst="rect">
            <a:avLst/>
          </a:prstGeom>
          <a:noFill/>
          <a:ln w="0">
            <a:noFill/>
          </a:ln>
        </p:spPr>
        <p:txBody>
          <a:bodyPr wrap="square" lIns="0" tIns="0" rIns="0" bIns="0">
            <a:normAutofit fontScale="100000"/>
          </a:bodyPr>
          <a:lstStyle/>
          <a:p>
            <a:pPr>
              <a:defRPr sz="1875" b="1">
                <a:solidFill>
                  <a:srgbClr val="145AC6"/>
                </a:solidFill>
                <a:latin typeface="Arial"/>
                <a:ea typeface="Arial"/>
                <a:cs typeface="Arial"/>
              </a:defRPr>
            </a:pPr>
            <a:r>
              <a:rPr sz="1875" b="1" u="sng">
                <a:solidFill>
                  <a:srgbClr val="145AC6"/>
                </a:solidFill>
                <a:latin typeface="Arial"/>
                <a:ea typeface="Arial"/>
                <a:cs typeface="Arial"/>
                <a:hlinkClick r:id="Raa6659c1abee49c6"/>
              </a:rPr>
              <a:t>4. Plan travel and help at home</a:t>
            </a:r>
          </a:p>
        </p:txBody>
      </p:sp>
      <p:sp>
        <p:nvSpPr>
          <p:cNvPr id="17" name="Family support 4 description">
            <a:extLst>
              <a:ext uri="{FF2B5EF4-FFF2-40B4-BE49-F238E27FC236}">
                <ns2:creationId id="{393EFD93-B221-47B6-AC12-070B46966CFE}"/>
              </a:ext>
            </a:extLst>
          </p:cNvPr>
          <p:cNvSpPr>
            <a:spLocks noGrp="1"/>
          </p:cNvSpPr>
          <p:nvPr/>
        </p:nvSpPr>
        <p:spPr>
          <a:xfrm>
            <a:off x="7400925" y="5581650"/>
            <a:ext cx="4257675" cy="742950"/>
          </a:xfrm>
          <a:prstGeom prst="rect">
            <a:avLst/>
          </a:prstGeom>
          <a:noFill/>
          <a:ln w="0">
            <a:noFill/>
          </a:ln>
        </p:spPr>
        <p:txBody>
          <a:bodyPr wrap="square" lIns="0" tIns="0" rIns="0" bIns="0">
            <a:normAutofit fontScale="100000"/>
          </a:bodyPr>
          <a:lstStyle/>
          <a:p>
            <a:pPr>
              <a:defRPr sz="1650" b="0">
                <a:solidFill>
                  <a:srgbClr val="173F33"/>
                </a:solidFill>
                <a:latin typeface="Arial"/>
                <a:ea typeface="Arial"/>
                <a:cs typeface="Arial"/>
              </a:defRPr>
            </a:pPr>
            <a:r>
              <a:rPr sz="1650" b="0">
                <a:solidFill>
                  <a:srgbClr val="173F33"/>
                </a:solidFill>
                <a:latin typeface="Arial"/>
                <a:ea typeface="Arial"/>
                <a:cs typeface="Arial"/>
              </a:rPr>
              <a:t>Arrange a ride or ambulance, home nursing or medicine collection with your care circle.</a:t>
            </a:r>
          </a:p>
        </p:txBody>
      </p:sp>
    </p:spTree>
    <p:extLst>
      <p:ext uri="{BB962C8B-B14F-4D97-AF65-F5344CB8AC3E}">
        <ns5:creationId val="1410585306"/>
      </p:ext>
    </p:extLst>
  </p:cSld>
</p:sld>
</file>

<file path=ppt/slides/slide6.xml><?xml version="1.0" encoding="utf-8"?>
<p:sld xmlns:a="http://schemas.openxmlformats.org/drawingml/2006/main" xmlns:ns2="http://schemas.microsoft.com/office/drawing/2014/main" xmlns:ns4="http://schemas.microsoft.com/office/drawing/2016/SVG/main" xmlns:ns5="http://schemas.microsoft.com/office/powerpoint/2010/main" xmlns:p="http://schemas.openxmlformats.org/presentationml/2006/main" xmlns:r="http://schemas.openxmlformats.org/officeDocument/2006/relationships">
  <p:cSld>
    <p:bg>
      <p:bgPr>
        <a:solidFill>
          <a:srgbClr val="E8F4F0"/>
        </a:solidFill>
      </p:bgPr>
    </p:bg>
    <p:spTree>
      <p:nvGrpSpPr>
        <p:cNvPr id="1" name=""/>
        <p:cNvGrpSpPr/>
        <p:nvPr/>
      </p:nvGrpSpPr>
      <p:grpSpPr>
        <a:xfrm/>
      </p:grpSpPr>
      <p:sp>
        <p:nvSpPr>
          <p:cNvPr id="17" name="Slide title">
            <a:extLst>
              <a:ext uri="{FF2B5EF4-FFF2-40B4-BE49-F238E27FC236}">
                <ns2:creationId id="{FBE6313F-BF8E-488F-BBC3-3D17FF350EA5}"/>
              </a:ext>
            </a:extLst>
          </p:cNvPr>
          <p:cNvSpPr>
            <a:spLocks noGrp="1"/>
          </p:cNvSpPr>
          <p:nvPr/>
        </p:nvSpPr>
        <p:spPr>
          <a:xfrm>
            <a:off x="533400" y="361950"/>
            <a:ext cx="11125200" cy="600075"/>
          </a:xfrm>
          <a:prstGeom prst="rect">
            <a:avLst/>
          </a:prstGeom>
          <a:noFill/>
          <a:ln w="0">
            <a:noFill/>
          </a:ln>
        </p:spPr>
        <p:txBody>
          <a:bodyPr wrap="square" lIns="0" tIns="0" rIns="0" bIns="0">
            <a:normAutofit fontScale="100000"/>
          </a:bodyPr>
          <a:lstStyle/>
          <a:p>
            <a:pPr>
              <a:defRPr sz="3000" b="1">
                <a:solidFill>
                  <a:srgbClr val="173F33"/>
                </a:solidFill>
                <a:latin typeface="Arial"/>
                <a:ea typeface="Arial"/>
                <a:cs typeface="Arial"/>
              </a:defRPr>
            </a:pPr>
            <a:r>
              <a:rPr sz="3000" b="1">
                <a:solidFill>
                  <a:srgbClr val="173F33"/>
                </a:solidFill>
                <a:latin typeface="Arial"/>
                <a:ea typeface="Arial"/>
                <a:cs typeface="Arial"/>
              </a:rPr>
              <a:t>AI helps families use patient records</a:t>
            </a:r>
          </a:p>
        </p:txBody>
      </p:sp>
      <p:sp>
        <p:nvSpPr>
          <p:cNvPr id="2" name="Records assistant purpose">
            <a:extLst>
              <a:ext uri="{FF2B5EF4-FFF2-40B4-BE49-F238E27FC236}">
                <ns2:creationId id="{50597C82-5743-4211-9CC6-293C86458DF4}"/>
              </a:ext>
            </a:extLst>
          </p:cNvPr>
          <p:cNvSpPr>
            <a:spLocks noGrp="1"/>
          </p:cNvSpPr>
          <p:nvPr/>
        </p:nvSpPr>
        <p:spPr>
          <a:xfrm>
            <a:off x="533400" y="1028700"/>
            <a:ext cx="11125200" cy="400050"/>
          </a:xfrm>
          <a:prstGeom prst="rect">
            <a:avLst/>
          </a:prstGeom>
          <a:noFill/>
          <a:ln w="0">
            <a:noFill/>
          </a:ln>
        </p:spPr>
        <p:txBody>
          <a:bodyPr wrap="square" lIns="0" tIns="0" rIns="0" bIns="0">
            <a:normAutofit fontScale="100000"/>
          </a:bodyPr>
          <a:lstStyle/>
          <a:p>
            <a:pPr>
              <a:defRPr sz="1800" b="0">
                <a:solidFill>
                  <a:srgbClr val="53655C"/>
                </a:solidFill>
                <a:latin typeface="Arial"/>
                <a:ea typeface="Arial"/>
                <a:cs typeface="Arial"/>
              </a:defRPr>
            </a:pPr>
            <a:r>
              <a:rPr sz="1800" b="0">
                <a:solidFill>
                  <a:srgbClr val="53655C"/>
                </a:solidFill>
                <a:latin typeface="Arial"/>
                <a:ea typeface="Arial"/>
                <a:cs typeface="Arial"/>
              </a:rPr>
              <a:t>With the patient’s permission, find answers and see the original passage.</a:t>
            </a:r>
          </a:p>
        </p:txBody>
      </p:sp>
      <p:pic>
        <p:nvPicPr>
          <p:cNvPr id="19" name="Generated concept illustration of finding an instruction in the original report" descr="Generated concept illustration of finding an instruction in the original report"/>
          <p:cNvPicPr>
            <a:picLocks noChangeAspect="1"/>
          </p:cNvPicPr>
          <p:nvPr/>
        </p:nvPicPr>
        <p:blipFill>
          <a:blip r:embed="R298ef53d591c4690"/>
          <a:srcRect l="0" t="240" r="0" b="240"/>
          <a:stretch>
            <a:fillRect/>
          </a:stretch>
        </p:blipFill>
        <p:spPr>
          <a:xfrm>
            <a:off x="533400" y="1695450"/>
            <a:ext cx="7686675" cy="4305300"/>
          </a:xfrm>
          <a:prstGeom prst="rect">
            <a:avLst/>
          </a:prstGeom>
        </p:spPr>
      </p:pic>
      <p:pic>
        <p:nvPicPr>
          <p:cNvPr id="20" name=""/>
          <p:cNvPicPr>
            <a:picLocks noChangeAspect="1"/>
          </p:cNvPicPr>
          <p:nvPr/>
        </p:nvPicPr>
        <p:blipFill>
          <a:blip r:embed="Rdd6cf94ae6084bb5">
            <a:extLst>
              <a:ext uri="{96DAC541-7B7A-43D3-8B79-37D633B846F1}">
                <ns4:svgBlip r:embed="R23d87118e0b749dd"/>
              </a:ext>
            </a:extLst>
          </a:blip>
          <a:stretch/>
        </p:blipFill>
        <p:spPr>
          <a:xfrm>
            <a:off x="8610600" y="1790700"/>
            <a:ext cx="666750" cy="666750"/>
          </a:xfrm>
          <a:prstGeom prst="rect">
            <a:avLst/>
          </a:prstGeom>
        </p:spPr>
      </p:pic>
      <p:sp>
        <p:nvSpPr>
          <p:cNvPr id="5" name="Records step 1">
            <a:extLst>
              <a:ext uri="{FF2B5EF4-FFF2-40B4-BE49-F238E27FC236}">
                <ns2:creationId id="{AF168274-B7AC-444F-9C64-E68FC0B1F9B1}"/>
              </a:ext>
            </a:extLst>
          </p:cNvPr>
          <p:cNvSpPr>
            <a:spLocks noGrp="1"/>
          </p:cNvSpPr>
          <p:nvPr/>
        </p:nvSpPr>
        <p:spPr>
          <a:xfrm>
            <a:off x="9477375" y="1800225"/>
            <a:ext cx="2181225" cy="781050"/>
          </a:xfrm>
          <a:prstGeom prst="rect">
            <a:avLst/>
          </a:prstGeom>
          <a:noFill/>
          <a:ln w="0">
            <a:noFill/>
          </a:ln>
        </p:spPr>
        <p:txBody>
          <a:bodyPr wrap="square" lIns="0" tIns="0" rIns="0" bIns="0">
            <a:normAutofit fontScale="100000"/>
          </a:bodyPr>
          <a:lstStyle/>
          <a:p>
            <a:pPr>
              <a:defRPr sz="2025" b="1">
                <a:solidFill>
                  <a:srgbClr val="173F33"/>
                </a:solidFill>
                <a:latin typeface="Arial"/>
                <a:ea typeface="Arial"/>
                <a:cs typeface="Arial"/>
              </a:defRPr>
            </a:pPr>
            <a:r>
              <a:rPr sz="2025" b="1">
                <a:solidFill>
                  <a:srgbClr val="173F33"/>
                </a:solidFill>
                <a:latin typeface="Arial"/>
                <a:ea typeface="Arial"/>
                <a:cs typeface="Arial"/>
              </a:rPr>
              <a:t>1. Add a report.</a:t>
            </a:r>
          </a:p>
        </p:txBody>
      </p:sp>
      <p:sp>
        <p:nvSpPr>
          <p:cNvPr id="6" name="Records step 1 detail">
            <a:extLst>
              <a:ext uri="{FF2B5EF4-FFF2-40B4-BE49-F238E27FC236}">
                <ns2:creationId id="{9983123B-EF9F-4332-913B-837D5233EA09}"/>
              </a:ext>
            </a:extLst>
          </p:cNvPr>
          <p:cNvSpPr>
            <a:spLocks noGrp="1"/>
          </p:cNvSpPr>
          <p:nvPr/>
        </p:nvSpPr>
        <p:spPr>
          <a:xfrm>
            <a:off x="9477375" y="2581275"/>
            <a:ext cx="2181225" cy="542925"/>
          </a:xfrm>
          <a:prstGeom prst="rect">
            <a:avLst/>
          </a:prstGeom>
          <a:noFill/>
          <a:ln w="0">
            <a:noFill/>
          </a:ln>
        </p:spPr>
        <p:txBody>
          <a:bodyPr wrap="square" lIns="0" tIns="0" rIns="0" bIns="0">
            <a:normAutofit fontScale="100000"/>
          </a:bodyPr>
          <a:lstStyle/>
          <a:p>
            <a:pPr>
              <a:defRPr sz="1575" b="0">
                <a:solidFill>
                  <a:srgbClr val="53655C"/>
                </a:solidFill>
                <a:latin typeface="Arial"/>
                <a:ea typeface="Arial"/>
                <a:cs typeface="Arial"/>
              </a:defRPr>
            </a:pPr>
            <a:r>
              <a:rPr sz="1575" b="0">
                <a:solidFill>
                  <a:srgbClr val="53655C"/>
                </a:solidFill>
                <a:latin typeface="Arial"/>
                <a:ea typeface="Arial"/>
                <a:cs typeface="Arial"/>
              </a:rPr>
              <a:t>Or a printed prescription.</a:t>
            </a:r>
          </a:p>
        </p:txBody>
      </p:sp>
      <p:pic>
        <p:nvPicPr>
          <p:cNvPr id="23" name=""/>
          <p:cNvPicPr>
            <a:picLocks noChangeAspect="1"/>
          </p:cNvPicPr>
          <p:nvPr/>
        </p:nvPicPr>
        <p:blipFill>
          <a:blip r:embed="R7fb059cb0cc5476e">
            <a:extLst>
              <a:ext uri="{96DAC541-7B7A-43D3-8B79-37D633B846F1}">
                <ns4:svgBlip r:embed="R4aeb887dfba64212"/>
              </a:ext>
            </a:extLst>
          </a:blip>
          <a:stretch/>
        </p:blipFill>
        <p:spPr>
          <a:xfrm>
            <a:off x="8810625" y="2781300"/>
            <a:ext cx="247650" cy="247650"/>
          </a:xfrm>
          <a:prstGeom prst="rect">
            <a:avLst/>
          </a:prstGeom>
        </p:spPr>
      </p:pic>
      <p:pic>
        <p:nvPicPr>
          <p:cNvPr id="24" name=""/>
          <p:cNvPicPr>
            <a:picLocks noChangeAspect="1"/>
          </p:cNvPicPr>
          <p:nvPr/>
        </p:nvPicPr>
        <p:blipFill>
          <a:blip r:embed="Rbb96c63375f34708">
            <a:extLst>
              <a:ext uri="{96DAC541-7B7A-43D3-8B79-37D633B846F1}">
                <ns4:svgBlip r:embed="Ra0e0c89ee7be4b5a"/>
              </a:ext>
            </a:extLst>
          </a:blip>
          <a:stretch/>
        </p:blipFill>
        <p:spPr>
          <a:xfrm>
            <a:off x="8610600" y="3267075"/>
            <a:ext cx="666750" cy="666750"/>
          </a:xfrm>
          <a:prstGeom prst="rect">
            <a:avLst/>
          </a:prstGeom>
        </p:spPr>
      </p:pic>
      <p:sp>
        <p:nvSpPr>
          <p:cNvPr id="9" name="Records step 2">
            <a:extLst>
              <a:ext uri="{FF2B5EF4-FFF2-40B4-BE49-F238E27FC236}">
                <ns2:creationId id="{3422D21C-E79C-45AE-823D-AFFF3DD218D8}"/>
              </a:ext>
            </a:extLst>
          </p:cNvPr>
          <p:cNvSpPr>
            <a:spLocks noGrp="1"/>
          </p:cNvSpPr>
          <p:nvPr/>
        </p:nvSpPr>
        <p:spPr>
          <a:xfrm>
            <a:off x="9477375" y="3276600"/>
            <a:ext cx="2181225" cy="781050"/>
          </a:xfrm>
          <a:prstGeom prst="rect">
            <a:avLst/>
          </a:prstGeom>
          <a:noFill/>
          <a:ln w="0">
            <a:noFill/>
          </a:ln>
        </p:spPr>
        <p:txBody>
          <a:bodyPr wrap="square" lIns="0" tIns="0" rIns="0" bIns="0">
            <a:normAutofit fontScale="100000"/>
          </a:bodyPr>
          <a:lstStyle/>
          <a:p>
            <a:pPr>
              <a:defRPr sz="2025" b="1">
                <a:solidFill>
                  <a:srgbClr val="173F33"/>
                </a:solidFill>
                <a:latin typeface="Arial"/>
                <a:ea typeface="Arial"/>
                <a:cs typeface="Arial"/>
              </a:defRPr>
            </a:pPr>
            <a:r>
              <a:rPr sz="2025" b="1">
                <a:solidFill>
                  <a:srgbClr val="173F33"/>
                </a:solidFill>
                <a:latin typeface="Arial"/>
                <a:ea typeface="Arial"/>
                <a:cs typeface="Arial"/>
              </a:rPr>
              <a:t>2. Ask in your own words.</a:t>
            </a:r>
          </a:p>
        </p:txBody>
      </p:sp>
      <p:pic>
        <p:nvPicPr>
          <p:cNvPr id="26" name=""/>
          <p:cNvPicPr>
            <a:picLocks noChangeAspect="1"/>
          </p:cNvPicPr>
          <p:nvPr/>
        </p:nvPicPr>
        <p:blipFill>
          <a:blip r:embed="R07dc01792dda4d41">
            <a:extLst>
              <a:ext uri="{96DAC541-7B7A-43D3-8B79-37D633B846F1}">
                <ns4:svgBlip r:embed="R3df7960991104e8b"/>
              </a:ext>
            </a:extLst>
          </a:blip>
          <a:stretch/>
        </p:blipFill>
        <p:spPr>
          <a:xfrm>
            <a:off x="8810625" y="4257675"/>
            <a:ext cx="247650" cy="247650"/>
          </a:xfrm>
          <a:prstGeom prst="rect">
            <a:avLst/>
          </a:prstGeom>
        </p:spPr>
      </p:pic>
      <p:pic>
        <p:nvPicPr>
          <p:cNvPr id="27" name=""/>
          <p:cNvPicPr>
            <a:picLocks noChangeAspect="1"/>
          </p:cNvPicPr>
          <p:nvPr/>
        </p:nvPicPr>
        <p:blipFill>
          <a:blip r:embed="R47367089626348d5">
            <a:extLst>
              <a:ext uri="{96DAC541-7B7A-43D3-8B79-37D633B846F1}">
                <ns4:svgBlip r:embed="Rec99c7537c4d489b"/>
              </a:ext>
            </a:extLst>
          </a:blip>
          <a:stretch/>
        </p:blipFill>
        <p:spPr>
          <a:xfrm>
            <a:off x="8610600" y="4743450"/>
            <a:ext cx="666750" cy="666750"/>
          </a:xfrm>
          <a:prstGeom prst="rect">
            <a:avLst/>
          </a:prstGeom>
        </p:spPr>
      </p:pic>
      <p:sp>
        <p:nvSpPr>
          <p:cNvPr id="12" name="Records step 3">
            <a:extLst>
              <a:ext uri="{FF2B5EF4-FFF2-40B4-BE49-F238E27FC236}">
                <ns2:creationId id="{203C1F6E-5810-4296-A106-06E0E9D9B4CD}"/>
              </a:ext>
            </a:extLst>
          </p:cNvPr>
          <p:cNvSpPr>
            <a:spLocks noGrp="1"/>
          </p:cNvSpPr>
          <p:nvPr/>
        </p:nvSpPr>
        <p:spPr>
          <a:xfrm>
            <a:off x="9477375" y="4752975"/>
            <a:ext cx="2181225" cy="781050"/>
          </a:xfrm>
          <a:prstGeom prst="rect">
            <a:avLst/>
          </a:prstGeom>
          <a:noFill/>
          <a:ln w="0">
            <a:noFill/>
          </a:ln>
        </p:spPr>
        <p:txBody>
          <a:bodyPr wrap="square" lIns="0" tIns="0" rIns="0" bIns="0">
            <a:normAutofit fontScale="100000"/>
          </a:bodyPr>
          <a:lstStyle/>
          <a:p>
            <a:pPr>
              <a:defRPr sz="2025" b="1">
                <a:solidFill>
                  <a:srgbClr val="173F33"/>
                </a:solidFill>
                <a:latin typeface="Arial"/>
                <a:ea typeface="Arial"/>
                <a:cs typeface="Arial"/>
              </a:defRPr>
            </a:pPr>
            <a:r>
              <a:rPr sz="2025" b="1">
                <a:solidFill>
                  <a:srgbClr val="173F33"/>
                </a:solidFill>
                <a:latin typeface="Arial"/>
                <a:ea typeface="Arial"/>
                <a:cs typeface="Arial"/>
              </a:rPr>
              <a:t>3. Check the original text.</a:t>
            </a:r>
          </a:p>
        </p:txBody>
      </p:sp>
      <p:pic>
        <p:nvPicPr>
          <p:cNvPr id="29" name=""/>
          <p:cNvPicPr>
            <a:picLocks noChangeAspect="1"/>
          </p:cNvPicPr>
          <p:nvPr/>
        </p:nvPicPr>
        <p:blipFill>
          <a:blip r:embed="Rc3dd696bb80d4df5">
            <a:extLst>
              <a:ext uri="{96DAC541-7B7A-43D3-8B79-37D633B846F1}">
                <ns4:svgBlip r:embed="R3346b5551d2d4b24"/>
              </a:ext>
            </a:extLst>
          </a:blip>
          <a:stretch/>
        </p:blipFill>
        <p:spPr>
          <a:xfrm>
            <a:off x="533400" y="6276975"/>
            <a:ext cx="381000" cy="381000"/>
          </a:xfrm>
          <a:prstGeom prst="rect">
            <a:avLst/>
          </a:prstGeom>
        </p:spPr>
      </p:pic>
      <p:sp>
        <p:nvSpPr>
          <p:cNvPr id="14" name="Treatment dates">
            <a:extLst>
              <a:ext uri="{FF2B5EF4-FFF2-40B4-BE49-F238E27FC236}">
                <ns2:creationId id="{7ABE6DE8-F4DD-4101-BBCE-14F091A63DC4}"/>
              </a:ext>
            </a:extLst>
          </p:cNvPr>
          <p:cNvSpPr>
            <a:spLocks noGrp="1"/>
          </p:cNvSpPr>
          <p:nvPr/>
        </p:nvSpPr>
        <p:spPr>
          <a:xfrm>
            <a:off x="1047750" y="6267450"/>
            <a:ext cx="4572000" cy="495300"/>
          </a:xfrm>
          <a:prstGeom prst="rect">
            <a:avLst/>
          </a:prstGeom>
          <a:noFill/>
          <a:ln w="0">
            <a:noFill/>
          </a:ln>
        </p:spPr>
        <p:txBody>
          <a:bodyPr wrap="square" lIns="0" tIns="0" rIns="0" bIns="0">
            <a:normAutofit fontScale="100000"/>
          </a:bodyPr>
          <a:lstStyle/>
          <a:p>
            <a:pPr>
              <a:defRPr sz="1725" b="1">
                <a:solidFill>
                  <a:srgbClr val="173F33"/>
                </a:solidFill>
                <a:latin typeface="Arial"/>
                <a:ea typeface="Arial"/>
                <a:cs typeface="Arial"/>
              </a:defRPr>
            </a:pPr>
            <a:r>
              <a:rPr sz="1725" b="1">
                <a:solidFill>
                  <a:srgbClr val="173F33"/>
                </a:solidFill>
                <a:latin typeface="Arial"/>
                <a:ea typeface="Arial"/>
                <a:cs typeface="Arial"/>
              </a:rPr>
              <a:t>Keep treatment dates in order.</a:t>
            </a:r>
          </a:p>
        </p:txBody>
      </p:sp>
      <p:pic>
        <p:nvPicPr>
          <p:cNvPr id="31" name=""/>
          <p:cNvPicPr>
            <a:picLocks noChangeAspect="1"/>
          </p:cNvPicPr>
          <p:nvPr/>
        </p:nvPicPr>
        <p:blipFill>
          <a:blip r:embed="R98561110d7a8479a">
            <a:extLst>
              <a:ext uri="{96DAC541-7B7A-43D3-8B79-37D633B846F1}">
                <ns4:svgBlip r:embed="R3a2c505892274681"/>
              </a:ext>
            </a:extLst>
          </a:blip>
          <a:stretch/>
        </p:blipFill>
        <p:spPr>
          <a:xfrm>
            <a:off x="6210300" y="6276975"/>
            <a:ext cx="381000" cy="381000"/>
          </a:xfrm>
          <a:prstGeom prst="rect">
            <a:avLst/>
          </a:prstGeom>
        </p:spPr>
      </p:pic>
      <p:sp>
        <p:nvSpPr>
          <p:cNvPr id="16" name="Medicine reminders">
            <a:extLst>
              <a:ext uri="{FF2B5EF4-FFF2-40B4-BE49-F238E27FC236}">
                <ns2:creationId id="{CCFA899C-52F3-49EF-937B-EDF4DD9D8B45}"/>
              </a:ext>
            </a:extLst>
          </p:cNvPr>
          <p:cNvSpPr>
            <a:spLocks noGrp="1"/>
          </p:cNvSpPr>
          <p:nvPr/>
        </p:nvSpPr>
        <p:spPr>
          <a:xfrm>
            <a:off x="6743700" y="6267450"/>
            <a:ext cx="4914900" cy="495300"/>
          </a:xfrm>
          <a:prstGeom prst="rect">
            <a:avLst/>
          </a:prstGeom>
          <a:noFill/>
          <a:ln w="0">
            <a:noFill/>
          </a:ln>
        </p:spPr>
        <p:txBody>
          <a:bodyPr wrap="square" lIns="0" tIns="0" rIns="0" bIns="0">
            <a:normAutofit fontScale="100000"/>
          </a:bodyPr>
          <a:lstStyle/>
          <a:p>
            <a:pPr>
              <a:defRPr sz="1725" b="1">
                <a:solidFill>
                  <a:srgbClr val="173F33"/>
                </a:solidFill>
                <a:latin typeface="Arial"/>
                <a:ea typeface="Arial"/>
                <a:cs typeface="Arial"/>
              </a:defRPr>
            </a:pPr>
            <a:r>
              <a:rPr sz="1725" b="1">
                <a:solidFill>
                  <a:srgbClr val="173F33"/>
                </a:solidFill>
                <a:latin typeface="Arial"/>
                <a:ea typeface="Arial"/>
                <a:cs typeface="Arial"/>
              </a:rPr>
              <a:t>Check medicine reminders before saving.</a:t>
            </a:r>
          </a:p>
        </p:txBody>
      </p:sp>
    </p:spTree>
    <p:extLst>
      <p:ext uri="{BB962C8B-B14F-4D97-AF65-F5344CB8AC3E}">
        <ns5:creationId val="1405124457"/>
      </p:ext>
    </p:extLst>
  </p:cSld>
</p:sld>
</file>

<file path=ppt/slides/slide7.xml><?xml version="1.0" encoding="utf-8"?>
<p:sld xmlns:a="http://schemas.openxmlformats.org/drawingml/2006/main" xmlns:ns2="http://schemas.microsoft.com/office/drawing/2014/main" xmlns:ns4="http://schemas.microsoft.com/office/drawing/2016/SVG/main" xmlns:ns5="http://schemas.microsoft.com/office/powerpoint/2010/main" xmlns:p="http://schemas.openxmlformats.org/presentationml/2006/main" xmlns:r="http://schemas.openxmlformats.org/officeDocument/2006/relationships">
  <p:cSld>
    <p:bg>
      <p:bgPr>
        <a:solidFill>
          <a:srgbClr val="FCFAF4"/>
        </a:solidFill>
      </p:bgPr>
    </p:bg>
    <p:spTree>
      <p:nvGrpSpPr>
        <p:cNvPr id="1" name=""/>
        <p:cNvGrpSpPr/>
        <p:nvPr/>
      </p:nvGrpSpPr>
      <p:grpSpPr>
        <a:xfrm/>
      </p:grpSpPr>
      <p:sp>
        <p:nvSpPr>
          <p:cNvPr id="15" name="Slide title">
            <a:extLst>
              <a:ext uri="{FF2B5EF4-FFF2-40B4-BE49-F238E27FC236}">
                <ns2:creationId id="{FDF7233B-E80A-4458-9433-4AECB7181B3D}"/>
              </a:ext>
            </a:extLst>
          </p:cNvPr>
          <p:cNvSpPr>
            <a:spLocks noGrp="1"/>
          </p:cNvSpPr>
          <p:nvPr/>
        </p:nvSpPr>
        <p:spPr>
          <a:xfrm>
            <a:off x="533400" y="304800"/>
            <a:ext cx="11125200" cy="581025"/>
          </a:xfrm>
          <a:prstGeom prst="rect">
            <a:avLst/>
          </a:prstGeom>
          <a:noFill/>
          <a:ln w="0">
            <a:noFill/>
          </a:ln>
        </p:spPr>
        <p:txBody>
          <a:bodyPr wrap="square" lIns="0" tIns="0" rIns="0" bIns="0">
            <a:normAutofit fontScale="100000"/>
          </a:bodyPr>
          <a:lstStyle/>
          <a:p>
            <a:pPr>
              <a:defRPr sz="3000" b="1">
                <a:solidFill>
                  <a:srgbClr val="173F33"/>
                </a:solidFill>
                <a:latin typeface="Arial"/>
                <a:ea typeface="Arial"/>
                <a:cs typeface="Arial"/>
              </a:defRPr>
            </a:pPr>
            <a:r>
              <a:rPr sz="3000" b="1">
                <a:solidFill>
                  <a:srgbClr val="173F33"/>
                </a:solidFill>
                <a:latin typeface="Arial"/>
                <a:ea typeface="Arial"/>
                <a:cs typeface="Arial"/>
              </a:rPr>
              <a:t>Saathi also keeps your cancer care in one place</a:t>
            </a:r>
          </a:p>
        </p:txBody>
      </p:sp>
      <p:pic>
        <p:nvPicPr>
          <p:cNvPr id="16" name=""/>
          <p:cNvPicPr>
            <a:picLocks noChangeAspect="1"/>
          </p:cNvPicPr>
          <p:nvPr/>
        </p:nvPicPr>
        <p:blipFill>
          <a:blip r:embed="R7fb78890f8e54f6b"/>
          <a:stretch/>
        </p:blipFill>
        <p:spPr>
          <a:xfrm>
            <a:off x="228600" y="1030856"/>
            <a:ext cx="7753350" cy="4529589"/>
          </a:xfrm>
          <a:prstGeom prst="rect">
            <a:avLst/>
          </a:prstGeom>
        </p:spPr>
      </p:pic>
      <p:pic>
        <p:nvPicPr>
          <p:cNvPr id="17" name="Actual care calendar with the upcoming clinic visit" descr="Actual care calendar with the upcoming clinic visit"/>
          <p:cNvPicPr>
            <a:picLocks noChangeAspect="1"/>
          </p:cNvPicPr>
          <p:nvPr/>
        </p:nvPicPr>
        <p:blipFill>
          <a:blip r:embed="Rfd3554b222424047"/>
          <a:srcRect l="3539" t="13901" r="23460" b="22629"/>
          <a:stretch>
            <a:fillRect/>
          </a:stretch>
        </p:blipFill>
        <p:spPr>
          <a:xfrm>
            <a:off x="8210550" y="1057275"/>
            <a:ext cx="3448050" cy="3648075"/>
          </a:xfrm>
          <a:prstGeom prst="rect">
            <a:avLst/>
          </a:prstGeom>
        </p:spPr>
      </p:pic>
      <p:pic>
        <p:nvPicPr>
          <p:cNvPr id="18" name=""/>
          <p:cNvPicPr>
            <a:picLocks noChangeAspect="1"/>
          </p:cNvPicPr>
          <p:nvPr/>
        </p:nvPicPr>
        <p:blipFill>
          <a:blip r:embed="Rc3350f15ae5f434f">
            <a:extLst>
              <a:ext uri="{96DAC541-7B7A-43D3-8B79-37D633B846F1}">
                <ns4:svgBlip r:embed="R53c8abe211c246fc"/>
              </a:ext>
            </a:extLst>
          </a:blip>
          <a:stretch/>
        </p:blipFill>
        <p:spPr>
          <a:xfrm>
            <a:off x="533400" y="5638800"/>
            <a:ext cx="304800" cy="304800"/>
          </a:xfrm>
          <a:prstGeom prst="rect">
            <a:avLst/>
          </a:prstGeom>
        </p:spPr>
      </p:pic>
      <p:sp>
        <p:nvSpPr>
          <p:cNvPr id="5" name="Daily care pill">
            <a:extLst>
              <a:ext uri="{FF2B5EF4-FFF2-40B4-BE49-F238E27FC236}">
                <ns2:creationId id="{B398B9EC-2489-4BF9-955C-1036D4041EE2}"/>
              </a:ext>
            </a:extLst>
          </p:cNvPr>
          <p:cNvSpPr>
            <a:spLocks noGrp="1"/>
          </p:cNvSpPr>
          <p:nvPr/>
        </p:nvSpPr>
        <p:spPr>
          <a:xfrm>
            <a:off x="962025" y="5648325"/>
            <a:ext cx="6486525" cy="342900"/>
          </a:xfrm>
          <a:prstGeom prst="rect">
            <a:avLst/>
          </a:prstGeom>
          <a:noFill/>
          <a:ln w="0">
            <a:noFill/>
          </a:ln>
        </p:spPr>
        <p:txBody>
          <a:bodyPr wrap="square" lIns="0" tIns="0" rIns="0" bIns="0">
            <a:normAutofit fontScale="100000"/>
          </a:bodyPr>
          <a:lstStyle/>
          <a:p>
            <a:pPr>
              <a:defRPr sz="1950" b="1">
                <a:solidFill>
                  <a:srgbClr val="145AC6"/>
                </a:solidFill>
                <a:latin typeface="Arial"/>
                <a:ea typeface="Arial"/>
                <a:cs typeface="Arial"/>
              </a:defRPr>
            </a:pPr>
            <a:r>
              <a:rPr sz="1950" b="1" u="sng">
                <a:solidFill>
                  <a:srgbClr val="145AC6"/>
                </a:solidFill>
                <a:latin typeface="Arial"/>
                <a:ea typeface="Arial"/>
                <a:cs typeface="Arial"/>
                <a:hlinkClick r:id="Rd82ae1d7912f40a9"/>
              </a:rPr>
              <a:t>Medicines and prescription reminders</a:t>
            </a:r>
          </a:p>
        </p:txBody>
      </p:sp>
      <p:pic>
        <p:nvPicPr>
          <p:cNvPr id="20" name=""/>
          <p:cNvPicPr>
            <a:picLocks noChangeAspect="1"/>
          </p:cNvPicPr>
          <p:nvPr/>
        </p:nvPicPr>
        <p:blipFill>
          <a:blip r:embed="R9d5a9b7e7348444f">
            <a:extLst>
              <a:ext uri="{96DAC541-7B7A-43D3-8B79-37D633B846F1}">
                <ns4:svgBlip r:embed="R5a9df30dae6147f3"/>
              </a:ext>
            </a:extLst>
          </a:blip>
          <a:stretch/>
        </p:blipFill>
        <p:spPr>
          <a:xfrm>
            <a:off x="533400" y="6057900"/>
            <a:ext cx="304800" cy="304800"/>
          </a:xfrm>
          <a:prstGeom prst="rect">
            <a:avLst/>
          </a:prstGeom>
        </p:spPr>
      </p:pic>
      <p:sp>
        <p:nvSpPr>
          <p:cNvPr id="7" name="Daily care calendar-days">
            <a:extLst>
              <a:ext uri="{FF2B5EF4-FFF2-40B4-BE49-F238E27FC236}">
                <ns2:creationId id="{E24E494D-D347-472C-A200-824852B7E29D}"/>
              </a:ext>
            </a:extLst>
          </p:cNvPr>
          <p:cNvSpPr>
            <a:spLocks noGrp="1"/>
          </p:cNvSpPr>
          <p:nvPr/>
        </p:nvSpPr>
        <p:spPr>
          <a:xfrm>
            <a:off x="962025" y="6067425"/>
            <a:ext cx="6486525" cy="342900"/>
          </a:xfrm>
          <a:prstGeom prst="rect">
            <a:avLst/>
          </a:prstGeom>
          <a:noFill/>
          <a:ln w="0">
            <a:noFill/>
          </a:ln>
        </p:spPr>
        <p:txBody>
          <a:bodyPr wrap="square" lIns="0" tIns="0" rIns="0" bIns="0">
            <a:normAutofit fontScale="100000"/>
          </a:bodyPr>
          <a:lstStyle/>
          <a:p>
            <a:pPr>
              <a:defRPr sz="1950" b="1">
                <a:solidFill>
                  <a:srgbClr val="145AC6"/>
                </a:solidFill>
                <a:latin typeface="Arial"/>
                <a:ea typeface="Arial"/>
                <a:cs typeface="Arial"/>
              </a:defRPr>
            </a:pPr>
            <a:r>
              <a:rPr sz="1950" b="1" u="sng">
                <a:solidFill>
                  <a:srgbClr val="145AC6"/>
                </a:solidFill>
                <a:latin typeface="Arial"/>
                <a:ea typeface="Arial"/>
                <a:cs typeface="Arial"/>
                <a:hlinkClick r:id="R94a266376d8a406a"/>
              </a:rPr>
              <a:t>Visits, tests and treatment dates</a:t>
            </a:r>
          </a:p>
        </p:txBody>
      </p:sp>
      <p:pic>
        <p:nvPicPr>
          <p:cNvPr id="22" name=""/>
          <p:cNvPicPr>
            <a:picLocks noChangeAspect="1"/>
          </p:cNvPicPr>
          <p:nvPr/>
        </p:nvPicPr>
        <p:blipFill>
          <a:blip r:embed="R243703f4fc054959">
            <a:extLst>
              <a:ext uri="{96DAC541-7B7A-43D3-8B79-37D633B846F1}">
                <ns4:svgBlip r:embed="Ra5fd448a59d24c42"/>
              </a:ext>
            </a:extLst>
          </a:blip>
          <a:stretch/>
        </p:blipFill>
        <p:spPr>
          <a:xfrm>
            <a:off x="533400" y="6477000"/>
            <a:ext cx="304800" cy="304800"/>
          </a:xfrm>
          <a:prstGeom prst="rect">
            <a:avLst/>
          </a:prstGeom>
        </p:spPr>
      </p:pic>
      <p:sp>
        <p:nvSpPr>
          <p:cNvPr id="9" name="Daily care heart-handshake">
            <a:extLst>
              <a:ext uri="{FF2B5EF4-FFF2-40B4-BE49-F238E27FC236}">
                <ns2:creationId id="{7E6D31CB-8993-4EAE-90F8-F5DEAAF3C5F6}"/>
              </a:ext>
            </a:extLst>
          </p:cNvPr>
          <p:cNvSpPr>
            <a:spLocks noGrp="1"/>
          </p:cNvSpPr>
          <p:nvPr/>
        </p:nvSpPr>
        <p:spPr>
          <a:xfrm>
            <a:off x="962025" y="6486525"/>
            <a:ext cx="4143375" cy="342900"/>
          </a:xfrm>
          <a:prstGeom prst="rect">
            <a:avLst/>
          </a:prstGeom>
          <a:noFill/>
          <a:ln w="0">
            <a:noFill/>
          </a:ln>
        </p:spPr>
        <p:txBody>
          <a:bodyPr wrap="square" lIns="0" tIns="0" rIns="0" bIns="0">
            <a:normAutofit fontScale="100000"/>
          </a:bodyPr>
          <a:lstStyle/>
          <a:p>
            <a:pPr>
              <a:defRPr sz="1800" b="1">
                <a:solidFill>
                  <a:srgbClr val="145AC6"/>
                </a:solidFill>
                <a:latin typeface="Arial"/>
                <a:ea typeface="Arial"/>
                <a:cs typeface="Arial"/>
              </a:defRPr>
            </a:pPr>
            <a:r>
              <a:rPr sz="1800" b="1" u="sng">
                <a:solidFill>
                  <a:srgbClr val="145AC6"/>
                </a:solidFill>
                <a:latin typeface="Arial"/>
                <a:ea typeface="Arial"/>
                <a:cs typeface="Arial"/>
                <a:hlinkClick r:id="Ra0fca341500343fe"/>
              </a:rPr>
              <a:t>Journals and symptom tracking</a:t>
            </a:r>
          </a:p>
        </p:txBody>
      </p:sp>
      <p:pic>
        <p:nvPicPr>
          <p:cNvPr id="24" name=""/>
          <p:cNvPicPr>
            <a:picLocks noChangeAspect="1"/>
          </p:cNvPicPr>
          <p:nvPr/>
        </p:nvPicPr>
        <p:blipFill>
          <a:blip r:embed="R8a745f7efce240fd">
            <a:extLst>
              <a:ext uri="{96DAC541-7B7A-43D3-8B79-37D633B846F1}">
                <ns4:svgBlip r:embed="R364997ffb68b45d9"/>
              </a:ext>
            </a:extLst>
          </a:blip>
          <a:stretch/>
        </p:blipFill>
        <p:spPr>
          <a:xfrm>
            <a:off x="5010150" y="6477000"/>
            <a:ext cx="304800" cy="304800"/>
          </a:xfrm>
          <a:prstGeom prst="rect">
            <a:avLst/>
          </a:prstGeom>
        </p:spPr>
      </p:pic>
      <p:sp>
        <p:nvSpPr>
          <p:cNvPr id="11" name="Daily care receipt-indian-rupee">
            <a:extLst>
              <a:ext uri="{FF2B5EF4-FFF2-40B4-BE49-F238E27FC236}">
                <ns2:creationId id="{A1E13906-2AC0-4911-9B5D-DC8FAA7BF441}"/>
              </a:ext>
            </a:extLst>
          </p:cNvPr>
          <p:cNvSpPr>
            <a:spLocks noGrp="1"/>
          </p:cNvSpPr>
          <p:nvPr/>
        </p:nvSpPr>
        <p:spPr>
          <a:xfrm>
            <a:off x="5438775" y="6486525"/>
            <a:ext cx="2428875" cy="342900"/>
          </a:xfrm>
          <a:prstGeom prst="rect">
            <a:avLst/>
          </a:prstGeom>
          <a:noFill/>
          <a:ln w="0">
            <a:noFill/>
          </a:ln>
        </p:spPr>
        <p:txBody>
          <a:bodyPr wrap="square" lIns="0" tIns="0" rIns="0" bIns="0">
            <a:normAutofit fontScale="100000"/>
          </a:bodyPr>
          <a:lstStyle/>
          <a:p>
            <a:pPr>
              <a:defRPr sz="1725" b="1">
                <a:solidFill>
                  <a:srgbClr val="145AC6"/>
                </a:solidFill>
                <a:latin typeface="Arial"/>
                <a:ea typeface="Arial"/>
                <a:cs typeface="Arial"/>
              </a:defRPr>
            </a:pPr>
            <a:r>
              <a:rPr sz="1725" b="1" u="sng">
                <a:solidFill>
                  <a:srgbClr val="145AC6"/>
                </a:solidFill>
                <a:latin typeface="Arial"/>
                <a:ea typeface="Arial"/>
                <a:cs typeface="Arial"/>
                <a:hlinkClick r:id="R67978e6da7194709"/>
              </a:rPr>
              <a:t>Financial tracking</a:t>
            </a:r>
          </a:p>
        </p:txBody>
      </p:sp>
      <p:sp>
        <p:nvSpPr>
          <p:cNvPr id="12" name="Three sign-ins">
            <a:extLst>
              <a:ext uri="{FF2B5EF4-FFF2-40B4-BE49-F238E27FC236}">
                <ns2:creationId id="{301804ED-A50A-4F24-B63A-51D04B975DD4}"/>
              </a:ext>
            </a:extLst>
          </p:cNvPr>
          <p:cNvSpPr>
            <a:spLocks noGrp="1"/>
          </p:cNvSpPr>
          <p:nvPr/>
        </p:nvSpPr>
        <p:spPr>
          <a:xfrm>
            <a:off x="8210550" y="5057775"/>
            <a:ext cx="3448050" cy="342900"/>
          </a:xfrm>
          <a:prstGeom prst="rect">
            <a:avLst/>
          </a:prstGeom>
          <a:noFill/>
          <a:ln w="0">
            <a:noFill/>
          </a:ln>
        </p:spPr>
        <p:txBody>
          <a:bodyPr wrap="square" lIns="0" tIns="0" rIns="0" bIns="0">
            <a:normAutofit fontScale="100000"/>
          </a:bodyPr>
          <a:lstStyle/>
          <a:p>
            <a:pPr>
              <a:defRPr sz="1875" b="1">
                <a:solidFill>
                  <a:srgbClr val="173F33"/>
                </a:solidFill>
                <a:latin typeface="Arial"/>
                <a:ea typeface="Arial"/>
                <a:cs typeface="Arial"/>
              </a:defRPr>
            </a:pPr>
            <a:r>
              <a:rPr sz="1875" b="1">
                <a:solidFill>
                  <a:srgbClr val="173F33"/>
                </a:solidFill>
                <a:latin typeface="Arial"/>
                <a:ea typeface="Arial"/>
                <a:cs typeface="Arial"/>
              </a:rPr>
              <a:t>Three sign-ins</a:t>
            </a:r>
          </a:p>
        </p:txBody>
      </p:sp>
      <p:pic>
        <p:nvPicPr>
          <p:cNvPr id="27" name="Actual patient, family and doctor sign-in choices" descr="Actual patient, family and doctor sign-in choices"/>
          <p:cNvPicPr>
            <a:picLocks noChangeAspect="1"/>
          </p:cNvPicPr>
          <p:nvPr/>
        </p:nvPicPr>
        <p:blipFill>
          <a:blip r:embed="R6b4b880480804d4e"/>
          <a:srcRect l="6332" t="32653" r="6987" b="44694"/>
          <a:stretch>
            <a:fillRect/>
          </a:stretch>
        </p:blipFill>
        <p:spPr>
          <a:xfrm>
            <a:off x="8210550" y="5514975"/>
            <a:ext cx="3448050" cy="962025"/>
          </a:xfrm>
          <a:prstGeom prst="rect">
            <a:avLst/>
          </a:prstGeom>
        </p:spPr>
      </p:pic>
      <p:sp>
        <p:nvSpPr>
          <p:cNvPr id="14" name="Patient home website">
            <a:extLst>
              <a:ext uri="{FF2B5EF4-FFF2-40B4-BE49-F238E27FC236}">
                <ns2:creationId id="{6C8BA3AF-9177-4990-B26C-771E2D34802B}"/>
              </a:ext>
            </a:extLst>
          </p:cNvPr>
          <p:cNvSpPr>
            <a:spLocks noGrp="1"/>
          </p:cNvSpPr>
          <p:nvPr/>
        </p:nvSpPr>
        <p:spPr>
          <a:xfrm>
            <a:off x="8210550" y="6600825"/>
            <a:ext cx="3448050" cy="228600"/>
          </a:xfrm>
          <a:prstGeom prst="rect">
            <a:avLst/>
          </a:prstGeom>
          <a:noFill/>
          <a:ln w="0">
            <a:noFill/>
          </a:ln>
        </p:spPr>
        <p:txBody>
          <a:bodyPr wrap="square" lIns="0" tIns="0" rIns="0" bIns="0">
            <a:normAutofit fontScale="100000"/>
          </a:bodyPr>
          <a:lstStyle/>
          <a:p>
            <a:pPr>
              <a:defRPr sz="1425" b="1">
                <a:solidFill>
                  <a:srgbClr val="145AC6"/>
                </a:solidFill>
                <a:latin typeface="Arial"/>
                <a:ea typeface="Arial"/>
                <a:cs typeface="Arial"/>
              </a:defRPr>
            </a:pPr>
            <a:r>
              <a:rPr sz="1425" b="1" u="sng">
                <a:solidFill>
                  <a:srgbClr val="145AC6"/>
                </a:solidFill>
                <a:latin typeface="Arial"/>
                <a:ea typeface="Arial"/>
                <a:cs typeface="Arial"/>
                <a:hlinkClick r:id="R925af90d8de14f9b"/>
              </a:rPr>
              <a:t>OPEN - saathi.wedevit.in</a:t>
            </a:r>
          </a:p>
        </p:txBody>
      </p:sp>
    </p:spTree>
    <p:extLst>
      <p:ext uri="{BB962C8B-B14F-4D97-AF65-F5344CB8AC3E}">
        <ns5:creationId val="221085739"/>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0B1744"/>
        </a:solidFill>
      </p:bgPr>
    </p:bg>
    <p:spTree>
      <p:nvGrpSpPr>
        <p:cNvPr id="1" name=""/>
        <p:cNvGrpSpPr/>
        <p:nvPr/>
      </p:nvGrpSpPr>
      <p:grpSpPr>
        <a:xfrm/>
      </p:grpSpPr>
      <p:sp>
        <p:nvSpPr>
          <p:cNvPr id="31" name="References title">
            <a:extLst>
              <a:ext uri="{FF2B5EF4-FFF2-40B4-BE49-F238E27FC236}">
                <ns2:creationId id="{9CFDA488-193A-443B-94FE-2420B0889B9F}"/>
              </a:ext>
            </a:extLst>
          </p:cNvPr>
          <p:cNvSpPr>
            <a:spLocks noGrp="1"/>
          </p:cNvSpPr>
          <p:nvPr/>
        </p:nvSpPr>
        <p:spPr>
          <a:xfrm>
            <a:off x="533400" y="285750"/>
            <a:ext cx="11125200" cy="590550"/>
          </a:xfrm>
          <a:prstGeom prst="rect">
            <a:avLst/>
          </a:prstGeom>
          <a:noFill/>
          <a:ln w="0">
            <a:noFill/>
          </a:ln>
        </p:spPr>
        <p:txBody>
          <a:bodyPr wrap="square" lIns="0" tIns="0" rIns="0" bIns="0">
            <a:normAutofit fontScale="100000"/>
          </a:bodyPr>
          <a:lstStyle/>
          <a:p>
            <a:pPr>
              <a:defRPr sz="3450" b="1">
                <a:solidFill>
                  <a:srgbClr val="FFD154"/>
                </a:solidFill>
                <a:latin typeface="Arial"/>
                <a:ea typeface="Arial"/>
                <a:cs typeface="Arial"/>
              </a:defRPr>
            </a:pPr>
            <a:r>
              <a:rPr sz="3450" b="1">
                <a:solidFill>
                  <a:srgbClr val="FFD154"/>
                </a:solidFill>
                <a:latin typeface="Arial"/>
                <a:ea typeface="Arial"/>
                <a:cs typeface="Arial"/>
              </a:rPr>
              <a:t>References</a:t>
            </a:r>
          </a:p>
        </p:txBody>
      </p:sp>
      <p:sp>
        <p:nvSpPr>
          <p:cNvPr id="2" name="References one to four">
            <a:extLst>
              <a:ext uri="{FF2B5EF4-FFF2-40B4-BE49-F238E27FC236}">
                <ns2:creationId id="{498E57F2-ED9B-4C27-8217-48A9AFE1BBBE}"/>
              </a:ext>
            </a:extLst>
          </p:cNvPr>
          <p:cNvSpPr>
            <a:spLocks noGrp="1"/>
          </p:cNvSpPr>
          <p:nvPr/>
        </p:nvSpPr>
        <p:spPr>
          <a:xfrm>
            <a:off x="381000" y="981075"/>
            <a:ext cx="5638800" cy="5810250"/>
          </a:xfrm>
          <a:prstGeom prst="rect">
            <a:avLst/>
          </a:prstGeom>
          <a:solidFill>
            <a:srgbClr val="E8F4F0"/>
          </a:solidFill>
          <a:ln w="0">
            <a:noFill/>
          </a:ln>
        </p:spPr>
      </p:sp>
      <p:sp>
        <p:nvSpPr>
          <p:cNvPr id="3" name="References five to nine">
            <a:extLst>
              <a:ext uri="{FF2B5EF4-FFF2-40B4-BE49-F238E27FC236}">
                <ns2:creationId id="{D2B99F2D-5667-4882-A447-2BA294BC71A0}"/>
              </a:ext>
            </a:extLst>
          </p:cNvPr>
          <p:cNvSpPr>
            <a:spLocks noGrp="1"/>
          </p:cNvSpPr>
          <p:nvPr/>
        </p:nvSpPr>
        <p:spPr>
          <a:xfrm>
            <a:off x="6096000" y="981075"/>
            <a:ext cx="5638800" cy="5810250"/>
          </a:xfrm>
          <a:prstGeom prst="rect">
            <a:avLst/>
          </a:prstGeom>
          <a:solidFill>
            <a:srgbClr val="EEE7FA"/>
          </a:solidFill>
          <a:ln w="0">
            <a:noFill/>
          </a:ln>
        </p:spPr>
      </p:sp>
      <p:sp>
        <p:nvSpPr>
          <p:cNvPr id="4" name="Reference 1 author">
            <a:extLst>
              <a:ext uri="{FF2B5EF4-FFF2-40B4-BE49-F238E27FC236}">
                <ns2:creationId id="{20F5141E-D27F-4FA1-837D-D4964CA8DDE7}"/>
              </a:ext>
            </a:extLst>
          </p:cNvPr>
          <p:cNvSpPr>
            <a:spLocks noGrp="1"/>
          </p:cNvSpPr>
          <p:nvPr/>
        </p:nvSpPr>
        <p:spPr>
          <a:xfrm>
            <a:off x="533400" y="1066800"/>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5" name="Reference 1 title">
            <a:extLst>
              <a:ext uri="{FF2B5EF4-FFF2-40B4-BE49-F238E27FC236}">
                <ns2:creationId id="{54BCF0AC-E15E-4672-A0D2-0870E2DE8875}"/>
              </a:ext>
            </a:extLst>
          </p:cNvPr>
          <p:cNvSpPr>
            <a:spLocks noGrp="1"/>
          </p:cNvSpPr>
          <p:nvPr/>
        </p:nvSpPr>
        <p:spPr>
          <a:xfrm>
            <a:off x="533400" y="1323975"/>
            <a:ext cx="5391150" cy="333375"/>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885edb59707149b4"/>
              </a:rPr>
              <a:t>India: GLOBOCAN 2024 Fact Sheet</a:t>
            </a:r>
          </a:p>
        </p:txBody>
      </p:sp>
      <p:sp>
        <p:nvSpPr>
          <p:cNvPr id="6" name="Reference 1 link">
            <a:extLst>
              <a:ext uri="{FF2B5EF4-FFF2-40B4-BE49-F238E27FC236}">
                <ns2:creationId id="{16F6C79A-52F5-4557-8A44-23A604DB58DF}"/>
              </a:ext>
            </a:extLst>
          </p:cNvPr>
          <p:cNvSpPr>
            <a:spLocks noGrp="1"/>
          </p:cNvSpPr>
          <p:nvPr/>
        </p:nvSpPr>
        <p:spPr>
          <a:xfrm>
            <a:off x="533400" y="1685925"/>
            <a:ext cx="5391150" cy="409575"/>
          </a:xfrm>
          <a:prstGeom prst="rect">
            <a:avLst/>
          </a:prstGeom>
          <a:noFill/>
          <a:ln w="0">
            <a:noFill/>
          </a:ln>
        </p:spPr>
        <p:txBody>
          <a:bodyPr wrap="square" lIns="0" tIns="0" rIns="0" bIns="0">
            <a:normAutofit fontScale="100000"/>
          </a:bodyPr>
          <a:lstStyle/>
          <a:p>
            <a:pPr>
              <a:defRPr sz="1035" b="0">
                <a:solidFill>
                  <a:srgbClr val="145AC6"/>
                </a:solidFill>
                <a:latin typeface="Arial"/>
                <a:ea typeface="Arial"/>
                <a:cs typeface="Arial"/>
              </a:defRPr>
            </a:pPr>
            <a:r>
              <a:rPr sz="1035" b="0" u="sng">
                <a:solidFill>
                  <a:srgbClr val="145AC6"/>
                </a:solidFill>
                <a:latin typeface="Arial"/>
                <a:ea typeface="Arial"/>
                <a:cs typeface="Arial"/>
                <a:hlinkClick r:id="R1220e4c854364077"/>
              </a:rPr>
              <a:t>https://gco.iarc.who.int/media/globocan/factsheets/populations/356-india-fact-sheet.pdf</a:t>
            </a:r>
          </a:p>
        </p:txBody>
      </p:sp>
      <p:sp>
        <p:nvSpPr>
          <p:cNvPr id="7" name="Reference 2 author">
            <a:extLst>
              <a:ext uri="{FF2B5EF4-FFF2-40B4-BE49-F238E27FC236}">
                <ns2:creationId id="{C00884C0-D3DE-4F28-9B07-4411696E9ED7}"/>
              </a:ext>
            </a:extLst>
          </p:cNvPr>
          <p:cNvSpPr>
            <a:spLocks noGrp="1"/>
          </p:cNvSpPr>
          <p:nvPr/>
        </p:nvSpPr>
        <p:spPr>
          <a:xfrm>
            <a:off x="533400" y="2343150"/>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8" name="Reference 2 title">
            <a:extLst>
              <a:ext uri="{FF2B5EF4-FFF2-40B4-BE49-F238E27FC236}">
                <ns2:creationId id="{6AEFF4F3-9CCE-4D30-AB50-2336AFAFB2CB}"/>
              </a:ext>
            </a:extLst>
          </p:cNvPr>
          <p:cNvSpPr>
            <a:spLocks noGrp="1"/>
          </p:cNvSpPr>
          <p:nvPr/>
        </p:nvSpPr>
        <p:spPr>
          <a:xfrm>
            <a:off x="533400" y="2600325"/>
            <a:ext cx="5391150" cy="400050"/>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791afef0106047c8"/>
              </a:rPr>
              <a:t>Unmet need for cancer palliative care in India</a:t>
            </a:r>
          </a:p>
        </p:txBody>
      </p:sp>
      <p:sp>
        <p:nvSpPr>
          <p:cNvPr id="9" name="Reference 2 link">
            <a:extLst>
              <a:ext uri="{FF2B5EF4-FFF2-40B4-BE49-F238E27FC236}">
                <ns2:creationId id="{DFBD5CC4-A38F-467B-9625-1F586AD12707}"/>
              </a:ext>
            </a:extLst>
          </p:cNvPr>
          <p:cNvSpPr>
            <a:spLocks noGrp="1"/>
          </p:cNvSpPr>
          <p:nvPr/>
        </p:nvSpPr>
        <p:spPr>
          <a:xfrm>
            <a:off x="533400" y="3028950"/>
            <a:ext cx="5391150" cy="200025"/>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797b552f1fed417b"/>
              </a:rPr>
              <a:t>https://doi.org/10.1136/spcare-2024-004978</a:t>
            </a:r>
          </a:p>
        </p:txBody>
      </p:sp>
      <p:sp>
        <p:nvSpPr>
          <p:cNvPr id="10" name="Reference 3 author">
            <a:extLst>
              <a:ext uri="{FF2B5EF4-FFF2-40B4-BE49-F238E27FC236}">
                <ns2:creationId id="{0B07B9E4-0DFE-4D28-AB9D-C1E2E2ECAE0B}"/>
              </a:ext>
            </a:extLst>
          </p:cNvPr>
          <p:cNvSpPr>
            <a:spLocks noGrp="1"/>
          </p:cNvSpPr>
          <p:nvPr/>
        </p:nvSpPr>
        <p:spPr>
          <a:xfrm>
            <a:off x="533400" y="3438525"/>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11" name="Reference 3 title">
            <a:extLst>
              <a:ext uri="{FF2B5EF4-FFF2-40B4-BE49-F238E27FC236}">
                <ns2:creationId id="{21A12B1A-203D-45E8-93E5-7BA8D2035C0F}"/>
              </a:ext>
            </a:extLst>
          </p:cNvPr>
          <p:cNvSpPr>
            <a:spLocks noGrp="1"/>
          </p:cNvSpPr>
          <p:nvPr/>
        </p:nvSpPr>
        <p:spPr>
          <a:xfrm>
            <a:off x="533400" y="3695700"/>
            <a:ext cx="5391150" cy="533400"/>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65ea349185044202"/>
              </a:rPr>
              <a:t>Early Goal of Care Discussions in Healthcare: A Survey Case Report on Benefits and Perceptions</a:t>
            </a:r>
          </a:p>
        </p:txBody>
      </p:sp>
      <p:sp>
        <p:nvSpPr>
          <p:cNvPr id="12" name="Reference 3 link">
            <a:extLst>
              <a:ext uri="{FF2B5EF4-FFF2-40B4-BE49-F238E27FC236}">
                <ns2:creationId id="{60AD80DB-51B5-4C08-85E9-CE5555A59C6A}"/>
              </a:ext>
            </a:extLst>
          </p:cNvPr>
          <p:cNvSpPr>
            <a:spLocks noGrp="1"/>
          </p:cNvSpPr>
          <p:nvPr/>
        </p:nvSpPr>
        <p:spPr>
          <a:xfrm>
            <a:off x="533400" y="4257675"/>
            <a:ext cx="5391150" cy="200025"/>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0d5f0b99dff241e7"/>
              </a:rPr>
              <a:t>https://doi.org/10.1016/j.jpainsymman.2024.02.030</a:t>
            </a:r>
          </a:p>
        </p:txBody>
      </p:sp>
      <p:sp>
        <p:nvSpPr>
          <p:cNvPr id="13" name="Reference 4 author">
            <a:extLst>
              <a:ext uri="{FF2B5EF4-FFF2-40B4-BE49-F238E27FC236}">
                <ns2:creationId id="{41AE9C68-54CC-402B-96A2-B7E074A9A4C8}"/>
              </a:ext>
            </a:extLst>
          </p:cNvPr>
          <p:cNvSpPr>
            <a:spLocks noGrp="1"/>
          </p:cNvSpPr>
          <p:nvPr/>
        </p:nvSpPr>
        <p:spPr>
          <a:xfrm>
            <a:off x="533400" y="4686300"/>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4" name="Reference 4 title">
            <a:extLst>
              <a:ext uri="{FF2B5EF4-FFF2-40B4-BE49-F238E27FC236}">
                <ns2:creationId id="{596A0791-4046-4673-AC9C-3FBFCD2CFA36}"/>
              </a:ext>
            </a:extLst>
          </p:cNvPr>
          <p:cNvSpPr>
            <a:spLocks noGrp="1"/>
          </p:cNvSpPr>
          <p:nvPr/>
        </p:nvSpPr>
        <p:spPr>
          <a:xfrm>
            <a:off x="533400" y="4943475"/>
            <a:ext cx="5391150" cy="1047750"/>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a5b3e618edbb4a74"/>
              </a:rPr>
              <a:t>Initiating and Documenting Goals of Care Discussion in Patients with Advanced Pancreatic and Colorectal Cancers: A Quality Improvement Project in a Low Resource Setting</a:t>
            </a:r>
          </a:p>
        </p:txBody>
      </p:sp>
      <p:sp>
        <p:nvSpPr>
          <p:cNvPr id="15" name="Reference 4 link">
            <a:extLst>
              <a:ext uri="{FF2B5EF4-FFF2-40B4-BE49-F238E27FC236}">
                <ns2:creationId id="{B8EEC163-3F2E-4EBC-B634-38795A413E39}"/>
              </a:ext>
            </a:extLst>
          </p:cNvPr>
          <p:cNvSpPr>
            <a:spLocks noGrp="1"/>
          </p:cNvSpPr>
          <p:nvPr/>
        </p:nvSpPr>
        <p:spPr>
          <a:xfrm>
            <a:off x="533400" y="6019800"/>
            <a:ext cx="5391150" cy="200025"/>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3f693aad60564304"/>
              </a:rPr>
              <a:t>https://doi.org/10.1177/26892820251392545</a:t>
            </a:r>
          </a:p>
        </p:txBody>
      </p:sp>
      <p:sp>
        <p:nvSpPr>
          <p:cNvPr id="16" name="Reference 5 author">
            <a:extLst>
              <a:ext uri="{FF2B5EF4-FFF2-40B4-BE49-F238E27FC236}">
                <ns2:creationId id="{88167A31-ECC7-4F32-BE98-CA9E5DC3904D}"/>
              </a:ext>
            </a:extLst>
          </p:cNvPr>
          <p:cNvSpPr>
            <a:spLocks noGrp="1"/>
          </p:cNvSpPr>
          <p:nvPr/>
        </p:nvSpPr>
        <p:spPr>
          <a:xfrm>
            <a:off x="6248400" y="1066800"/>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7" name="Reference 5 title">
            <a:extLst>
              <a:ext uri="{FF2B5EF4-FFF2-40B4-BE49-F238E27FC236}">
                <ns2:creationId id="{24B898E6-7E9C-426A-A6A4-D8C73DC0C2C7}"/>
              </a:ext>
            </a:extLst>
          </p:cNvPr>
          <p:cNvSpPr>
            <a:spLocks noGrp="1"/>
          </p:cNvSpPr>
          <p:nvPr/>
        </p:nvSpPr>
        <p:spPr>
          <a:xfrm>
            <a:off x="6248400" y="1323975"/>
            <a:ext cx="5391150" cy="419100"/>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e6b0a42eaea84bc5"/>
              </a:rPr>
              <a:t>73% urban Indians do not know about their right to make a living will, finds a survey</a:t>
            </a:r>
          </a:p>
        </p:txBody>
      </p:sp>
      <p:sp>
        <p:nvSpPr>
          <p:cNvPr id="18" name="Reference 5 link">
            <a:extLst>
              <a:ext uri="{FF2B5EF4-FFF2-40B4-BE49-F238E27FC236}">
                <ns2:creationId id="{1B2DDBF3-AFAE-4CF0-BE77-A52FE7CA9D67}"/>
              </a:ext>
            </a:extLst>
          </p:cNvPr>
          <p:cNvSpPr>
            <a:spLocks noGrp="1"/>
          </p:cNvSpPr>
          <p:nvPr/>
        </p:nvSpPr>
        <p:spPr>
          <a:xfrm>
            <a:off x="6248400" y="1771650"/>
            <a:ext cx="5391150" cy="409575"/>
          </a:xfrm>
          <a:prstGeom prst="rect">
            <a:avLst/>
          </a:prstGeom>
          <a:noFill/>
          <a:ln w="0">
            <a:noFill/>
          </a:ln>
        </p:spPr>
        <p:txBody>
          <a:bodyPr wrap="square" lIns="0" tIns="0" rIns="0" bIns="0">
            <a:normAutofit fontScale="100000"/>
          </a:bodyPr>
          <a:lstStyle/>
          <a:p>
            <a:pPr>
              <a:defRPr sz="1035" b="0">
                <a:solidFill>
                  <a:srgbClr val="145AC6"/>
                </a:solidFill>
                <a:latin typeface="Arial"/>
                <a:ea typeface="Arial"/>
                <a:cs typeface="Arial"/>
              </a:defRPr>
            </a:pPr>
            <a:r>
              <a:rPr sz="1035" b="0" u="sng">
                <a:solidFill>
                  <a:srgbClr val="145AC6"/>
                </a:solidFill>
                <a:latin typeface="Arial"/>
                <a:ea typeface="Arial"/>
                <a:cs typeface="Arial"/>
                <a:hlinkClick r:id="R0bb47f92802c4df4"/>
              </a:rPr>
              <a:t>https://scroll.in/article/925875/73-urban-indians-do-not-know-about-their-right-to-make-a-living-will-finds-a-survey</a:t>
            </a:r>
          </a:p>
        </p:txBody>
      </p:sp>
      <p:sp>
        <p:nvSpPr>
          <p:cNvPr id="19" name="Reference 6 author">
            <a:extLst>
              <a:ext uri="{FF2B5EF4-FFF2-40B4-BE49-F238E27FC236}">
                <ns2:creationId id="{73B9DB47-B182-4FC4-BC9D-8AC0D6DDEB19}"/>
              </a:ext>
            </a:extLst>
          </p:cNvPr>
          <p:cNvSpPr>
            <a:spLocks noGrp="1"/>
          </p:cNvSpPr>
          <p:nvPr/>
        </p:nvSpPr>
        <p:spPr>
          <a:xfrm>
            <a:off x="6248400" y="2352675"/>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20" name="Reference 6 title">
            <a:extLst>
              <a:ext uri="{FF2B5EF4-FFF2-40B4-BE49-F238E27FC236}">
                <ns2:creationId id="{DA526F74-6C14-474B-9D37-61177D3AF448}"/>
              </a:ext>
            </a:extLst>
          </p:cNvPr>
          <p:cNvSpPr>
            <a:spLocks noGrp="1"/>
          </p:cNvSpPr>
          <p:nvPr/>
        </p:nvSpPr>
        <p:spPr>
          <a:xfrm>
            <a:off x="6248400" y="2609850"/>
            <a:ext cx="5391150" cy="476250"/>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9b15a23efd8b4281"/>
              </a:rPr>
              <a:t>Knowledge and attitude towards advance directives for patients with terminal illnesses among doctors working in a tertiary care hospital</a:t>
            </a:r>
          </a:p>
        </p:txBody>
      </p:sp>
      <p:sp>
        <p:nvSpPr>
          <p:cNvPr id="21" name="Reference 6 link">
            <a:extLst>
              <a:ext uri="{FF2B5EF4-FFF2-40B4-BE49-F238E27FC236}">
                <ns2:creationId id="{55DDC84F-E110-4E2B-9B19-0C4A497DB491}"/>
              </a:ext>
            </a:extLst>
          </p:cNvPr>
          <p:cNvSpPr>
            <a:spLocks noGrp="1"/>
          </p:cNvSpPr>
          <p:nvPr/>
        </p:nvSpPr>
        <p:spPr>
          <a:xfrm>
            <a:off x="6248400" y="3114675"/>
            <a:ext cx="5391150" cy="200025"/>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93bc92255b5a44b1"/>
              </a:rPr>
              <a:t>https://doi.org/10.25259/NMJI_817_2023</a:t>
            </a:r>
          </a:p>
        </p:txBody>
      </p:sp>
      <p:sp>
        <p:nvSpPr>
          <p:cNvPr id="22" name="Reference 7 author">
            <a:extLst>
              <a:ext uri="{FF2B5EF4-FFF2-40B4-BE49-F238E27FC236}">
                <ns2:creationId id="{55A8C869-301B-456B-AE83-B0CC3741AFE3}"/>
              </a:ext>
            </a:extLst>
          </p:cNvPr>
          <p:cNvSpPr>
            <a:spLocks noGrp="1"/>
          </p:cNvSpPr>
          <p:nvPr/>
        </p:nvSpPr>
        <p:spPr>
          <a:xfrm>
            <a:off x="6248400" y="3476625"/>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3" name="Reference 7 title">
            <a:extLst>
              <a:ext uri="{FF2B5EF4-FFF2-40B4-BE49-F238E27FC236}">
                <ns2:creationId id="{A41E9C7E-6610-482E-8C7E-B0B06BF2EDD0}"/>
              </a:ext>
            </a:extLst>
          </p:cNvPr>
          <p:cNvSpPr>
            <a:spLocks noGrp="1"/>
          </p:cNvSpPr>
          <p:nvPr/>
        </p:nvSpPr>
        <p:spPr>
          <a:xfrm>
            <a:off x="6248400" y="3733800"/>
            <a:ext cx="5391150" cy="619125"/>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b5995591698e4917"/>
              </a:rPr>
              <a:t>Barriers and Facilitators to Advance Care Planning Implementation for Patients with Neurodegenerative Diseases among Indian Physicians: A Mixed-Methods Analysis</a:t>
            </a:r>
          </a:p>
        </p:txBody>
      </p:sp>
      <p:sp>
        <p:nvSpPr>
          <p:cNvPr id="24" name="Reference 7 link">
            <a:extLst>
              <a:ext uri="{FF2B5EF4-FFF2-40B4-BE49-F238E27FC236}">
                <ns2:creationId id="{05C4D0A5-26A4-452F-9713-4754DCF53ECE}"/>
              </a:ext>
            </a:extLst>
          </p:cNvPr>
          <p:cNvSpPr>
            <a:spLocks noGrp="1"/>
          </p:cNvSpPr>
          <p:nvPr/>
        </p:nvSpPr>
        <p:spPr>
          <a:xfrm>
            <a:off x="6248400" y="4381500"/>
            <a:ext cx="5391150" cy="200025"/>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76a9a00093d645ac"/>
              </a:rPr>
              <a:t>https://doi.org/10.1101/2025.10.17.25338242</a:t>
            </a:r>
          </a:p>
        </p:txBody>
      </p:sp>
      <p:sp>
        <p:nvSpPr>
          <p:cNvPr id="25" name="Reference 8 author">
            <a:extLst>
              <a:ext uri="{FF2B5EF4-FFF2-40B4-BE49-F238E27FC236}">
                <ns2:creationId id="{83865FF3-5C16-4DE2-AE21-BB14F9A3F7E8}"/>
              </a:ext>
            </a:extLst>
          </p:cNvPr>
          <p:cNvSpPr>
            <a:spLocks noGrp="1"/>
          </p:cNvSpPr>
          <p:nvPr/>
        </p:nvSpPr>
        <p:spPr>
          <a:xfrm>
            <a:off x="6248400" y="4724400"/>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6" name="Reference 8 title">
            <a:extLst>
              <a:ext uri="{FF2B5EF4-FFF2-40B4-BE49-F238E27FC236}">
                <ns2:creationId id="{F602591D-844E-4D4D-826E-3B0FDBB55C9F}"/>
              </a:ext>
            </a:extLst>
          </p:cNvPr>
          <p:cNvSpPr>
            <a:spLocks noGrp="1"/>
          </p:cNvSpPr>
          <p:nvPr/>
        </p:nvSpPr>
        <p:spPr>
          <a:xfrm>
            <a:off x="6248400" y="4981575"/>
            <a:ext cx="5391150" cy="400050"/>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4d8f05bb7a104795"/>
              </a:rPr>
              <a:t>An Ethnographic Study of Barriers to Cancer Pain Management and Opioid Availability in India</a:t>
            </a:r>
          </a:p>
        </p:txBody>
      </p:sp>
      <p:sp>
        <p:nvSpPr>
          <p:cNvPr id="27" name="Reference 8 link">
            <a:extLst>
              <a:ext uri="{FF2B5EF4-FFF2-40B4-BE49-F238E27FC236}">
                <ns2:creationId id="{B9D96002-DE7D-4DA4-961D-6A4EE75F09C2}"/>
              </a:ext>
            </a:extLst>
          </p:cNvPr>
          <p:cNvSpPr>
            <a:spLocks noGrp="1"/>
          </p:cNvSpPr>
          <p:nvPr/>
        </p:nvSpPr>
        <p:spPr>
          <a:xfrm>
            <a:off x="6248400" y="5410200"/>
            <a:ext cx="5391150" cy="200025"/>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a1dca8bc904544b2"/>
              </a:rPr>
              <a:t>https://doi.org/10.1634/theoncologist.2013-0435</a:t>
            </a:r>
          </a:p>
        </p:txBody>
      </p:sp>
      <p:sp>
        <p:nvSpPr>
          <p:cNvPr id="28" name="Reference 9 author">
            <a:extLst>
              <a:ext uri="{FF2B5EF4-FFF2-40B4-BE49-F238E27FC236}">
                <ns2:creationId id="{AA91B481-B7A6-4D2B-ACDA-E87F4311806F}"/>
              </a:ext>
            </a:extLst>
          </p:cNvPr>
          <p:cNvSpPr>
            <a:spLocks noGrp="1"/>
          </p:cNvSpPr>
          <p:nvPr/>
        </p:nvSpPr>
        <p:spPr>
          <a:xfrm>
            <a:off x="6248400" y="5800725"/>
            <a:ext cx="5391150" cy="238125"/>
          </a:xfrm>
          <a:prstGeom prst="rect">
            <a:avLst/>
          </a:prstGeom>
          <a:noFill/>
          <a:ln w="0">
            <a:noFill/>
          </a:ln>
        </p:spPr>
        <p:txBody>
          <a:bodyPr wrap="square" lIns="0" tIns="0" rIns="0" bIns="0">
            <a:normAutofit fontScale="100000"/>
          </a:bodyPr>
          <a:lstStyle/>
          <a:p>
            <a:pPr>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9" name="Reference 9 title">
            <a:extLst>
              <a:ext uri="{FF2B5EF4-FFF2-40B4-BE49-F238E27FC236}">
                <ns2:creationId id="{5E56CDB8-727B-4322-B44D-71B7FB03F3EA}"/>
              </a:ext>
            </a:extLst>
          </p:cNvPr>
          <p:cNvSpPr>
            <a:spLocks noGrp="1"/>
          </p:cNvSpPr>
          <p:nvPr/>
        </p:nvSpPr>
        <p:spPr>
          <a:xfrm>
            <a:off x="6248400" y="6057900"/>
            <a:ext cx="5391150" cy="447675"/>
          </a:xfrm>
          <a:prstGeom prst="rect">
            <a:avLst/>
          </a:prstGeom>
          <a:noFill/>
          <a:ln w="0">
            <a:noFill/>
          </a:ln>
        </p:spPr>
        <p:txBody>
          <a:bodyPr wrap="square" lIns="0" tIns="0" rIns="0" bIns="0">
            <a:normAutofit fontScale="100000"/>
          </a:bodyPr>
          <a:lstStyle/>
          <a:p>
            <a:pPr>
              <a:defRPr sz="1290" b="0">
                <a:solidFill>
                  <a:srgbClr val="145AC6"/>
                </a:solidFill>
                <a:latin typeface="Arial"/>
                <a:ea typeface="Arial"/>
                <a:cs typeface="Arial"/>
              </a:defRPr>
            </a:pPr>
            <a:r>
              <a:rPr sz="1290" b="0" u="sng">
                <a:solidFill>
                  <a:srgbClr val="145AC6"/>
                </a:solidFill>
                <a:latin typeface="Arial"/>
                <a:ea typeface="Arial"/>
                <a:cs typeface="Arial"/>
                <a:hlinkClick r:id="Rca6130f10bc54d31"/>
              </a:rPr>
              <a:t>Receipt of Psychosocial Care Among Cancer Survivors in the United States</a:t>
            </a:r>
          </a:p>
        </p:txBody>
      </p:sp>
      <p:sp>
        <p:nvSpPr>
          <p:cNvPr id="30" name="Reference 9 link">
            <a:extLst>
              <a:ext uri="{FF2B5EF4-FFF2-40B4-BE49-F238E27FC236}">
                <ns2:creationId id="{20C46588-8E1E-469C-A676-3EE67CEB5163}"/>
              </a:ext>
            </a:extLst>
          </p:cNvPr>
          <p:cNvSpPr>
            <a:spLocks noGrp="1"/>
          </p:cNvSpPr>
          <p:nvPr/>
        </p:nvSpPr>
        <p:spPr>
          <a:xfrm>
            <a:off x="6248400" y="6534150"/>
            <a:ext cx="5391150" cy="200025"/>
          </a:xfrm>
          <a:prstGeom prst="rect">
            <a:avLst/>
          </a:prstGeom>
          <a:noFill/>
          <a:ln w="0">
            <a:noFill/>
          </a:ln>
        </p:spPr>
        <p:txBody>
          <a:bodyPr wrap="square" lIns="0" tIns="0" rIns="0" bIns="0">
            <a:normAutofit fontScale="100000"/>
          </a:bodyPr>
          <a:lstStyle/>
          <a:p>
            <a:pPr>
              <a:defRPr sz="1163" b="0">
                <a:solidFill>
                  <a:srgbClr val="145AC6"/>
                </a:solidFill>
                <a:latin typeface="Arial"/>
                <a:ea typeface="Arial"/>
                <a:cs typeface="Arial"/>
              </a:defRPr>
            </a:pPr>
            <a:r>
              <a:rPr sz="1163" b="0" u="sng">
                <a:solidFill>
                  <a:srgbClr val="145AC6"/>
                </a:solidFill>
                <a:latin typeface="Arial"/>
                <a:ea typeface="Arial"/>
                <a:cs typeface="Arial"/>
                <a:hlinkClick r:id="R68ed5580bd0847d8"/>
              </a:rPr>
              <a:t>https://doi.org/10.1200/JCO.2012.46.2101</a:t>
            </a:r>
          </a:p>
        </p:txBody>
      </p:sp>
    </p:spTree>
    <p:extLst>
      <p:ext uri="{BB962C8B-B14F-4D97-AF65-F5344CB8AC3E}">
        <ns4:creationId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2026-09-24T19:41:04.0540000Z</dcterms:created>
  <dcterms:modified xsi:type="dcterms:W3CDTF">2026-09-24T19:41:04.0540000Z</dcterms:modified>
</coreProperties>
</file>