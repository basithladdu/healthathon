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6111ff4a0c24c10" /><Relationship Type="http://schemas.openxmlformats.org/officeDocument/2006/relationships/extended-properties" Target="/docProps/app.xml" Id="R2dd0ff3a169b431f" /><Relationship Type="http://schemas.openxmlformats.org/officeDocument/2006/relationships/officeDocument" Target="/ppt/presentation.xml" Id="Re9ccc25c03724e18" /></Relationships>
</file>

<file path=ppt/presentation.xml><?xml version="1.0" encoding="utf-8"?>
<p:presentation xmlns:p="http://schemas.openxmlformats.org/presentationml/2006/main">
  <p:sldMasterIdLst>
    <p:sldMasterId xmlns:r="http://schemas.openxmlformats.org/officeDocument/2006/relationships" id="2147483648" r:id="Rdcfa60cb00d4442f"/>
  </p:sldMasterIdLst>
  <p:notesMasterIdLst>
    <p:notesMasterId xmlns:r="http://schemas.openxmlformats.org/officeDocument/2006/relationships" r:id="R710a47b394584795"/>
  </p:notesMasterIdLst>
  <p:sldIdLst>
    <p:sldId xmlns:r="http://schemas.openxmlformats.org/officeDocument/2006/relationships" id="256" r:id="Rcb7835aff73a4ea6"/>
    <p:sldId xmlns:r="http://schemas.openxmlformats.org/officeDocument/2006/relationships" id="257" r:id="R4ac045727efe498d"/>
    <p:sldId xmlns:r="http://schemas.openxmlformats.org/officeDocument/2006/relationships" id="258" r:id="R020de527c5e048c8"/>
    <p:sldId xmlns:r="http://schemas.openxmlformats.org/officeDocument/2006/relationships" id="259" r:id="R26a8e4146a1f4791"/>
    <p:sldId xmlns:r="http://schemas.openxmlformats.org/officeDocument/2006/relationships" id="260" r:id="R32fb42123b3b4cdb"/>
    <p:sldId xmlns:r="http://schemas.openxmlformats.org/officeDocument/2006/relationships" id="261" r:id="R7c412225c61a489b"/>
    <p:sldId xmlns:r="http://schemas.openxmlformats.org/officeDocument/2006/relationships" id="262" r:id="R7fb1d755ef754555"/>
    <p:sldId xmlns:r="http://schemas.openxmlformats.org/officeDocument/2006/relationships" id="263" r:id="Rb84444c5b01147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23ad830f0e4ef8" /><Relationship Type="http://schemas.openxmlformats.org/officeDocument/2006/relationships/slideMaster" Target="/ppt/slideMasters/slideMaster1.xml" Id="Rdcfa60cb00d4442f" /><Relationship Type="http://schemas.openxmlformats.org/officeDocument/2006/relationships/notesMaster" Target="/ppt/notesMasters/notesMaster1.xml" Id="R710a47b394584795" /><Relationship Type="http://schemas.openxmlformats.org/officeDocument/2006/relationships/presProps" Target="/ppt/presProps.xml" Id="R5c0baa6361f54a28" /><Relationship Type="http://schemas.openxmlformats.org/officeDocument/2006/relationships/tableStyles" Target="/ppt/tableStyles.xml" Id="R26efd9e2043c4415" /><Relationship Type="http://schemas.openxmlformats.org/officeDocument/2006/relationships/slide" Target="/ppt/slides/slide1.xml" Id="Rcb7835aff73a4ea6" /><Relationship Type="http://schemas.openxmlformats.org/officeDocument/2006/relationships/slide" Target="/ppt/slides/slide2.xml" Id="R4ac045727efe498d" /><Relationship Type="http://schemas.openxmlformats.org/officeDocument/2006/relationships/slide" Target="/ppt/slides/slide3.xml" Id="R020de527c5e048c8" /><Relationship Type="http://schemas.openxmlformats.org/officeDocument/2006/relationships/slide" Target="/ppt/slides/slide4.xml" Id="R26a8e4146a1f4791" /><Relationship Type="http://schemas.openxmlformats.org/officeDocument/2006/relationships/slide" Target="/ppt/slides/slide5.xml" Id="R32fb42123b3b4cdb" /><Relationship Type="http://schemas.openxmlformats.org/officeDocument/2006/relationships/slide" Target="/ppt/slides/slide6.xml" Id="R7c412225c61a489b" /><Relationship Type="http://schemas.openxmlformats.org/officeDocument/2006/relationships/slide" Target="/ppt/slides/slide7.xml" Id="R7fb1d755ef754555" /><Relationship Type="http://schemas.openxmlformats.org/officeDocument/2006/relationships/slide" Target="/ppt/slides/slide8.xml" Id="Rb84444c5b01147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303742e2344c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dbf38e2b54d5d" /><Relationship Type="http://schemas.openxmlformats.org/officeDocument/2006/relationships/notesMaster" Target="/ppt/notesMasters/notesMaster1.xml" Id="R173d486af4d34b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b77a9c9bbf435d" /><Relationship Type="http://schemas.openxmlformats.org/officeDocument/2006/relationships/notesMaster" Target="/ppt/notesMasters/notesMaster1.xml" Id="Re0ec45929f224a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cdaaf4af334e75" /><Relationship Type="http://schemas.openxmlformats.org/officeDocument/2006/relationships/notesMaster" Target="/ppt/notesMasters/notesMaster1.xml" Id="R07833ca1efab44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34608cfcd24985" /><Relationship Type="http://schemas.openxmlformats.org/officeDocument/2006/relationships/notesMaster" Target="/ppt/notesMasters/notesMaster1.xml" Id="R9ca3886e4f1d47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b07a063cc4e58" /><Relationship Type="http://schemas.openxmlformats.org/officeDocument/2006/relationships/notesMaster" Target="/ppt/notesMasters/notesMaster1.xml" Id="Rf32b9b7bfba649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af4a84e6424e55" /><Relationship Type="http://schemas.openxmlformats.org/officeDocument/2006/relationships/notesMaster" Target="/ppt/notesMasters/notesMaster1.xml" Id="R1c7277767e0440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4552eec3464272" /><Relationship Type="http://schemas.openxmlformats.org/officeDocument/2006/relationships/notesMaster" Target="/ppt/notesMasters/notesMaster1.xml" Id="R37aef605bf6549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c5f05b9c134d65" /><Relationship Type="http://schemas.openxmlformats.org/officeDocument/2006/relationships/notesMaster" Target="/ppt/notesMasters/notesMaster1.xml" Id="Rfbbd0865304e48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team's illustrative story, not a reported patient case. The photograph is a separate contextual image and does not depict the woman in the scenario. The story does not recommend or reject any emergency treatment.</a:t>
            </a:r>
          </a:p>
          <a:p xmlns:a="http://schemas.openxmlformats.org/drawingml/2006/main">
            <a:r>
              <a:t/>
            </a:r>
          </a:p>
          <a:p xmlns:a="http://schemas.openxmlformats.org/drawingml/2006/main">
            <a:r>
              <a:t>[Sources]</a:t>
            </a:r>
          </a:p>
          <a:p xmlns:a="http://schemas.openxmlformats.org/drawingml/2006/main">
            <a:r>
              <a:t>- docs/meetings/2026-09-23-chat-follow-up.md</a:t>
            </a:r>
          </a:p>
          <a:p xmlns:a="http://schemas.openxmlformats.org/drawingml/2006/main">
            <a:r>
              <a:t>- submission/Saanthvana_Round_1_Judge_Text_2026-09-24.md</a:t>
            </a:r>
          </a:p>
          <a:p xmlns:a="http://schemas.openxmlformats.org/drawingml/2006/main">
            <a:r>
              <a:t/>
            </a:r>
          </a:p>
          <a:p xmlns:a="http://schemas.openxmlformats.org/drawingml/2006/main">
            <a:r>
              <a:t>[Photo credit and rights]</a:t>
            </a:r>
          </a:p>
          <a:p xmlns:a="http://schemas.openxmlformats.org/drawingml/2006/main">
            <a:r>
              <a:t>- Thierry Falise / ILO Asia-Pacific.</a:t>
            </a:r>
          </a:p>
          <a:p xmlns:a="http://schemas.openxmlformats.org/drawingml/2006/main">
            <a:r>
              <a:t>- Source page: https://commons.wikimedia.org/wiki/File:Doctor_consultation.jpg</a:t>
            </a:r>
          </a:p>
          <a:p xmlns:a="http://schemas.openxmlformats.org/drawingml/2006/main">
            <a:r>
              <a:t>- CC BY-SA 4.0: https://creativecommons.org/licenses/by-sa/4.0/</a:t>
            </a:r>
          </a:p>
          <a:p xmlns:a="http://schemas.openxmlformats.org/drawingml/2006/main">
            <a:r>
              <a:t>- Cropped for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actual local product capture. Names and patient details in its fictional account are illustrative interface content. The current app records typed names, not verified digital signatures. A care note is not a legal advance directive or an instruction for automatic treatment. Patient selection of family members is the intended shared workflow; separate verified accounts and across-phone sharing are not yet connected.</a:t>
            </a:r>
          </a:p>
          <a:p xmlns:a="http://schemas.openxmlformats.org/drawingml/2006/main">
            <a:r>
              <a:t/>
            </a:r>
          </a:p>
          <a:p xmlns:a="http://schemas.openxmlformats.org/drawingml/2006/main">
            <a:r>
              <a:t>[Sources]</a:t>
            </a:r>
          </a:p>
          <a:p xmlns:a="http://schemas.openxmlformats.org/drawingml/2006/main">
            <a:r>
              <a:t>- 21 September transcript, lines 337–395 and 903–959.</a:t>
            </a:r>
          </a:p>
          <a:p xmlns:a="http://schemas.openxmlformats.org/drawingml/2006/main">
            <a:r>
              <a:t>- 23 September transcript, lines 15–21 and 123–167.</a:t>
            </a:r>
          </a:p>
          <a:p xmlns:a="http://schemas.openxmlformats.org/drawingml/2006/main">
            <a:r>
              <a:t>- docs/meetings/2026-09-23-chat-follow-up.md</a:t>
            </a:r>
          </a:p>
          <a:p xmlns:a="http://schemas.openxmlformats.org/drawingml/2006/main">
            <a:r>
              <a:t>- Actual screenshot: output/playwright/2026-09-24-note-history.png</a:t>
            </a:r>
          </a:p>
          <a:p xmlns:a="http://schemas.openxmlformats.org/drawingml/2006/main">
            <a:r>
              <a:t/>
            </a:r>
          </a:p>
          <a:p xmlns:a="http://schemas.openxmlformats.org/drawingml/2006/main">
            <a:r>
              <a:t>[QR target]</a:t>
            </a:r>
          </a:p>
          <a:p xmlns:a="http://schemas.openxmlformats.org/drawingml/2006/main">
            <a:r>
              <a:t>https://continuity-loop-healthathon.vercel.app/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planned connected-AI functions. Today the app supports document upload, source passages, literal retrieval, recording and rule-based note preparation. A model, reliable transcription and image OCR are still to be connected. The reviewed conversation remains the main AI use case; document retrieval supports continuity.</a:t>
            </a:r>
          </a:p>
          <a:p xmlns:a="http://schemas.openxmlformats.org/drawingml/2006/main">
            <a:r>
              <a:t/>
            </a:r>
          </a:p>
          <a:p xmlns:a="http://schemas.openxmlformats.org/drawingml/2006/main">
            <a:r>
              <a:t>[Sources]</a:t>
            </a:r>
          </a:p>
          <a:p xmlns:a="http://schemas.openxmlformats.org/drawingml/2006/main">
            <a:r>
              <a:t>- 21 September discussion, lines 251–303 and 1097–1155.</a:t>
            </a:r>
          </a:p>
          <a:p xmlns:a="http://schemas.openxmlformats.org/drawingml/2006/main">
            <a:r>
              <a:t>- submission/Saanthvana_Round_1_Judge_Text_2026-09-24.md</a:t>
            </a:r>
          </a:p>
          <a:p xmlns:a="http://schemas.openxmlformats.org/drawingml/2006/main">
            <a:r>
              <a:t/>
            </a:r>
          </a:p>
          <a:p xmlns:a="http://schemas.openxmlformats.org/drawingml/2006/main">
            <a:r>
              <a:t>[Photo credit and rights]</a:t>
            </a:r>
          </a:p>
          <a:p xmlns:a="http://schemas.openxmlformats.org/drawingml/2006/main">
            <a:r>
              <a:t>- Photo by goodcatmum (Flickr), “Staff Nurse Andrea writing up her notes.”</a:t>
            </a:r>
          </a:p>
          <a:p xmlns:a="http://schemas.openxmlformats.org/drawingml/2006/main">
            <a:r>
              <a:t>- Source page: https://commons.wikimedia.org/wiki/File:Staff_Nurse_Andrea_writing_up_her_notes.jpg</a:t>
            </a:r>
          </a:p>
          <a:p xmlns:a="http://schemas.openxmlformats.org/drawingml/2006/main">
            <a:r>
              <a:t>- CC BY-SA 2.0: https://creativecommons.org/licenses/by-sa/2.0/</a:t>
            </a:r>
          </a:p>
          <a:p xmlns:a="http://schemas.openxmlformats.org/drawingml/2006/main">
            <a:r>
              <a:t>- Attribution is required. The image was cropped/resized. The source warns that personality/model rights may restrict some reuse; this is contextual illustration and not documentary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Home capture, 24 September 2026. The home-care photograph is generic and does not depict a Saanthvana user. Medicine times rely on reviewed prescription details; the app gives no dose advice. Symptom entries are for sharing with clinicians, not automatic interpretation. Named tasks are not transport bookings. Map markers and links do not establish opening hours, beds, dispensing availability or emergency response. External groups are not an in-app community. Across-device delivery remains unfinished.</a:t>
            </a:r>
          </a:p>
          <a:p xmlns:a="http://schemas.openxmlformats.org/drawingml/2006/main">
            <a:r>
              <a:t/>
            </a:r>
          </a:p>
          <a:p xmlns:a="http://schemas.openxmlformats.org/drawingml/2006/main">
            <a:r>
              <a:t>[Sources]</a:t>
            </a:r>
          </a:p>
          <a:p xmlns:a="http://schemas.openxmlformats.org/drawingml/2006/main">
            <a:r>
              <a:t>- 21 September and 23 September meeting transcripts.</a:t>
            </a:r>
          </a:p>
          <a:p xmlns:a="http://schemas.openxmlformats.org/drawingml/2006/main">
            <a:r>
              <a:t>- Shirin/Sujay follow-up, 23 September: bring today's medicines and appointments to Home.</a:t>
            </a:r>
          </a:p>
          <a:p xmlns:a="http://schemas.openxmlformats.org/drawingml/2006/main">
            <a:r>
              <a:t>- Actual screenshot: output/playwright/2026-09-24-home-desktop.png</a:t>
            </a:r>
          </a:p>
          <a:p xmlns:a="http://schemas.openxmlformats.org/drawingml/2006/main">
            <a:r>
              <a:t/>
            </a:r>
          </a:p>
          <a:p xmlns:a="http://schemas.openxmlformats.org/drawingml/2006/main">
            <a:r>
              <a:t>[Photo credit and rights]</a:t>
            </a:r>
          </a:p>
          <a:p xmlns:a="http://schemas.openxmlformats.org/drawingml/2006/main">
            <a:r>
              <a:t>- geralt / Pixabay, “Old man being assisted” (file 63616).</a:t>
            </a:r>
          </a:p>
          <a:p xmlns:a="http://schemas.openxmlformats.org/drawingml/2006/main">
            <a:r>
              <a:t>- Source page: https://commons.wikimedia.org/wiki/File:Old_man_being_assisted.jpg</a:t>
            </a:r>
          </a:p>
          <a:p xmlns:a="http://schemas.openxmlformats.org/drawingml/2006/main">
            <a:r>
              <a:t>- CC0 1.0: https://creativecommons.org/publicdomain/zero/1.0/</a:t>
            </a:r>
          </a:p>
          <a:p xmlns:a="http://schemas.openxmlformats.org/drawingml/2006/main">
            <a:r>
              <a:t>- Credit included as courtesy. The source does not establish model-release status. Cropped for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Doctor measure is prior training in advance directives, not knowledge of their definition. Table 1 reports 45/391 (11.5%). The hospital is CMC Vellore. The 88% is Priya Sharma's original IndiaSpend reporting, 3 June 2019, of HCAH's Living Will Survey. It covered seven cities, 350–400 respondents per city, with equal numbers of men and women who had been hospitalized for more than one day in the preceding year. It is not a cancer-only or nationally representative sample. The original survey's Adobe link was inaccessible, so this is a reported finding, not an independently examined dataset or instrument. Related research motivates the design but does not prove app effectiveness. Guided questions aid discussion; the care note is not a substitute for a legal advance directive.</a:t>
            </a:r>
          </a:p>
          <a:p xmlns:a="http://schemas.openxmlformats.org/drawingml/2006/main">
            <a:r>
              <a:t/>
            </a:r>
          </a:p>
          <a:p xmlns:a="http://schemas.openxmlformats.org/drawingml/2006/main">
            <a:r>
              <a:t>[Sources]</a:t>
            </a:r>
          </a:p>
          <a:p xmlns:a="http://schemas.openxmlformats.org/drawingml/2006/main">
            <a:r>
              <a:t>- Sharma P. 73% urban Indians ignorant of legal right to living will. IndiaSpend, 3 June 2019. https://www.indiaspend.com/73-urban-indians-ignorant-of-legal-right-to-living-will/</a:t>
            </a:r>
          </a:p>
          <a:p xmlns:a="http://schemas.openxmlformats.org/drawingml/2006/main">
            <a:r>
              <a:t>- Jacob JA, Thangadurai P, Rebekah GJJ, Kuruvilla A, Gopalakrishnan R. Knowledge and attitude towards advance directives for patients with terminal illnesses among doctors working in a tertiary care hospital. National Medical Journal of India 2026;39:140–146. DOI: 10.25259/NMJI_817_2023. Table 1: 45 of 391 (11.5%) reported prior training. CMC Vellore. https://nmji.in/knowledge-and-attitude-towards-advance-directives-for-patients-with-terminal-illnesses-among-doctors-working-in-a-tertiary-care-hospital/</a:t>
            </a:r>
          </a:p>
          <a:p xmlns:a="http://schemas.openxmlformats.org/drawingml/2006/main">
            <a:r>
              <a:t>- Patient preference and guided-question choice are distinct sources. These two samples must not be combined or described as nationally representative.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functionality is a browser implementation, not evidence of clinical deployment. No connected model, reliable transcription, verified ABHA/medical registration, delivered notifications, shared backend or legal digital signing is claimed. The proposed 60–90 day evaluation aligns with the supplied Health-a-thon brief; that time range was not agreed in either meeting. Partners, enrollment and protocol remain to be arranged. No time-saving percentage, outcome or accuracy claim exists.</a:t>
            </a:r>
          </a:p>
          <a:p xmlns:a="http://schemas.openxmlformats.org/drawingml/2006/main">
            <a:r>
              <a:t/>
            </a:r>
          </a:p>
          <a:p xmlns:a="http://schemas.openxmlformats.org/drawingml/2006/main">
            <a:r>
              <a:t>[Sources]</a:t>
            </a:r>
          </a:p>
          <a:p xmlns:a="http://schemas.openxmlformats.org/drawingml/2006/main">
            <a:r>
              <a:t>- submission/Round_1_Answers_2026-09-24.md</a:t>
            </a:r>
          </a:p>
          <a:p xmlns:a="http://schemas.openxmlformats.org/drawingml/2006/main">
            <a:r>
              <a:t>- docs/releases/2026-09-24-uploads-signing-and-tasks.md</a:t>
            </a:r>
          </a:p>
          <a:p xmlns:a="http://schemas.openxmlformats.org/drawingml/2006/main">
            <a:r>
              <a:t>- Health-a-thon guide: https://healthathon.reskilll.com/guide</a:t>
            </a:r>
          </a:p>
          <a:p xmlns:a="http://schemas.openxmlformats.org/drawingml/2006/main">
            <a:r>
              <a:t>- Actual screenshot: output/playwright/2026-09-24-doctor-signed.png</a:t>
            </a:r>
          </a:p>
          <a:p xmlns:a="http://schemas.openxmlformats.org/drawingml/2006/main">
            <a:r>
              <a:t/>
            </a:r>
          </a:p>
          <a:p xmlns:a="http://schemas.openxmlformats.org/drawingml/2006/main">
            <a:r>
              <a:t>[Product boundary]</a:t>
            </a:r>
          </a:p>
          <a:p xmlns:a="http://schemas.openxmlformats.org/drawingml/2006/main">
            <a:r>
              <a:t>The screenshot shows a typed-name signature. It is not a verified digital signature. Current connected flow is in the browser app and does not demonstrate clinical deployment or cross-device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people listed are the confirmed team members. No pilot partners are represented. The photo is a general family-inclusion image and is not the illustrative story patient, a Saanthvana user or an Indian clinical case.</a:t>
            </a:r>
          </a:p>
          <a:p xmlns:a="http://schemas.openxmlformats.org/drawingml/2006/main">
            <a:r>
              <a:t/>
            </a:r>
          </a:p>
          <a:p xmlns:a="http://schemas.openxmlformats.org/drawingml/2006/main">
            <a:r>
              <a:t>[Photo credit and rights]</a:t>
            </a:r>
          </a:p>
          <a:p xmlns:a="http://schemas.openxmlformats.org/drawingml/2006/main">
            <a:r>
              <a:t>- Rhoda Baer / National Cancer Institute Visuals Online, image ID 8002.</a:t>
            </a:r>
          </a:p>
          <a:p xmlns:a="http://schemas.openxmlformats.org/drawingml/2006/main">
            <a:r>
              <a:t>- Source page: https://commons.wikimedia.org/wiki/File:Doctor_consults_with_family_(1).jpg</a:t>
            </a:r>
          </a:p>
          <a:p xmlns:a="http://schemas.openxmlformats.org/drawingml/2006/main">
            <a:r>
              <a:t>- Public domain, worldwide release per source page. Cropped for placement.</a:t>
            </a:r>
          </a:p>
          <a:p xmlns:a="http://schemas.openxmlformats.org/drawingml/2006/main">
            <a:r>
              <a:t/>
            </a:r>
          </a:p>
          <a:p xmlns:a="http://schemas.openxmlformats.org/drawingml/2006/main">
            <a:r>
              <a:t>[QR target]</a:t>
            </a:r>
          </a:p>
          <a:p xmlns:a="http://schemas.openxmlformats.org/drawingml/2006/main">
            <a:r>
              <a:t>https://continuity-loop-healthathon.vercel.app/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248692e9e04a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9249c0c8124d46" /><Relationship Type="http://schemas.openxmlformats.org/officeDocument/2006/relationships/slideLayout" Target="/ppt/slideLayouts/slideLayout1.xml" Id="Rf8437942489745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437942489745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c2676463ab4095" /><Relationship Type="http://schemas.openxmlformats.org/officeDocument/2006/relationships/image" Target="/ppt/media/image.jpeg" Id="R50be3e0cee234a13" /><Relationship Type="http://schemas.openxmlformats.org/officeDocument/2006/relationships/notesSlide" Target="/ppt/notesSlides/notesSlide1.xml" Id="Recd645148dbb47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c3cd684401482c" /><Relationship Type="http://schemas.openxmlformats.org/officeDocument/2006/relationships/chart" Target="/ppt/slides/charts/chart1.xml" Id="Rb2d01f94146849fa" /><Relationship Type="http://schemas.openxmlformats.org/officeDocument/2006/relationships/notesSlide" Target="/ppt/notesSlides/notesSlide2.xml" Id="Rd3bdde0832494c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6e21c3e8da4541" /><Relationship Type="http://schemas.openxmlformats.org/officeDocument/2006/relationships/image" Target="/ppt/media/image.png" Id="R357b8898aad94403" /><Relationship Type="http://schemas.openxmlformats.org/officeDocument/2006/relationships/image" Target="/ppt/media/image2.jpeg" Id="R1a2200cfa9b74e6f" /><Relationship Type="http://schemas.openxmlformats.org/officeDocument/2006/relationships/notesSlide" Target="/ppt/notesSlides/notesSlide3.xml" Id="R297e78f53ebc41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51cba1dd9848d5" /><Relationship Type="http://schemas.openxmlformats.org/officeDocument/2006/relationships/image" Target="/ppt/media/image3.jpeg" Id="Redf66ad411224718" /><Relationship Type="http://schemas.openxmlformats.org/officeDocument/2006/relationships/notesSlide" Target="/ppt/notesSlides/notesSlide4.xml" Id="R22a50320bf0342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6c4354ebfe4731" /><Relationship Type="http://schemas.openxmlformats.org/officeDocument/2006/relationships/image" Target="/ppt/media/image4.jpeg" Id="Rbc9cfb299fd8402c" /><Relationship Type="http://schemas.openxmlformats.org/officeDocument/2006/relationships/image" Target="/ppt/media/image5.jpeg" Id="R8c4550f9513b42d5" /><Relationship Type="http://schemas.openxmlformats.org/officeDocument/2006/relationships/notesSlide" Target="/ppt/notesSlides/notesSlide5.xml" Id="R253a765ca83c4c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a0bf42e3524889" /><Relationship Type="http://schemas.openxmlformats.org/officeDocument/2006/relationships/notesSlide" Target="/ppt/notesSlides/notesSlide6.xml" Id="R92cd412b7a6147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72a5bec45f4b4a" /><Relationship Type="http://schemas.openxmlformats.org/officeDocument/2006/relationships/image" Target="/ppt/media/image6.jpeg" Id="R1bed465bd2594a4b" /><Relationship Type="http://schemas.openxmlformats.org/officeDocument/2006/relationships/notesSlide" Target="/ppt/notesSlides/notesSlide7.xml" Id="R5699acbeba8943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84e70cc8d5482e" /><Relationship Type="http://schemas.openxmlformats.org/officeDocument/2006/relationships/image" Target="/ppt/media/image7.jpeg" Id="Rd7e9d98ba4434fb9" /><Relationship Type="http://schemas.openxmlformats.org/officeDocument/2006/relationships/image" Target="/ppt/media/image2.png" Id="R3f22e3a4374946a6" /><Relationship Type="http://schemas.openxmlformats.org/officeDocument/2006/relationships/notesSlide" Target="/ppt/notesSlides/notesSlide8.xml" Id="R4f156e269f4b47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1" name="Photo field">
            <a:extLst xmlns:a="http://schemas.openxmlformats.org/drawingml/2006/main">
              <a:ext uri="{FF2B5EF4-FFF2-40B4-BE49-F238E27FC236}">
                <a16:creationId xmlns:a16="http://schemas.microsoft.com/office/drawing/2014/main" id="{3FE3ED74-D753-4BC1-8816-F0FA1E6C1568}"/>
              </a:ext>
            </a:extLst>
          </p:cNvPr>
          <p:cNvSpPr>
            <a:spLocks xmlns:a="http://schemas.openxmlformats.org/drawingml/2006/main" noGrp="1"/>
          </p:cNvSpPr>
          <p:nvPr/>
        </p:nvSpPr>
        <p:spPr>
          <a:xfrm xmlns:a="http://schemas.openxmlformats.org/drawingml/2006/main">
            <a:off x="7124700" y="0"/>
            <a:ext cx="5067300" cy="6858000"/>
          </a:xfrm>
          <a:prstGeom xmlns:a="http://schemas.openxmlformats.org/drawingml/2006/main" prst="rect">
            <a:avLst/>
          </a:prstGeom>
          <a:solidFill xmlns:a="http://schemas.openxmlformats.org/drawingml/2006/main">
            <a:srgbClr val="12382E"/>
          </a:solidFill>
          <a:ln xmlns:a="http://schemas.openxmlformats.org/drawingml/2006/main" w="0">
            <a:solidFill>
              <a:srgbClr val="12382E"/>
            </a:solidFill>
          </a:ln>
        </p:spPr>
      </p:sp>
      <p:sp>
        <p:nvSpPr>
          <p:cNvPr id="2" name="Brand">
            <a:extLst xmlns:a="http://schemas.openxmlformats.org/drawingml/2006/main">
              <a:ext uri="{FF2B5EF4-FFF2-40B4-BE49-F238E27FC236}">
                <a16:creationId xmlns:a16="http://schemas.microsoft.com/office/drawing/2014/main" id="{BD523DC5-C535-4A0F-BF6F-D178C7143ACB}"/>
              </a:ext>
            </a:extLst>
          </p:cNvPr>
          <p:cNvSpPr>
            <a:spLocks xmlns:a="http://schemas.openxmlformats.org/drawingml/2006/main" noGrp="1"/>
          </p:cNvSpPr>
          <p:nvPr/>
        </p:nvSpPr>
        <p:spPr>
          <a:xfrm xmlns:a="http://schemas.openxmlformats.org/drawingml/2006/main">
            <a:off x="533400" y="45720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450" b="1">
                <a:solidFill>
                  <a:srgbClr val="173F33"/>
                </a:solidFill>
                <a:latin typeface="Arial"/>
                <a:ea typeface="Arial"/>
                <a:cs typeface="Arial"/>
              </a:defRPr>
            </a:pPr>
            <a:r>
              <a:rPr sz="3450" b="1">
                <a:solidFill>
                  <a:srgbClr val="173F33"/>
                </a:solidFill>
                <a:latin typeface="Arial"/>
                <a:ea typeface="Arial"/>
                <a:cs typeface="Arial"/>
              </a:rPr>
              <a:t>Saanthvana</a:t>
            </a:r>
          </a:p>
        </p:txBody>
      </p:sp>
      <p:sp>
        <p:nvSpPr>
          <p:cNvPr id="3" name="Purpose">
            <a:extLst xmlns:a="http://schemas.openxmlformats.org/drawingml/2006/main">
              <a:ext uri="{FF2B5EF4-FFF2-40B4-BE49-F238E27FC236}">
                <a16:creationId xmlns:a16="http://schemas.microsoft.com/office/drawing/2014/main" id="{A4CE73E9-F20B-404B-9B95-9D255DC8D824}"/>
              </a:ext>
            </a:extLst>
          </p:cNvPr>
          <p:cNvSpPr>
            <a:spLocks xmlns:a="http://schemas.openxmlformats.org/drawingml/2006/main" noGrp="1"/>
          </p:cNvSpPr>
          <p:nvPr/>
        </p:nvSpPr>
        <p:spPr>
          <a:xfrm xmlns:a="http://schemas.openxmlformats.org/drawingml/2006/main">
            <a:off x="533400" y="118110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1">
                <a:solidFill>
                  <a:srgbClr val="12382E"/>
                </a:solidFill>
                <a:latin typeface="Arial"/>
                <a:ea typeface="Arial"/>
                <a:cs typeface="Arial"/>
              </a:defRPr>
            </a:pPr>
            <a:r>
              <a:rPr sz="2400" b="1">
                <a:solidFill>
                  <a:srgbClr val="12382E"/>
                </a:solidFill>
                <a:latin typeface="Arial"/>
                <a:ea typeface="Arial"/>
                <a:cs typeface="Arial"/>
              </a:rPr>
              <a:t>A shared care record for people with cancer and their families.</a:t>
            </a:r>
          </a:p>
        </p:txBody>
      </p:sp>
      <p:sp>
        <p:nvSpPr>
          <p:cNvPr id="4" name="Earlier discussion">
            <a:extLst xmlns:a="http://schemas.openxmlformats.org/drawingml/2006/main">
              <a:ext uri="{FF2B5EF4-FFF2-40B4-BE49-F238E27FC236}">
                <a16:creationId xmlns:a16="http://schemas.microsoft.com/office/drawing/2014/main" id="{7A534C96-38E3-42CF-A728-AEBA3147313F}"/>
              </a:ext>
            </a:extLst>
          </p:cNvPr>
          <p:cNvSpPr>
            <a:spLocks xmlns:a="http://schemas.openxmlformats.org/drawingml/2006/main" noGrp="1"/>
          </p:cNvSpPr>
          <p:nvPr/>
        </p:nvSpPr>
        <p:spPr>
          <a:xfrm xmlns:a="http://schemas.openxmlformats.org/drawingml/2006/main">
            <a:off x="533400" y="2143125"/>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53655C"/>
                </a:solidFill>
                <a:latin typeface="Arial"/>
                <a:ea typeface="Arial"/>
                <a:cs typeface="Arial"/>
              </a:defRPr>
            </a:pPr>
            <a:r>
              <a:rPr sz="1613" b="0">
                <a:solidFill>
                  <a:srgbClr val="53655C"/>
                </a:solidFill>
                <a:latin typeface="Arial"/>
                <a:ea typeface="Arial"/>
                <a:cs typeface="Arial"/>
              </a:rPr>
              <a:t>Imagine a 62-year-old woman with advanced breast cancer. She starts best supportive care to help manage her symptoms. Her doctor discusses what she would want if her health worsens, but only her husband is there.</a:t>
            </a:r>
          </a:p>
        </p:txBody>
      </p:sp>
      <p:sp>
        <p:nvSpPr>
          <p:cNvPr id="5" name="Emergency disagreement">
            <a:extLst xmlns:a="http://schemas.openxmlformats.org/drawingml/2006/main">
              <a:ext uri="{FF2B5EF4-FFF2-40B4-BE49-F238E27FC236}">
                <a16:creationId xmlns:a16="http://schemas.microsoft.com/office/drawing/2014/main" id="{DD7F64EB-81C0-40BA-9614-DA414CD808F9}"/>
              </a:ext>
            </a:extLst>
          </p:cNvPr>
          <p:cNvSpPr>
            <a:spLocks xmlns:a="http://schemas.openxmlformats.org/drawingml/2006/main" noGrp="1"/>
          </p:cNvSpPr>
          <p:nvPr/>
        </p:nvSpPr>
        <p:spPr>
          <a:xfrm xmlns:a="http://schemas.openxmlformats.org/drawingml/2006/main">
            <a:off x="533400" y="3733800"/>
            <a:ext cx="6000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53655C"/>
                </a:solidFill>
                <a:latin typeface="Arial"/>
                <a:ea typeface="Arial"/>
                <a:cs typeface="Arial"/>
              </a:defRPr>
            </a:pPr>
            <a:r>
              <a:rPr sz="1613" b="0">
                <a:solidFill>
                  <a:srgbClr val="53655C"/>
                </a:solidFill>
                <a:latin typeface="Arial"/>
                <a:ea typeface="Arial"/>
                <a:cs typeface="Arial"/>
              </a:rPr>
              <a:t>Two months later, she is unconscious and rushed to hospital. The doctor asks whether she would want attempts to restart her heart or a machine to help her breathe. Her husband says yes. Her daughter says no. Her son is unsure. No one can find the earlier discussion.</a:t>
            </a:r>
          </a:p>
        </p:txBody>
      </p:sp>
      <p:sp>
        <p:nvSpPr>
          <p:cNvPr id="6" name="What Saanthvana does">
            <a:extLst xmlns:a="http://schemas.openxmlformats.org/drawingml/2006/main">
              <a:ext uri="{FF2B5EF4-FFF2-40B4-BE49-F238E27FC236}">
                <a16:creationId xmlns:a16="http://schemas.microsoft.com/office/drawing/2014/main" id="{564836AC-7AF2-4D73-9375-B67F13E00D54}"/>
              </a:ext>
            </a:extLst>
          </p:cNvPr>
          <p:cNvSpPr>
            <a:spLocks xmlns:a="http://schemas.openxmlformats.org/drawingml/2006/main" noGrp="1"/>
          </p:cNvSpPr>
          <p:nvPr/>
        </p:nvSpPr>
        <p:spPr>
          <a:xfrm xmlns:a="http://schemas.openxmlformats.org/drawingml/2006/main">
            <a:off x="533400" y="556260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1">
                <a:solidFill>
                  <a:srgbClr val="173F33"/>
                </a:solidFill>
                <a:latin typeface="Arial"/>
                <a:ea typeface="Arial"/>
                <a:cs typeface="Arial"/>
              </a:defRPr>
            </a:pPr>
            <a:r>
              <a:rPr sz="1613" b="1">
                <a:solidFill>
                  <a:srgbClr val="173F33"/>
                </a:solidFill>
                <a:latin typeface="Arial"/>
                <a:ea typeface="Arial"/>
                <a:cs typeface="Arial"/>
              </a:rPr>
              <a:t>Saanthvana brings that conversation together with the records and next steps the family needs.</a:t>
            </a:r>
          </a:p>
        </p:txBody>
      </p:sp>
      <p:sp>
        <p:nvSpPr>
          <p:cNvPr id="7" name="Health-a-thon category">
            <a:extLst xmlns:a="http://schemas.openxmlformats.org/drawingml/2006/main">
              <a:ext uri="{FF2B5EF4-FFF2-40B4-BE49-F238E27FC236}">
                <a16:creationId xmlns:a16="http://schemas.microsoft.com/office/drawing/2014/main" id="{7BFE829F-5235-4F3F-903E-3585D3207A13}"/>
              </a:ext>
            </a:extLst>
          </p:cNvPr>
          <p:cNvSpPr>
            <a:spLocks xmlns:a="http://schemas.openxmlformats.org/drawingml/2006/main" noGrp="1"/>
          </p:cNvSpPr>
          <p:nvPr/>
        </p:nvSpPr>
        <p:spPr>
          <a:xfrm xmlns:a="http://schemas.openxmlformats.org/drawingml/2006/main">
            <a:off x="533400" y="6315075"/>
            <a:ext cx="600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Cancer / Patient and Caregiver / Family &amp; Caregiver Support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0be3e0cee234a13"/>
          <a:srcRect xmlns:a="http://schemas.openxmlformats.org/drawingml/2006/main" l="20187" t="0" r="20187" b="0"/>
          <a:stretch xmlns:a="http://schemas.openxmlformats.org/drawingml/2006/main">
            <a:fillRect l="0" t="0" r="0" b="0"/>
          </a:stretch>
        </p:blipFill>
        <p:spPr>
          <a:xfrm xmlns:a="http://schemas.openxmlformats.org/drawingml/2006/main">
            <a:off x="7467600" y="800100"/>
            <a:ext cx="4419600" cy="5095875"/>
          </a:xfrm>
          <a:prstGeom xmlns:a="http://schemas.openxmlformats.org/drawingml/2006/main" prst="rect">
            <a:avLst/>
          </a:prstGeom>
        </p:spPr>
      </p:pic>
      <p:sp>
        <p:nvSpPr>
          <p:cNvPr id="9" name="Image caption">
            <a:extLst xmlns:a="http://schemas.openxmlformats.org/drawingml/2006/main">
              <a:ext uri="{FF2B5EF4-FFF2-40B4-BE49-F238E27FC236}">
                <a16:creationId xmlns:a16="http://schemas.microsoft.com/office/drawing/2014/main" id="{BF10C0A1-D535-45F7-8DBC-730EED937ECD}"/>
              </a:ext>
            </a:extLst>
          </p:cNvPr>
          <p:cNvSpPr>
            <a:spLocks xmlns:a="http://schemas.openxmlformats.org/drawingml/2006/main" noGrp="1"/>
          </p:cNvSpPr>
          <p:nvPr/>
        </p:nvSpPr>
        <p:spPr>
          <a:xfrm xmlns:a="http://schemas.openxmlformats.org/drawingml/2006/main">
            <a:off x="7467600" y="6000750"/>
            <a:ext cx="441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E4EAE4"/>
                </a:solidFill>
                <a:latin typeface="Arial"/>
                <a:ea typeface="Arial"/>
                <a:cs typeface="Arial"/>
              </a:defRPr>
            </a:pPr>
            <a:r>
              <a:rPr sz="1050" b="0">
                <a:solidFill>
                  <a:srgbClr val="E4EAE4"/>
                </a:solidFill>
                <a:latin typeface="Arial"/>
                <a:ea typeface="Arial"/>
                <a:cs typeface="Arial"/>
              </a:rPr>
              <a:t>Context photograph. A general consultation, not the story patient.</a:t>
            </a:r>
          </a:p>
        </p:txBody>
      </p:sp>
      <p:sp>
        <p:nvSpPr>
          <p:cNvPr id="10" name="Prototype URL">
            <a:extLst xmlns:a="http://schemas.openxmlformats.org/drawingml/2006/main">
              <a:ext uri="{FF2B5EF4-FFF2-40B4-BE49-F238E27FC236}">
                <a16:creationId xmlns:a16="http://schemas.microsoft.com/office/drawing/2014/main" id="{EC16F857-20A8-424A-A0BD-C0E9F344118A}"/>
              </a:ext>
            </a:extLst>
          </p:cNvPr>
          <p:cNvSpPr>
            <a:spLocks xmlns:a="http://schemas.openxmlformats.org/drawingml/2006/main" noGrp="1"/>
          </p:cNvSpPr>
          <p:nvPr/>
        </p:nvSpPr>
        <p:spPr>
          <a:xfrm xmlns:a="http://schemas.openxmlformats.org/drawingml/2006/main">
            <a:off x="7467600" y="6362700"/>
            <a:ext cx="441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continuity-loop-healthathon.vercel.app</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D56053A3-68AA-47DF-87E3-5A6725CDDC5A}"/>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75" b="1">
                <a:solidFill>
                  <a:srgbClr val="173F33"/>
                </a:solidFill>
                <a:latin typeface="Arial"/>
                <a:ea typeface="Arial"/>
                <a:cs typeface="Arial"/>
              </a:defRPr>
            </a:pPr>
            <a:r>
              <a:rPr sz="2775" b="1">
                <a:solidFill>
                  <a:srgbClr val="173F33"/>
                </a:solidFill>
                <a:latin typeface="Arial"/>
                <a:ea typeface="Arial"/>
                <a:cs typeface="Arial"/>
              </a:rPr>
              <a:t>The need is large. Better records are one part of the answer.</a:t>
            </a:r>
          </a:p>
        </p:txBody>
      </p:sp>
      <p:sp>
        <p:nvSpPr>
          <p:cNvPr id="2" name="">
            <a:extLst xmlns:a="http://schemas.openxmlformats.org/drawingml/2006/main">
              <a:ext uri="{FF2B5EF4-FFF2-40B4-BE49-F238E27FC236}">
                <a16:creationId xmlns:a16="http://schemas.microsoft.com/office/drawing/2014/main" id="{99F72385-8903-4B2A-AAFC-A5B3417B94F7}"/>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ln xmlns:a="http://schemas.openxmlformats.org/drawingml/2006/main" w="28575">
            <a:solidFill>
              <a:srgbClr val="B75E43"/>
            </a:solidFill>
          </a:ln>
        </p:spPr>
      </p:sp>
      <p:sp>
        <p:nvSpPr>
          <p:cNvPr id="3" name="India 2024 cancer cases">
            <a:extLst xmlns:a="http://schemas.openxmlformats.org/drawingml/2006/main">
              <a:ext uri="{FF2B5EF4-FFF2-40B4-BE49-F238E27FC236}">
                <a16:creationId xmlns:a16="http://schemas.microsoft.com/office/drawing/2014/main" id="{83E0D8D8-AD75-48CC-ADE9-81E06966377A}"/>
              </a:ext>
            </a:extLst>
          </p:cNvPr>
          <p:cNvSpPr>
            <a:spLocks xmlns:a="http://schemas.openxmlformats.org/drawingml/2006/main" noGrp="1"/>
          </p:cNvSpPr>
          <p:nvPr/>
        </p:nvSpPr>
        <p:spPr>
          <a:xfrm xmlns:a="http://schemas.openxmlformats.org/drawingml/2006/main">
            <a:off x="609600" y="1533525"/>
            <a:ext cx="4133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350" b="1">
                <a:solidFill>
                  <a:srgbClr val="B75E43"/>
                </a:solidFill>
                <a:latin typeface="Arial"/>
                <a:ea typeface="Arial"/>
                <a:cs typeface="Arial"/>
              </a:defRPr>
            </a:pPr>
            <a:r>
              <a:rPr sz="4350" b="1">
                <a:solidFill>
                  <a:srgbClr val="B75E43"/>
                </a:solidFill>
                <a:latin typeface="Arial"/>
                <a:ea typeface="Arial"/>
                <a:cs typeface="Arial"/>
              </a:rPr>
              <a:t>15.6 lakh</a:t>
            </a:r>
          </a:p>
        </p:txBody>
      </p:sp>
      <p:sp>
        <p:nvSpPr>
          <p:cNvPr id="4" name="Cancer estimate context">
            <a:extLst xmlns:a="http://schemas.openxmlformats.org/drawingml/2006/main">
              <a:ext uri="{FF2B5EF4-FFF2-40B4-BE49-F238E27FC236}">
                <a16:creationId xmlns:a16="http://schemas.microsoft.com/office/drawing/2014/main" id="{D124E867-4264-485A-8B8D-CE3FE455932B}"/>
              </a:ext>
            </a:extLst>
          </p:cNvPr>
          <p:cNvSpPr>
            <a:spLocks xmlns:a="http://schemas.openxmlformats.org/drawingml/2006/main" noGrp="1"/>
          </p:cNvSpPr>
          <p:nvPr/>
        </p:nvSpPr>
        <p:spPr>
          <a:xfrm xmlns:a="http://schemas.openxmlformats.org/drawingml/2006/main">
            <a:off x="609600" y="2324100"/>
            <a:ext cx="4133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173F33"/>
                </a:solidFill>
                <a:latin typeface="Arial"/>
                <a:ea typeface="Arial"/>
                <a:cs typeface="Arial"/>
              </a:defRPr>
            </a:pPr>
            <a:r>
              <a:rPr sz="1613" b="0">
                <a:solidFill>
                  <a:srgbClr val="173F33"/>
                </a:solidFill>
                <a:latin typeface="Arial"/>
                <a:ea typeface="Arial"/>
                <a:cs typeface="Arial"/>
              </a:rPr>
              <a:t>India had an estimated 15.6 lakh new cancer cases in 2024.</a:t>
            </a:r>
          </a:p>
        </p:txBody>
      </p:sp>
      <p:sp>
        <p:nvSpPr>
          <p:cNvPr id="5" name="Unmet palliative care need">
            <a:extLst xmlns:a="http://schemas.openxmlformats.org/drawingml/2006/main">
              <a:ext uri="{FF2B5EF4-FFF2-40B4-BE49-F238E27FC236}">
                <a16:creationId xmlns:a16="http://schemas.microsoft.com/office/drawing/2014/main" id="{47DFD935-A6ED-487A-A083-50DE6665EFA1}"/>
              </a:ext>
            </a:extLst>
          </p:cNvPr>
          <p:cNvSpPr>
            <a:spLocks xmlns:a="http://schemas.openxmlformats.org/drawingml/2006/main" noGrp="1"/>
          </p:cNvSpPr>
          <p:nvPr/>
        </p:nvSpPr>
        <p:spPr>
          <a:xfrm xmlns:a="http://schemas.openxmlformats.org/drawingml/2006/main">
            <a:off x="609600" y="3333750"/>
            <a:ext cx="4133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350" b="1">
                <a:solidFill>
                  <a:srgbClr val="173F33"/>
                </a:solidFill>
                <a:latin typeface="Arial"/>
                <a:ea typeface="Arial"/>
                <a:cs typeface="Arial"/>
              </a:defRPr>
            </a:pPr>
            <a:r>
              <a:rPr sz="4350" b="1">
                <a:solidFill>
                  <a:srgbClr val="173F33"/>
                </a:solidFill>
                <a:latin typeface="Arial"/>
                <a:ea typeface="Arial"/>
                <a:cs typeface="Arial"/>
              </a:rPr>
              <a:t>98.39%</a:t>
            </a:r>
          </a:p>
        </p:txBody>
      </p:sp>
      <p:sp>
        <p:nvSpPr>
          <p:cNvPr id="6" name="Metastatic cancer estimate">
            <a:extLst xmlns:a="http://schemas.openxmlformats.org/drawingml/2006/main">
              <a:ext uri="{FF2B5EF4-FFF2-40B4-BE49-F238E27FC236}">
                <a16:creationId xmlns:a16="http://schemas.microsoft.com/office/drawing/2014/main" id="{29BEFE52-7E98-4EF0-9FAB-42D40EE42914}"/>
              </a:ext>
            </a:extLst>
          </p:cNvPr>
          <p:cNvSpPr>
            <a:spLocks xmlns:a="http://schemas.openxmlformats.org/drawingml/2006/main" noGrp="1"/>
          </p:cNvSpPr>
          <p:nvPr/>
        </p:nvSpPr>
        <p:spPr>
          <a:xfrm xmlns:a="http://schemas.openxmlformats.org/drawingml/2006/main">
            <a:off x="609600" y="4143375"/>
            <a:ext cx="4133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A registry analysis estimated that 98.39% of people whose cancer had spread did not receive palliative care.</a:t>
            </a:r>
          </a:p>
        </p:txBody>
      </p:sp>
      <p:sp>
        <p:nvSpPr>
          <p:cNvPr id="7" name="Registry scope">
            <a:extLst xmlns:a="http://schemas.openxmlformats.org/drawingml/2006/main">
              <a:ext uri="{FF2B5EF4-FFF2-40B4-BE49-F238E27FC236}">
                <a16:creationId xmlns:a16="http://schemas.microsoft.com/office/drawing/2014/main" id="{600533B8-A2B4-40C6-97CF-8EB4EB590FE6}"/>
              </a:ext>
            </a:extLst>
          </p:cNvPr>
          <p:cNvSpPr>
            <a:spLocks xmlns:a="http://schemas.openxmlformats.org/drawingml/2006/main" noGrp="1"/>
          </p:cNvSpPr>
          <p:nvPr/>
        </p:nvSpPr>
        <p:spPr>
          <a:xfrm xmlns:a="http://schemas.openxmlformats.org/drawingml/2006/main">
            <a:off x="609600" y="5162550"/>
            <a:ext cx="4133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88" b="0">
                <a:solidFill>
                  <a:srgbClr val="53655C"/>
                </a:solidFill>
                <a:latin typeface="Arial"/>
                <a:ea typeface="Arial"/>
                <a:cs typeface="Arial"/>
              </a:defRPr>
            </a:pPr>
            <a:r>
              <a:rPr sz="1388" b="0">
                <a:solidFill>
                  <a:srgbClr val="53655C"/>
                </a:solidFill>
                <a:latin typeface="Arial"/>
                <a:ea typeface="Arial"/>
                <a:cs typeface="Arial"/>
              </a:rPr>
              <a:t>The analysis covered 10 cancer types in Indian registry data.</a:t>
            </a:r>
          </a:p>
        </p:txBody>
      </p:sp>
      <p:sp>
        <p:nvSpPr>
          <p:cNvPr id="8" name="QI heading">
            <a:extLst xmlns:a="http://schemas.openxmlformats.org/drawingml/2006/main">
              <a:ext uri="{FF2B5EF4-FFF2-40B4-BE49-F238E27FC236}">
                <a16:creationId xmlns:a16="http://schemas.microsoft.com/office/drawing/2014/main" id="{74C35D81-B2D8-46B1-83C4-FA311C09DF3B}"/>
              </a:ext>
            </a:extLst>
          </p:cNvPr>
          <p:cNvSpPr>
            <a:spLocks xmlns:a="http://schemas.openxmlformats.org/drawingml/2006/main" noGrp="1"/>
          </p:cNvSpPr>
          <p:nvPr/>
        </p:nvSpPr>
        <p:spPr>
          <a:xfrm xmlns:a="http://schemas.openxmlformats.org/drawingml/2006/main">
            <a:off x="5410200" y="1504950"/>
            <a:ext cx="624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 clearer process helped one hospital</a:t>
            </a:r>
          </a:p>
        </p:txBody>
      </p:sp>
      <p:sp>
        <p:nvSpPr>
          <p:cNvPr id="9" name="QI chart measure">
            <a:extLst xmlns:a="http://schemas.openxmlformats.org/drawingml/2006/main">
              <a:ext uri="{FF2B5EF4-FFF2-40B4-BE49-F238E27FC236}">
                <a16:creationId xmlns:a16="http://schemas.microsoft.com/office/drawing/2014/main" id="{4FA6B1B5-A92D-4E38-8722-FA2405D5884F}"/>
              </a:ext>
            </a:extLst>
          </p:cNvPr>
          <p:cNvSpPr>
            <a:spLocks xmlns:a="http://schemas.openxmlformats.org/drawingml/2006/main" noGrp="1"/>
          </p:cNvSpPr>
          <p:nvPr/>
        </p:nvSpPr>
        <p:spPr>
          <a:xfrm xmlns:a="http://schemas.openxmlformats.org/drawingml/2006/main">
            <a:off x="5410200" y="1876425"/>
            <a:ext cx="624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25" b="0">
                <a:solidFill>
                  <a:srgbClr val="53655C"/>
                </a:solidFill>
                <a:latin typeface="Arial"/>
                <a:ea typeface="Arial"/>
                <a:cs typeface="Arial"/>
              </a:defRPr>
            </a:pPr>
            <a:r>
              <a:rPr sz="1425" b="0">
                <a:solidFill>
                  <a:srgbClr val="53655C"/>
                </a:solidFill>
                <a:latin typeface="Arial"/>
                <a:ea typeface="Arial"/>
                <a:cs typeface="Arial"/>
              </a:rPr>
              <a:t>Documented care conversations</a:t>
            </a:r>
          </a:p>
        </p:txBody>
      </p:sp>
      <p:graphicFrame>
        <p:nvGraphicFramePr>
          <p:cNvPr id="22" name="Chart"/>
          <p:cNvGraphicFramePr/>
          <p:nvPr/>
        </p:nvGraphicFramePr>
        <p:xfrm>
          <a:off xmlns:a="http://schemas.openxmlformats.org/drawingml/2006/main" x="5334000" y="2152650"/>
          <a:ext xmlns:a="http://schemas.openxmlformats.org/drawingml/2006/main" cx="6248400" cy="2543175"/>
        </p:xfrm>
        <a:graphic xmlns:a="http://schemas.openxmlformats.org/drawingml/2006/main">
          <a:graphicData uri="http://schemas.openxmlformats.org/drawingml/2006/chart">
            <c:chart xmlns:r="http://schemas.openxmlformats.org/officeDocument/2006/relationships" xmlns:c="http://schemas.openxmlformats.org/drawingml/2006/chart" r:id="Rb2d01f94146849fa"/>
          </a:graphicData>
        </a:graphic>
      </p:graphicFrame>
      <p:sp>
        <p:nvSpPr>
          <p:cNvPr id="11" name="QI result context">
            <a:extLst xmlns:a="http://schemas.openxmlformats.org/drawingml/2006/main">
              <a:ext uri="{FF2B5EF4-FFF2-40B4-BE49-F238E27FC236}">
                <a16:creationId xmlns:a16="http://schemas.microsoft.com/office/drawing/2014/main" id="{22D5BFD8-6152-439B-A162-FE370E16AE59}"/>
              </a:ext>
            </a:extLst>
          </p:cNvPr>
          <p:cNvSpPr>
            <a:spLocks xmlns:a="http://schemas.openxmlformats.org/drawingml/2006/main" noGrp="1"/>
          </p:cNvSpPr>
          <p:nvPr/>
        </p:nvSpPr>
        <p:spPr>
          <a:xfrm xmlns:a="http://schemas.openxmlformats.org/drawingml/2006/main">
            <a:off x="5410200" y="4876800"/>
            <a:ext cx="624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A standard form and process helped a Chennai cancer hospital document conversations for 24 of 26 eligible patients.</a:t>
            </a:r>
          </a:p>
        </p:txBody>
      </p:sp>
      <p:sp>
        <p:nvSpPr>
          <p:cNvPr id="12" name="Evidence citations">
            <a:extLst xmlns:a="http://schemas.openxmlformats.org/drawingml/2006/main">
              <a:ext uri="{FF2B5EF4-FFF2-40B4-BE49-F238E27FC236}">
                <a16:creationId xmlns:a16="http://schemas.microsoft.com/office/drawing/2014/main" id="{643C5BAA-85D6-482E-8910-FF84D2220F46}"/>
              </a:ext>
            </a:extLst>
          </p:cNvPr>
          <p:cNvSpPr>
            <a:spLocks xmlns:a="http://schemas.openxmlformats.org/drawingml/2006/main" noGrp="1"/>
          </p:cNvSpPr>
          <p:nvPr/>
        </p:nvSpPr>
        <p:spPr>
          <a:xfrm xmlns:a="http://schemas.openxmlformats.org/drawingml/2006/main">
            <a:off x="609600" y="6286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IARC GLOBOCAN 2024  ·  Patil et al. 2024  ·  Thangasamy et al. 2025</a:t>
            </a:r>
          </a:p>
        </p:txBody>
      </p:sp>
    </p:spTree>
    <p:extLst>
      <p:ext uri="{BB962C8B-B14F-4D97-AF65-F5344CB8AC3E}">
        <p14:creationId xmlns:p14="http://schemas.microsoft.com/office/powerpoint/2010/main" val="1299123762"/>
      </p:ext>
    </p:extLst>
  </p:cSld>
</p:sld>
</file>

<file path=ppt/slides/slide3.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4FEB5AFD-2647-4FA4-BF4D-C43DAF465ADD}"/>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The patient’s wishes stay with the care record</a:t>
            </a:r>
          </a:p>
        </p:txBody>
      </p:sp>
      <p:sp>
        <p:nvSpPr>
          <p:cNvPr id="2" name="Goals-of-care meaning">
            <a:extLst xmlns:a="http://schemas.openxmlformats.org/drawingml/2006/main">
              <a:ext uri="{FF2B5EF4-FFF2-40B4-BE49-F238E27FC236}">
                <a16:creationId xmlns:a16="http://schemas.microsoft.com/office/drawing/2014/main" id="{1F6AD92D-26D0-4466-BD5F-E4B242AF8439}"/>
              </a:ext>
            </a:extLst>
          </p:cNvPr>
          <p:cNvSpPr>
            <a:spLocks xmlns:a="http://schemas.openxmlformats.org/drawingml/2006/main" noGrp="1"/>
          </p:cNvSpPr>
          <p:nvPr/>
        </p:nvSpPr>
        <p:spPr>
          <a:xfrm xmlns:a="http://schemas.openxmlformats.org/drawingml/2006/main">
            <a:off x="533400" y="1352550"/>
            <a:ext cx="4857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53655C"/>
                </a:solidFill>
                <a:latin typeface="Arial"/>
                <a:ea typeface="Arial"/>
                <a:cs typeface="Arial"/>
              </a:defRPr>
            </a:pPr>
            <a:r>
              <a:rPr sz="1613" b="0">
                <a:solidFill>
                  <a:srgbClr val="53655C"/>
                </a:solidFill>
                <a:latin typeface="Arial"/>
                <a:ea typeface="Arial"/>
                <a:cs typeface="Arial"/>
              </a:rPr>
              <a:t>Doctors call this a goals-of-care conversation. It means talking about what matters to the patient and what they want from their care.</a:t>
            </a:r>
          </a:p>
        </p:txBody>
      </p:sp>
      <p:sp>
        <p:nvSpPr>
          <p:cNvPr id="3" name="Who can start">
            <a:extLst xmlns:a="http://schemas.openxmlformats.org/drawingml/2006/main">
              <a:ext uri="{FF2B5EF4-FFF2-40B4-BE49-F238E27FC236}">
                <a16:creationId xmlns:a16="http://schemas.microsoft.com/office/drawing/2014/main" id="{449BFAB6-1904-4145-B4DC-CF74010A6353}"/>
              </a:ext>
            </a:extLst>
          </p:cNvPr>
          <p:cNvSpPr>
            <a:spLocks xmlns:a="http://schemas.openxmlformats.org/drawingml/2006/main" noGrp="1"/>
          </p:cNvSpPr>
          <p:nvPr/>
        </p:nvSpPr>
        <p:spPr>
          <a:xfrm xmlns:a="http://schemas.openxmlformats.org/drawingml/2006/main">
            <a:off x="533400" y="2486025"/>
            <a:ext cx="485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53655C"/>
                </a:solidFill>
                <a:latin typeface="Arial"/>
                <a:ea typeface="Arial"/>
                <a:cs typeface="Arial"/>
              </a:defRPr>
            </a:pPr>
            <a:r>
              <a:rPr sz="1613" b="0">
                <a:solidFill>
                  <a:srgbClr val="53655C"/>
                </a:solidFill>
                <a:latin typeface="Arial"/>
                <a:ea typeface="Arial"/>
                <a:cs typeface="Arial"/>
              </a:rPr>
              <a:t>The patient or family can ask to talk. The doctor can start the conversation too.</a:t>
            </a:r>
          </a:p>
        </p:txBody>
      </p:sp>
      <p:sp>
        <p:nvSpPr>
          <p:cNvPr id="4" name="Discussion and decisions">
            <a:extLst xmlns:a="http://schemas.openxmlformats.org/drawingml/2006/main">
              <a:ext uri="{FF2B5EF4-FFF2-40B4-BE49-F238E27FC236}">
                <a16:creationId xmlns:a16="http://schemas.microsoft.com/office/drawing/2014/main" id="{A413D3C6-6AE1-4362-9865-2F3CE02006EB}"/>
              </a:ext>
            </a:extLst>
          </p:cNvPr>
          <p:cNvSpPr>
            <a:spLocks xmlns:a="http://schemas.openxmlformats.org/drawingml/2006/main" noGrp="1"/>
          </p:cNvSpPr>
          <p:nvPr/>
        </p:nvSpPr>
        <p:spPr>
          <a:xfrm xmlns:a="http://schemas.openxmlformats.org/drawingml/2006/main">
            <a:off x="533400" y="32766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53655C"/>
                </a:solidFill>
                <a:latin typeface="Arial"/>
                <a:ea typeface="Arial"/>
                <a:cs typeface="Arial"/>
              </a:defRPr>
            </a:pPr>
            <a:r>
              <a:rPr sz="1613" b="0">
                <a:solidFill>
                  <a:srgbClr val="53655C"/>
                </a:solidFill>
                <a:latin typeface="Arial"/>
                <a:ea typeface="Arial"/>
                <a:cs typeface="Arial"/>
              </a:rPr>
              <a:t>The note keeps what was discussed separate from what was decided. An unanswered question stays unanswered.</a:t>
            </a:r>
          </a:p>
        </p:txBody>
      </p:sp>
      <p:sp>
        <p:nvSpPr>
          <p:cNvPr id="5" name="Checked versioned record">
            <a:extLst xmlns:a="http://schemas.openxmlformats.org/drawingml/2006/main">
              <a:ext uri="{FF2B5EF4-FFF2-40B4-BE49-F238E27FC236}">
                <a16:creationId xmlns:a16="http://schemas.microsoft.com/office/drawing/2014/main" id="{CE55983B-DE41-467A-B921-82389730E532}"/>
              </a:ext>
            </a:extLst>
          </p:cNvPr>
          <p:cNvSpPr>
            <a:spLocks xmlns:a="http://schemas.openxmlformats.org/drawingml/2006/main" noGrp="1"/>
          </p:cNvSpPr>
          <p:nvPr/>
        </p:nvSpPr>
        <p:spPr>
          <a:xfrm xmlns:a="http://schemas.openxmlformats.org/drawingml/2006/main">
            <a:off x="533400" y="42862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173F33"/>
                </a:solidFill>
                <a:latin typeface="Arial"/>
                <a:ea typeface="Arial"/>
                <a:cs typeface="Arial"/>
              </a:defRPr>
            </a:pPr>
            <a:r>
              <a:rPr sz="1500" b="0">
                <a:solidFill>
                  <a:srgbClr val="173F33"/>
                </a:solidFill>
                <a:latin typeface="Arial"/>
                <a:ea typeface="Arial"/>
                <a:cs typeface="Arial"/>
              </a:rPr>
              <a:t>The doctor checks the note. In the shared app we are building, the patient will choose which family members can see it. A later conversation gets a new dated version, so earlier discussions stay available.</a:t>
            </a:r>
          </a:p>
        </p:txBody>
      </p:sp>
      <p:sp>
        <p:nvSpPr>
          <p:cNvPr id="6" name="QR call to action">
            <a:extLst xmlns:a="http://schemas.openxmlformats.org/drawingml/2006/main">
              <a:ext uri="{FF2B5EF4-FFF2-40B4-BE49-F238E27FC236}">
                <a16:creationId xmlns:a16="http://schemas.microsoft.com/office/drawing/2014/main" id="{D745E5AA-CB8D-44DD-9B23-9FC704EC1D36}"/>
              </a:ext>
            </a:extLst>
          </p:cNvPr>
          <p:cNvSpPr>
            <a:spLocks xmlns:a="http://schemas.openxmlformats.org/drawingml/2006/main" noGrp="1"/>
          </p:cNvSpPr>
          <p:nvPr/>
        </p:nvSpPr>
        <p:spPr>
          <a:xfrm xmlns:a="http://schemas.openxmlformats.org/drawingml/2006/main">
            <a:off x="533400" y="57435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173F33"/>
                </a:solidFill>
                <a:latin typeface="Arial"/>
                <a:ea typeface="Arial"/>
                <a:cs typeface="Arial"/>
              </a:defRPr>
            </a:pPr>
            <a:r>
              <a:rPr sz="1350" b="1">
                <a:solidFill>
                  <a:srgbClr val="173F33"/>
                </a:solidFill>
                <a:latin typeface="Arial"/>
                <a:ea typeface="Arial"/>
                <a:cs typeface="Arial"/>
              </a:rPr>
              <a:t>Open Saanthvana</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57b8898aad94403"/>
          <a:stretch xmlns:a="http://schemas.openxmlformats.org/drawingml/2006/main"/>
        </p:blipFill>
        <p:spPr>
          <a:xfrm xmlns:a="http://schemas.openxmlformats.org/drawingml/2006/main">
            <a:off x="2266950" y="5562600"/>
            <a:ext cx="838200" cy="8382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a2200cfa9b74e6f"/>
          <a:stretch xmlns:a="http://schemas.openxmlformats.org/drawingml/2006/main"/>
        </p:blipFill>
        <p:spPr>
          <a:xfrm xmlns:a="http://schemas.openxmlformats.org/drawingml/2006/main">
            <a:off x="5774531" y="1428750"/>
            <a:ext cx="5881688" cy="4705350"/>
          </a:xfrm>
          <a:prstGeom xmlns:a="http://schemas.openxmlformats.org/drawingml/2006/main" prst="rect">
            <a:avLst/>
          </a:prstGeom>
        </p:spPr>
      </p:pic>
      <p:sp>
        <p:nvSpPr>
          <p:cNvPr id="9" name="Image caption">
            <a:extLst xmlns:a="http://schemas.openxmlformats.org/drawingml/2006/main">
              <a:ext uri="{FF2B5EF4-FFF2-40B4-BE49-F238E27FC236}">
                <a16:creationId xmlns:a16="http://schemas.microsoft.com/office/drawing/2014/main" id="{DD018FAB-1897-409E-959F-6C58E7176248}"/>
              </a:ext>
            </a:extLst>
          </p:cNvPr>
          <p:cNvSpPr>
            <a:spLocks xmlns:a="http://schemas.openxmlformats.org/drawingml/2006/main" noGrp="1"/>
          </p:cNvSpPr>
          <p:nvPr/>
        </p:nvSpPr>
        <p:spPr>
          <a:xfrm xmlns:a="http://schemas.openxmlformats.org/drawingml/2006/main">
            <a:off x="5772150" y="6181725"/>
            <a:ext cx="588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Care note history. The screen is an actual product capture.</a:t>
            </a:r>
          </a:p>
        </p:txBody>
      </p:sp>
    </p:spTree>
    <p:extLst>
      <p:ext uri="{BB962C8B-B14F-4D97-AF65-F5344CB8AC3E}">
        <p14:creationId xmlns:p14="http://schemas.microsoft.com/office/powerpoint/2010/main" val="221085739"/>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4EAC2712-DBE9-495A-A582-E3D8756C552A}"/>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225" b="1">
                <a:solidFill>
                  <a:srgbClr val="173F33"/>
                </a:solidFill>
                <a:latin typeface="Arial"/>
                <a:ea typeface="Arial"/>
                <a:cs typeface="Arial"/>
              </a:defRPr>
            </a:pPr>
            <a:r>
              <a:rPr sz="3225" b="1">
                <a:solidFill>
                  <a:srgbClr val="173F33"/>
                </a:solidFill>
                <a:latin typeface="Arial"/>
                <a:ea typeface="Arial"/>
                <a:cs typeface="Arial"/>
              </a:rPr>
              <a:t>AI has two clear jobs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df66ad411224718"/>
          <a:srcRect xmlns:a="http://schemas.openxmlformats.org/drawingml/2006/main" l="16531" t="0" r="16531" b="0"/>
          <a:stretch xmlns:a="http://schemas.openxmlformats.org/drawingml/2006/main">
            <a:fillRect l="0" t="0" r="0" b="0"/>
          </a:stretch>
        </p:blipFill>
        <p:spPr>
          <a:xfrm xmlns:a="http://schemas.openxmlformats.org/drawingml/2006/main">
            <a:off x="533400" y="1419225"/>
            <a:ext cx="4191000" cy="4695825"/>
          </a:xfrm>
          <a:prstGeom xmlns:a="http://schemas.openxmlformats.org/drawingml/2006/main" prst="rect">
            <a:avLst/>
          </a:prstGeom>
        </p:spPr>
      </p:pic>
      <p:sp>
        <p:nvSpPr>
          <p:cNvPr id="3" name="Image caption">
            <a:extLst xmlns:a="http://schemas.openxmlformats.org/drawingml/2006/main">
              <a:ext uri="{FF2B5EF4-FFF2-40B4-BE49-F238E27FC236}">
                <a16:creationId xmlns:a16="http://schemas.microsoft.com/office/drawing/2014/main" id="{8D6695E6-CCFC-4DE2-960A-2C6ACEED0C72}"/>
              </a:ext>
            </a:extLst>
          </p:cNvPr>
          <p:cNvSpPr>
            <a:spLocks xmlns:a="http://schemas.openxmlformats.org/drawingml/2006/main" noGrp="1"/>
          </p:cNvSpPr>
          <p:nvPr/>
        </p:nvSpPr>
        <p:spPr>
          <a:xfrm xmlns:a="http://schemas.openxmlformats.org/drawingml/2006/main">
            <a:off x="533400" y="61912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A nurse writes clinical notes. Context photograph, United Kingdom.</a:t>
            </a:r>
          </a:p>
        </p:txBody>
      </p:sp>
      <p:sp>
        <p:nvSpPr>
          <p:cNvPr id="4" name="AI job one">
            <a:extLst xmlns:a="http://schemas.openxmlformats.org/drawingml/2006/main">
              <a:ext uri="{FF2B5EF4-FFF2-40B4-BE49-F238E27FC236}">
                <a16:creationId xmlns:a16="http://schemas.microsoft.com/office/drawing/2014/main" id="{56EAA210-C149-466A-A5C9-16B8C5FA856F}"/>
              </a:ext>
            </a:extLst>
          </p:cNvPr>
          <p:cNvSpPr>
            <a:spLocks xmlns:a="http://schemas.openxmlformats.org/drawingml/2006/main" noGrp="1"/>
          </p:cNvSpPr>
          <p:nvPr/>
        </p:nvSpPr>
        <p:spPr>
          <a:xfrm xmlns:a="http://schemas.openxmlformats.org/drawingml/2006/main">
            <a:off x="5162550" y="1438275"/>
            <a:ext cx="649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025" b="1">
                <a:solidFill>
                  <a:srgbClr val="B75E43"/>
                </a:solidFill>
                <a:latin typeface="Arial"/>
                <a:ea typeface="Arial"/>
                <a:cs typeface="Arial"/>
              </a:defRPr>
            </a:pPr>
            <a:r>
              <a:rPr sz="2025" b="1">
                <a:solidFill>
                  <a:srgbClr val="B75E43"/>
                </a:solidFill>
                <a:latin typeface="Arial"/>
                <a:ea typeface="Arial"/>
                <a:cs typeface="Arial"/>
              </a:rPr>
              <a:t>Help write the care note</a:t>
            </a:r>
          </a:p>
        </p:txBody>
      </p:sp>
      <p:sp>
        <p:nvSpPr>
          <p:cNvPr id="5" name="Care note drafting">
            <a:extLst xmlns:a="http://schemas.openxmlformats.org/drawingml/2006/main">
              <a:ext uri="{FF2B5EF4-FFF2-40B4-BE49-F238E27FC236}">
                <a16:creationId xmlns:a16="http://schemas.microsoft.com/office/drawing/2014/main" id="{D31C5082-D769-4E81-A08E-54AE1E81CC97}"/>
              </a:ext>
            </a:extLst>
          </p:cNvPr>
          <p:cNvSpPr>
            <a:spLocks xmlns:a="http://schemas.openxmlformats.org/drawingml/2006/main" noGrp="1"/>
          </p:cNvSpPr>
          <p:nvPr/>
        </p:nvSpPr>
        <p:spPr>
          <a:xfrm xmlns:a="http://schemas.openxmlformats.org/drawingml/2006/main">
            <a:off x="5162550" y="1885950"/>
            <a:ext cx="64960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173F33"/>
                </a:solidFill>
                <a:latin typeface="Arial"/>
                <a:ea typeface="Arial"/>
                <a:cs typeface="Arial"/>
              </a:defRPr>
            </a:pPr>
            <a:r>
              <a:rPr sz="1613" b="0">
                <a:solidFill>
                  <a:srgbClr val="173F33"/>
                </a:solidFill>
                <a:latin typeface="Arial"/>
                <a:ea typeface="Arial"/>
                <a:cs typeface="Arial"/>
              </a:rPr>
              <a:t>With permission, the doctor records the conversation or adds existing notes. AI will prepare a draft and point back to the source. The doctor corrects it before signing.</a:t>
            </a:r>
          </a:p>
        </p:txBody>
      </p:sp>
      <p:sp>
        <p:nvSpPr>
          <p:cNvPr id="6" name="">
            <a:extLst xmlns:a="http://schemas.openxmlformats.org/drawingml/2006/main">
              <a:ext uri="{FF2B5EF4-FFF2-40B4-BE49-F238E27FC236}">
                <a16:creationId xmlns:a16="http://schemas.microsoft.com/office/drawing/2014/main" id="{0A748EC1-42DA-45F2-9F7E-C27493F84BA9}"/>
              </a:ext>
            </a:extLst>
          </p:cNvPr>
          <p:cNvSpPr>
            <a:spLocks xmlns:a="http://schemas.openxmlformats.org/drawingml/2006/main" noGrp="1"/>
          </p:cNvSpPr>
          <p:nvPr/>
        </p:nvSpPr>
        <p:spPr>
          <a:xfrm xmlns:a="http://schemas.openxmlformats.org/drawingml/2006/main">
            <a:off x="5162550" y="3133725"/>
            <a:ext cx="6496050" cy="0"/>
          </a:xfrm>
          <a:prstGeom xmlns:a="http://schemas.openxmlformats.org/drawingml/2006/main" prst="line">
            <a:avLst/>
          </a:prstGeom>
          <a:ln xmlns:a="http://schemas.openxmlformats.org/drawingml/2006/main" w="9525">
            <a:solidFill>
              <a:srgbClr val="D9D4C7"/>
            </a:solidFill>
          </a:ln>
        </p:spPr>
      </p:sp>
      <p:sp>
        <p:nvSpPr>
          <p:cNvPr id="7" name="AI job two">
            <a:extLst xmlns:a="http://schemas.openxmlformats.org/drawingml/2006/main">
              <a:ext uri="{FF2B5EF4-FFF2-40B4-BE49-F238E27FC236}">
                <a16:creationId xmlns:a16="http://schemas.microsoft.com/office/drawing/2014/main" id="{9456CA15-51C7-41FE-B234-C3E98B466042}"/>
              </a:ext>
            </a:extLst>
          </p:cNvPr>
          <p:cNvSpPr>
            <a:spLocks xmlns:a="http://schemas.openxmlformats.org/drawingml/2006/main" noGrp="1"/>
          </p:cNvSpPr>
          <p:nvPr/>
        </p:nvSpPr>
        <p:spPr>
          <a:xfrm xmlns:a="http://schemas.openxmlformats.org/drawingml/2006/main">
            <a:off x="5162550" y="3333750"/>
            <a:ext cx="6496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B75E43"/>
                </a:solidFill>
                <a:latin typeface="Arial"/>
                <a:ea typeface="Arial"/>
                <a:cs typeface="Arial"/>
              </a:defRPr>
            </a:pPr>
            <a:r>
              <a:rPr sz="1875" b="1">
                <a:solidFill>
                  <a:srgbClr val="B75E43"/>
                </a:solidFill>
                <a:latin typeface="Arial"/>
                <a:ea typeface="Arial"/>
                <a:cs typeface="Arial"/>
              </a:rPr>
              <a:t>Find information in the patient’s own documents</a:t>
            </a:r>
          </a:p>
        </p:txBody>
      </p:sp>
      <p:sp>
        <p:nvSpPr>
          <p:cNvPr id="8" name="Source-based document retrieval">
            <a:extLst xmlns:a="http://schemas.openxmlformats.org/drawingml/2006/main">
              <a:ext uri="{FF2B5EF4-FFF2-40B4-BE49-F238E27FC236}">
                <a16:creationId xmlns:a16="http://schemas.microsoft.com/office/drawing/2014/main" id="{79323E79-00FA-4FC7-B950-44E1F1E323B5}"/>
              </a:ext>
            </a:extLst>
          </p:cNvPr>
          <p:cNvSpPr>
            <a:spLocks xmlns:a="http://schemas.openxmlformats.org/drawingml/2006/main" noGrp="1"/>
          </p:cNvSpPr>
          <p:nvPr/>
        </p:nvSpPr>
        <p:spPr>
          <a:xfrm xmlns:a="http://schemas.openxmlformats.org/drawingml/2006/main">
            <a:off x="5162550" y="3905250"/>
            <a:ext cx="64960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13" b="0">
                <a:solidFill>
                  <a:srgbClr val="173F33"/>
                </a:solidFill>
                <a:latin typeface="Arial"/>
                <a:ea typeface="Arial"/>
                <a:cs typeface="Arial"/>
              </a:defRPr>
            </a:pPr>
            <a:r>
              <a:rPr sz="1613" b="0">
                <a:solidFill>
                  <a:srgbClr val="173F33"/>
                </a:solidFill>
                <a:latin typeface="Arial"/>
                <a:ea typeface="Arial"/>
                <a:cs typeface="Arial"/>
              </a:rPr>
              <a:t>AI will organise uploaded reports by date and help answer questions such as “When was my last chemotherapy?” Each answer must show the original record. If the answer is missing, it must say so.</a:t>
            </a:r>
          </a:p>
        </p:txBody>
      </p:sp>
      <p:sp>
        <p:nvSpPr>
          <p:cNvPr id="9" name="AI boundary">
            <a:extLst xmlns:a="http://schemas.openxmlformats.org/drawingml/2006/main">
              <a:ext uri="{FF2B5EF4-FFF2-40B4-BE49-F238E27FC236}">
                <a16:creationId xmlns:a16="http://schemas.microsoft.com/office/drawing/2014/main" id="{C2311974-16CC-4CD1-97F1-CCF46647ADC2}"/>
              </a:ext>
            </a:extLst>
          </p:cNvPr>
          <p:cNvSpPr>
            <a:spLocks xmlns:a="http://schemas.openxmlformats.org/drawingml/2006/main" noGrp="1"/>
          </p:cNvSpPr>
          <p:nvPr/>
        </p:nvSpPr>
        <p:spPr>
          <a:xfrm xmlns:a="http://schemas.openxmlformats.org/drawingml/2006/main">
            <a:off x="5162550" y="5410200"/>
            <a:ext cx="649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1">
                <a:solidFill>
                  <a:srgbClr val="12382E"/>
                </a:solidFill>
                <a:latin typeface="Arial"/>
                <a:ea typeface="Arial"/>
                <a:cs typeface="Arial"/>
              </a:defRPr>
            </a:pPr>
            <a:r>
              <a:rPr sz="1538" b="1">
                <a:solidFill>
                  <a:srgbClr val="12382E"/>
                </a:solidFill>
                <a:latin typeface="Arial"/>
                <a:ea typeface="Arial"/>
                <a:cs typeface="Arial"/>
              </a:rPr>
              <a:t>AI will help organise information. It will not diagnose, interpret test results or recommend treatment.</a:t>
            </a:r>
          </a:p>
        </p:txBody>
      </p:sp>
    </p:spTree>
    <p:extLst>
      <p:ext uri="{BB962C8B-B14F-4D97-AF65-F5344CB8AC3E}">
        <p14:creationId xmlns:p14="http://schemas.microsoft.com/office/powerpoint/2010/main" val="1779657811"/>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B58C1C63-A530-41AA-89C2-4C9529FAC109}"/>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The family still needs help between visits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c9cfb299fd8402c"/>
          <a:stretch xmlns:a="http://schemas.openxmlformats.org/drawingml/2006/main"/>
        </p:blipFill>
        <p:spPr>
          <a:xfrm xmlns:a="http://schemas.openxmlformats.org/drawingml/2006/main">
            <a:off x="534458" y="1371600"/>
            <a:ext cx="5808133" cy="32670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4550f9513b42d5"/>
          <a:srcRect xmlns:a="http://schemas.openxmlformats.org/drawingml/2006/main" l="0" t="9263" r="0" b="9263"/>
          <a:stretch xmlns:a="http://schemas.openxmlformats.org/drawingml/2006/main">
            <a:fillRect l="0" t="0" r="0" b="0"/>
          </a:stretch>
        </p:blipFill>
        <p:spPr>
          <a:xfrm xmlns:a="http://schemas.openxmlformats.org/drawingml/2006/main">
            <a:off x="6705600" y="1371600"/>
            <a:ext cx="4953000" cy="2686050"/>
          </a:xfrm>
          <a:prstGeom xmlns:a="http://schemas.openxmlformats.org/drawingml/2006/main" prst="rect">
            <a:avLst/>
          </a:prstGeom>
        </p:spPr>
      </p:pic>
      <p:sp>
        <p:nvSpPr>
          <p:cNvPr id="4" name="Image caption">
            <a:extLst xmlns:a="http://schemas.openxmlformats.org/drawingml/2006/main">
              <a:ext uri="{FF2B5EF4-FFF2-40B4-BE49-F238E27FC236}">
                <a16:creationId xmlns:a16="http://schemas.microsoft.com/office/drawing/2014/main" id="{384BCE17-6C70-412F-9472-3134EDEE7EEC}"/>
              </a:ext>
            </a:extLst>
          </p:cNvPr>
          <p:cNvSpPr>
            <a:spLocks xmlns:a="http://schemas.openxmlformats.org/drawingml/2006/main" noGrp="1"/>
          </p:cNvSpPr>
          <p:nvPr/>
        </p:nvSpPr>
        <p:spPr>
          <a:xfrm xmlns:a="http://schemas.openxmlformats.org/drawingml/2006/main">
            <a:off x="533400" y="46958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Actual Home screen capture. The photograph shows general home support.</a:t>
            </a:r>
          </a:p>
        </p:txBody>
      </p:sp>
      <p:sp>
        <p:nvSpPr>
          <p:cNvPr id="5" name="Daily support 1 heading">
            <a:extLst xmlns:a="http://schemas.openxmlformats.org/drawingml/2006/main">
              <a:ext uri="{FF2B5EF4-FFF2-40B4-BE49-F238E27FC236}">
                <a16:creationId xmlns:a16="http://schemas.microsoft.com/office/drawing/2014/main" id="{2EBB71BE-3ADF-4B74-960C-D1017A578E04}"/>
              </a:ext>
            </a:extLst>
          </p:cNvPr>
          <p:cNvSpPr>
            <a:spLocks xmlns:a="http://schemas.openxmlformats.org/drawingml/2006/main" noGrp="1"/>
          </p:cNvSpPr>
          <p:nvPr/>
        </p:nvSpPr>
        <p:spPr>
          <a:xfrm xmlns:a="http://schemas.openxmlformats.org/drawingml/2006/main">
            <a:off x="533400" y="50673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1">
                <a:solidFill>
                  <a:srgbClr val="B75E43"/>
                </a:solidFill>
                <a:latin typeface="Arial"/>
                <a:ea typeface="Arial"/>
                <a:cs typeface="Arial"/>
              </a:defRPr>
            </a:pPr>
            <a:r>
              <a:rPr sz="1538" b="1">
                <a:solidFill>
                  <a:srgbClr val="B75E43"/>
                </a:solidFill>
                <a:latin typeface="Arial"/>
                <a:ea typeface="Arial"/>
                <a:cs typeface="Arial"/>
              </a:rPr>
              <a:t>Today’s plan</a:t>
            </a:r>
          </a:p>
        </p:txBody>
      </p:sp>
      <p:sp>
        <p:nvSpPr>
          <p:cNvPr id="6" name="Daily support 2 heading">
            <a:extLst xmlns:a="http://schemas.openxmlformats.org/drawingml/2006/main">
              <a:ext uri="{FF2B5EF4-FFF2-40B4-BE49-F238E27FC236}">
                <a16:creationId xmlns:a16="http://schemas.microsoft.com/office/drawing/2014/main" id="{59FE3670-3C73-467A-94D1-0267FD20D12A}"/>
              </a:ext>
            </a:extLst>
          </p:cNvPr>
          <p:cNvSpPr>
            <a:spLocks xmlns:a="http://schemas.openxmlformats.org/drawingml/2006/main" noGrp="1"/>
          </p:cNvSpPr>
          <p:nvPr/>
        </p:nvSpPr>
        <p:spPr>
          <a:xfrm xmlns:a="http://schemas.openxmlformats.org/drawingml/2006/main">
            <a:off x="4267200" y="50673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1">
                <a:solidFill>
                  <a:srgbClr val="B75E43"/>
                </a:solidFill>
                <a:latin typeface="Arial"/>
                <a:ea typeface="Arial"/>
                <a:cs typeface="Arial"/>
              </a:defRPr>
            </a:pPr>
            <a:r>
              <a:rPr sz="1538" b="1">
                <a:solidFill>
                  <a:srgbClr val="B75E43"/>
                </a:solidFill>
                <a:latin typeface="Arial"/>
                <a:ea typeface="Arial"/>
                <a:cs typeface="Arial"/>
              </a:rPr>
              <a:t>Documents and personal notes</a:t>
            </a:r>
          </a:p>
        </p:txBody>
      </p:sp>
      <p:sp>
        <p:nvSpPr>
          <p:cNvPr id="7" name="Daily support 3 heading">
            <a:extLst xmlns:a="http://schemas.openxmlformats.org/drawingml/2006/main">
              <a:ext uri="{FF2B5EF4-FFF2-40B4-BE49-F238E27FC236}">
                <a16:creationId xmlns:a16="http://schemas.microsoft.com/office/drawing/2014/main" id="{E0DE0FD1-2729-4702-B8F3-1E036C51733A}"/>
              </a:ext>
            </a:extLst>
          </p:cNvPr>
          <p:cNvSpPr>
            <a:spLocks xmlns:a="http://schemas.openxmlformats.org/drawingml/2006/main" noGrp="1"/>
          </p:cNvSpPr>
          <p:nvPr/>
        </p:nvSpPr>
        <p:spPr>
          <a:xfrm xmlns:a="http://schemas.openxmlformats.org/drawingml/2006/main">
            <a:off x="8001000" y="50673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1">
                <a:solidFill>
                  <a:srgbClr val="B75E43"/>
                </a:solidFill>
                <a:latin typeface="Arial"/>
                <a:ea typeface="Arial"/>
                <a:cs typeface="Arial"/>
              </a:defRPr>
            </a:pPr>
            <a:r>
              <a:rPr sz="1538" b="1">
                <a:solidFill>
                  <a:srgbClr val="B75E43"/>
                </a:solidFill>
                <a:latin typeface="Arial"/>
                <a:ea typeface="Arial"/>
                <a:cs typeface="Arial"/>
              </a:rPr>
              <a:t>Help from people and places</a:t>
            </a:r>
          </a:p>
        </p:txBody>
      </p:sp>
      <p:sp>
        <p:nvSpPr>
          <p:cNvPr id="8" name="Daily support 1 detail">
            <a:extLst xmlns:a="http://schemas.openxmlformats.org/drawingml/2006/main">
              <a:ext uri="{FF2B5EF4-FFF2-40B4-BE49-F238E27FC236}">
                <a16:creationId xmlns:a16="http://schemas.microsoft.com/office/drawing/2014/main" id="{763A4635-F6F9-4E04-9830-C6EC45C747B2}"/>
              </a:ext>
            </a:extLst>
          </p:cNvPr>
          <p:cNvSpPr>
            <a:spLocks xmlns:a="http://schemas.openxmlformats.org/drawingml/2006/main" noGrp="1"/>
          </p:cNvSpPr>
          <p:nvPr/>
        </p:nvSpPr>
        <p:spPr>
          <a:xfrm xmlns:a="http://schemas.openxmlformats.org/drawingml/2006/main">
            <a:off x="533400" y="542925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173F33"/>
                </a:solidFill>
                <a:latin typeface="Arial"/>
                <a:ea typeface="Arial"/>
                <a:cs typeface="Arial"/>
              </a:defRPr>
            </a:pPr>
            <a:r>
              <a:rPr sz="1463" b="0">
                <a:solidFill>
                  <a:srgbClr val="173F33"/>
                </a:solidFill>
                <a:latin typeface="Arial"/>
                <a:ea typeface="Arial"/>
                <a:cs typeface="Arial"/>
              </a:rPr>
              <a:t>The family can find appointments, medicine times and the doctor’s preparation notes together.</a:t>
            </a:r>
          </a:p>
        </p:txBody>
      </p:sp>
      <p:sp>
        <p:nvSpPr>
          <p:cNvPr id="9" name="Daily support 2 detail">
            <a:extLst xmlns:a="http://schemas.openxmlformats.org/drawingml/2006/main">
              <a:ext uri="{FF2B5EF4-FFF2-40B4-BE49-F238E27FC236}">
                <a16:creationId xmlns:a16="http://schemas.microsoft.com/office/drawing/2014/main" id="{F5744262-7977-4CFD-9C37-36AE1D811E9A}"/>
              </a:ext>
            </a:extLst>
          </p:cNvPr>
          <p:cNvSpPr>
            <a:spLocks xmlns:a="http://schemas.openxmlformats.org/drawingml/2006/main" noGrp="1"/>
          </p:cNvSpPr>
          <p:nvPr/>
        </p:nvSpPr>
        <p:spPr>
          <a:xfrm xmlns:a="http://schemas.openxmlformats.org/drawingml/2006/main">
            <a:off x="4267200" y="542925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173F33"/>
                </a:solidFill>
                <a:latin typeface="Arial"/>
                <a:ea typeface="Arial"/>
                <a:cs typeface="Arial"/>
              </a:defRPr>
            </a:pPr>
            <a:r>
              <a:rPr sz="1463" b="0">
                <a:solidFill>
                  <a:srgbClr val="173F33"/>
                </a:solidFill>
                <a:latin typeface="Arial"/>
                <a:ea typeface="Arial"/>
                <a:cs typeface="Arial"/>
              </a:rPr>
              <a:t>Reports stay in one place. The patient can keep symptoms, feelings and questions for the next visit.</a:t>
            </a:r>
          </a:p>
        </p:txBody>
      </p:sp>
      <p:sp>
        <p:nvSpPr>
          <p:cNvPr id="10" name="Daily support 3 detail">
            <a:extLst xmlns:a="http://schemas.openxmlformats.org/drawingml/2006/main">
              <a:ext uri="{FF2B5EF4-FFF2-40B4-BE49-F238E27FC236}">
                <a16:creationId xmlns:a16="http://schemas.microsoft.com/office/drawing/2014/main" id="{07FC8752-3E08-48D4-A614-E38344938806}"/>
              </a:ext>
            </a:extLst>
          </p:cNvPr>
          <p:cNvSpPr>
            <a:spLocks xmlns:a="http://schemas.openxmlformats.org/drawingml/2006/main" noGrp="1"/>
          </p:cNvSpPr>
          <p:nvPr/>
        </p:nvSpPr>
        <p:spPr>
          <a:xfrm xmlns:a="http://schemas.openxmlformats.org/drawingml/2006/main">
            <a:off x="8001000" y="542925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121"/>
          </a:bodyPr>
          <a:lstStyle xmlns:a="http://schemas.openxmlformats.org/drawingml/2006/main"/>
          <a:p xmlns:a="http://schemas.openxmlformats.org/drawingml/2006/main">
            <a:pPr>
              <a:defRPr sz="1463" b="0">
                <a:solidFill>
                  <a:srgbClr val="173F33"/>
                </a:solidFill>
                <a:latin typeface="Arial"/>
                <a:ea typeface="Arial"/>
                <a:cs typeface="Arial"/>
              </a:defRPr>
            </a:pPr>
            <a:r>
              <a:rPr sz="1463" b="0">
                <a:solidFill>
                  <a:srgbClr val="173F33"/>
                </a:solidFill>
                <a:latin typeface="Arial"/>
                <a:ea typeface="Arial"/>
                <a:cs typeface="Arial"/>
              </a:rPr>
              <a:t>A task goes to a named family member who can accept it and mark it done. The map and support-group links help the family find people to contact.</a:t>
            </a:r>
          </a:p>
        </p:txBody>
      </p:sp>
      <p:sp>
        <p:nvSpPr>
          <p:cNvPr id="11" name="Conversation remains central">
            <a:extLst xmlns:a="http://schemas.openxmlformats.org/drawingml/2006/main">
              <a:ext uri="{FF2B5EF4-FFF2-40B4-BE49-F238E27FC236}">
                <a16:creationId xmlns:a16="http://schemas.microsoft.com/office/drawing/2014/main" id="{7639B0B7-1067-4C53-AE24-F53D899F5855}"/>
              </a:ext>
            </a:extLst>
          </p:cNvPr>
          <p:cNvSpPr>
            <a:spLocks xmlns:a="http://schemas.openxmlformats.org/drawingml/2006/main" noGrp="1"/>
          </p:cNvSpPr>
          <p:nvPr/>
        </p:nvSpPr>
        <p:spPr>
          <a:xfrm xmlns:a="http://schemas.openxmlformats.org/drawingml/2006/main">
            <a:off x="533400" y="64008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1">
                <a:solidFill>
                  <a:srgbClr val="12382E"/>
                </a:solidFill>
                <a:latin typeface="Arial"/>
                <a:ea typeface="Arial"/>
                <a:cs typeface="Arial"/>
              </a:defRPr>
            </a:pPr>
            <a:r>
              <a:rPr sz="1275" b="1">
                <a:solidFill>
                  <a:srgbClr val="12382E"/>
                </a:solidFill>
                <a:latin typeface="Arial"/>
                <a:ea typeface="Arial"/>
                <a:cs typeface="Arial"/>
              </a:rPr>
              <a:t>The care conversation stays at the centre of these everyday tools.</a:t>
            </a:r>
          </a:p>
        </p:txBody>
      </p:sp>
    </p:spTree>
    <p:extLst>
      <p:ext uri="{BB962C8B-B14F-4D97-AF65-F5344CB8AC3E}">
        <p14:creationId xmlns:p14="http://schemas.microsoft.com/office/powerpoint/2010/main" val="1405124457"/>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77CACA4-E3E3-4897-A442-2581199BE0C2}"/>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850" b="1">
                <a:solidFill>
                  <a:srgbClr val="173F33"/>
                </a:solidFill>
                <a:latin typeface="Arial"/>
                <a:ea typeface="Arial"/>
                <a:cs typeface="Arial"/>
              </a:defRPr>
            </a:pPr>
            <a:r>
              <a:rPr sz="2850" b="1">
                <a:solidFill>
                  <a:srgbClr val="173F33"/>
                </a:solidFill>
                <a:latin typeface="Arial"/>
                <a:ea typeface="Arial"/>
                <a:cs typeface="Arial"/>
              </a:rPr>
              <a:t>Doctors need a clear starting point. Families need a say.</a:t>
            </a:r>
          </a:p>
        </p:txBody>
      </p:sp>
      <p:sp>
        <p:nvSpPr>
          <p:cNvPr id="2" name="">
            <a:extLst xmlns:a="http://schemas.openxmlformats.org/drawingml/2006/main">
              <a:ext uri="{FF2B5EF4-FFF2-40B4-BE49-F238E27FC236}">
                <a16:creationId xmlns:a16="http://schemas.microsoft.com/office/drawing/2014/main" id="{7F6938B4-F89F-4457-B696-19F36EC6FA83}"/>
              </a:ext>
            </a:extLst>
          </p:cNvPr>
          <p:cNvSpPr>
            <a:spLocks xmlns:a="http://schemas.openxmlformats.org/drawingml/2006/main" noGrp="1"/>
          </p:cNvSpPr>
          <p:nvPr/>
        </p:nvSpPr>
        <p:spPr>
          <a:xfrm xmlns:a="http://schemas.openxmlformats.org/drawingml/2006/main">
            <a:off x="533400" y="1247775"/>
            <a:ext cx="11125200" cy="0"/>
          </a:xfrm>
          <a:prstGeom xmlns:a="http://schemas.openxmlformats.org/drawingml/2006/main" prst="line">
            <a:avLst/>
          </a:prstGeom>
          <a:ln xmlns:a="http://schemas.openxmlformats.org/drawingml/2006/main" w="28575">
            <a:solidFill>
              <a:srgbClr val="B75E43"/>
            </a:solidFill>
          </a:ln>
        </p:spPr>
      </p:sp>
      <p:sp>
        <p:nvSpPr>
          <p:cNvPr id="3" name="Patient preference statistic">
            <a:extLst xmlns:a="http://schemas.openxmlformats.org/drawingml/2006/main">
              <a:ext uri="{FF2B5EF4-FFF2-40B4-BE49-F238E27FC236}">
                <a16:creationId xmlns:a16="http://schemas.microsoft.com/office/drawing/2014/main" id="{075C5893-94C8-44FB-A239-78F48F4A7C21}"/>
              </a:ext>
            </a:extLst>
          </p:cNvPr>
          <p:cNvSpPr>
            <a:spLocks xmlns:a="http://schemas.openxmlformats.org/drawingml/2006/main" noGrp="1"/>
          </p:cNvSpPr>
          <p:nvPr/>
        </p:nvSpPr>
        <p:spPr>
          <a:xfrm xmlns:a="http://schemas.openxmlformats.org/drawingml/2006/main">
            <a:off x="609600" y="15049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537"/>
          </a:bodyPr>
          <a:lstStyle xmlns:a="http://schemas.openxmlformats.org/drawingml/2006/main"/>
          <a:p xmlns:a="http://schemas.openxmlformats.org/drawingml/2006/main">
            <a:pPr>
              <a:defRPr sz="5400" b="1">
                <a:solidFill>
                  <a:srgbClr val="B75E43"/>
                </a:solidFill>
                <a:latin typeface="Arial"/>
                <a:ea typeface="Arial"/>
                <a:cs typeface="Arial"/>
              </a:defRPr>
            </a:pPr>
            <a:r>
              <a:rPr sz="5400" b="1">
                <a:solidFill>
                  <a:srgbClr val="B75E43"/>
                </a:solidFill>
                <a:latin typeface="Arial"/>
                <a:ea typeface="Arial"/>
                <a:cs typeface="Arial"/>
              </a:rPr>
              <a:t>88%</a:t>
            </a:r>
          </a:p>
        </p:txBody>
      </p:sp>
      <p:sp>
        <p:nvSpPr>
          <p:cNvPr id="4" name="Patient preference source scope">
            <a:extLst xmlns:a="http://schemas.openxmlformats.org/drawingml/2006/main">
              <a:ext uri="{FF2B5EF4-FFF2-40B4-BE49-F238E27FC236}">
                <a16:creationId xmlns:a16="http://schemas.microsoft.com/office/drawing/2014/main" id="{5A552F09-94CD-456F-AFA5-173471BDD2D6}"/>
              </a:ext>
            </a:extLst>
          </p:cNvPr>
          <p:cNvSpPr>
            <a:spLocks xmlns:a="http://schemas.openxmlformats.org/drawingml/2006/main" noGrp="1"/>
          </p:cNvSpPr>
          <p:nvPr/>
        </p:nvSpPr>
        <p:spPr>
          <a:xfrm xmlns:a="http://schemas.openxmlformats.org/drawingml/2006/main">
            <a:off x="609600" y="2409825"/>
            <a:ext cx="4762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In a 2019 survey of over 2,400 urban respondents, 88% wanted to choose their treatment near the end of life, according to IndiaSpend.</a:t>
            </a:r>
          </a:p>
        </p:txBody>
      </p:sp>
      <p:sp>
        <p:nvSpPr>
          <p:cNvPr id="5" name="Doctor training statistic">
            <a:extLst xmlns:a="http://schemas.openxmlformats.org/drawingml/2006/main">
              <a:ext uri="{FF2B5EF4-FFF2-40B4-BE49-F238E27FC236}">
                <a16:creationId xmlns:a16="http://schemas.microsoft.com/office/drawing/2014/main" id="{BBFC83AD-3207-4AD0-B628-8FE6EB091E01}"/>
              </a:ext>
            </a:extLst>
          </p:cNvPr>
          <p:cNvSpPr>
            <a:spLocks xmlns:a="http://schemas.openxmlformats.org/drawingml/2006/main" noGrp="1"/>
          </p:cNvSpPr>
          <p:nvPr/>
        </p:nvSpPr>
        <p:spPr>
          <a:xfrm xmlns:a="http://schemas.openxmlformats.org/drawingml/2006/main">
            <a:off x="6286500" y="1504950"/>
            <a:ext cx="5219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537"/>
          </a:bodyPr>
          <a:lstStyle xmlns:a="http://schemas.openxmlformats.org/drawingml/2006/main"/>
          <a:p xmlns:a="http://schemas.openxmlformats.org/drawingml/2006/main">
            <a:pPr>
              <a:defRPr sz="5400" b="1">
                <a:solidFill>
                  <a:srgbClr val="173F33"/>
                </a:solidFill>
                <a:latin typeface="Arial"/>
                <a:ea typeface="Arial"/>
                <a:cs typeface="Arial"/>
              </a:defRPr>
            </a:pPr>
            <a:r>
              <a:rPr sz="5400" b="1">
                <a:solidFill>
                  <a:srgbClr val="173F33"/>
                </a:solidFill>
                <a:latin typeface="Arial"/>
                <a:ea typeface="Arial"/>
                <a:cs typeface="Arial"/>
              </a:rPr>
              <a:t>11.5%</a:t>
            </a:r>
          </a:p>
        </p:txBody>
      </p:sp>
      <p:sp>
        <p:nvSpPr>
          <p:cNvPr id="6" name="Doctor training source scope">
            <a:extLst xmlns:a="http://schemas.openxmlformats.org/drawingml/2006/main">
              <a:ext uri="{FF2B5EF4-FFF2-40B4-BE49-F238E27FC236}">
                <a16:creationId xmlns:a16="http://schemas.microsoft.com/office/drawing/2014/main" id="{07BF3D05-3798-4138-9F69-001FEF681B44}"/>
              </a:ext>
            </a:extLst>
          </p:cNvPr>
          <p:cNvSpPr>
            <a:spLocks xmlns:a="http://schemas.openxmlformats.org/drawingml/2006/main" noGrp="1"/>
          </p:cNvSpPr>
          <p:nvPr/>
        </p:nvSpPr>
        <p:spPr>
          <a:xfrm xmlns:a="http://schemas.openxmlformats.org/drawingml/2006/main">
            <a:off x="6286500" y="2409825"/>
            <a:ext cx="52197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Only 45 of 391 doctors in one hospital survey reported prior training in advance directives, which formally record a person’s wishes for future care.</a:t>
            </a:r>
          </a:p>
        </p:txBody>
      </p:sp>
      <p:sp>
        <p:nvSpPr>
          <p:cNvPr id="7" name="">
            <a:extLst xmlns:a="http://schemas.openxmlformats.org/drawingml/2006/main">
              <a:ext uri="{FF2B5EF4-FFF2-40B4-BE49-F238E27FC236}">
                <a16:creationId xmlns:a16="http://schemas.microsoft.com/office/drawing/2014/main" id="{AF3E20BD-11D2-45B2-9F25-C25C3BBFD988}"/>
              </a:ext>
            </a:extLst>
          </p:cNvPr>
          <p:cNvSpPr>
            <a:spLocks xmlns:a="http://schemas.openxmlformats.org/drawingml/2006/main" noGrp="1"/>
          </p:cNvSpPr>
          <p:nvPr/>
        </p:nvSpPr>
        <p:spPr>
          <a:xfrm xmlns:a="http://schemas.openxmlformats.org/drawingml/2006/main">
            <a:off x="609600" y="3943350"/>
            <a:ext cx="10896600" cy="0"/>
          </a:xfrm>
          <a:prstGeom xmlns:a="http://schemas.openxmlformats.org/drawingml/2006/main" prst="line">
            <a:avLst/>
          </a:prstGeom>
          <a:ln xmlns:a="http://schemas.openxmlformats.org/drawingml/2006/main" w="9525">
            <a:solidFill>
              <a:srgbClr val="D9D4C7"/>
            </a:solidFill>
          </a:ln>
        </p:spPr>
      </p:sp>
      <p:sp>
        <p:nvSpPr>
          <p:cNvPr id="8" name="Design response">
            <a:extLst xmlns:a="http://schemas.openxmlformats.org/drawingml/2006/main">
              <a:ext uri="{FF2B5EF4-FFF2-40B4-BE49-F238E27FC236}">
                <a16:creationId xmlns:a16="http://schemas.microsoft.com/office/drawing/2014/main" id="{286537DD-D2FE-4152-A0B4-8E684E71F5D5}"/>
              </a:ext>
            </a:extLst>
          </p:cNvPr>
          <p:cNvSpPr>
            <a:spLocks xmlns:a="http://schemas.openxmlformats.org/drawingml/2006/main" noGrp="1"/>
          </p:cNvSpPr>
          <p:nvPr/>
        </p:nvSpPr>
        <p:spPr>
          <a:xfrm xmlns:a="http://schemas.openxmlformats.org/drawingml/2006/main">
            <a:off x="609600" y="4210050"/>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2382E"/>
                </a:solidFill>
                <a:latin typeface="Arial"/>
                <a:ea typeface="Arial"/>
                <a:cs typeface="Arial"/>
              </a:defRPr>
            </a:pPr>
            <a:r>
              <a:rPr sz="1725" b="1">
                <a:solidFill>
                  <a:srgbClr val="12382E"/>
                </a:solidFill>
                <a:latin typeface="Arial"/>
                <a:ea typeface="Arial"/>
                <a:cs typeface="Arial"/>
              </a:rPr>
              <a:t>We are building guided questions and a draft from the conversation. The patient can say what matters to them and choose who can read the checked note.</a:t>
            </a:r>
          </a:p>
        </p:txBody>
      </p:sp>
      <p:sp>
        <p:nvSpPr>
          <p:cNvPr id="9" name="Source boundary">
            <a:extLst xmlns:a="http://schemas.openxmlformats.org/drawingml/2006/main">
              <a:ext uri="{FF2B5EF4-FFF2-40B4-BE49-F238E27FC236}">
                <a16:creationId xmlns:a16="http://schemas.microsoft.com/office/drawing/2014/main" id="{53DDD928-326C-450C-9719-041584192D4B}"/>
              </a:ext>
            </a:extLst>
          </p:cNvPr>
          <p:cNvSpPr>
            <a:spLocks xmlns:a="http://schemas.openxmlformats.org/drawingml/2006/main" noGrp="1"/>
          </p:cNvSpPr>
          <p:nvPr/>
        </p:nvSpPr>
        <p:spPr>
          <a:xfrm xmlns:a="http://schemas.openxmlformats.org/drawingml/2006/main">
            <a:off x="609600" y="5543550"/>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0">
                <a:solidFill>
                  <a:srgbClr val="53655C"/>
                </a:solidFill>
                <a:latin typeface="Arial"/>
                <a:ea typeface="Arial"/>
                <a:cs typeface="Arial"/>
              </a:defRPr>
            </a:pPr>
            <a:r>
              <a:rPr sz="1350" b="0">
                <a:solidFill>
                  <a:srgbClr val="53655C"/>
                </a:solidFill>
                <a:latin typeface="Arial"/>
                <a:ea typeface="Arial"/>
                <a:cs typeface="Arial"/>
              </a:rPr>
              <a:t>Two separate surveys. Neither is a national estimate.</a:t>
            </a:r>
          </a:p>
        </p:txBody>
      </p:sp>
      <p:sp>
        <p:nvSpPr>
          <p:cNvPr id="10" name="Slide sources">
            <a:extLst xmlns:a="http://schemas.openxmlformats.org/drawingml/2006/main">
              <a:ext uri="{FF2B5EF4-FFF2-40B4-BE49-F238E27FC236}">
                <a16:creationId xmlns:a16="http://schemas.microsoft.com/office/drawing/2014/main" id="{E07D8C05-DD9D-4E79-B6D2-673F65D72F26}"/>
              </a:ext>
            </a:extLst>
          </p:cNvPr>
          <p:cNvSpPr>
            <a:spLocks xmlns:a="http://schemas.openxmlformats.org/drawingml/2006/main" noGrp="1"/>
          </p:cNvSpPr>
          <p:nvPr/>
        </p:nvSpPr>
        <p:spPr>
          <a:xfrm xmlns:a="http://schemas.openxmlformats.org/drawingml/2006/main">
            <a:off x="609600" y="618172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Sources: HCAH survey in seven cities, reported by IndiaSpend, 2019; Jacob et al., one hospital survey, 2026.</a:t>
            </a:r>
          </a:p>
        </p:txBody>
      </p:sp>
    </p:spTree>
    <p:extLst>
      <p:ext uri="{BB962C8B-B14F-4D97-AF65-F5344CB8AC3E}">
        <p14:creationId xmlns:p14="http://schemas.microsoft.com/office/powerpoint/2010/main" val="1410585306"/>
      </p:ext>
    </p:extLst>
  </p:cSld>
</p:sld>
</file>

<file path=ppt/slides/slide7.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8695A6FD-9972-4701-B660-8F164C0D3CCD}"/>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What works now, and what we need to prove</a:t>
            </a:r>
          </a:p>
        </p:txBody>
      </p:sp>
      <p:sp>
        <p:nvSpPr>
          <p:cNvPr id="2" name="Working today heading">
            <a:extLst xmlns:a="http://schemas.openxmlformats.org/drawingml/2006/main">
              <a:ext uri="{FF2B5EF4-FFF2-40B4-BE49-F238E27FC236}">
                <a16:creationId xmlns:a16="http://schemas.microsoft.com/office/drawing/2014/main" id="{C36B4D7A-AEF8-4414-B317-68675E435C7B}"/>
              </a:ext>
            </a:extLst>
          </p:cNvPr>
          <p:cNvSpPr>
            <a:spLocks xmlns:a="http://schemas.openxmlformats.org/drawingml/2006/main" noGrp="1"/>
          </p:cNvSpPr>
          <p:nvPr/>
        </p:nvSpPr>
        <p:spPr>
          <a:xfrm xmlns:a="http://schemas.openxmlformats.org/drawingml/2006/main">
            <a:off x="533400" y="13335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You can use the app today</a:t>
            </a:r>
          </a:p>
        </p:txBody>
      </p:sp>
      <p:sp>
        <p:nvSpPr>
          <p:cNvPr id="3" name="Current browser features">
            <a:extLst xmlns:a="http://schemas.openxmlformats.org/drawingml/2006/main">
              <a:ext uri="{FF2B5EF4-FFF2-40B4-BE49-F238E27FC236}">
                <a16:creationId xmlns:a16="http://schemas.microsoft.com/office/drawing/2014/main" id="{5ADB5681-3624-4105-BE2A-003AEC0ED54C}"/>
              </a:ext>
            </a:extLst>
          </p:cNvPr>
          <p:cNvSpPr>
            <a:spLocks xmlns:a="http://schemas.openxmlformats.org/drawingml/2006/main" noGrp="1"/>
          </p:cNvSpPr>
          <p:nvPr/>
        </p:nvSpPr>
        <p:spPr>
          <a:xfrm xmlns:a="http://schemas.openxmlformats.org/drawingml/2006/main">
            <a:off x="533400" y="1790700"/>
            <a:ext cx="5143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Upload documents, record a conversation, review a care note, add a typed signature, open earlier versions and download a PDF. The calendar, journal and family tasks are connected within the app.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ed465bd2594a4b"/>
          <a:stretch xmlns:a="http://schemas.openxmlformats.org/drawingml/2006/main"/>
        </p:blipFill>
        <p:spPr>
          <a:xfrm xmlns:a="http://schemas.openxmlformats.org/drawingml/2006/main">
            <a:off x="533400" y="3411141"/>
            <a:ext cx="5143500" cy="2893219"/>
          </a:xfrm>
          <a:prstGeom xmlns:a="http://schemas.openxmlformats.org/drawingml/2006/main" prst="rect">
            <a:avLst/>
          </a:prstGeom>
        </p:spPr>
      </p:pic>
      <p:sp>
        <p:nvSpPr>
          <p:cNvPr id="5" name="Image caption">
            <a:extLst xmlns:a="http://schemas.openxmlformats.org/drawingml/2006/main">
              <a:ext uri="{FF2B5EF4-FFF2-40B4-BE49-F238E27FC236}">
                <a16:creationId xmlns:a16="http://schemas.microsoft.com/office/drawing/2014/main" id="{DAE2CD60-B103-4494-A6C6-A232219164F6}"/>
              </a:ext>
            </a:extLst>
          </p:cNvPr>
          <p:cNvSpPr>
            <a:spLocks xmlns:a="http://schemas.openxmlformats.org/drawingml/2006/main" noGrp="1"/>
          </p:cNvSpPr>
          <p:nvPr/>
        </p:nvSpPr>
        <p:spPr>
          <a:xfrm xmlns:a="http://schemas.openxmlformats.org/drawingml/2006/main">
            <a:off x="533400" y="65722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53655C"/>
                </a:solidFill>
                <a:latin typeface="Arial"/>
                <a:ea typeface="Arial"/>
                <a:cs typeface="Arial"/>
              </a:defRPr>
            </a:pPr>
            <a:r>
              <a:rPr sz="1050" b="0">
                <a:solidFill>
                  <a:srgbClr val="53655C"/>
                </a:solidFill>
                <a:latin typeface="Arial"/>
                <a:ea typeface="Arial"/>
                <a:cs typeface="Arial"/>
              </a:rPr>
              <a:t>Actual browser capture. The signature shown is a typed name.</a:t>
            </a:r>
          </a:p>
        </p:txBody>
      </p:sp>
      <p:sp>
        <p:nvSpPr>
          <p:cNvPr id="6" name="Next steps heading">
            <a:extLst xmlns:a="http://schemas.openxmlformats.org/drawingml/2006/main">
              <a:ext uri="{FF2B5EF4-FFF2-40B4-BE49-F238E27FC236}">
                <a16:creationId xmlns:a16="http://schemas.microsoft.com/office/drawing/2014/main" id="{125A1510-A63F-4C28-8AD9-B2A452CCAD8D}"/>
              </a:ext>
            </a:extLst>
          </p:cNvPr>
          <p:cNvSpPr>
            <a:spLocks xmlns:a="http://schemas.openxmlformats.org/drawingml/2006/main" noGrp="1"/>
          </p:cNvSpPr>
          <p:nvPr/>
        </p:nvSpPr>
        <p:spPr>
          <a:xfrm xmlns:a="http://schemas.openxmlformats.org/drawingml/2006/main">
            <a:off x="6153150" y="133350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The next connections</a:t>
            </a:r>
          </a:p>
        </p:txBody>
      </p:sp>
      <p:sp>
        <p:nvSpPr>
          <p:cNvPr id="7" name="Planned connections">
            <a:extLst xmlns:a="http://schemas.openxmlformats.org/drawingml/2006/main">
              <a:ext uri="{FF2B5EF4-FFF2-40B4-BE49-F238E27FC236}">
                <a16:creationId xmlns:a16="http://schemas.microsoft.com/office/drawing/2014/main" id="{965E3790-CC78-4E93-85B2-5DBBFCA88CD9}"/>
              </a:ext>
            </a:extLst>
          </p:cNvPr>
          <p:cNvSpPr>
            <a:spLocks xmlns:a="http://schemas.openxmlformats.org/drawingml/2006/main" noGrp="1"/>
          </p:cNvSpPr>
          <p:nvPr/>
        </p:nvSpPr>
        <p:spPr>
          <a:xfrm xmlns:a="http://schemas.openxmlformats.org/drawingml/2006/main">
            <a:off x="6153150" y="1790700"/>
            <a:ext cx="5505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Connect AI and reliable transcription, verified accounts and sharing between different phones. Check translations and care-centre details with the people who will use them.</a:t>
            </a:r>
          </a:p>
        </p:txBody>
      </p:sp>
      <p:sp>
        <p:nvSpPr>
          <p:cNvPr id="8" name="">
            <a:extLst xmlns:a="http://schemas.openxmlformats.org/drawingml/2006/main">
              <a:ext uri="{FF2B5EF4-FFF2-40B4-BE49-F238E27FC236}">
                <a16:creationId xmlns:a16="http://schemas.microsoft.com/office/drawing/2014/main" id="{3E4CC69B-A397-4D95-A730-50DA186BCAED}"/>
              </a:ext>
            </a:extLst>
          </p:cNvPr>
          <p:cNvSpPr>
            <a:spLocks xmlns:a="http://schemas.openxmlformats.org/drawingml/2006/main" noGrp="1"/>
          </p:cNvSpPr>
          <p:nvPr/>
        </p:nvSpPr>
        <p:spPr>
          <a:xfrm xmlns:a="http://schemas.openxmlformats.org/drawingml/2006/main">
            <a:off x="6153150" y="2971800"/>
            <a:ext cx="5505450" cy="0"/>
          </a:xfrm>
          <a:prstGeom xmlns:a="http://schemas.openxmlformats.org/drawingml/2006/main" prst="line">
            <a:avLst/>
          </a:prstGeom>
          <a:ln xmlns:a="http://schemas.openxmlformats.org/drawingml/2006/main" w="9525">
            <a:solidFill>
              <a:srgbClr val="D9D4C7"/>
            </a:solidFill>
          </a:ln>
        </p:spPr>
      </p:sp>
      <p:sp>
        <p:nvSpPr>
          <p:cNvPr id="9" name="Trial plan heading">
            <a:extLst xmlns:a="http://schemas.openxmlformats.org/drawingml/2006/main">
              <a:ext uri="{FF2B5EF4-FFF2-40B4-BE49-F238E27FC236}">
                <a16:creationId xmlns:a16="http://schemas.microsoft.com/office/drawing/2014/main" id="{2062B303-C76A-4EF9-9572-59F274430F07}"/>
              </a:ext>
            </a:extLst>
          </p:cNvPr>
          <p:cNvSpPr>
            <a:spLocks xmlns:a="http://schemas.openxmlformats.org/drawingml/2006/main" noGrp="1"/>
          </p:cNvSpPr>
          <p:nvPr/>
        </p:nvSpPr>
        <p:spPr>
          <a:xfrm xmlns:a="http://schemas.openxmlformats.org/drawingml/2006/main">
            <a:off x="6153150" y="320040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Our proposed 60–90 day trial</a:t>
            </a:r>
          </a:p>
        </p:txBody>
      </p:sp>
      <p:sp>
        <p:nvSpPr>
          <p:cNvPr id="10" name="Trial measures">
            <a:extLst xmlns:a="http://schemas.openxmlformats.org/drawingml/2006/main">
              <a:ext uri="{FF2B5EF4-FFF2-40B4-BE49-F238E27FC236}">
                <a16:creationId xmlns:a16="http://schemas.microsoft.com/office/drawing/2014/main" id="{0540EB35-E395-42E3-BBD9-537A1116AA83}"/>
              </a:ext>
            </a:extLst>
          </p:cNvPr>
          <p:cNvSpPr>
            <a:spLocks xmlns:a="http://schemas.openxmlformats.org/drawingml/2006/main" noGrp="1"/>
          </p:cNvSpPr>
          <p:nvPr/>
        </p:nvSpPr>
        <p:spPr>
          <a:xfrm xmlns:a="http://schemas.openxmlformats.org/drawingml/2006/main">
            <a:off x="6153150" y="3657600"/>
            <a:ext cx="55054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Measure the time doctors spend writing and correcting notes, how quickly families find the latest plan, and whether agreed tasks get done. Count mistakes and extra work too.</a:t>
            </a:r>
          </a:p>
        </p:txBody>
      </p:sp>
      <p:sp>
        <p:nvSpPr>
          <p:cNvPr id="11" name="No results yet">
            <a:extLst xmlns:a="http://schemas.openxmlformats.org/drawingml/2006/main">
              <a:ext uri="{FF2B5EF4-FFF2-40B4-BE49-F238E27FC236}">
                <a16:creationId xmlns:a16="http://schemas.microsoft.com/office/drawing/2014/main" id="{B903D052-BF7F-4E5D-94F3-B9A315CD25BE}"/>
              </a:ext>
            </a:extLst>
          </p:cNvPr>
          <p:cNvSpPr>
            <a:spLocks xmlns:a="http://schemas.openxmlformats.org/drawingml/2006/main" noGrp="1"/>
          </p:cNvSpPr>
          <p:nvPr/>
        </p:nvSpPr>
        <p:spPr>
          <a:xfrm xmlns:a="http://schemas.openxmlformats.org/drawingml/2006/main">
            <a:off x="6153150" y="5124450"/>
            <a:ext cx="5505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2382E"/>
                </a:solidFill>
                <a:latin typeface="Arial"/>
                <a:ea typeface="Arial"/>
                <a:cs typeface="Arial"/>
              </a:defRPr>
            </a:pPr>
            <a:r>
              <a:rPr sz="1650" b="1">
                <a:solidFill>
                  <a:srgbClr val="12382E"/>
                </a:solidFill>
                <a:latin typeface="Arial"/>
                <a:ea typeface="Arial"/>
                <a:cs typeface="Arial"/>
              </a:rPr>
              <a:t>We have not measured these results yet.</a:t>
            </a:r>
          </a:p>
        </p:txBody>
      </p:sp>
    </p:spTree>
    <p:extLst>
      <p:ext uri="{BB962C8B-B14F-4D97-AF65-F5344CB8AC3E}">
        <p14:creationId xmlns:p14="http://schemas.microsoft.com/office/powerpoint/2010/main" val="486496822"/>
      </p:ext>
    </p:extLst>
  </p:cSld>
</p:sld>
</file>

<file path=ppt/slides/slide8.xml><?xml version="1.0" encoding="utf-8"?>
<p:sld xmlns:p="http://schemas.openxmlformats.org/presentationml/2006/main">
  <p:cSld>
    <p:bg>
      <p:bgPr>
        <a:solidFill xmlns:a="http://schemas.openxmlformats.org/drawingml/2006/main">
          <a:srgbClr val="12382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7e9d98ba4434fb9"/>
          <a:srcRect xmlns:a="http://schemas.openxmlformats.org/drawingml/2006/main" l="18843" t="0" r="18843"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Photo caption field">
            <a:extLst xmlns:a="http://schemas.openxmlformats.org/drawingml/2006/main">
              <a:ext uri="{FF2B5EF4-FFF2-40B4-BE49-F238E27FC236}">
                <a16:creationId xmlns:a16="http://schemas.microsoft.com/office/drawing/2014/main" id="{791A24F3-4CDC-4090-BAB5-BD9B15E75DDE}"/>
              </a:ext>
            </a:extLst>
          </p:cNvPr>
          <p:cNvSpPr>
            <a:spLocks xmlns:a="http://schemas.openxmlformats.org/drawingml/2006/main" noGrp="1"/>
          </p:cNvSpPr>
          <p:nvPr/>
        </p:nvSpPr>
        <p:spPr>
          <a:xfrm xmlns:a="http://schemas.openxmlformats.org/drawingml/2006/main">
            <a:off x="6705600" y="5810250"/>
            <a:ext cx="5486400" cy="1047750"/>
          </a:xfrm>
          <a:prstGeom xmlns:a="http://schemas.openxmlformats.org/drawingml/2006/main" prst="rect">
            <a:avLst/>
          </a:prstGeom>
          <a:solidFill xmlns:a="http://schemas.openxmlformats.org/drawingml/2006/main">
            <a:srgbClr val="12382E"/>
          </a:solidFill>
          <a:ln xmlns:a="http://schemas.openxmlformats.org/drawingml/2006/main" w="0">
            <a:solidFill>
              <a:srgbClr val="12382E"/>
            </a:solidFill>
          </a:ln>
        </p:spPr>
      </p:sp>
      <p:sp>
        <p:nvSpPr>
          <p:cNvPr id="3" name="Closing statement">
            <a:extLst xmlns:a="http://schemas.openxmlformats.org/drawingml/2006/main">
              <a:ext uri="{FF2B5EF4-FFF2-40B4-BE49-F238E27FC236}">
                <a16:creationId xmlns:a16="http://schemas.microsoft.com/office/drawing/2014/main" id="{AD6826E6-8929-4B86-BDC5-13413730D8F7}"/>
              </a:ext>
            </a:extLst>
          </p:cNvPr>
          <p:cNvSpPr>
            <a:spLocks xmlns:a="http://schemas.openxmlformats.org/drawingml/2006/main" noGrp="1"/>
          </p:cNvSpPr>
          <p:nvPr/>
        </p:nvSpPr>
        <p:spPr>
          <a:xfrm xmlns:a="http://schemas.openxmlformats.org/drawingml/2006/main">
            <a:off x="533400" y="419100"/>
            <a:ext cx="5715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The hardest decisions shouldn’t be made without the right information</a:t>
            </a:r>
          </a:p>
        </p:txBody>
      </p:sp>
      <p:sp>
        <p:nvSpPr>
          <p:cNvPr id="4" name="Direction">
            <a:extLst xmlns:a="http://schemas.openxmlformats.org/drawingml/2006/main">
              <a:ext uri="{FF2B5EF4-FFF2-40B4-BE49-F238E27FC236}">
                <a16:creationId xmlns:a16="http://schemas.microsoft.com/office/drawing/2014/main" id="{425746FB-5757-408D-AB54-27706566BE95}"/>
              </a:ext>
            </a:extLst>
          </p:cNvPr>
          <p:cNvSpPr>
            <a:spLocks xmlns:a="http://schemas.openxmlformats.org/drawingml/2006/main" noGrp="1"/>
          </p:cNvSpPr>
          <p:nvPr/>
        </p:nvSpPr>
        <p:spPr>
          <a:xfrm xmlns:a="http://schemas.openxmlformats.org/drawingml/2006/main">
            <a:off x="533400" y="1990725"/>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E6EEE6"/>
                </a:solidFill>
                <a:latin typeface="Arial"/>
                <a:ea typeface="Arial"/>
                <a:cs typeface="Arial"/>
              </a:defRPr>
            </a:pPr>
            <a:r>
              <a:rPr sz="1650" b="0">
                <a:solidFill>
                  <a:srgbClr val="E6EEE6"/>
                </a:solidFill>
                <a:latin typeface="Arial"/>
                <a:ea typeface="Arial"/>
                <a:cs typeface="Arial"/>
              </a:rPr>
              <a:t>We are starting with cancer care conversations, then keeping the family’s next steps connected to that record.</a:t>
            </a:r>
          </a:p>
        </p:txBody>
      </p:sp>
      <p:sp>
        <p:nvSpPr>
          <p:cNvPr id="5" name="Team name">
            <a:extLst xmlns:a="http://schemas.openxmlformats.org/drawingml/2006/main">
              <a:ext uri="{FF2B5EF4-FFF2-40B4-BE49-F238E27FC236}">
                <a16:creationId xmlns:a16="http://schemas.microsoft.com/office/drawing/2014/main" id="{9E984B28-1B5E-4C17-9220-E758CAC07232}"/>
              </a:ext>
            </a:extLst>
          </p:cNvPr>
          <p:cNvSpPr>
            <a:spLocks xmlns:a="http://schemas.openxmlformats.org/drawingml/2006/main" noGrp="1"/>
          </p:cNvSpPr>
          <p:nvPr/>
        </p:nvSpPr>
        <p:spPr>
          <a:xfrm xmlns:a="http://schemas.openxmlformats.org/drawingml/2006/main">
            <a:off x="533400" y="31623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E5B09A"/>
                </a:solidFill>
                <a:latin typeface="Arial"/>
                <a:ea typeface="Arial"/>
                <a:cs typeface="Arial"/>
              </a:defRPr>
            </a:pPr>
            <a:r>
              <a:rPr sz="1800" b="1">
                <a:solidFill>
                  <a:srgbClr val="E5B09A"/>
                </a:solidFill>
                <a:latin typeface="Arial"/>
                <a:ea typeface="Arial"/>
                <a:cs typeface="Arial"/>
              </a:rPr>
              <a:t>Zeros and Ones</a:t>
            </a:r>
          </a:p>
        </p:txBody>
      </p:sp>
      <p:sp>
        <p:nvSpPr>
          <p:cNvPr id="6" name="Confirmed team members">
            <a:extLst xmlns:a="http://schemas.openxmlformats.org/drawingml/2006/main">
              <a:ext uri="{FF2B5EF4-FFF2-40B4-BE49-F238E27FC236}">
                <a16:creationId xmlns:a16="http://schemas.microsoft.com/office/drawing/2014/main" id="{B10CB192-3B5F-4A94-B4CE-4030D8653A61}"/>
              </a:ext>
            </a:extLst>
          </p:cNvPr>
          <p:cNvSpPr>
            <a:spLocks xmlns:a="http://schemas.openxmlformats.org/drawingml/2006/main" noGrp="1"/>
          </p:cNvSpPr>
          <p:nvPr/>
        </p:nvSpPr>
        <p:spPr>
          <a:xfrm xmlns:a="http://schemas.openxmlformats.org/drawingml/2006/main">
            <a:off x="533400" y="3581400"/>
            <a:ext cx="5715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Dr Sharada Vinod Kutty</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Dr Sujay Halkur Shankar</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Shaik Abdul Basith</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Shaik Muhammad Awaiz</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f22e3a4374946a6"/>
          <a:stretch xmlns:a="http://schemas.openxmlformats.org/drawingml/2006/main"/>
        </p:blipFill>
        <p:spPr>
          <a:xfrm xmlns:a="http://schemas.openxmlformats.org/drawingml/2006/main">
            <a:off x="533400" y="5219700"/>
            <a:ext cx="1066800" cy="1066800"/>
          </a:xfrm>
          <a:prstGeom xmlns:a="http://schemas.openxmlformats.org/drawingml/2006/main" prst="rect">
            <a:avLst/>
          </a:prstGeom>
        </p:spPr>
      </p:pic>
      <p:sp>
        <p:nvSpPr>
          <p:cNvPr id="8" name="Prototype link label">
            <a:extLst xmlns:a="http://schemas.openxmlformats.org/drawingml/2006/main">
              <a:ext uri="{FF2B5EF4-FFF2-40B4-BE49-F238E27FC236}">
                <a16:creationId xmlns:a16="http://schemas.microsoft.com/office/drawing/2014/main" id="{C29FFD8C-D163-4A93-B5C5-ECB41CBA0B4A}"/>
              </a:ext>
            </a:extLst>
          </p:cNvPr>
          <p:cNvSpPr>
            <a:spLocks xmlns:a="http://schemas.openxmlformats.org/drawingml/2006/main" noGrp="1"/>
          </p:cNvSpPr>
          <p:nvPr/>
        </p:nvSpPr>
        <p:spPr>
          <a:xfrm xmlns:a="http://schemas.openxmlformats.org/drawingml/2006/main">
            <a:off x="1809750" y="52768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Open Saanthvana</a:t>
            </a:r>
          </a:p>
        </p:txBody>
      </p:sp>
      <p:sp>
        <p:nvSpPr>
          <p:cNvPr id="9" name="Prototype URL">
            <a:extLst xmlns:a="http://schemas.openxmlformats.org/drawingml/2006/main">
              <a:ext uri="{FF2B5EF4-FFF2-40B4-BE49-F238E27FC236}">
                <a16:creationId xmlns:a16="http://schemas.microsoft.com/office/drawing/2014/main" id="{01E25FBE-0573-440F-A1E9-4068F572E16E}"/>
              </a:ext>
            </a:extLst>
          </p:cNvPr>
          <p:cNvSpPr>
            <a:spLocks xmlns:a="http://schemas.openxmlformats.org/drawingml/2006/main" noGrp="1"/>
          </p:cNvSpPr>
          <p:nvPr/>
        </p:nvSpPr>
        <p:spPr>
          <a:xfrm xmlns:a="http://schemas.openxmlformats.org/drawingml/2006/main">
            <a:off x="1809750" y="566737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continuity-loop-healthathon.vercel.app</a:t>
            </a:r>
          </a:p>
        </p:txBody>
      </p:sp>
      <p:sp>
        <p:nvSpPr>
          <p:cNvPr id="10" name="Image caption">
            <a:extLst xmlns:a="http://schemas.openxmlformats.org/drawingml/2006/main">
              <a:ext uri="{FF2B5EF4-FFF2-40B4-BE49-F238E27FC236}">
                <a16:creationId xmlns:a16="http://schemas.microsoft.com/office/drawing/2014/main" id="{38A60681-7242-43EF-8D8F-C4ADF381A617}"/>
              </a:ext>
            </a:extLst>
          </p:cNvPr>
          <p:cNvSpPr>
            <a:spLocks xmlns:a="http://schemas.openxmlformats.org/drawingml/2006/main" noGrp="1"/>
          </p:cNvSpPr>
          <p:nvPr/>
        </p:nvSpPr>
        <p:spPr>
          <a:xfrm xmlns:a="http://schemas.openxmlformats.org/drawingml/2006/main">
            <a:off x="6705600" y="612457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50" b="0">
                <a:solidFill>
                  <a:srgbClr val="F4F1E6"/>
                </a:solidFill>
                <a:latin typeface="Arial"/>
                <a:ea typeface="Arial"/>
                <a:cs typeface="Arial"/>
              </a:defRPr>
            </a:pPr>
            <a:r>
              <a:rPr sz="1050" b="0">
                <a:solidFill>
                  <a:srgbClr val="F4F1E6"/>
                </a:solidFill>
                <a:latin typeface="Arial"/>
                <a:ea typeface="Arial"/>
                <a:cs typeface="Arial"/>
              </a:rPr>
              <a:t>Context photograph. A family reviewing care with a clinician.</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2026-09-23T20:16:33.9080000Z</dcterms:created>
  <dcterms:modified xsi:type="dcterms:W3CDTF">2026-09-23T20:16:33.9080000Z</dcterms:modified>
</coreProperties>
</file>