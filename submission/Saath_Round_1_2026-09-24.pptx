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d6119daaf034841" /><Relationship Type="http://schemas.openxmlformats.org/officeDocument/2006/relationships/extended-properties" Target="/docProps/app.xml" Id="Rf45fa420070949f5" /><Relationship Type="http://schemas.openxmlformats.org/officeDocument/2006/relationships/officeDocument" Target="/ppt/presentation.xml" Id="Ra6f02b822ffe4887" /></Relationships>
</file>

<file path=ppt/presentation.xml><?xml version="1.0" encoding="utf-8"?>
<p:presentation xmlns:p="http://schemas.openxmlformats.org/presentationml/2006/main">
  <p:sldMasterIdLst>
    <p:sldMasterId xmlns:r="http://schemas.openxmlformats.org/officeDocument/2006/relationships" id="2147483648" r:id="R61eaef03d6544412"/>
  </p:sldMasterIdLst>
  <p:notesMasterIdLst>
    <p:notesMasterId xmlns:r="http://schemas.openxmlformats.org/officeDocument/2006/relationships" r:id="R19198ef3f643413d"/>
  </p:notesMasterIdLst>
  <p:sldIdLst>
    <p:sldId xmlns:r="http://schemas.openxmlformats.org/officeDocument/2006/relationships" id="256" r:id="R5eea794b94c74609"/>
    <p:sldId xmlns:r="http://schemas.openxmlformats.org/officeDocument/2006/relationships" id="257" r:id="R6600f2febb1442a2"/>
    <p:sldId xmlns:r="http://schemas.openxmlformats.org/officeDocument/2006/relationships" id="258" r:id="R5d7e3c0e5a9c4d5f"/>
    <p:sldId xmlns:r="http://schemas.openxmlformats.org/officeDocument/2006/relationships" id="259" r:id="R4e73509ee2e4451d"/>
    <p:sldId xmlns:r="http://schemas.openxmlformats.org/officeDocument/2006/relationships" id="260" r:id="Ra457ceb8883949d1"/>
    <p:sldId xmlns:r="http://schemas.openxmlformats.org/officeDocument/2006/relationships" id="261" r:id="R67a655fabc634658"/>
    <p:sldId xmlns:r="http://schemas.openxmlformats.org/officeDocument/2006/relationships" id="262" r:id="R7f1cbf457bbd418a"/>
    <p:sldId xmlns:r="http://schemas.openxmlformats.org/officeDocument/2006/relationships" id="263" r:id="Reeb73d0942b74c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9878b41ef34d6f" /><Relationship Type="http://schemas.openxmlformats.org/officeDocument/2006/relationships/slideMaster" Target="/ppt/slideMasters/slideMaster1.xml" Id="R61eaef03d6544412" /><Relationship Type="http://schemas.openxmlformats.org/officeDocument/2006/relationships/notesMaster" Target="/ppt/notesMasters/notesMaster1.xml" Id="R19198ef3f643413d" /><Relationship Type="http://schemas.openxmlformats.org/officeDocument/2006/relationships/presProps" Target="/ppt/presProps.xml" Id="Rceae703d07cb4067" /><Relationship Type="http://schemas.openxmlformats.org/officeDocument/2006/relationships/tableStyles" Target="/ppt/tableStyles.xml" Id="Re04b4c858b744931" /><Relationship Type="http://schemas.openxmlformats.org/officeDocument/2006/relationships/slide" Target="/ppt/slides/slide1.xml" Id="R5eea794b94c74609" /><Relationship Type="http://schemas.openxmlformats.org/officeDocument/2006/relationships/slide" Target="/ppt/slides/slide2.xml" Id="R6600f2febb1442a2" /><Relationship Type="http://schemas.openxmlformats.org/officeDocument/2006/relationships/slide" Target="/ppt/slides/slide3.xml" Id="R5d7e3c0e5a9c4d5f" /><Relationship Type="http://schemas.openxmlformats.org/officeDocument/2006/relationships/slide" Target="/ppt/slides/slide4.xml" Id="R4e73509ee2e4451d" /><Relationship Type="http://schemas.openxmlformats.org/officeDocument/2006/relationships/slide" Target="/ppt/slides/slide5.xml" Id="Ra457ceb8883949d1" /><Relationship Type="http://schemas.openxmlformats.org/officeDocument/2006/relationships/slide" Target="/ppt/slides/slide6.xml" Id="R67a655fabc634658" /><Relationship Type="http://schemas.openxmlformats.org/officeDocument/2006/relationships/slide" Target="/ppt/slides/slide7.xml" Id="R7f1cbf457bbd418a" /><Relationship Type="http://schemas.openxmlformats.org/officeDocument/2006/relationships/slide" Target="/ppt/slides/slide8.xml" Id="Reeb73d0942b74c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2d7f1231b6f46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1a4096c36e4fa0" /><Relationship Type="http://schemas.openxmlformats.org/officeDocument/2006/relationships/notesMaster" Target="/ppt/notesMasters/notesMaster1.xml" Id="R0039efd5593648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d747e6d6554268" /><Relationship Type="http://schemas.openxmlformats.org/officeDocument/2006/relationships/notesMaster" Target="/ppt/notesMasters/notesMaster1.xml" Id="R2112614ac96447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eea2f1884046dc" /><Relationship Type="http://schemas.openxmlformats.org/officeDocument/2006/relationships/notesMaster" Target="/ppt/notesMasters/notesMaster1.xml" Id="R42fe1ce362dd46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674a690ec74ebc" /><Relationship Type="http://schemas.openxmlformats.org/officeDocument/2006/relationships/notesMaster" Target="/ppt/notesMasters/notesMaster1.xml" Id="Rb77b7eed113f4d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d190efb16cc495c" /><Relationship Type="http://schemas.openxmlformats.org/officeDocument/2006/relationships/notesMaster" Target="/ppt/notesMasters/notesMaster1.xml" Id="R6c8372a451b94a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5198a555cf41c1" /><Relationship Type="http://schemas.openxmlformats.org/officeDocument/2006/relationships/notesMaster" Target="/ppt/notesMasters/notesMaster1.xml" Id="Rf2abe48c9b9e4b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8fe229c6f445cb" /><Relationship Type="http://schemas.openxmlformats.org/officeDocument/2006/relationships/notesMaster" Target="/ppt/notesMasters/notesMaster1.xml" Id="R18bde3c9715d4e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faf46947ac4f4bc3" /><Relationship Type="http://schemas.openxmlformats.org/officeDocument/2006/relationships/notesMaster" Target="/ppt/notesMasters/notesMaster1.xml" Id="R7fd576f82a5f45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Saath (साथ) means together/with in this naming context. The five named people are the current team; Shirin Ayub was added in the user's latest roster. Basith and Awaiz portraits are original team assets from the DevIT ITI deck, with provenance in submission/assets/2026-09-24-team/README.md. Blank spaces are intentionally reserved for the other members' photos. Roles use the supplied roster. The app logo is extracted from the actual app. GitHub and WhatsApp marks are unmodified Simple Icons assets. The QR and large clickable link open https://continuity-loop-healthathon.vercel.app/. The requested santwana.wedevit.in address returned 404 and the connected Vercel account could not assign it, so the deck uses the working link. Entry: Cancer / Patient and Caregiver / Family &amp; Caregiver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story supplied by the team, not a reported patient case. The scenario uses best supportive care, omits the earlier death outcome, and does not recommend or reject emergency treatment. A Care Note records wishes and discussion; it is not an automatic treatment order or a legal advance directive. The photograph provides general consultation context and does not depict the story patient or a Saath user. Photo: Thierry Falise / ILO Asia-Pacific, https://commons.wikimedia.org/wiki/File:Doctor_consultation.jpg, CC BY-SA 4.0 https://creativecommons.org/licenses/by-sa/4.0/, cropped. Sources: docs/meetings/2026-09-23-chat-follow-up.md and both meetings this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slide shows published research, not Saanthvana outcomes or an AI result. The studies cover different populations and must not be multiplied together. The app addresses documentation and coordination; it cannot by itself supply missing care services.</a:t>
            </a:r>
          </a:p>
          <a:p xmlns:a="http://schemas.openxmlformats.org/drawingml/2006/main">
            <a:r>
              <a:t/>
            </a:r>
          </a:p>
          <a:p xmlns:a="http://schemas.openxmlformats.org/drawingml/2006/main">
            <a:r>
              <a:t>[Sources]</a:t>
            </a:r>
          </a:p>
          <a:p xmlns:a="http://schemas.openxmlformats.org/drawingml/2006/main">
            <a:r>
              <a:t>- IARC. India fact sheet, GLOBOCAN 2024. 1,562,581 estimated new cases in 2024, rounded to 15.6 lakh. https://gco.iarc.who.int/media/globocan/factsheets/populations/356-india-fact-sheet.pdf</a:t>
            </a:r>
          </a:p>
          <a:p xmlns:a="http://schemas.openxmlformats.org/drawingml/2006/main">
            <a:r>
              <a:t>- Patil S, Sharma P, Arora A, Zadey S. Unmet need for cancer palliative care in India. BMJ Supportive &amp; Palliative Care, 2024. DOI: 10.1136/spcare-2024-004978. The estimate uses people with metastatic cancer who did not receive palliative care, drawing on NCRP 2020 data for ten cancer types. It is not an awareness rate or a national survey of all people with cancer. https://pubmed.ncbi.nlm.nih.gov/38834235/</a:t>
            </a:r>
          </a:p>
          <a:p xmlns:a="http://schemas.openxmlformats.org/drawingml/2006/main">
            <a:r>
              <a:t>- Thangasamy DRJ et al. Initiating and documenting goals-of-care discussion in patients with advanced pancreatic and colorectal cancers: a quality improvement project in a low-resource setting. Palliat Med Rep, 2025. DOI: 10.1177/26892820251392545. Single-centre Cancer Institute (WIA), Chennai; 0% baseline and 92% after implementation, with 24 of 26 eligible patients documented. The intervention included a standard process, colour-coded form and awareness/referral work. It is not a national rate or Saanthvana result. https://journals.sagepub.com/doi/10.1177/26892820251392545</a:t>
            </a:r>
          </a:p>
          <a:p xmlns:a="http://schemas.openxmlformats.org/drawingml/2006/main">
            <a:r>
              <a:t/>
            </a:r>
          </a:p>
          <a:p xmlns:a="http://schemas.openxmlformats.org/drawingml/2006/main">
            <a:r>
              <a:t>[Chart data]</a:t>
            </a:r>
          </a:p>
          <a:p xmlns:a="http://schemas.openxmlformats.org/drawingml/2006/main">
            <a:r>
              <a:t>The editable native chart contains the published values [0, 92] percent for before and after the single-centre QI intervention.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Goals of care means a discussion about what matters to the patient and what they want from care. The patient or family can request it; the clinician can initiate it too. Discussion, decisions and unresolved questions remain distinct. Home shows the latest signed Care Note and a QR that opens the supported note reader; an unsigned draft is not presented as an approved version. The standalone presentation QR opens the app, not private patient data. Current access choices and note history operate in the browser; authenticated sharing between phones remains planned. A Care Note is not a legal advance directive. Screenshot: output/playwright/2026-09-24-home-note-desktop.png. Sources: both meeting transcripts from 21 and 23 September; Sujay's 24 September feedback supplied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proposed AI workflow, not a claim that a model is already connected. With recording consent, a transcript or existing note becomes a source-linked draft. The clinician can edit, reject or correct it in a distinct review step and must sign before approval. Unanswered questions remain unanswered. No diagnosis, treatment recommendation, risk scoring or interpretation of medical results. Today the browser app supports recording, source-based rule preparation, editing and typed-name signing. Reliable transcription, model integration, verified accounts and sharing between phones remain to connect. A typed name is not a verified digital signature. Screenshot: output/playwright/2026-09-24-doctor-note-review.png. Sources: 21 September transcript lines 251–303 and 1097–1155; 23 September meeting and chat; Sujay's 24 September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Documents screenshot shows literal retrieval from a stored visit checklist and a way to open the original. It does not show connected semantic AI or image OCR. Planned AI will organise reports by date and retrieve from the patient's own files with citations and a missing-answer state. It must not interpret test results or create clinical advice. Daily tools also include a calendar, journal of symptoms/feelings/questions and named family tasks. Medicine schedules reuse reviewed prescription details. Map markers and group links do not establish current service availability; a help request is not a transport booking. Cross-phone delivery remains unfinished. Sources: both meetings this week, later Shirin/Sujay chat and actual screen output/playwright/2026-09-23-documents-desktop.png.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trial, not a measured result or a confirmed deployment partner. Start with an agreed baseline and keep the same eligibility and documentation definition after deployment. Tally eligible, informed and consented participants, patient requests, family requests, clinician-initiated conversations, held discussions, saved notes and signed notes separately. Deduplicate repeat activity within a discussion episode and record missing data. Primary before/after rate: patients with a documented goals-of-care discussion in the clinical record / all eligible patients. Also report documented/consented, patient requests/informed eligible and doctor-signed/documented where consistently available, each with n/N. Do not infer a completed discussion from an app recording or a signed note. Offering information to all clinic patients is a proposed opt-in approach for discussion with a site. Consent to the discussion, recording and evaluation data are separate. Supporting measures include clinician time to check/sign, patient-family retrieval time, errors and clarification contacts. Protocol detail: docs/pitch/2026-09-24-impact-plan.md. Sources: Sujay's 24 September messages supplied by the user; Health-a-thon design brief, https://healthathon.reskilll.com/guide.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reference set from slide 8 of Saanthvana_Background_Rationale_1.pptx. The source collection includes research, a fact sheet and secondary reporting. Not every background source supports a numerical claim in this pitch. Reference 7 is a preprint; its primary index confirms the title and DOI, while full-text access returned 403. The author attribution follows the supplied deck. Reference 9 concerns a U.S. cohort. For exact scope of the figures used, see docs/pitch/2026-09-24-verified-evidence.md.</a:t>
            </a:r>
          </a:p>
          <a:p xmlns:a="http://schemas.openxmlformats.org/drawingml/2006/main">
            <a:r>
              <a:t/>
            </a:r>
          </a:p>
          <a:p xmlns:a="http://schemas.openxmlformats.org/drawingml/2006/main">
            <a:r>
              <a:t>1. IARC. Global Cancer Observatory, 2024. India — GLOBOCAN 2024 Fact Sheet</a:t>
            </a:r>
          </a:p>
          <a:p xmlns:a="http://schemas.openxmlformats.org/drawingml/2006/main">
            <a:r>
              <a:t>https://gco.iarc.who.int/media/globocan/factsheets/populations/356-india-fact-sheet.pdf</a:t>
            </a:r>
          </a:p>
          <a:p xmlns:a="http://schemas.openxmlformats.org/drawingml/2006/main">
            <a:r>
              <a:t/>
            </a:r>
          </a:p>
          <a:p xmlns:a="http://schemas.openxmlformats.org/drawingml/2006/main">
            <a:r>
              <a:t>2. Patil S, et al. BMJ Support Palliat Care, 2024. Unmet need for cancer palliative care in India</a:t>
            </a:r>
          </a:p>
          <a:p xmlns:a="http://schemas.openxmlformats.org/drawingml/2006/main">
            <a:r>
              <a:t>https://doi.org/10.1136/spcare-2024-004978</a:t>
            </a:r>
          </a:p>
          <a:p xmlns:a="http://schemas.openxmlformats.org/drawingml/2006/main">
            <a:r>
              <a:t/>
            </a:r>
          </a:p>
          <a:p xmlns:a="http://schemas.openxmlformats.org/drawingml/2006/main">
            <a:r>
              <a:t>3. Aslam N, Hayat A. J Pain Symptom Manage, 2024. Early Goal of Care Discussions in Healthcare: A Survey Case Report on Benefits and Perceptions</a:t>
            </a:r>
          </a:p>
          <a:p xmlns:a="http://schemas.openxmlformats.org/drawingml/2006/main">
            <a:r>
              <a:t>https://doi.org/10.1016/j.jpainsymman.2024.02.030</a:t>
            </a:r>
          </a:p>
          <a:p xmlns:a="http://schemas.openxmlformats.org/drawingml/2006/main">
            <a:r>
              <a:t/>
            </a:r>
          </a:p>
          <a:p xmlns:a="http://schemas.openxmlformats.org/drawingml/2006/main">
            <a:r>
              <a:t>4. Thangasamy DRJ, et al. Palliat Med Rep, 2025. Initiating and Documenting Goals of Care Discussion in Patients with Advanced Pancreatic and Colorectal Cancers: A Quality Improvement Project in a Low Resource Setting</a:t>
            </a:r>
          </a:p>
          <a:p xmlns:a="http://schemas.openxmlformats.org/drawingml/2006/main">
            <a:r>
              <a:t>https://doi.org/10.1177/26892820251392545</a:t>
            </a:r>
          </a:p>
          <a:p xmlns:a="http://schemas.openxmlformats.org/drawingml/2006/main">
            <a:r>
              <a:t/>
            </a:r>
          </a:p>
          <a:p xmlns:a="http://schemas.openxmlformats.org/drawingml/2006/main">
            <a:r>
              <a:t>5. Sharma P. IndiaSpend / Scroll.in, 2019. 73% urban Indians do not know about their right to make a living will, finds a survey</a:t>
            </a:r>
          </a:p>
          <a:p xmlns:a="http://schemas.openxmlformats.org/drawingml/2006/main">
            <a:r>
              <a:t>https://scroll.in/article/925875/73-urban-indians-do-not-know-about-their-right-to-make-a-living-will-finds-a-survey</a:t>
            </a:r>
          </a:p>
          <a:p xmlns:a="http://schemas.openxmlformats.org/drawingml/2006/main">
            <a:r>
              <a:t/>
            </a:r>
          </a:p>
          <a:p xmlns:a="http://schemas.openxmlformats.org/drawingml/2006/main">
            <a:r>
              <a:t>6. Jacob JA, et al. Natl Med J India, 2026. Knowledge and attitude towards advance directives for patients with terminal illnesses among doctors working in a tertiary care hospital</a:t>
            </a:r>
          </a:p>
          <a:p xmlns:a="http://schemas.openxmlformats.org/drawingml/2006/main">
            <a:r>
              <a:t>https://doi.org/10.25259/NMJI_817_2023</a:t>
            </a:r>
          </a:p>
          <a:p xmlns:a="http://schemas.openxmlformats.org/drawingml/2006/main">
            <a:r>
              <a:t/>
            </a:r>
          </a:p>
          <a:p xmlns:a="http://schemas.openxmlformats.org/drawingml/2006/main">
            <a:r>
              <a:t>7. Singh P, et al. medRxiv, 2025. Preprint. Barriers and Facilitators to Advance Care Planning Implementation for Patients with Neurodegenerative Diseases among Indian Physicians: A Mixed-Methods Analysis</a:t>
            </a:r>
          </a:p>
          <a:p xmlns:a="http://schemas.openxmlformats.org/drawingml/2006/main">
            <a:r>
              <a:t>https://doi.org/10.1101/2025.10.17.25338242</a:t>
            </a:r>
          </a:p>
          <a:p xmlns:a="http://schemas.openxmlformats.org/drawingml/2006/main">
            <a:r>
              <a:t/>
            </a:r>
          </a:p>
          <a:p xmlns:a="http://schemas.openxmlformats.org/drawingml/2006/main">
            <a:r>
              <a:t>8. LeBaron V, et al. The Oncologist, 2014. An Ethnographic Study of Barriers to Cancer Pain Management and Opioid Availability in India</a:t>
            </a:r>
          </a:p>
          <a:p xmlns:a="http://schemas.openxmlformats.org/drawingml/2006/main">
            <a:r>
              <a:t>https://doi.org/10.1634/theoncologist.2013-0435</a:t>
            </a:r>
          </a:p>
          <a:p xmlns:a="http://schemas.openxmlformats.org/drawingml/2006/main">
            <a:r>
              <a:t/>
            </a:r>
          </a:p>
          <a:p xmlns:a="http://schemas.openxmlformats.org/drawingml/2006/main">
            <a:r>
              <a:t>9. Forsythe LP, et al. J Clin Oncol, 2013. U.S. cohort. Receipt of Psychosocial Care Among Cancer Survivors in the United States</a:t>
            </a:r>
          </a:p>
          <a:p xmlns:a="http://schemas.openxmlformats.org/drawingml/2006/main">
            <a:r>
              <a:t>https://doi.org/10.1200/JCO.2012.46.2101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077a9205384e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17af5b752448c3" /><Relationship Type="http://schemas.openxmlformats.org/officeDocument/2006/relationships/slideLayout" Target="/ppt/slideLayouts/slideLayout1.xml" Id="R9eee8a0433ee47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ee8a0433ee47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9a9488fbd724b86" /><Relationship Type="http://schemas.openxmlformats.org/officeDocument/2006/relationships/image" Target="/ppt/media/image.png" Id="Ra8efb29f45bc4914" /><Relationship Type="http://schemas.openxmlformats.org/officeDocument/2006/relationships/image" Target="/ppt/media/image.svg" Id="Redcc9d7694114567" /><Relationship Type="http://schemas.openxmlformats.org/officeDocument/2006/relationships/image" Target="/ppt/media/image2.png" Id="R681b3afc36a946d7" /><Relationship Type="http://schemas.openxmlformats.org/officeDocument/2006/relationships/hyperlink" Target="https://continuity-loop-healthathon.vercel.app/" TargetMode="External" Id="R013ba49d1eda4494" /><Relationship Type="http://schemas.openxmlformats.org/officeDocument/2006/relationships/image" Target="/ppt/media/image3.png" Id="Re4e8ea81b72b42df" /><Relationship Type="http://schemas.openxmlformats.org/officeDocument/2006/relationships/image" Target="/ppt/media/image2.svg" Id="Rb7522e7ea6d442f4" /><Relationship Type="http://schemas.openxmlformats.org/officeDocument/2006/relationships/hyperlink" Target="https://github.com/basithladdu/healthathon" TargetMode="External" Id="R455722069ea240d8" /><Relationship Type="http://schemas.openxmlformats.org/officeDocument/2006/relationships/image" Target="/ppt/media/image4.png" Id="R3a23679f1f0740c6" /><Relationship Type="http://schemas.openxmlformats.org/officeDocument/2006/relationships/image" Target="/ppt/media/image3.svg" Id="Ra99c7f4e6cf94a2e" /><Relationship Type="http://schemas.openxmlformats.org/officeDocument/2006/relationships/hyperlink" Target="https://wa.me/919553321211" TargetMode="External" Id="R4c757e0671ab414e" /><Relationship Type="http://schemas.openxmlformats.org/officeDocument/2006/relationships/image" Target="/ppt/media/image.jpeg" Id="R2c56620156ad4a7a" /><Relationship Type="http://schemas.openxmlformats.org/officeDocument/2006/relationships/image" Target="/ppt/media/image2.jpeg" Id="R96e112d321074612" /><Relationship Type="http://schemas.openxmlformats.org/officeDocument/2006/relationships/notesSlide" Target="/ppt/notesSlides/notesSlide1.xml" Id="R948a3422363348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ff9370135514a0a" /><Relationship Type="http://schemas.openxmlformats.org/officeDocument/2006/relationships/image" Target="/ppt/media/image3.jpeg" Id="R54eef72e0d364b10" /><Relationship Type="http://schemas.openxmlformats.org/officeDocument/2006/relationships/notesSlide" Target="/ppt/notesSlides/notesSlide2.xml" Id="R5d4a939e1ef94e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884d400d27a484f" /><Relationship Type="http://schemas.openxmlformats.org/officeDocument/2006/relationships/chart" Target="/ppt/slides/charts/chart1.xml" Id="R12ce4af4dc864d08" /><Relationship Type="http://schemas.openxmlformats.org/officeDocument/2006/relationships/notesSlide" Target="/ppt/notesSlides/notesSlide3.xml" Id="Rc5690ef1aefd42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0b7f69792244f4d" /><Relationship Type="http://schemas.openxmlformats.org/officeDocument/2006/relationships/image" Target="/ppt/media/image4.jpeg" Id="R7c6268f1f2484423" /><Relationship Type="http://schemas.openxmlformats.org/officeDocument/2006/relationships/image" Target="/ppt/media/image5.png" Id="R281032128a254341" /><Relationship Type="http://schemas.openxmlformats.org/officeDocument/2006/relationships/hyperlink" Target="https://continuity-loop-healthathon.vercel.app/" TargetMode="External" Id="Rfb357dd75a2f4ead" /><Relationship Type="http://schemas.openxmlformats.org/officeDocument/2006/relationships/notesSlide" Target="/ppt/notesSlides/notesSlide4.xml" Id="Rf4629eedd6a94e9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84fa7ea98d34daf" /><Relationship Type="http://schemas.openxmlformats.org/officeDocument/2006/relationships/image" Target="/ppt/media/image5.jpeg" Id="Ra05aa25ad0c447ea" /><Relationship Type="http://schemas.openxmlformats.org/officeDocument/2006/relationships/notesSlide" Target="/ppt/notesSlides/notesSlide5.xml" Id="Rc5fe6e53be2642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8d07eb36e7b4d1b" /><Relationship Type="http://schemas.openxmlformats.org/officeDocument/2006/relationships/image" Target="/ppt/media/image6.jpeg" Id="R17f670fc9207493f" /><Relationship Type="http://schemas.openxmlformats.org/officeDocument/2006/relationships/notesSlide" Target="/ppt/notesSlides/notesSlide6.xml" Id="R335b9043525449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3495bbb76444bc" /><Relationship Type="http://schemas.openxmlformats.org/officeDocument/2006/relationships/notesSlide" Target="/ppt/notesSlides/notesSlide7.xml" Id="R623b8e9c3d9b43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47e0a81045c42ab" /><Relationship Type="http://schemas.openxmlformats.org/officeDocument/2006/relationships/hyperlink" Target="https://gco.iarc.who.int/media/globocan/factsheets/populations/356-india-fact-sheet.pdf" TargetMode="External" Id="R9c0b3795f9324582" /><Relationship Type="http://schemas.openxmlformats.org/officeDocument/2006/relationships/hyperlink" Target="https://gco.iarc.who.int/media/globocan/factsheets/populations/356-india-fact-sheet.pdf" TargetMode="External" Id="Rc444a104f1d54599" /><Relationship Type="http://schemas.openxmlformats.org/officeDocument/2006/relationships/hyperlink" Target="https://doi.org/10.1136/spcare-2024-004978" TargetMode="External" Id="R86f2f78f1a9e4390" /><Relationship Type="http://schemas.openxmlformats.org/officeDocument/2006/relationships/hyperlink" Target="https://doi.org/10.1136/spcare-2024-004978" TargetMode="External" Id="R2356ca72a3e14a20" /><Relationship Type="http://schemas.openxmlformats.org/officeDocument/2006/relationships/hyperlink" Target="https://doi.org/10.1016/j.jpainsymman.2024.02.030" TargetMode="External" Id="R4983d2b2f37549eb" /><Relationship Type="http://schemas.openxmlformats.org/officeDocument/2006/relationships/hyperlink" Target="https://doi.org/10.1016/j.jpainsymman.2024.02.030" TargetMode="External" Id="R990b1ad12afc4278" /><Relationship Type="http://schemas.openxmlformats.org/officeDocument/2006/relationships/hyperlink" Target="https://doi.org/10.1177/26892820251392545" TargetMode="External" Id="Rbe3907f855df4c8a" /><Relationship Type="http://schemas.openxmlformats.org/officeDocument/2006/relationships/hyperlink" Target="https://doi.org/10.1177/26892820251392545" TargetMode="External" Id="R9ec406ca5c534aae" /><Relationship Type="http://schemas.openxmlformats.org/officeDocument/2006/relationships/hyperlink" Target="https://scroll.in/article/925875/73-urban-indians-do-not-know-about-their-right-to-make-a-living-will-finds-a-survey" TargetMode="External" Id="R6b4b27e1731b415a" /><Relationship Type="http://schemas.openxmlformats.org/officeDocument/2006/relationships/hyperlink" Target="https://scroll.in/article/925875/73-urban-indians-do-not-know-about-their-right-to-make-a-living-will-finds-a-survey" TargetMode="External" Id="R8aeebce7de414a50" /><Relationship Type="http://schemas.openxmlformats.org/officeDocument/2006/relationships/hyperlink" Target="https://doi.org/10.25259/NMJI_817_2023" TargetMode="External" Id="Rb598e7e6dd214a85" /><Relationship Type="http://schemas.openxmlformats.org/officeDocument/2006/relationships/hyperlink" Target="https://doi.org/10.25259/NMJI_817_2023" TargetMode="External" Id="R0ff70d8e0ad64a76" /><Relationship Type="http://schemas.openxmlformats.org/officeDocument/2006/relationships/hyperlink" Target="https://doi.org/10.1101/2025.10.17.25338242" TargetMode="External" Id="Rae25742643cc4bc9" /><Relationship Type="http://schemas.openxmlformats.org/officeDocument/2006/relationships/hyperlink" Target="https://doi.org/10.1101/2025.10.17.25338242" TargetMode="External" Id="Re0b4745ef01944e9" /><Relationship Type="http://schemas.openxmlformats.org/officeDocument/2006/relationships/hyperlink" Target="https://doi.org/10.1634/theoncologist.2013-0435" TargetMode="External" Id="R0445e9bb9a2c42e8" /><Relationship Type="http://schemas.openxmlformats.org/officeDocument/2006/relationships/hyperlink" Target="https://doi.org/10.1634/theoncologist.2013-0435" TargetMode="External" Id="Reaaa0c250d4c4249" /><Relationship Type="http://schemas.openxmlformats.org/officeDocument/2006/relationships/hyperlink" Target="https://doi.org/10.1200/JCO.2012.46.2101" TargetMode="External" Id="R6ace8546b74743c7" /><Relationship Type="http://schemas.openxmlformats.org/officeDocument/2006/relationships/hyperlink" Target="https://doi.org/10.1200/JCO.2012.46.2101" TargetMode="External" Id="Rcd438b3b31794942" /><Relationship Type="http://schemas.openxmlformats.org/officeDocument/2006/relationships/notesSlide" Target="/ppt/notesSlides/notesSlide8.xml" Id="Raf15ef90aae34cd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Documented conversations</c:v>
          </c:tx>
          <c:spPr>
            <a:solidFill xmlns:a="http://schemas.openxmlformats.org/drawingml/2006/main">
              <a:srgbClr val="173F33"/>
            </a:solidFill>
          </c:spPr>
          <c:dPt>
            <c:idx val="0"/>
            <c:invertIfNegative val="0"/>
            <c:spPr>
              <a:solidFill xmlns:a="http://schemas.openxmlformats.org/drawingml/2006/main">
                <a:srgbClr val="B75E43"/>
              </a:solidFill>
            </c:spPr>
          </c:dPt>
          <c:dPt>
            <c:idx val="1"/>
            <c:invertIfNegative val="0"/>
            <c:spPr>
              <a:solidFill xmlns:a="http://schemas.openxmlformats.org/drawingml/2006/main">
                <a:srgbClr val="173F33"/>
              </a:solidFill>
            </c:spPr>
          </c:dPt>
          <c:cat>
            <c:strRef>
              <c:f>'Chart Data'!$A$2:$A$3</c:f>
              <c:strCache>
                <c:ptCount val="2"/>
                <c:pt idx="0">
                  <c:v>Before</c:v>
                </c:pt>
                <c:pt idx="1">
                  <c:v>After</c:v>
                </c:pt>
              </c:strCache>
            </c:strRef>
          </c:cat>
          <c:val>
            <c:numRef>
              <c:f>'Chart Data'!$B$2:$B$3</c:f>
              <c:numCache>
                <c:formatCode>0"%"</c:formatCode>
                <c:ptCount val="2"/>
                <c:pt idx="0">
                  <c:v>0</c:v>
                </c:pt>
                <c:pt idx="1">
                  <c:v>92</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73F33"/>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nextTo"/>
        <c:spPr>
          <a:ln xmlns:a="http://schemas.openxmlformats.org/drawingml/2006/main" w="9525">
            <a:solidFill>
              <a:srgbClr val="D9D4C7"/>
            </a:solidFill>
          </a:ln>
        </c:spPr>
        <c:txPr>
          <a:bodyPr xmlns:a="http://schemas.openxmlformats.org/drawingml/2006/main" anchorCtr="1"/>
          <a:lstStyle xmlns:a="http://schemas.openxmlformats.org/drawingml/2006/main"/>
          <a:p xmlns:a="http://schemas.openxmlformats.org/drawingml/2006/main">
            <a:pPr>
              <a:defRPr sz="1275">
                <a:solidFill>
                  <a:srgbClr val="173F33"/>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DD9CF"/>
              </a:solidFill>
              <a:prstDash val="solid"/>
            </a:ln>
          </c:spPr>
        </c:majorGridlines>
        <c:numFmt formatCode="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050">
                <a:solidFill>
                  <a:srgbClr val="53655C"/>
                </a:solidFill>
                <a:latin typeface="Arial"/>
                <a:ea typeface="Arial"/>
                <a:cs typeface="Arial"/>
              </a:defRPr>
            </a:pPr>
          </a:p>
        </c:txPr>
        <c:crossAx val="48650112"/>
        <c:crossBetween val="between"/>
        <c:majorUnit val="2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6E5"/>
        </a:solidFill>
      </p:bgPr>
    </p:bg>
    <p:spTree>
      <p:nvGrpSpPr>
        <p:cNvPr id="1" name=""/>
        <p:cNvGrpSpPr/>
        <p:nvPr/>
      </p:nvGrpSpPr>
      <p:grpSpPr>
        <a:xfrm xmlns:a="http://schemas.openxmlformats.org/drawingml/2006/main"/>
      </p:grpSpPr>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a8efb29f45bc4914">
            <a:extLst>
              <a:ext uri="{96DAC541-7B7A-43D3-8B79-37D633B846F1}">
                <asvg:svgBlip xmlns:asvg="http://schemas.microsoft.com/office/drawing/2016/SVG/main" r:embed="Redcc9d7694114567"/>
              </a:ext>
            </a:extLst>
          </a:blip>
          <a:stretch xmlns:a="http://schemas.openxmlformats.org/drawingml/2006/main"/>
        </p:blipFill>
        <p:spPr>
          <a:xfrm xmlns:a="http://schemas.openxmlformats.org/drawingml/2006/main">
            <a:off x="533400" y="485775"/>
            <a:ext cx="828675" cy="828675"/>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FEC49AA1-6B71-45E9-ADFE-C4AF67548882}"/>
              </a:ext>
            </a:extLst>
          </p:cNvPr>
          <p:cNvSpPr>
            <a:spLocks xmlns:a="http://schemas.openxmlformats.org/drawingml/2006/main" noGrp="1"/>
          </p:cNvSpPr>
          <p:nvPr/>
        </p:nvSpPr>
        <p:spPr>
          <a:xfrm xmlns:a="http://schemas.openxmlformats.org/drawingml/2006/main">
            <a:off x="1581150" y="381000"/>
            <a:ext cx="30194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5775" b="1">
                <a:solidFill>
                  <a:srgbClr val="173F33"/>
                </a:solidFill>
                <a:latin typeface="Arial"/>
                <a:ea typeface="Arial"/>
                <a:cs typeface="Arial"/>
              </a:defRPr>
            </a:pPr>
            <a:r>
              <a:rPr sz="5775" b="1">
                <a:solidFill>
                  <a:srgbClr val="173F33"/>
                </a:solidFill>
                <a:latin typeface="Arial"/>
                <a:ea typeface="Arial"/>
                <a:cs typeface="Arial"/>
              </a:rPr>
              <a:t>Saath</a:t>
            </a:r>
          </a:p>
        </p:txBody>
      </p:sp>
      <p:sp>
        <p:nvSpPr>
          <p:cNvPr id="3" name="Hindi name">
            <a:extLst xmlns:a="http://schemas.openxmlformats.org/drawingml/2006/main">
              <a:ext uri="{FF2B5EF4-FFF2-40B4-BE49-F238E27FC236}">
                <a16:creationId xmlns:a16="http://schemas.microsoft.com/office/drawing/2014/main" id="{1FC480CA-5C75-4ABA-B352-375D34A5F5DF}"/>
              </a:ext>
            </a:extLst>
          </p:cNvPr>
          <p:cNvSpPr>
            <a:spLocks xmlns:a="http://schemas.openxmlformats.org/drawingml/2006/main" noGrp="1"/>
          </p:cNvSpPr>
          <p:nvPr/>
        </p:nvSpPr>
        <p:spPr>
          <a:xfrm xmlns:a="http://schemas.openxmlformats.org/drawingml/2006/main">
            <a:off x="4867275" y="504825"/>
            <a:ext cx="2162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425" b="1">
                <a:solidFill>
                  <a:srgbClr val="173F33"/>
                </a:solidFill>
                <a:latin typeface="Nirmala UI"/>
                <a:ea typeface="Nirmala UI"/>
                <a:cs typeface="Nirmala UI"/>
              </a:defRPr>
            </a:pPr>
            <a:r>
              <a:rPr sz="4425" b="1">
                <a:solidFill>
                  <a:srgbClr val="173F33"/>
                </a:solidFill>
                <a:latin typeface="Nirmala UI"/>
                <a:ea typeface="Nirmala UI"/>
                <a:cs typeface="Nirmala UI"/>
              </a:rPr>
              <a:t>साथ</a:t>
            </a:r>
          </a:p>
        </p:txBody>
      </p:sp>
      <p:sp>
        <p:nvSpPr>
          <p:cNvPr id="4" name="Name meaning">
            <a:extLst xmlns:a="http://schemas.openxmlformats.org/drawingml/2006/main">
              <a:ext uri="{FF2B5EF4-FFF2-40B4-BE49-F238E27FC236}">
                <a16:creationId xmlns:a16="http://schemas.microsoft.com/office/drawing/2014/main" id="{1549843F-901C-4B58-B125-A14A17390652}"/>
              </a:ext>
            </a:extLst>
          </p:cNvPr>
          <p:cNvSpPr>
            <a:spLocks xmlns:a="http://schemas.openxmlformats.org/drawingml/2006/main" noGrp="1"/>
          </p:cNvSpPr>
          <p:nvPr/>
        </p:nvSpPr>
        <p:spPr>
          <a:xfrm xmlns:a="http://schemas.openxmlformats.org/drawingml/2006/main">
            <a:off x="7362825" y="695325"/>
            <a:ext cx="4295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400" b="0">
                <a:solidFill>
                  <a:srgbClr val="B75E43"/>
                </a:solidFill>
                <a:latin typeface="Arial"/>
                <a:ea typeface="Arial"/>
                <a:cs typeface="Arial"/>
              </a:defRPr>
            </a:pPr>
            <a:r>
              <a:rPr sz="2400" b="0">
                <a:solidFill>
                  <a:srgbClr val="B75E43"/>
                </a:solidFill>
                <a:latin typeface="Arial"/>
                <a:ea typeface="Arial"/>
                <a:cs typeface="Arial"/>
              </a:rPr>
              <a:t>Together</a:t>
            </a:r>
          </a:p>
        </p:txBody>
      </p:sp>
      <p:sp>
        <p:nvSpPr>
          <p:cNvPr id="5" name="Purpose">
            <a:extLst xmlns:a="http://schemas.openxmlformats.org/drawingml/2006/main">
              <a:ext uri="{FF2B5EF4-FFF2-40B4-BE49-F238E27FC236}">
                <a16:creationId xmlns:a16="http://schemas.microsoft.com/office/drawing/2014/main" id="{1331820E-60B0-4272-9403-8BBA158166D7}"/>
              </a:ext>
            </a:extLst>
          </p:cNvPr>
          <p:cNvSpPr>
            <a:spLocks xmlns:a="http://schemas.openxmlformats.org/drawingml/2006/main" noGrp="1"/>
          </p:cNvSpPr>
          <p:nvPr/>
        </p:nvSpPr>
        <p:spPr>
          <a:xfrm xmlns:a="http://schemas.openxmlformats.org/drawingml/2006/main">
            <a:off x="533400" y="16192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400" b="1">
                <a:solidFill>
                  <a:srgbClr val="173F33"/>
                </a:solidFill>
                <a:latin typeface="Arial"/>
                <a:ea typeface="Arial"/>
                <a:cs typeface="Arial"/>
              </a:defRPr>
            </a:pPr>
            <a:r>
              <a:rPr sz="2400" b="1">
                <a:solidFill>
                  <a:srgbClr val="173F33"/>
                </a:solidFill>
                <a:latin typeface="Arial"/>
                <a:ea typeface="Arial"/>
                <a:cs typeface="Arial"/>
              </a:rPr>
              <a:t>A shared Care Note for cancer patients and their families.</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681b3afc36a946d7"/>
          <a:stretch xmlns:a="http://schemas.openxmlformats.org/drawingml/2006/main"/>
        </p:blipFill>
        <p:spPr>
          <a:xfrm xmlns:a="http://schemas.openxmlformats.org/drawingml/2006/main">
            <a:off x="533400" y="2619375"/>
            <a:ext cx="1219200" cy="1219200"/>
          </a:xfrm>
          <a:prstGeom xmlns:a="http://schemas.openxmlformats.org/drawingml/2006/main" prst="rect">
            <a:avLst/>
          </a:prstGeom>
        </p:spPr>
      </p:pic>
      <p:sp>
        <p:nvSpPr>
          <p:cNvPr id="7" name="App call to action">
            <a:extLst xmlns:a="http://schemas.openxmlformats.org/drawingml/2006/main">
              <a:ext uri="{FF2B5EF4-FFF2-40B4-BE49-F238E27FC236}">
                <a16:creationId xmlns:a16="http://schemas.microsoft.com/office/drawing/2014/main" id="{1781062A-D043-4990-8C30-6254911759ED}"/>
              </a:ext>
            </a:extLst>
          </p:cNvPr>
          <p:cNvSpPr>
            <a:spLocks xmlns:a="http://schemas.openxmlformats.org/drawingml/2006/main" noGrp="1"/>
          </p:cNvSpPr>
          <p:nvPr/>
        </p:nvSpPr>
        <p:spPr>
          <a:xfrm xmlns:a="http://schemas.openxmlformats.org/drawingml/2006/main">
            <a:off x="2124075" y="2552700"/>
            <a:ext cx="95345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53655C"/>
                </a:solidFill>
                <a:latin typeface="Arial"/>
                <a:ea typeface="Arial"/>
                <a:cs typeface="Arial"/>
              </a:defRPr>
            </a:pPr>
            <a:r>
              <a:rPr sz="1575" b="0">
                <a:solidFill>
                  <a:srgbClr val="53655C"/>
                </a:solidFill>
                <a:latin typeface="Arial"/>
                <a:ea typeface="Arial"/>
                <a:cs typeface="Arial"/>
              </a:rPr>
              <a:t>Open the app</a:t>
            </a:r>
          </a:p>
        </p:txBody>
      </p:sp>
      <p:sp>
        <p:nvSpPr>
          <p:cNvPr id="8" name="Prototype address">
            <a:extLst xmlns:a="http://schemas.openxmlformats.org/drawingml/2006/main">
              <a:ext uri="{FF2B5EF4-FFF2-40B4-BE49-F238E27FC236}">
                <a16:creationId xmlns:a16="http://schemas.microsoft.com/office/drawing/2014/main" id="{61425250-B5DC-4AAE-BAA2-D276C87E1113}"/>
              </a:ext>
            </a:extLst>
          </p:cNvPr>
          <p:cNvSpPr>
            <a:spLocks xmlns:a="http://schemas.openxmlformats.org/drawingml/2006/main" noGrp="1"/>
          </p:cNvSpPr>
          <p:nvPr/>
        </p:nvSpPr>
        <p:spPr>
          <a:xfrm xmlns:a="http://schemas.openxmlformats.org/drawingml/2006/main">
            <a:off x="2124075" y="3019425"/>
            <a:ext cx="95345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225" b="1">
                <a:solidFill>
                  <a:srgbClr val="145AC6"/>
                </a:solidFill>
                <a:latin typeface="Arial"/>
                <a:ea typeface="Arial"/>
                <a:cs typeface="Arial"/>
              </a:defRPr>
            </a:pPr>
            <a:r>
              <a:rPr sz="3225" b="1" u="sng">
                <a:solidFill>
                  <a:srgbClr val="145AC6"/>
                </a:solidFill>
                <a:latin typeface="Arial"/>
                <a:ea typeface="Arial"/>
                <a:cs typeface="Arial"/>
                <a:hlinkClick xmlns:r="http://schemas.openxmlformats.org/officeDocument/2006/relationships" r:id="R013ba49d1eda4494"/>
              </a:rPr>
              <a:t>continuity-loop-healthathon.vercel.app</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e4e8ea81b72b42df">
            <a:extLst>
              <a:ext uri="{96DAC541-7B7A-43D3-8B79-37D633B846F1}">
                <asvg:svgBlip xmlns:asvg="http://schemas.microsoft.com/office/drawing/2016/SVG/main" r:embed="Rb7522e7ea6d442f4"/>
              </a:ext>
            </a:extLst>
          </a:blip>
          <a:stretch xmlns:a="http://schemas.openxmlformats.org/drawingml/2006/main"/>
        </p:blipFill>
        <p:spPr>
          <a:xfrm xmlns:a="http://schemas.openxmlformats.org/drawingml/2006/main">
            <a:off x="533400" y="4257675"/>
            <a:ext cx="285750" cy="285750"/>
          </a:xfrm>
          <a:prstGeom xmlns:a="http://schemas.openxmlformats.org/drawingml/2006/main" prst="rect">
            <a:avLst/>
          </a:prstGeom>
        </p:spPr>
      </p:pic>
      <p:sp>
        <p:nvSpPr>
          <p:cNvPr id="10" name="Repository link">
            <a:extLst xmlns:a="http://schemas.openxmlformats.org/drawingml/2006/main">
              <a:ext uri="{FF2B5EF4-FFF2-40B4-BE49-F238E27FC236}">
                <a16:creationId xmlns:a16="http://schemas.microsoft.com/office/drawing/2014/main" id="{80797462-1D7B-4052-8958-094459826878}"/>
              </a:ext>
            </a:extLst>
          </p:cNvPr>
          <p:cNvSpPr>
            <a:spLocks xmlns:a="http://schemas.openxmlformats.org/drawingml/2006/main" noGrp="1"/>
          </p:cNvSpPr>
          <p:nvPr/>
        </p:nvSpPr>
        <p:spPr>
          <a:xfrm xmlns:a="http://schemas.openxmlformats.org/drawingml/2006/main">
            <a:off x="962025" y="4229100"/>
            <a:ext cx="2143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145AC6"/>
                </a:solidFill>
                <a:latin typeface="Arial"/>
                <a:ea typeface="Arial"/>
                <a:cs typeface="Arial"/>
              </a:defRPr>
            </a:pPr>
            <a:r>
              <a:rPr sz="1725" b="1" u="sng">
                <a:solidFill>
                  <a:srgbClr val="145AC6"/>
                </a:solidFill>
                <a:latin typeface="Arial"/>
                <a:ea typeface="Arial"/>
                <a:cs typeface="Arial"/>
                <a:hlinkClick xmlns:r="http://schemas.openxmlformats.org/officeDocument/2006/relationships" r:id="R455722069ea240d8"/>
              </a:rPr>
              <a:t>GitHub</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3a23679f1f0740c6">
            <a:extLst>
              <a:ext uri="{96DAC541-7B7A-43D3-8B79-37D633B846F1}">
                <asvg:svgBlip xmlns:asvg="http://schemas.microsoft.com/office/drawing/2016/SVG/main" r:embed="Ra99c7f4e6cf94a2e"/>
              </a:ext>
            </a:extLst>
          </a:blip>
          <a:stretch xmlns:a="http://schemas.openxmlformats.org/drawingml/2006/main"/>
        </p:blipFill>
        <p:spPr>
          <a:xfrm xmlns:a="http://schemas.openxmlformats.org/drawingml/2006/main">
            <a:off x="5038725" y="4257675"/>
            <a:ext cx="285750" cy="285750"/>
          </a:xfrm>
          <a:prstGeom xmlns:a="http://schemas.openxmlformats.org/drawingml/2006/main" prst="rect">
            <a:avLst/>
          </a:prstGeom>
        </p:spPr>
      </p:pic>
      <p:sp>
        <p:nvSpPr>
          <p:cNvPr id="12" name="Access contact">
            <a:extLst xmlns:a="http://schemas.openxmlformats.org/drawingml/2006/main">
              <a:ext uri="{FF2B5EF4-FFF2-40B4-BE49-F238E27FC236}">
                <a16:creationId xmlns:a16="http://schemas.microsoft.com/office/drawing/2014/main" id="{BA18F182-89B9-4D13-81B1-36845732069F}"/>
              </a:ext>
            </a:extLst>
          </p:cNvPr>
          <p:cNvSpPr>
            <a:spLocks xmlns:a="http://schemas.openxmlformats.org/drawingml/2006/main" noGrp="1"/>
          </p:cNvSpPr>
          <p:nvPr/>
        </p:nvSpPr>
        <p:spPr>
          <a:xfrm xmlns:a="http://schemas.openxmlformats.org/drawingml/2006/main">
            <a:off x="5467350" y="422910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128C4A"/>
                </a:solidFill>
                <a:latin typeface="Arial"/>
                <a:ea typeface="Arial"/>
                <a:cs typeface="Arial"/>
              </a:defRPr>
            </a:pPr>
            <a:r>
              <a:rPr sz="1725" b="1" u="sng">
                <a:solidFill>
                  <a:srgbClr val="128C4A"/>
                </a:solidFill>
                <a:latin typeface="Arial"/>
                <a:ea typeface="Arial"/>
                <a:cs typeface="Arial"/>
                <a:hlinkClick xmlns:r="http://schemas.openxmlformats.org/officeDocument/2006/relationships" r:id="R4c757e0671ab414e"/>
              </a:rPr>
              <a:t>For access, contact us on WhatsApp</a:t>
            </a:r>
          </a:p>
        </p:txBody>
      </p:sp>
      <p:sp>
        <p:nvSpPr>
          <p:cNvPr id="13" name="">
            <a:extLst xmlns:a="http://schemas.openxmlformats.org/drawingml/2006/main">
              <a:ext uri="{FF2B5EF4-FFF2-40B4-BE49-F238E27FC236}">
                <a16:creationId xmlns:a16="http://schemas.microsoft.com/office/drawing/2014/main" id="{FC3F7C14-6335-4142-B7F5-714C2F6CD180}"/>
              </a:ext>
            </a:extLst>
          </p:cNvPr>
          <p:cNvSpPr>
            <a:spLocks xmlns:a="http://schemas.openxmlformats.org/drawingml/2006/main" noGrp="1"/>
          </p:cNvSpPr>
          <p:nvPr/>
        </p:nvSpPr>
        <p:spPr>
          <a:xfrm xmlns:a="http://schemas.openxmlformats.org/drawingml/2006/main">
            <a:off x="533400" y="4857750"/>
            <a:ext cx="11125200" cy="0"/>
          </a:xfrm>
          <a:prstGeom xmlns:a="http://schemas.openxmlformats.org/drawingml/2006/main" prst="line">
            <a:avLst/>
          </a:prstGeom>
          <a:ln xmlns:a="http://schemas.openxmlformats.org/drawingml/2006/main" w="9525">
            <a:solidFill>
              <a:srgbClr val="D9D4C7"/>
            </a:solidFill>
          </a:ln>
        </p:spPr>
      </p:sp>
      <p:sp>
        <p:nvSpPr>
          <p:cNvPr id="14" name="Team heading">
            <a:extLst xmlns:a="http://schemas.openxmlformats.org/drawingml/2006/main">
              <a:ext uri="{FF2B5EF4-FFF2-40B4-BE49-F238E27FC236}">
                <a16:creationId xmlns:a16="http://schemas.microsoft.com/office/drawing/2014/main" id="{17D742B3-02D8-4ED6-BE71-27F601A18E9E}"/>
              </a:ext>
            </a:extLst>
          </p:cNvPr>
          <p:cNvSpPr>
            <a:spLocks xmlns:a="http://schemas.openxmlformats.org/drawingml/2006/main" noGrp="1"/>
          </p:cNvSpPr>
          <p:nvPr/>
        </p:nvSpPr>
        <p:spPr>
          <a:xfrm xmlns:a="http://schemas.openxmlformats.org/drawingml/2006/main">
            <a:off x="533400" y="505777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00" b="0">
                <a:solidFill>
                  <a:srgbClr val="53655C"/>
                </a:solidFill>
                <a:latin typeface="Arial"/>
                <a:ea typeface="Arial"/>
                <a:cs typeface="Arial"/>
              </a:defRPr>
            </a:pPr>
            <a:r>
              <a:rPr sz="1500" b="0">
                <a:solidFill>
                  <a:srgbClr val="53655C"/>
                </a:solidFill>
                <a:latin typeface="Arial"/>
                <a:ea typeface="Arial"/>
                <a:cs typeface="Arial"/>
              </a:rPr>
              <a:t>By Zeros and Ones</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2c56620156ad4a7a"/>
          <a:srcRect xmlns:a="http://schemas.openxmlformats.org/drawingml/2006/main" l="0" t="5331" r="0" b="5331"/>
          <a:stretch xmlns:a="http://schemas.openxmlformats.org/drawingml/2006/main">
            <a:fillRect l="0" t="0" r="0" b="0"/>
          </a:stretch>
        </p:blipFill>
        <p:spPr>
          <a:xfrm xmlns:a="http://schemas.openxmlformats.org/drawingml/2006/main">
            <a:off x="533400" y="5495925"/>
            <a:ext cx="647700" cy="771525"/>
          </a:xfrm>
          <a:prstGeom xmlns:a="http://schemas.openxmlformats.org/drawingml/2006/main" prst="rect">
            <a:avLst/>
          </a:prstGeom>
        </p:spPr>
      </p:pic>
      <p:sp>
        <p:nvSpPr>
          <p:cNvPr id="16" name="Team member 1">
            <a:extLst xmlns:a="http://schemas.openxmlformats.org/drawingml/2006/main">
              <a:ext uri="{FF2B5EF4-FFF2-40B4-BE49-F238E27FC236}">
                <a16:creationId xmlns:a16="http://schemas.microsoft.com/office/drawing/2014/main" id="{600437D5-66A4-4CA0-93DD-CA23AD2B1B60}"/>
              </a:ext>
            </a:extLst>
          </p:cNvPr>
          <p:cNvSpPr>
            <a:spLocks xmlns:a="http://schemas.openxmlformats.org/drawingml/2006/main" noGrp="1"/>
          </p:cNvSpPr>
          <p:nvPr/>
        </p:nvSpPr>
        <p:spPr>
          <a:xfrm xmlns:a="http://schemas.openxmlformats.org/drawingml/2006/main">
            <a:off x="12858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Shaik Abdul</a:t>
            </a:r>
          </a:p>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Basith</a:t>
            </a:r>
          </a:p>
        </p:txBody>
      </p:sp>
      <p:sp>
        <p:nvSpPr>
          <p:cNvPr id="17" name="Team role 1">
            <a:extLst xmlns:a="http://schemas.openxmlformats.org/drawingml/2006/main">
              <a:ext uri="{FF2B5EF4-FFF2-40B4-BE49-F238E27FC236}">
                <a16:creationId xmlns:a16="http://schemas.microsoft.com/office/drawing/2014/main" id="{39C066D2-6008-4532-AE24-1556A6BA796C}"/>
              </a:ext>
            </a:extLst>
          </p:cNvPr>
          <p:cNvSpPr>
            <a:spLocks xmlns:a="http://schemas.openxmlformats.org/drawingml/2006/main" noGrp="1"/>
          </p:cNvSpPr>
          <p:nvPr/>
        </p:nvSpPr>
        <p:spPr>
          <a:xfrm xmlns:a="http://schemas.openxmlformats.org/drawingml/2006/main">
            <a:off x="12858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Technical lead</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96e112d321074612"/>
          <a:srcRect xmlns:a="http://schemas.openxmlformats.org/drawingml/2006/main" l="0" t="19104" r="0" b="19104"/>
          <a:stretch xmlns:a="http://schemas.openxmlformats.org/drawingml/2006/main">
            <a:fillRect l="0" t="0" r="0" b="0"/>
          </a:stretch>
        </p:blipFill>
        <p:spPr>
          <a:xfrm xmlns:a="http://schemas.openxmlformats.org/drawingml/2006/main">
            <a:off x="2781300" y="5495925"/>
            <a:ext cx="647700" cy="771525"/>
          </a:xfrm>
          <a:prstGeom xmlns:a="http://schemas.openxmlformats.org/drawingml/2006/main" prst="rect">
            <a:avLst/>
          </a:prstGeom>
        </p:spPr>
      </p:pic>
      <p:sp>
        <p:nvSpPr>
          <p:cNvPr id="19" name="Team member 2">
            <a:extLst xmlns:a="http://schemas.openxmlformats.org/drawingml/2006/main">
              <a:ext uri="{FF2B5EF4-FFF2-40B4-BE49-F238E27FC236}">
                <a16:creationId xmlns:a16="http://schemas.microsoft.com/office/drawing/2014/main" id="{4BAD6B97-F82A-4EFE-A5DF-916EE4D5DB5F}"/>
              </a:ext>
            </a:extLst>
          </p:cNvPr>
          <p:cNvSpPr>
            <a:spLocks xmlns:a="http://schemas.openxmlformats.org/drawingml/2006/main" noGrp="1"/>
          </p:cNvSpPr>
          <p:nvPr/>
        </p:nvSpPr>
        <p:spPr>
          <a:xfrm xmlns:a="http://schemas.openxmlformats.org/drawingml/2006/main">
            <a:off x="35337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Shaik Muhammad</a:t>
            </a:r>
          </a:p>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Awaiz</a:t>
            </a:r>
          </a:p>
        </p:txBody>
      </p:sp>
      <p:sp>
        <p:nvSpPr>
          <p:cNvPr id="20" name="Team role 2">
            <a:extLst xmlns:a="http://schemas.openxmlformats.org/drawingml/2006/main">
              <a:ext uri="{FF2B5EF4-FFF2-40B4-BE49-F238E27FC236}">
                <a16:creationId xmlns:a16="http://schemas.microsoft.com/office/drawing/2014/main" id="{3A99D63B-8323-46A9-B27E-836D53B0651B}"/>
              </a:ext>
            </a:extLst>
          </p:cNvPr>
          <p:cNvSpPr>
            <a:spLocks xmlns:a="http://schemas.openxmlformats.org/drawingml/2006/main" noGrp="1"/>
          </p:cNvSpPr>
          <p:nvPr/>
        </p:nvSpPr>
        <p:spPr>
          <a:xfrm xmlns:a="http://schemas.openxmlformats.org/drawingml/2006/main">
            <a:off x="35337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Technology</a:t>
            </a:r>
          </a:p>
        </p:txBody>
      </p:sp>
      <p:sp>
        <p:nvSpPr>
          <p:cNvPr id="21" name="Photo space for Dr Sharada&#10;Vinod Kutty">
            <a:extLst xmlns:a="http://schemas.openxmlformats.org/drawingml/2006/main">
              <a:ext uri="{FF2B5EF4-FFF2-40B4-BE49-F238E27FC236}">
                <a16:creationId xmlns:a16="http://schemas.microsoft.com/office/drawing/2014/main" id="{27BCEC51-E579-4584-A025-74D3D43BAC65}"/>
              </a:ext>
            </a:extLst>
          </p:cNvPr>
          <p:cNvSpPr>
            <a:spLocks xmlns:a="http://schemas.openxmlformats.org/drawingml/2006/main" noGrp="1"/>
          </p:cNvSpPr>
          <p:nvPr/>
        </p:nvSpPr>
        <p:spPr>
          <a:xfrm xmlns:a="http://schemas.openxmlformats.org/drawingml/2006/main">
            <a:off x="5029200" y="5495925"/>
            <a:ext cx="647700" cy="771525"/>
          </a:xfrm>
          <a:prstGeom xmlns:a="http://schemas.openxmlformats.org/drawingml/2006/main" prst="rect">
            <a:avLst/>
          </a:prstGeom>
          <a:solidFill xmlns:a="http://schemas.openxmlformats.org/drawingml/2006/main">
            <a:srgbClr val="F0ECE2"/>
          </a:solidFill>
          <a:ln xmlns:a="http://schemas.openxmlformats.org/drawingml/2006/main" w="9525">
            <a:solidFill>
              <a:srgbClr val="D9D4C7"/>
            </a:solidFill>
          </a:ln>
        </p:spPr>
      </p:sp>
      <p:sp>
        <p:nvSpPr>
          <p:cNvPr id="22" name="Team member 3">
            <a:extLst xmlns:a="http://schemas.openxmlformats.org/drawingml/2006/main">
              <a:ext uri="{FF2B5EF4-FFF2-40B4-BE49-F238E27FC236}">
                <a16:creationId xmlns:a16="http://schemas.microsoft.com/office/drawing/2014/main" id="{34D47653-854B-43BE-98E1-C463B5E84664}"/>
              </a:ext>
            </a:extLst>
          </p:cNvPr>
          <p:cNvSpPr>
            <a:spLocks xmlns:a="http://schemas.openxmlformats.org/drawingml/2006/main" noGrp="1"/>
          </p:cNvSpPr>
          <p:nvPr/>
        </p:nvSpPr>
        <p:spPr>
          <a:xfrm xmlns:a="http://schemas.openxmlformats.org/drawingml/2006/main">
            <a:off x="57816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Dr Sharada</a:t>
            </a:r>
          </a:p>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Vinod Kutty</a:t>
            </a:r>
          </a:p>
        </p:txBody>
      </p:sp>
      <p:sp>
        <p:nvSpPr>
          <p:cNvPr id="23" name="Team role 3">
            <a:extLst xmlns:a="http://schemas.openxmlformats.org/drawingml/2006/main">
              <a:ext uri="{FF2B5EF4-FFF2-40B4-BE49-F238E27FC236}">
                <a16:creationId xmlns:a16="http://schemas.microsoft.com/office/drawing/2014/main" id="{8C950263-63A0-4F3A-A76B-33B1538973FD}"/>
              </a:ext>
            </a:extLst>
          </p:cNvPr>
          <p:cNvSpPr>
            <a:spLocks xmlns:a="http://schemas.openxmlformats.org/drawingml/2006/main" noGrp="1"/>
          </p:cNvSpPr>
          <p:nvPr/>
        </p:nvSpPr>
        <p:spPr>
          <a:xfrm xmlns:a="http://schemas.openxmlformats.org/drawingml/2006/main">
            <a:off x="57816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Doctor partner</a:t>
            </a:r>
          </a:p>
        </p:txBody>
      </p:sp>
      <p:sp>
        <p:nvSpPr>
          <p:cNvPr id="24" name="Photo space for Dr Sujay&#10;Halkur Shankar">
            <a:extLst xmlns:a="http://schemas.openxmlformats.org/drawingml/2006/main">
              <a:ext uri="{FF2B5EF4-FFF2-40B4-BE49-F238E27FC236}">
                <a16:creationId xmlns:a16="http://schemas.microsoft.com/office/drawing/2014/main" id="{04F69580-7388-4DD1-B22D-10FE8121E615}"/>
              </a:ext>
            </a:extLst>
          </p:cNvPr>
          <p:cNvSpPr>
            <a:spLocks xmlns:a="http://schemas.openxmlformats.org/drawingml/2006/main" noGrp="1"/>
          </p:cNvSpPr>
          <p:nvPr/>
        </p:nvSpPr>
        <p:spPr>
          <a:xfrm xmlns:a="http://schemas.openxmlformats.org/drawingml/2006/main">
            <a:off x="7277100" y="5495925"/>
            <a:ext cx="647700" cy="771525"/>
          </a:xfrm>
          <a:prstGeom xmlns:a="http://schemas.openxmlformats.org/drawingml/2006/main" prst="rect">
            <a:avLst/>
          </a:prstGeom>
          <a:solidFill xmlns:a="http://schemas.openxmlformats.org/drawingml/2006/main">
            <a:srgbClr val="F0ECE2"/>
          </a:solidFill>
          <a:ln xmlns:a="http://schemas.openxmlformats.org/drawingml/2006/main" w="9525">
            <a:solidFill>
              <a:srgbClr val="D9D4C7"/>
            </a:solidFill>
          </a:ln>
        </p:spPr>
      </p:sp>
      <p:sp>
        <p:nvSpPr>
          <p:cNvPr id="25" name="Team member 4">
            <a:extLst xmlns:a="http://schemas.openxmlformats.org/drawingml/2006/main">
              <a:ext uri="{FF2B5EF4-FFF2-40B4-BE49-F238E27FC236}">
                <a16:creationId xmlns:a16="http://schemas.microsoft.com/office/drawing/2014/main" id="{3035429B-3234-43ED-A328-620C5A4DD98E}"/>
              </a:ext>
            </a:extLst>
          </p:cNvPr>
          <p:cNvSpPr>
            <a:spLocks xmlns:a="http://schemas.openxmlformats.org/drawingml/2006/main" noGrp="1"/>
          </p:cNvSpPr>
          <p:nvPr/>
        </p:nvSpPr>
        <p:spPr>
          <a:xfrm xmlns:a="http://schemas.openxmlformats.org/drawingml/2006/main">
            <a:off x="80295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Dr Sujay</a:t>
            </a:r>
          </a:p>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Halkur Shankar</a:t>
            </a:r>
          </a:p>
        </p:txBody>
      </p:sp>
      <p:sp>
        <p:nvSpPr>
          <p:cNvPr id="26" name="Team role 4">
            <a:extLst xmlns:a="http://schemas.openxmlformats.org/drawingml/2006/main">
              <a:ext uri="{FF2B5EF4-FFF2-40B4-BE49-F238E27FC236}">
                <a16:creationId xmlns:a16="http://schemas.microsoft.com/office/drawing/2014/main" id="{ADC7581A-828D-4284-B13C-1AE82A7BA96C}"/>
              </a:ext>
            </a:extLst>
          </p:cNvPr>
          <p:cNvSpPr>
            <a:spLocks xmlns:a="http://schemas.openxmlformats.org/drawingml/2006/main" noGrp="1"/>
          </p:cNvSpPr>
          <p:nvPr/>
        </p:nvSpPr>
        <p:spPr>
          <a:xfrm xmlns:a="http://schemas.openxmlformats.org/drawingml/2006/main">
            <a:off x="80295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Clinician</a:t>
            </a:r>
          </a:p>
        </p:txBody>
      </p:sp>
      <p:sp>
        <p:nvSpPr>
          <p:cNvPr id="27" name="Photo space for Shirin Ayub">
            <a:extLst xmlns:a="http://schemas.openxmlformats.org/drawingml/2006/main">
              <a:ext uri="{FF2B5EF4-FFF2-40B4-BE49-F238E27FC236}">
                <a16:creationId xmlns:a16="http://schemas.microsoft.com/office/drawing/2014/main" id="{7D0F8251-7623-44BD-814B-4D7AD7911E4E}"/>
              </a:ext>
            </a:extLst>
          </p:cNvPr>
          <p:cNvSpPr>
            <a:spLocks xmlns:a="http://schemas.openxmlformats.org/drawingml/2006/main" noGrp="1"/>
          </p:cNvSpPr>
          <p:nvPr/>
        </p:nvSpPr>
        <p:spPr>
          <a:xfrm xmlns:a="http://schemas.openxmlformats.org/drawingml/2006/main">
            <a:off x="9525000" y="5495925"/>
            <a:ext cx="647700" cy="771525"/>
          </a:xfrm>
          <a:prstGeom xmlns:a="http://schemas.openxmlformats.org/drawingml/2006/main" prst="rect">
            <a:avLst/>
          </a:prstGeom>
          <a:solidFill xmlns:a="http://schemas.openxmlformats.org/drawingml/2006/main">
            <a:srgbClr val="F0ECE2"/>
          </a:solidFill>
          <a:ln xmlns:a="http://schemas.openxmlformats.org/drawingml/2006/main" w="9525">
            <a:solidFill>
              <a:srgbClr val="D9D4C7"/>
            </a:solidFill>
          </a:ln>
        </p:spPr>
      </p:sp>
      <p:sp>
        <p:nvSpPr>
          <p:cNvPr id="28" name="Team member 5">
            <a:extLst xmlns:a="http://schemas.openxmlformats.org/drawingml/2006/main">
              <a:ext uri="{FF2B5EF4-FFF2-40B4-BE49-F238E27FC236}">
                <a16:creationId xmlns:a16="http://schemas.microsoft.com/office/drawing/2014/main" id="{3FF37702-7799-4ED2-8876-0992FE9F7C5B}"/>
              </a:ext>
            </a:extLst>
          </p:cNvPr>
          <p:cNvSpPr>
            <a:spLocks xmlns:a="http://schemas.openxmlformats.org/drawingml/2006/main" noGrp="1"/>
          </p:cNvSpPr>
          <p:nvPr/>
        </p:nvSpPr>
        <p:spPr>
          <a:xfrm xmlns:a="http://schemas.openxmlformats.org/drawingml/2006/main">
            <a:off x="102774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Shirin Ayub</a:t>
            </a:r>
          </a:p>
        </p:txBody>
      </p:sp>
      <p:sp>
        <p:nvSpPr>
          <p:cNvPr id="29" name="Team role 5">
            <a:extLst xmlns:a="http://schemas.openxmlformats.org/drawingml/2006/main">
              <a:ext uri="{FF2B5EF4-FFF2-40B4-BE49-F238E27FC236}">
                <a16:creationId xmlns:a16="http://schemas.microsoft.com/office/drawing/2014/main" id="{1E402745-9AB1-4E33-AF7B-DF083EA67581}"/>
              </a:ext>
            </a:extLst>
          </p:cNvPr>
          <p:cNvSpPr>
            <a:spLocks xmlns:a="http://schemas.openxmlformats.org/drawingml/2006/main" noGrp="1"/>
          </p:cNvSpPr>
          <p:nvPr/>
        </p:nvSpPr>
        <p:spPr>
          <a:xfrm xmlns:a="http://schemas.openxmlformats.org/drawingml/2006/main">
            <a:off x="102774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Team member</a:t>
            </a:r>
          </a:p>
        </p:txBody>
      </p:sp>
    </p:spTree>
    <p:extLst>
      <p:ext uri="{BB962C8B-B14F-4D97-AF65-F5344CB8AC3E}">
        <p14:creationId xmlns:p14="http://schemas.microsoft.com/office/powerpoint/2010/main" val="1441420215"/>
      </p:ext>
    </p:extLst>
  </p:cSld>
</p:sld>
</file>

<file path=ppt/slides/slide2.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6" name="Slide title">
            <a:extLst xmlns:a="http://schemas.openxmlformats.org/drawingml/2006/main">
              <a:ext uri="{FF2B5EF4-FFF2-40B4-BE49-F238E27FC236}">
                <a16:creationId xmlns:a16="http://schemas.microsoft.com/office/drawing/2014/main" id="{58723E6A-A62E-4143-8157-DE188A9B3071}"/>
              </a:ext>
            </a:extLst>
          </p:cNvPr>
          <p:cNvSpPr>
            <a:spLocks xmlns:a="http://schemas.openxmlformats.org/drawingml/2006/main" noGrp="1"/>
          </p:cNvSpPr>
          <p:nvPr/>
        </p:nvSpPr>
        <p:spPr>
          <a:xfrm xmlns:a="http://schemas.openxmlformats.org/drawingml/2006/main">
            <a:off x="533400" y="3619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75" b="1">
                <a:solidFill>
                  <a:srgbClr val="173F33"/>
                </a:solidFill>
                <a:latin typeface="Arial"/>
                <a:ea typeface="Arial"/>
                <a:cs typeface="Arial"/>
              </a:defRPr>
            </a:pPr>
            <a:r>
              <a:rPr sz="3075" b="1">
                <a:solidFill>
                  <a:srgbClr val="173F33"/>
                </a:solidFill>
                <a:latin typeface="Arial"/>
                <a:ea typeface="Arial"/>
                <a:cs typeface="Arial"/>
              </a:rPr>
              <a:t>When the care conversation gets lost</a:t>
            </a:r>
          </a:p>
        </p:txBody>
      </p:sp>
      <p:sp>
        <p:nvSpPr>
          <p:cNvPr id="2" name="Story number 1">
            <a:extLst xmlns:a="http://schemas.openxmlformats.org/drawingml/2006/main">
              <a:ext uri="{FF2B5EF4-FFF2-40B4-BE49-F238E27FC236}">
                <a16:creationId xmlns:a16="http://schemas.microsoft.com/office/drawing/2014/main" id="{D0C6CA00-9E86-49C3-947C-AAC0AFE49D75}"/>
              </a:ext>
            </a:extLst>
          </p:cNvPr>
          <p:cNvSpPr>
            <a:spLocks xmlns:a="http://schemas.openxmlformats.org/drawingml/2006/main" noGrp="1"/>
          </p:cNvSpPr>
          <p:nvPr/>
        </p:nvSpPr>
        <p:spPr>
          <a:xfrm xmlns:a="http://schemas.openxmlformats.org/drawingml/2006/main">
            <a:off x="533400" y="1323975"/>
            <a:ext cx="495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00" b="1">
                <a:solidFill>
                  <a:srgbClr val="B75E43"/>
                </a:solidFill>
                <a:latin typeface="Arial"/>
                <a:ea typeface="Arial"/>
                <a:cs typeface="Arial"/>
              </a:defRPr>
            </a:pPr>
            <a:r>
              <a:rPr sz="2100" b="1">
                <a:solidFill>
                  <a:srgbClr val="B75E43"/>
                </a:solidFill>
                <a:latin typeface="Arial"/>
                <a:ea typeface="Arial"/>
                <a:cs typeface="Arial"/>
              </a:rPr>
              <a:t>01</a:t>
            </a:r>
          </a:p>
        </p:txBody>
      </p:sp>
      <p:sp>
        <p:nvSpPr>
          <p:cNvPr id="3" name="Story step 1">
            <a:extLst xmlns:a="http://schemas.openxmlformats.org/drawingml/2006/main">
              <a:ext uri="{FF2B5EF4-FFF2-40B4-BE49-F238E27FC236}">
                <a16:creationId xmlns:a16="http://schemas.microsoft.com/office/drawing/2014/main" id="{67A46E15-FAEF-4D32-96D7-9A3C36EBDCB2}"/>
              </a:ext>
            </a:extLst>
          </p:cNvPr>
          <p:cNvSpPr>
            <a:spLocks xmlns:a="http://schemas.openxmlformats.org/drawingml/2006/main" noGrp="1"/>
          </p:cNvSpPr>
          <p:nvPr/>
        </p:nvSpPr>
        <p:spPr>
          <a:xfrm xmlns:a="http://schemas.openxmlformats.org/drawingml/2006/main">
            <a:off x="1200150" y="1323975"/>
            <a:ext cx="5724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950" b="1">
                <a:solidFill>
                  <a:srgbClr val="173F33"/>
                </a:solidFill>
                <a:latin typeface="Arial"/>
                <a:ea typeface="Arial"/>
                <a:cs typeface="Arial"/>
              </a:defRPr>
            </a:pPr>
            <a:r>
              <a:rPr sz="1950" b="1">
                <a:solidFill>
                  <a:srgbClr val="173F33"/>
                </a:solidFill>
                <a:latin typeface="Arial"/>
                <a:ea typeface="Arial"/>
                <a:cs typeface="Arial"/>
              </a:rPr>
              <a:t>At the clinic</a:t>
            </a:r>
          </a:p>
        </p:txBody>
      </p:sp>
      <p:sp>
        <p:nvSpPr>
          <p:cNvPr id="4" name="Story step 1 detail">
            <a:extLst xmlns:a="http://schemas.openxmlformats.org/drawingml/2006/main">
              <a:ext uri="{FF2B5EF4-FFF2-40B4-BE49-F238E27FC236}">
                <a16:creationId xmlns:a16="http://schemas.microsoft.com/office/drawing/2014/main" id="{13F53E88-B4D1-4F6F-9966-640923F5394D}"/>
              </a:ext>
            </a:extLst>
          </p:cNvPr>
          <p:cNvSpPr>
            <a:spLocks xmlns:a="http://schemas.openxmlformats.org/drawingml/2006/main" noGrp="1"/>
          </p:cNvSpPr>
          <p:nvPr/>
        </p:nvSpPr>
        <p:spPr>
          <a:xfrm xmlns:a="http://schemas.openxmlformats.org/drawingml/2006/main">
            <a:off x="1200150" y="1781175"/>
            <a:ext cx="5724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7222"/>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Imagine a 62-year-old woman with advanced breast cancer receiving best supportive care. Her doctor discusses her wishes. Only her husband attends.</a:t>
            </a:r>
          </a:p>
        </p:txBody>
      </p:sp>
      <p:sp>
        <p:nvSpPr>
          <p:cNvPr id="5" name="Story number 2">
            <a:extLst xmlns:a="http://schemas.openxmlformats.org/drawingml/2006/main">
              <a:ext uri="{FF2B5EF4-FFF2-40B4-BE49-F238E27FC236}">
                <a16:creationId xmlns:a16="http://schemas.microsoft.com/office/drawing/2014/main" id="{2FBEA5E9-85AE-4322-A75C-EA824775155A}"/>
              </a:ext>
            </a:extLst>
          </p:cNvPr>
          <p:cNvSpPr>
            <a:spLocks xmlns:a="http://schemas.openxmlformats.org/drawingml/2006/main" noGrp="1"/>
          </p:cNvSpPr>
          <p:nvPr/>
        </p:nvSpPr>
        <p:spPr>
          <a:xfrm xmlns:a="http://schemas.openxmlformats.org/drawingml/2006/main">
            <a:off x="533400" y="2562225"/>
            <a:ext cx="495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00" b="1">
                <a:solidFill>
                  <a:srgbClr val="7353AC"/>
                </a:solidFill>
                <a:latin typeface="Arial"/>
                <a:ea typeface="Arial"/>
                <a:cs typeface="Arial"/>
              </a:defRPr>
            </a:pPr>
            <a:r>
              <a:rPr sz="2100" b="1">
                <a:solidFill>
                  <a:srgbClr val="7353AC"/>
                </a:solidFill>
                <a:latin typeface="Arial"/>
                <a:ea typeface="Arial"/>
                <a:cs typeface="Arial"/>
              </a:rPr>
              <a:t>02</a:t>
            </a:r>
          </a:p>
        </p:txBody>
      </p:sp>
      <p:sp>
        <p:nvSpPr>
          <p:cNvPr id="6" name="Story step 2">
            <a:extLst xmlns:a="http://schemas.openxmlformats.org/drawingml/2006/main">
              <a:ext uri="{FF2B5EF4-FFF2-40B4-BE49-F238E27FC236}">
                <a16:creationId xmlns:a16="http://schemas.microsoft.com/office/drawing/2014/main" id="{1C8509EB-3B5A-420C-BECE-29EDA4EC2427}"/>
              </a:ext>
            </a:extLst>
          </p:cNvPr>
          <p:cNvSpPr>
            <a:spLocks xmlns:a="http://schemas.openxmlformats.org/drawingml/2006/main" noGrp="1"/>
          </p:cNvSpPr>
          <p:nvPr/>
        </p:nvSpPr>
        <p:spPr>
          <a:xfrm xmlns:a="http://schemas.openxmlformats.org/drawingml/2006/main">
            <a:off x="1200150" y="2562225"/>
            <a:ext cx="5724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950" b="1">
                <a:solidFill>
                  <a:srgbClr val="173F33"/>
                </a:solidFill>
                <a:latin typeface="Arial"/>
                <a:ea typeface="Arial"/>
                <a:cs typeface="Arial"/>
              </a:defRPr>
            </a:pPr>
            <a:r>
              <a:rPr sz="1950" b="1">
                <a:solidFill>
                  <a:srgbClr val="173F33"/>
                </a:solidFill>
                <a:latin typeface="Arial"/>
                <a:ea typeface="Arial"/>
                <a:cs typeface="Arial"/>
              </a:rPr>
              <a:t>Two months later</a:t>
            </a:r>
          </a:p>
        </p:txBody>
      </p:sp>
      <p:sp>
        <p:nvSpPr>
          <p:cNvPr id="7" name="Story step 2 detail">
            <a:extLst xmlns:a="http://schemas.openxmlformats.org/drawingml/2006/main">
              <a:ext uri="{FF2B5EF4-FFF2-40B4-BE49-F238E27FC236}">
                <a16:creationId xmlns:a16="http://schemas.microsoft.com/office/drawing/2014/main" id="{F266B6A7-C737-4C26-A0D9-869A604C2779}"/>
              </a:ext>
            </a:extLst>
          </p:cNvPr>
          <p:cNvSpPr>
            <a:spLocks xmlns:a="http://schemas.openxmlformats.org/drawingml/2006/main" noGrp="1"/>
          </p:cNvSpPr>
          <p:nvPr/>
        </p:nvSpPr>
        <p:spPr>
          <a:xfrm xmlns:a="http://schemas.openxmlformats.org/drawingml/2006/main">
            <a:off x="1200150" y="3019425"/>
            <a:ext cx="5724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She becomes unconscious and reaches hospital. The doctor asks what she would want if her heart stopped.</a:t>
            </a:r>
          </a:p>
        </p:txBody>
      </p:sp>
      <p:sp>
        <p:nvSpPr>
          <p:cNvPr id="8" name="Story number 3">
            <a:extLst xmlns:a="http://schemas.openxmlformats.org/drawingml/2006/main">
              <a:ext uri="{FF2B5EF4-FFF2-40B4-BE49-F238E27FC236}">
                <a16:creationId xmlns:a16="http://schemas.microsoft.com/office/drawing/2014/main" id="{9DCA8A5A-6DE9-48A2-B077-9587A1A9C7C5}"/>
              </a:ext>
            </a:extLst>
          </p:cNvPr>
          <p:cNvSpPr>
            <a:spLocks xmlns:a="http://schemas.openxmlformats.org/drawingml/2006/main" noGrp="1"/>
          </p:cNvSpPr>
          <p:nvPr/>
        </p:nvSpPr>
        <p:spPr>
          <a:xfrm xmlns:a="http://schemas.openxmlformats.org/drawingml/2006/main">
            <a:off x="533400" y="3800475"/>
            <a:ext cx="495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00" b="1">
                <a:solidFill>
                  <a:srgbClr val="157B68"/>
                </a:solidFill>
                <a:latin typeface="Arial"/>
                <a:ea typeface="Arial"/>
                <a:cs typeface="Arial"/>
              </a:defRPr>
            </a:pPr>
            <a:r>
              <a:rPr sz="2100" b="1">
                <a:solidFill>
                  <a:srgbClr val="157B68"/>
                </a:solidFill>
                <a:latin typeface="Arial"/>
                <a:ea typeface="Arial"/>
                <a:cs typeface="Arial"/>
              </a:rPr>
              <a:t>03</a:t>
            </a:r>
          </a:p>
        </p:txBody>
      </p:sp>
      <p:sp>
        <p:nvSpPr>
          <p:cNvPr id="9" name="Story step 3">
            <a:extLst xmlns:a="http://schemas.openxmlformats.org/drawingml/2006/main">
              <a:ext uri="{FF2B5EF4-FFF2-40B4-BE49-F238E27FC236}">
                <a16:creationId xmlns:a16="http://schemas.microsoft.com/office/drawing/2014/main" id="{4A6CC631-4794-46BA-B919-09F573F07441}"/>
              </a:ext>
            </a:extLst>
          </p:cNvPr>
          <p:cNvSpPr>
            <a:spLocks xmlns:a="http://schemas.openxmlformats.org/drawingml/2006/main" noGrp="1"/>
          </p:cNvSpPr>
          <p:nvPr/>
        </p:nvSpPr>
        <p:spPr>
          <a:xfrm xmlns:a="http://schemas.openxmlformats.org/drawingml/2006/main">
            <a:off x="1200150" y="3800475"/>
            <a:ext cx="5724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950" b="1">
                <a:solidFill>
                  <a:srgbClr val="173F33"/>
                </a:solidFill>
                <a:latin typeface="Arial"/>
                <a:ea typeface="Arial"/>
                <a:cs typeface="Arial"/>
              </a:defRPr>
            </a:pPr>
            <a:r>
              <a:rPr sz="1950" b="1">
                <a:solidFill>
                  <a:srgbClr val="173F33"/>
                </a:solidFill>
                <a:latin typeface="Arial"/>
                <a:ea typeface="Arial"/>
                <a:cs typeface="Arial"/>
              </a:rPr>
              <a:t>The family disagrees</a:t>
            </a:r>
          </a:p>
        </p:txBody>
      </p:sp>
      <p:sp>
        <p:nvSpPr>
          <p:cNvPr id="10" name="Story step 3 detail">
            <a:extLst xmlns:a="http://schemas.openxmlformats.org/drawingml/2006/main">
              <a:ext uri="{FF2B5EF4-FFF2-40B4-BE49-F238E27FC236}">
                <a16:creationId xmlns:a16="http://schemas.microsoft.com/office/drawing/2014/main" id="{7BD36CB1-3DAB-4ED8-9182-6E8F535EB8C5}"/>
              </a:ext>
            </a:extLst>
          </p:cNvPr>
          <p:cNvSpPr>
            <a:spLocks xmlns:a="http://schemas.openxmlformats.org/drawingml/2006/main" noGrp="1"/>
          </p:cNvSpPr>
          <p:nvPr/>
        </p:nvSpPr>
        <p:spPr>
          <a:xfrm xmlns:a="http://schemas.openxmlformats.org/drawingml/2006/main">
            <a:off x="1200150" y="4257675"/>
            <a:ext cx="5724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7222"/>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Her husband says yes to attempts to restart her heart. Her daughter says no. Her son calls from another city. No one can find the earlier discussion.</a:t>
            </a:r>
          </a:p>
        </p:txBody>
      </p:sp>
      <p:sp>
        <p:nvSpPr>
          <p:cNvPr id="11" name="Story number 4">
            <a:extLst xmlns:a="http://schemas.openxmlformats.org/drawingml/2006/main">
              <a:ext uri="{FF2B5EF4-FFF2-40B4-BE49-F238E27FC236}">
                <a16:creationId xmlns:a16="http://schemas.microsoft.com/office/drawing/2014/main" id="{BA3E0485-624B-4996-B6DE-3E2E79465204}"/>
              </a:ext>
            </a:extLst>
          </p:cNvPr>
          <p:cNvSpPr>
            <a:spLocks xmlns:a="http://schemas.openxmlformats.org/drawingml/2006/main" noGrp="1"/>
          </p:cNvSpPr>
          <p:nvPr/>
        </p:nvSpPr>
        <p:spPr>
          <a:xfrm xmlns:a="http://schemas.openxmlformats.org/drawingml/2006/main">
            <a:off x="533400" y="5038725"/>
            <a:ext cx="495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00" b="1">
                <a:solidFill>
                  <a:srgbClr val="173F33"/>
                </a:solidFill>
                <a:latin typeface="Arial"/>
                <a:ea typeface="Arial"/>
                <a:cs typeface="Arial"/>
              </a:defRPr>
            </a:pPr>
            <a:r>
              <a:rPr sz="2100" b="1">
                <a:solidFill>
                  <a:srgbClr val="173F33"/>
                </a:solidFill>
                <a:latin typeface="Arial"/>
                <a:ea typeface="Arial"/>
                <a:cs typeface="Arial"/>
              </a:rPr>
              <a:t>04</a:t>
            </a:r>
          </a:p>
        </p:txBody>
      </p:sp>
      <p:sp>
        <p:nvSpPr>
          <p:cNvPr id="12" name="Story step 4">
            <a:extLst xmlns:a="http://schemas.openxmlformats.org/drawingml/2006/main">
              <a:ext uri="{FF2B5EF4-FFF2-40B4-BE49-F238E27FC236}">
                <a16:creationId xmlns:a16="http://schemas.microsoft.com/office/drawing/2014/main" id="{ADF869DD-7496-4F6E-8C04-2EC627AA9218}"/>
              </a:ext>
            </a:extLst>
          </p:cNvPr>
          <p:cNvSpPr>
            <a:spLocks xmlns:a="http://schemas.openxmlformats.org/drawingml/2006/main" noGrp="1"/>
          </p:cNvSpPr>
          <p:nvPr/>
        </p:nvSpPr>
        <p:spPr>
          <a:xfrm xmlns:a="http://schemas.openxmlformats.org/drawingml/2006/main">
            <a:off x="1200150" y="5038725"/>
            <a:ext cx="5724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950" b="1">
                <a:solidFill>
                  <a:srgbClr val="173F33"/>
                </a:solidFill>
                <a:latin typeface="Arial"/>
                <a:ea typeface="Arial"/>
                <a:cs typeface="Arial"/>
              </a:defRPr>
            </a:pPr>
            <a:r>
              <a:rPr sz="1950" b="1">
                <a:solidFill>
                  <a:srgbClr val="173F33"/>
                </a:solidFill>
                <a:latin typeface="Arial"/>
                <a:ea typeface="Arial"/>
                <a:cs typeface="Arial"/>
              </a:rPr>
              <a:t>What could help</a:t>
            </a:r>
          </a:p>
        </p:txBody>
      </p:sp>
      <p:sp>
        <p:nvSpPr>
          <p:cNvPr id="13" name="Story step 4 detail">
            <a:extLst xmlns:a="http://schemas.openxmlformats.org/drawingml/2006/main">
              <a:ext uri="{FF2B5EF4-FFF2-40B4-BE49-F238E27FC236}">
                <a16:creationId xmlns:a16="http://schemas.microsoft.com/office/drawing/2014/main" id="{D32F39C9-4F65-422D-B158-DC92DF0EF559}"/>
              </a:ext>
            </a:extLst>
          </p:cNvPr>
          <p:cNvSpPr>
            <a:spLocks xmlns:a="http://schemas.openxmlformats.org/drawingml/2006/main" noGrp="1"/>
          </p:cNvSpPr>
          <p:nvPr/>
        </p:nvSpPr>
        <p:spPr>
          <a:xfrm xmlns:a="http://schemas.openxmlformats.org/drawingml/2006/main">
            <a:off x="1200150" y="5495925"/>
            <a:ext cx="5724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A shared, doctor-checked Care Note could give everyone the same information before a crisis.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54eef72e0d364b10"/>
          <a:srcRect xmlns:a="http://schemas.openxmlformats.org/drawingml/2006/main" l="3646" t="0" r="3646" b="0"/>
          <a:stretch xmlns:a="http://schemas.openxmlformats.org/drawingml/2006/main">
            <a:fillRect l="0" t="0" r="0" b="0"/>
          </a:stretch>
        </p:blipFill>
        <p:spPr>
          <a:xfrm xmlns:a="http://schemas.openxmlformats.org/drawingml/2006/main">
            <a:off x="7419975" y="1352550"/>
            <a:ext cx="4238625" cy="3143250"/>
          </a:xfrm>
          <a:prstGeom xmlns:a="http://schemas.openxmlformats.org/drawingml/2006/main" prst="rect">
            <a:avLst/>
          </a:prstGeom>
        </p:spPr>
      </p:pic>
      <p:sp>
        <p:nvSpPr>
          <p:cNvPr id="15" name="Closing thought">
            <a:extLst xmlns:a="http://schemas.openxmlformats.org/drawingml/2006/main">
              <a:ext uri="{FF2B5EF4-FFF2-40B4-BE49-F238E27FC236}">
                <a16:creationId xmlns:a16="http://schemas.microsoft.com/office/drawing/2014/main" id="{450B2396-4298-4D1A-9B89-3329A2DDB3F3}"/>
              </a:ext>
            </a:extLst>
          </p:cNvPr>
          <p:cNvSpPr>
            <a:spLocks xmlns:a="http://schemas.openxmlformats.org/drawingml/2006/main" noGrp="1"/>
          </p:cNvSpPr>
          <p:nvPr/>
        </p:nvSpPr>
        <p:spPr>
          <a:xfrm xmlns:a="http://schemas.openxmlformats.org/drawingml/2006/main">
            <a:off x="7419975" y="4876800"/>
            <a:ext cx="42386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325" b="1">
                <a:solidFill>
                  <a:srgbClr val="173F33"/>
                </a:solidFill>
                <a:latin typeface="Arial"/>
                <a:ea typeface="Arial"/>
                <a:cs typeface="Arial"/>
              </a:defRPr>
            </a:pPr>
            <a:r>
              <a:rPr sz="2325" b="1">
                <a:solidFill>
                  <a:srgbClr val="173F33"/>
                </a:solidFill>
                <a:latin typeface="Arial"/>
                <a:ea typeface="Arial"/>
                <a:cs typeface="Arial"/>
              </a:rPr>
              <a:t>The hardest decisions shouldn’t be made without the right information.</a:t>
            </a:r>
          </a:p>
        </p:txBody>
      </p:sp>
    </p:spTree>
    <p:extLst>
      <p:ext uri="{BB962C8B-B14F-4D97-AF65-F5344CB8AC3E}">
        <p14:creationId xmlns:p14="http://schemas.microsoft.com/office/powerpoint/2010/main" val="486496822"/>
      </p:ext>
    </p:extLst>
  </p:cSld>
</p:sld>
</file>

<file path=ppt/slides/slide3.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graphicFrame>
        <p:nvGraphicFramePr>
          <p:cNvPr id="32" name="Chart"/>
          <p:cNvGraphicFramePr/>
          <p:nvPr/>
        </p:nvGraphicFramePr>
        <p:xfrm>
          <a:off xmlns:a="http://schemas.openxmlformats.org/drawingml/2006/main" x="7734300" y="1971675"/>
          <a:ext xmlns:a="http://schemas.openxmlformats.org/drawingml/2006/main" cx="3924300" cy="2495550"/>
        </p:xfrm>
        <a:graphic xmlns:a="http://schemas.openxmlformats.org/drawingml/2006/main">
          <a:graphicData uri="http://schemas.openxmlformats.org/drawingml/2006/chart">
            <c:chart xmlns:r="http://schemas.openxmlformats.org/officeDocument/2006/relationships" xmlns:c="http://schemas.openxmlformats.org/drawingml/2006/chart" r:id="R12ce4af4dc864d08"/>
          </a:graphicData>
        </a:graphic>
      </p:graphicFrame>
      <p:sp>
        <p:nvSpPr>
          <p:cNvPr id="15" name="Slide title">
            <a:extLst xmlns:a="http://schemas.openxmlformats.org/drawingml/2006/main">
              <a:ext uri="{FF2B5EF4-FFF2-40B4-BE49-F238E27FC236}">
                <a16:creationId xmlns:a16="http://schemas.microsoft.com/office/drawing/2014/main" id="{36229F99-A902-40B6-9F55-73BBE6F497DD}"/>
              </a:ext>
            </a:extLst>
          </p:cNvPr>
          <p:cNvSpPr>
            <a:spLocks xmlns:a="http://schemas.openxmlformats.org/drawingml/2006/main" noGrp="1"/>
          </p:cNvSpPr>
          <p:nvPr/>
        </p:nvSpPr>
        <p:spPr>
          <a:xfrm xmlns:a="http://schemas.openxmlformats.org/drawingml/2006/main">
            <a:off x="533400" y="361950"/>
            <a:ext cx="11125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75" b="1">
                <a:solidFill>
                  <a:srgbClr val="173F33"/>
                </a:solidFill>
                <a:latin typeface="Arial"/>
                <a:ea typeface="Arial"/>
                <a:cs typeface="Arial"/>
              </a:defRPr>
            </a:pPr>
            <a:r>
              <a:rPr sz="3075" b="1">
                <a:solidFill>
                  <a:srgbClr val="173F33"/>
                </a:solidFill>
                <a:latin typeface="Arial"/>
                <a:ea typeface="Arial"/>
                <a:cs typeface="Arial"/>
              </a:rPr>
              <a:t>Why these conversations need a record</a:t>
            </a:r>
          </a:p>
        </p:txBody>
      </p:sp>
      <p:sp>
        <p:nvSpPr>
          <p:cNvPr id="16" name="Evidence 15.6 lakh">
            <a:extLst xmlns:a="http://schemas.openxmlformats.org/drawingml/2006/main">
              <a:ext uri="{FF2B5EF4-FFF2-40B4-BE49-F238E27FC236}">
                <a16:creationId xmlns:a16="http://schemas.microsoft.com/office/drawing/2014/main" id="{897DAB48-C1AB-45D1-A076-96533CB5706D}"/>
              </a:ext>
            </a:extLst>
          </p:cNvPr>
          <p:cNvSpPr>
            <a:spLocks xmlns:a="http://schemas.openxmlformats.org/drawingml/2006/main" noGrp="1"/>
          </p:cNvSpPr>
          <p:nvPr/>
        </p:nvSpPr>
        <p:spPr>
          <a:xfrm xmlns:a="http://schemas.openxmlformats.org/drawingml/2006/main">
            <a:off x="533400" y="1485900"/>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275" b="1">
                <a:solidFill>
                  <a:srgbClr val="B75E43"/>
                </a:solidFill>
                <a:latin typeface="Arial"/>
                <a:ea typeface="Arial"/>
                <a:cs typeface="Arial"/>
              </a:defRPr>
            </a:pPr>
            <a:r>
              <a:rPr sz="4275" b="1">
                <a:solidFill>
                  <a:srgbClr val="B75E43"/>
                </a:solidFill>
                <a:latin typeface="Arial"/>
                <a:ea typeface="Arial"/>
                <a:cs typeface="Arial"/>
              </a:rPr>
              <a:t>15.6 lakh</a:t>
            </a:r>
          </a:p>
        </p:txBody>
      </p:sp>
      <p:sp>
        <p:nvSpPr>
          <p:cNvPr id="17" name="Evidence 15.6 lakh scope">
            <a:extLst xmlns:a="http://schemas.openxmlformats.org/drawingml/2006/main">
              <a:ext uri="{FF2B5EF4-FFF2-40B4-BE49-F238E27FC236}">
                <a16:creationId xmlns:a16="http://schemas.microsoft.com/office/drawing/2014/main" id="{0883A0F8-C651-4384-A623-7D9065B2A0FA}"/>
              </a:ext>
            </a:extLst>
          </p:cNvPr>
          <p:cNvSpPr>
            <a:spLocks xmlns:a="http://schemas.openxmlformats.org/drawingml/2006/main" noGrp="1"/>
          </p:cNvSpPr>
          <p:nvPr/>
        </p:nvSpPr>
        <p:spPr>
          <a:xfrm xmlns:a="http://schemas.openxmlformats.org/drawingml/2006/main">
            <a:off x="533400" y="2266950"/>
            <a:ext cx="2952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Estimated new cancer cases in India in 2024.</a:t>
            </a:r>
          </a:p>
        </p:txBody>
      </p:sp>
      <p:sp>
        <p:nvSpPr>
          <p:cNvPr id="18" name="Evidence 15.6 lakh source">
            <a:extLst xmlns:a="http://schemas.openxmlformats.org/drawingml/2006/main">
              <a:ext uri="{FF2B5EF4-FFF2-40B4-BE49-F238E27FC236}">
                <a16:creationId xmlns:a16="http://schemas.microsoft.com/office/drawing/2014/main" id="{881612F7-907D-433F-A7FB-12318D1C91B6}"/>
              </a:ext>
            </a:extLst>
          </p:cNvPr>
          <p:cNvSpPr>
            <a:spLocks xmlns:a="http://schemas.openxmlformats.org/drawingml/2006/main" noGrp="1"/>
          </p:cNvSpPr>
          <p:nvPr/>
        </p:nvSpPr>
        <p:spPr>
          <a:xfrm xmlns:a="http://schemas.openxmlformats.org/drawingml/2006/main">
            <a:off x="533400" y="3390900"/>
            <a:ext cx="2952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53655C"/>
                </a:solidFill>
                <a:latin typeface="Arial"/>
                <a:ea typeface="Arial"/>
                <a:cs typeface="Arial"/>
              </a:defRPr>
            </a:pPr>
            <a:r>
              <a:rPr sz="1163" b="0">
                <a:solidFill>
                  <a:srgbClr val="53655C"/>
                </a:solidFill>
                <a:latin typeface="Arial"/>
                <a:ea typeface="Arial"/>
                <a:cs typeface="Arial"/>
              </a:rPr>
              <a:t>IARC, GLOBOCAN 2024</a:t>
            </a:r>
          </a:p>
        </p:txBody>
      </p:sp>
      <p:sp>
        <p:nvSpPr>
          <p:cNvPr id="19" name="Evidence 98.39%">
            <a:extLst xmlns:a="http://schemas.openxmlformats.org/drawingml/2006/main">
              <a:ext uri="{FF2B5EF4-FFF2-40B4-BE49-F238E27FC236}">
                <a16:creationId xmlns:a16="http://schemas.microsoft.com/office/drawing/2014/main" id="{74A15F04-85BC-4251-AAAA-47A629064EE6}"/>
              </a:ext>
            </a:extLst>
          </p:cNvPr>
          <p:cNvSpPr>
            <a:spLocks xmlns:a="http://schemas.openxmlformats.org/drawingml/2006/main" noGrp="1"/>
          </p:cNvSpPr>
          <p:nvPr/>
        </p:nvSpPr>
        <p:spPr>
          <a:xfrm xmlns:a="http://schemas.openxmlformats.org/drawingml/2006/main">
            <a:off x="4010025" y="1485900"/>
            <a:ext cx="31146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275" b="1">
                <a:solidFill>
                  <a:srgbClr val="157B68"/>
                </a:solidFill>
                <a:latin typeface="Arial"/>
                <a:ea typeface="Arial"/>
                <a:cs typeface="Arial"/>
              </a:defRPr>
            </a:pPr>
            <a:r>
              <a:rPr sz="4275" b="1">
                <a:solidFill>
                  <a:srgbClr val="157B68"/>
                </a:solidFill>
                <a:latin typeface="Arial"/>
                <a:ea typeface="Arial"/>
                <a:cs typeface="Arial"/>
              </a:rPr>
              <a:t>98.39%</a:t>
            </a:r>
          </a:p>
        </p:txBody>
      </p:sp>
      <p:sp>
        <p:nvSpPr>
          <p:cNvPr id="20" name="Evidence 98.39% scope">
            <a:extLst xmlns:a="http://schemas.openxmlformats.org/drawingml/2006/main">
              <a:ext uri="{FF2B5EF4-FFF2-40B4-BE49-F238E27FC236}">
                <a16:creationId xmlns:a16="http://schemas.microsoft.com/office/drawing/2014/main" id="{66159A91-6997-48B4-95AB-A23C63FBCBEC}"/>
              </a:ext>
            </a:extLst>
          </p:cNvPr>
          <p:cNvSpPr>
            <a:spLocks xmlns:a="http://schemas.openxmlformats.org/drawingml/2006/main" noGrp="1"/>
          </p:cNvSpPr>
          <p:nvPr/>
        </p:nvSpPr>
        <p:spPr>
          <a:xfrm xmlns:a="http://schemas.openxmlformats.org/drawingml/2006/main">
            <a:off x="4010025" y="2266950"/>
            <a:ext cx="31146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Estimated unmet palliative-care need among people with metastatic cancer, across 10 cancer types.</a:t>
            </a:r>
          </a:p>
        </p:txBody>
      </p:sp>
      <p:sp>
        <p:nvSpPr>
          <p:cNvPr id="21" name="Evidence 98.39% source">
            <a:extLst xmlns:a="http://schemas.openxmlformats.org/drawingml/2006/main">
              <a:ext uri="{FF2B5EF4-FFF2-40B4-BE49-F238E27FC236}">
                <a16:creationId xmlns:a16="http://schemas.microsoft.com/office/drawing/2014/main" id="{E6559C22-E8DA-4834-AF6A-20557DE144F0}"/>
              </a:ext>
            </a:extLst>
          </p:cNvPr>
          <p:cNvSpPr>
            <a:spLocks xmlns:a="http://schemas.openxmlformats.org/drawingml/2006/main" noGrp="1"/>
          </p:cNvSpPr>
          <p:nvPr/>
        </p:nvSpPr>
        <p:spPr>
          <a:xfrm xmlns:a="http://schemas.openxmlformats.org/drawingml/2006/main">
            <a:off x="4010025" y="3390900"/>
            <a:ext cx="31146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53655C"/>
                </a:solidFill>
                <a:latin typeface="Arial"/>
                <a:ea typeface="Arial"/>
                <a:cs typeface="Arial"/>
              </a:defRPr>
            </a:pPr>
            <a:r>
              <a:rPr sz="1163" b="0">
                <a:solidFill>
                  <a:srgbClr val="53655C"/>
                </a:solidFill>
                <a:latin typeface="Arial"/>
                <a:ea typeface="Arial"/>
                <a:cs typeface="Arial"/>
              </a:rPr>
              <a:t>Patil et al., 2024</a:t>
            </a:r>
          </a:p>
        </p:txBody>
      </p:sp>
      <p:sp>
        <p:nvSpPr>
          <p:cNvPr id="22" name="Evidence 88%">
            <a:extLst xmlns:a="http://schemas.openxmlformats.org/drawingml/2006/main">
              <a:ext uri="{FF2B5EF4-FFF2-40B4-BE49-F238E27FC236}">
                <a16:creationId xmlns:a16="http://schemas.microsoft.com/office/drawing/2014/main" id="{2E37A2F3-A7E4-477B-954F-350C9BF6D575}"/>
              </a:ext>
            </a:extLst>
          </p:cNvPr>
          <p:cNvSpPr>
            <a:spLocks xmlns:a="http://schemas.openxmlformats.org/drawingml/2006/main" noGrp="1"/>
          </p:cNvSpPr>
          <p:nvPr/>
        </p:nvSpPr>
        <p:spPr>
          <a:xfrm xmlns:a="http://schemas.openxmlformats.org/drawingml/2006/main">
            <a:off x="533400" y="4124325"/>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275" b="1">
                <a:solidFill>
                  <a:srgbClr val="7353AC"/>
                </a:solidFill>
                <a:latin typeface="Arial"/>
                <a:ea typeface="Arial"/>
                <a:cs typeface="Arial"/>
              </a:defRPr>
            </a:pPr>
            <a:r>
              <a:rPr sz="4275" b="1">
                <a:solidFill>
                  <a:srgbClr val="7353AC"/>
                </a:solidFill>
                <a:latin typeface="Arial"/>
                <a:ea typeface="Arial"/>
                <a:cs typeface="Arial"/>
              </a:rPr>
              <a:t>88%</a:t>
            </a:r>
          </a:p>
        </p:txBody>
      </p:sp>
      <p:sp>
        <p:nvSpPr>
          <p:cNvPr id="23" name="Evidence 88% scope">
            <a:extLst xmlns:a="http://schemas.openxmlformats.org/drawingml/2006/main">
              <a:ext uri="{FF2B5EF4-FFF2-40B4-BE49-F238E27FC236}">
                <a16:creationId xmlns:a16="http://schemas.microsoft.com/office/drawing/2014/main" id="{93BA18B8-AD4F-4F3F-B4C3-A6CAD3FB17AE}"/>
              </a:ext>
            </a:extLst>
          </p:cNvPr>
          <p:cNvSpPr>
            <a:spLocks xmlns:a="http://schemas.openxmlformats.org/drawingml/2006/main" noGrp="1"/>
          </p:cNvSpPr>
          <p:nvPr/>
        </p:nvSpPr>
        <p:spPr>
          <a:xfrm xmlns:a="http://schemas.openxmlformats.org/drawingml/2006/main">
            <a:off x="533400" y="4905375"/>
            <a:ext cx="2952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Wanted to choose their treatment near the end of life in a 2019 survey of 2,400+ urban respondents.</a:t>
            </a:r>
          </a:p>
        </p:txBody>
      </p:sp>
      <p:sp>
        <p:nvSpPr>
          <p:cNvPr id="24" name="Evidence 88% source">
            <a:extLst xmlns:a="http://schemas.openxmlformats.org/drawingml/2006/main">
              <a:ext uri="{FF2B5EF4-FFF2-40B4-BE49-F238E27FC236}">
                <a16:creationId xmlns:a16="http://schemas.microsoft.com/office/drawing/2014/main" id="{36FDA71A-FE01-4586-A6C3-FE7632FFCC45}"/>
              </a:ext>
            </a:extLst>
          </p:cNvPr>
          <p:cNvSpPr>
            <a:spLocks xmlns:a="http://schemas.openxmlformats.org/drawingml/2006/main" noGrp="1"/>
          </p:cNvSpPr>
          <p:nvPr/>
        </p:nvSpPr>
        <p:spPr>
          <a:xfrm xmlns:a="http://schemas.openxmlformats.org/drawingml/2006/main">
            <a:off x="533400" y="6029325"/>
            <a:ext cx="2952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53655C"/>
                </a:solidFill>
                <a:latin typeface="Arial"/>
                <a:ea typeface="Arial"/>
                <a:cs typeface="Arial"/>
              </a:defRPr>
            </a:pPr>
            <a:r>
              <a:rPr sz="1163" b="0">
                <a:solidFill>
                  <a:srgbClr val="53655C"/>
                </a:solidFill>
                <a:latin typeface="Arial"/>
                <a:ea typeface="Arial"/>
                <a:cs typeface="Arial"/>
              </a:rPr>
              <a:t>IndiaSpend reporting; seven cities</a:t>
            </a:r>
          </a:p>
        </p:txBody>
      </p:sp>
      <p:sp>
        <p:nvSpPr>
          <p:cNvPr id="25" name="Evidence 11.5%">
            <a:extLst xmlns:a="http://schemas.openxmlformats.org/drawingml/2006/main">
              <a:ext uri="{FF2B5EF4-FFF2-40B4-BE49-F238E27FC236}">
                <a16:creationId xmlns:a16="http://schemas.microsoft.com/office/drawing/2014/main" id="{3F07EEC1-5EBD-49FB-BEC7-C7AB9B0FD206}"/>
              </a:ext>
            </a:extLst>
          </p:cNvPr>
          <p:cNvSpPr>
            <a:spLocks xmlns:a="http://schemas.openxmlformats.org/drawingml/2006/main" noGrp="1"/>
          </p:cNvSpPr>
          <p:nvPr/>
        </p:nvSpPr>
        <p:spPr>
          <a:xfrm xmlns:a="http://schemas.openxmlformats.org/drawingml/2006/main">
            <a:off x="4010025" y="4124325"/>
            <a:ext cx="31146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275" b="1">
                <a:solidFill>
                  <a:srgbClr val="4357C7"/>
                </a:solidFill>
                <a:latin typeface="Arial"/>
                <a:ea typeface="Arial"/>
                <a:cs typeface="Arial"/>
              </a:defRPr>
            </a:pPr>
            <a:r>
              <a:rPr sz="4275" b="1">
                <a:solidFill>
                  <a:srgbClr val="4357C7"/>
                </a:solidFill>
                <a:latin typeface="Arial"/>
                <a:ea typeface="Arial"/>
                <a:cs typeface="Arial"/>
              </a:rPr>
              <a:t>11.5%</a:t>
            </a:r>
          </a:p>
        </p:txBody>
      </p:sp>
      <p:sp>
        <p:nvSpPr>
          <p:cNvPr id="26" name="Evidence 11.5% scope">
            <a:extLst xmlns:a="http://schemas.openxmlformats.org/drawingml/2006/main">
              <a:ext uri="{FF2B5EF4-FFF2-40B4-BE49-F238E27FC236}">
                <a16:creationId xmlns:a16="http://schemas.microsoft.com/office/drawing/2014/main" id="{3A4FF16C-47FE-4B0A-A2CC-36AD133DE5C4}"/>
              </a:ext>
            </a:extLst>
          </p:cNvPr>
          <p:cNvSpPr>
            <a:spLocks xmlns:a="http://schemas.openxmlformats.org/drawingml/2006/main" noGrp="1"/>
          </p:cNvSpPr>
          <p:nvPr/>
        </p:nvSpPr>
        <p:spPr>
          <a:xfrm xmlns:a="http://schemas.openxmlformats.org/drawingml/2006/main">
            <a:off x="4010025" y="4905375"/>
            <a:ext cx="31146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Had prior training in advance directives: 45 of 391 doctors at one hospital.</a:t>
            </a:r>
          </a:p>
        </p:txBody>
      </p:sp>
      <p:sp>
        <p:nvSpPr>
          <p:cNvPr id="27" name="Evidence 11.5% source">
            <a:extLst xmlns:a="http://schemas.openxmlformats.org/drawingml/2006/main">
              <a:ext uri="{FF2B5EF4-FFF2-40B4-BE49-F238E27FC236}">
                <a16:creationId xmlns:a16="http://schemas.microsoft.com/office/drawing/2014/main" id="{BEF0EE12-244C-4488-AE08-6B828EB0DDDF}"/>
              </a:ext>
            </a:extLst>
          </p:cNvPr>
          <p:cNvSpPr>
            <a:spLocks xmlns:a="http://schemas.openxmlformats.org/drawingml/2006/main" noGrp="1"/>
          </p:cNvSpPr>
          <p:nvPr/>
        </p:nvSpPr>
        <p:spPr>
          <a:xfrm xmlns:a="http://schemas.openxmlformats.org/drawingml/2006/main">
            <a:off x="4010025" y="6029325"/>
            <a:ext cx="31146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53655C"/>
                </a:solidFill>
                <a:latin typeface="Arial"/>
                <a:ea typeface="Arial"/>
                <a:cs typeface="Arial"/>
              </a:defRPr>
            </a:pPr>
            <a:r>
              <a:rPr sz="1163" b="0">
                <a:solidFill>
                  <a:srgbClr val="53655C"/>
                </a:solidFill>
                <a:latin typeface="Arial"/>
                <a:ea typeface="Arial"/>
                <a:cs typeface="Arial"/>
              </a:rPr>
              <a:t>Jacob et al., CMC Vellore, 2026</a:t>
            </a:r>
          </a:p>
        </p:txBody>
      </p:sp>
      <p:sp>
        <p:nvSpPr>
          <p:cNvPr id="28" name="QI measure">
            <a:extLst xmlns:a="http://schemas.openxmlformats.org/drawingml/2006/main">
              <a:ext uri="{FF2B5EF4-FFF2-40B4-BE49-F238E27FC236}">
                <a16:creationId xmlns:a16="http://schemas.microsoft.com/office/drawing/2014/main" id="{3E4A4C20-4055-4458-81D9-FF8A52EA7371}"/>
              </a:ext>
            </a:extLst>
          </p:cNvPr>
          <p:cNvSpPr>
            <a:spLocks xmlns:a="http://schemas.openxmlformats.org/drawingml/2006/main" noGrp="1"/>
          </p:cNvSpPr>
          <p:nvPr/>
        </p:nvSpPr>
        <p:spPr>
          <a:xfrm xmlns:a="http://schemas.openxmlformats.org/drawingml/2006/main">
            <a:off x="7734300" y="1495425"/>
            <a:ext cx="3924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1">
                <a:solidFill>
                  <a:srgbClr val="173F33"/>
                </a:solidFill>
                <a:latin typeface="Arial"/>
                <a:ea typeface="Arial"/>
                <a:cs typeface="Arial"/>
              </a:defRPr>
            </a:pPr>
            <a:r>
              <a:rPr sz="1800" b="1">
                <a:solidFill>
                  <a:srgbClr val="173F33"/>
                </a:solidFill>
                <a:latin typeface="Arial"/>
                <a:ea typeface="Arial"/>
                <a:cs typeface="Arial"/>
              </a:rPr>
              <a:t>Documented conversations</a:t>
            </a:r>
          </a:p>
        </p:txBody>
      </p:sp>
      <p:sp>
        <p:nvSpPr>
          <p:cNvPr id="29" name="QI finding">
            <a:extLst xmlns:a="http://schemas.openxmlformats.org/drawingml/2006/main">
              <a:ext uri="{FF2B5EF4-FFF2-40B4-BE49-F238E27FC236}">
                <a16:creationId xmlns:a16="http://schemas.microsoft.com/office/drawing/2014/main" id="{C6F4CF8D-A0C6-4C16-B661-D465B30B2640}"/>
              </a:ext>
            </a:extLst>
          </p:cNvPr>
          <p:cNvSpPr>
            <a:spLocks xmlns:a="http://schemas.openxmlformats.org/drawingml/2006/main" noGrp="1"/>
          </p:cNvSpPr>
          <p:nvPr/>
        </p:nvSpPr>
        <p:spPr>
          <a:xfrm xmlns:a="http://schemas.openxmlformats.org/drawingml/2006/main">
            <a:off x="7734300" y="4667250"/>
            <a:ext cx="3924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A standard process helped one Chennai hospital document 24 of 26 eligible conversations.</a:t>
            </a:r>
          </a:p>
        </p:txBody>
      </p:sp>
      <p:sp>
        <p:nvSpPr>
          <p:cNvPr id="30" name="QI scope">
            <a:extLst xmlns:a="http://schemas.openxmlformats.org/drawingml/2006/main">
              <a:ext uri="{FF2B5EF4-FFF2-40B4-BE49-F238E27FC236}">
                <a16:creationId xmlns:a16="http://schemas.microsoft.com/office/drawing/2014/main" id="{3C9382C2-DCCB-44A1-B85B-643EBD0FCC70}"/>
              </a:ext>
            </a:extLst>
          </p:cNvPr>
          <p:cNvSpPr>
            <a:spLocks xmlns:a="http://schemas.openxmlformats.org/drawingml/2006/main" noGrp="1"/>
          </p:cNvSpPr>
          <p:nvPr/>
        </p:nvSpPr>
        <p:spPr>
          <a:xfrm xmlns:a="http://schemas.openxmlformats.org/drawingml/2006/main">
            <a:off x="7734300" y="5781675"/>
            <a:ext cx="39243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75" b="0">
                <a:solidFill>
                  <a:srgbClr val="53655C"/>
                </a:solidFill>
                <a:latin typeface="Arial"/>
                <a:ea typeface="Arial"/>
                <a:cs typeface="Arial"/>
              </a:defRPr>
            </a:pPr>
            <a:r>
              <a:rPr sz="1275" b="0">
                <a:solidFill>
                  <a:srgbClr val="53655C"/>
                </a:solidFill>
                <a:latin typeface="Arial"/>
                <a:ea typeface="Arial"/>
                <a:cs typeface="Arial"/>
              </a:rPr>
              <a:t>Advanced pancreatic / colorectal cancer. Thangasamy et al., 2025.</a:t>
            </a:r>
          </a:p>
        </p:txBody>
      </p:sp>
      <p:sp>
        <p:nvSpPr>
          <p:cNvPr id="31" name="Evidence boundary">
            <a:extLst xmlns:a="http://schemas.openxmlformats.org/drawingml/2006/main">
              <a:ext uri="{FF2B5EF4-FFF2-40B4-BE49-F238E27FC236}">
                <a16:creationId xmlns:a16="http://schemas.microsoft.com/office/drawing/2014/main" id="{99452058-A515-49D7-B971-FCB153E2C8CF}"/>
              </a:ext>
            </a:extLst>
          </p:cNvPr>
          <p:cNvSpPr>
            <a:spLocks xmlns:a="http://schemas.openxmlformats.org/drawingml/2006/main" noGrp="1"/>
          </p:cNvSpPr>
          <p:nvPr/>
        </p:nvSpPr>
        <p:spPr>
          <a:xfrm xmlns:a="http://schemas.openxmlformats.org/drawingml/2006/main">
            <a:off x="533400" y="6515100"/>
            <a:ext cx="1112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00" b="0">
                <a:solidFill>
                  <a:srgbClr val="53655C"/>
                </a:solidFill>
                <a:latin typeface="Arial"/>
                <a:ea typeface="Arial"/>
                <a:cs typeface="Arial"/>
              </a:defRPr>
            </a:pPr>
            <a:r>
              <a:rPr sz="1200" b="0">
                <a:solidFill>
                  <a:srgbClr val="53655C"/>
                </a:solidFill>
                <a:latin typeface="Arial"/>
                <a:ea typeface="Arial"/>
                <a:cs typeface="Arial"/>
              </a:rPr>
              <a:t>Different study populations. These are published findings, not app results.</a:t>
            </a:r>
          </a:p>
        </p:txBody>
      </p:sp>
    </p:spTree>
    <p:extLst>
      <p:ext uri="{BB962C8B-B14F-4D97-AF65-F5344CB8AC3E}">
        <p14:creationId xmlns:p14="http://schemas.microsoft.com/office/powerpoint/2010/main" val="1299123762"/>
      </p:ext>
    </p:extLst>
  </p:cSld>
</p:sld>
</file>

<file path=ppt/slides/slide4.xml><?xml version="1.0" encoding="utf-8"?>
<p:sld xmlns:p="http://schemas.openxmlformats.org/presentationml/2006/main">
  <p:cSld>
    <p:bg>
      <p:bgPr>
        <a:solidFill xmlns:a="http://schemas.openxmlformats.org/drawingml/2006/main">
          <a:srgbClr val="FCFAF4"/>
        </a:solidFill>
      </p:bgPr>
    </p:bg>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75DA4B6B-F97A-4036-9288-9DEE7815F65B}"/>
              </a:ext>
            </a:extLst>
          </p:cNvPr>
          <p:cNvSpPr>
            <a:spLocks xmlns:a="http://schemas.openxmlformats.org/drawingml/2006/main" noGrp="1"/>
          </p:cNvSpPr>
          <p:nvPr/>
        </p:nvSpPr>
        <p:spPr>
          <a:xfrm xmlns:a="http://schemas.openxmlformats.org/drawingml/2006/main">
            <a:off x="533400" y="361950"/>
            <a:ext cx="11125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00" b="1">
                <a:solidFill>
                  <a:srgbClr val="173F33"/>
                </a:solidFill>
                <a:latin typeface="Arial"/>
                <a:ea typeface="Arial"/>
                <a:cs typeface="Arial"/>
              </a:defRPr>
            </a:pPr>
            <a:r>
              <a:rPr sz="3000" b="1">
                <a:solidFill>
                  <a:srgbClr val="173F33"/>
                </a:solidFill>
                <a:latin typeface="Arial"/>
                <a:ea typeface="Arial"/>
                <a:cs typeface="Arial"/>
              </a:rPr>
              <a:t>The latest Care Note, right on Home</a:t>
            </a:r>
          </a:p>
        </p:txBody>
      </p:sp>
      <p:sp>
        <p:nvSpPr>
          <p:cNvPr id="2" name="Purpose">
            <a:extLst xmlns:a="http://schemas.openxmlformats.org/drawingml/2006/main">
              <a:ext uri="{FF2B5EF4-FFF2-40B4-BE49-F238E27FC236}">
                <a16:creationId xmlns:a16="http://schemas.microsoft.com/office/drawing/2014/main" id="{712B4756-3DDF-4E58-9A65-4FE0CC8556E3}"/>
              </a:ext>
            </a:extLst>
          </p:cNvPr>
          <p:cNvSpPr>
            <a:spLocks xmlns:a="http://schemas.openxmlformats.org/drawingml/2006/main" noGrp="1"/>
          </p:cNvSpPr>
          <p:nvPr/>
        </p:nvSpPr>
        <p:spPr>
          <a:xfrm xmlns:a="http://schemas.openxmlformats.org/drawingml/2006/main">
            <a:off x="533400" y="1028700"/>
            <a:ext cx="1112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55C"/>
                </a:solidFill>
                <a:latin typeface="Arial"/>
                <a:ea typeface="Arial"/>
                <a:cs typeface="Arial"/>
              </a:defRPr>
            </a:pPr>
            <a:r>
              <a:rPr sz="1650" b="0">
                <a:solidFill>
                  <a:srgbClr val="53655C"/>
                </a:solidFill>
                <a:latin typeface="Arial"/>
                <a:ea typeface="Arial"/>
                <a:cs typeface="Arial"/>
              </a:rPr>
              <a:t>It keeps what matters to the patient, what was discussed and what was agreed in one place.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c6268f1f2484423"/>
          <a:stretch xmlns:a="http://schemas.openxmlformats.org/drawingml/2006/main"/>
        </p:blipFill>
        <p:spPr>
          <a:xfrm xmlns:a="http://schemas.openxmlformats.org/drawingml/2006/main">
            <a:off x="400050" y="2174343"/>
            <a:ext cx="8763000" cy="3842815"/>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81032128a254341"/>
          <a:stretch xmlns:a="http://schemas.openxmlformats.org/drawingml/2006/main"/>
        </p:blipFill>
        <p:spPr>
          <a:xfrm xmlns:a="http://schemas.openxmlformats.org/drawingml/2006/main">
            <a:off x="9725025" y="1895475"/>
            <a:ext cx="1409700" cy="1409700"/>
          </a:xfrm>
          <a:prstGeom xmlns:a="http://schemas.openxmlformats.org/drawingml/2006/main" prst="rect">
            <a:avLst/>
          </a:prstGeom>
        </p:spPr>
      </p:pic>
      <p:sp>
        <p:nvSpPr>
          <p:cNvPr id="5" name="App QR label">
            <a:extLst xmlns:a="http://schemas.openxmlformats.org/drawingml/2006/main">
              <a:ext uri="{FF2B5EF4-FFF2-40B4-BE49-F238E27FC236}">
                <a16:creationId xmlns:a16="http://schemas.microsoft.com/office/drawing/2014/main" id="{0B675D10-C893-4A81-A6B5-20ECF4E50805}"/>
              </a:ext>
            </a:extLst>
          </p:cNvPr>
          <p:cNvSpPr>
            <a:spLocks xmlns:a="http://schemas.openxmlformats.org/drawingml/2006/main" noGrp="1"/>
          </p:cNvSpPr>
          <p:nvPr/>
        </p:nvSpPr>
        <p:spPr>
          <a:xfrm xmlns:a="http://schemas.openxmlformats.org/drawingml/2006/main">
            <a:off x="9296400" y="3448050"/>
            <a:ext cx="236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1">
                <a:solidFill>
                  <a:srgbClr val="145AC6"/>
                </a:solidFill>
                <a:latin typeface="Arial"/>
                <a:ea typeface="Arial"/>
                <a:cs typeface="Arial"/>
              </a:defRPr>
            </a:pPr>
            <a:r>
              <a:rPr sz="1650" b="1" u="sng">
                <a:solidFill>
                  <a:srgbClr val="145AC6"/>
                </a:solidFill>
                <a:latin typeface="Arial"/>
                <a:ea typeface="Arial"/>
                <a:cs typeface="Arial"/>
                <a:hlinkClick xmlns:r="http://schemas.openxmlformats.org/officeDocument/2006/relationships" r:id="Rfb357dd75a2f4ead"/>
              </a:rPr>
              <a:t>Open Saath</a:t>
            </a:r>
          </a:p>
        </p:txBody>
      </p:sp>
      <p:sp>
        <p:nvSpPr>
          <p:cNvPr id="6" name="Version access">
            <a:extLst xmlns:a="http://schemas.openxmlformats.org/drawingml/2006/main">
              <a:ext uri="{FF2B5EF4-FFF2-40B4-BE49-F238E27FC236}">
                <a16:creationId xmlns:a16="http://schemas.microsoft.com/office/drawing/2014/main" id="{C4868F37-4732-4DF3-BC16-CD007859CB85}"/>
              </a:ext>
            </a:extLst>
          </p:cNvPr>
          <p:cNvSpPr>
            <a:spLocks xmlns:a="http://schemas.openxmlformats.org/drawingml/2006/main" noGrp="1"/>
          </p:cNvSpPr>
          <p:nvPr/>
        </p:nvSpPr>
        <p:spPr>
          <a:xfrm xmlns:a="http://schemas.openxmlformats.org/drawingml/2006/main">
            <a:off x="9296400" y="4048125"/>
            <a:ext cx="23622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7826"/>
          </a:bodyPr>
          <a:lstStyle xmlns:a="http://schemas.openxmlformats.org/drawingml/2006/main"/>
          <a:p xmlns:a="http://schemas.openxmlformats.org/drawingml/2006/main">
            <a:pPr>
              <a:defRPr sz="1725" b="0">
                <a:solidFill>
                  <a:srgbClr val="173F33"/>
                </a:solidFill>
                <a:latin typeface="Arial"/>
                <a:ea typeface="Arial"/>
                <a:cs typeface="Arial"/>
              </a:defRPr>
            </a:pPr>
            <a:r>
              <a:rPr sz="1725" b="0">
                <a:solidFill>
                  <a:srgbClr val="173F33"/>
                </a:solidFill>
                <a:latin typeface="Arial"/>
                <a:ea typeface="Arial"/>
                <a:cs typeface="Arial"/>
              </a:rPr>
              <a:t>The latest signed version is easy to find. Earlier conversations keep their own dated versions.</a:t>
            </a:r>
          </a:p>
        </p:txBody>
      </p:sp>
      <p:sp>
        <p:nvSpPr>
          <p:cNvPr id="7" name="Consent">
            <a:extLst xmlns:a="http://schemas.openxmlformats.org/drawingml/2006/main">
              <a:ext uri="{FF2B5EF4-FFF2-40B4-BE49-F238E27FC236}">
                <a16:creationId xmlns:a16="http://schemas.microsoft.com/office/drawing/2014/main" id="{B2AB2E7C-5DFF-4CB6-9B34-09CA977EE224}"/>
              </a:ext>
            </a:extLst>
          </p:cNvPr>
          <p:cNvSpPr>
            <a:spLocks xmlns:a="http://schemas.openxmlformats.org/drawingml/2006/main" noGrp="1"/>
          </p:cNvSpPr>
          <p:nvPr/>
        </p:nvSpPr>
        <p:spPr>
          <a:xfrm xmlns:a="http://schemas.openxmlformats.org/drawingml/2006/main">
            <a:off x="9296400" y="5591175"/>
            <a:ext cx="23622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1">
                <a:solidFill>
                  <a:srgbClr val="B75E43"/>
                </a:solidFill>
                <a:latin typeface="Arial"/>
                <a:ea typeface="Arial"/>
                <a:cs typeface="Arial"/>
              </a:defRPr>
            </a:pPr>
            <a:r>
              <a:rPr sz="1650" b="1">
                <a:solidFill>
                  <a:srgbClr val="B75E43"/>
                </a:solidFill>
                <a:latin typeface="Arial"/>
                <a:ea typeface="Arial"/>
                <a:cs typeface="Arial"/>
              </a:rPr>
              <a:t>Family access follows the patient’s permission.</a:t>
            </a:r>
          </a:p>
        </p:txBody>
      </p:sp>
    </p:spTree>
    <p:extLst>
      <p:ext uri="{BB962C8B-B14F-4D97-AF65-F5344CB8AC3E}">
        <p14:creationId xmlns:p14="http://schemas.microsoft.com/office/powerpoint/2010/main" val="221085739"/>
      </p:ext>
    </p:extLst>
  </p:cSld>
</p:sld>
</file>

<file path=ppt/slides/slide5.xml><?xml version="1.0" encoding="utf-8"?>
<p:sld xmlns:p="http://schemas.openxmlformats.org/presentationml/2006/main">
  <p:cSld>
    <p:bg>
      <p:bgPr>
        <a:solidFill xmlns:a="http://schemas.openxmlformats.org/drawingml/2006/main">
          <a:srgbClr val="142C50"/>
        </a:solidFill>
      </p:bgPr>
    </p:bg>
    <p:spTree>
      <p:nvGrpSpPr>
        <p:cNvPr id="1" name=""/>
        <p:cNvGrpSpPr/>
        <p:nvPr/>
      </p:nvGrpSpPr>
      <p:grpSpPr>
        <a:xfrm xmlns:a="http://schemas.openxmlformats.org/drawingml/2006/main"/>
      </p:grpSpPr>
      <p:sp>
        <p:nvSpPr>
          <p:cNvPr id="13" name="Slide title">
            <a:extLst xmlns:a="http://schemas.openxmlformats.org/drawingml/2006/main">
              <a:ext uri="{FF2B5EF4-FFF2-40B4-BE49-F238E27FC236}">
                <a16:creationId xmlns:a16="http://schemas.microsoft.com/office/drawing/2014/main" id="{AF1A1517-DBA6-45C6-9E7F-17D16E966A6D}"/>
              </a:ext>
            </a:extLst>
          </p:cNvPr>
          <p:cNvSpPr>
            <a:spLocks xmlns:a="http://schemas.openxmlformats.org/drawingml/2006/main" noGrp="1"/>
          </p:cNvSpPr>
          <p:nvPr/>
        </p:nvSpPr>
        <p:spPr>
          <a:xfrm xmlns:a="http://schemas.openxmlformats.org/drawingml/2006/main">
            <a:off x="533400" y="36195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AI drafts the Care Note. The doctor checks it.</a:t>
            </a:r>
          </a:p>
        </p:txBody>
      </p:sp>
      <p:sp>
        <p:nvSpPr>
          <p:cNvPr id="2" name="Human review">
            <a:extLst xmlns:a="http://schemas.openxmlformats.org/drawingml/2006/main">
              <a:ext uri="{FF2B5EF4-FFF2-40B4-BE49-F238E27FC236}">
                <a16:creationId xmlns:a16="http://schemas.microsoft.com/office/drawing/2014/main" id="{6AA6A4E1-7167-4604-98E5-370730B3CBC8}"/>
              </a:ext>
            </a:extLst>
          </p:cNvPr>
          <p:cNvSpPr>
            <a:spLocks xmlns:a="http://schemas.openxmlformats.org/drawingml/2006/main" noGrp="1"/>
          </p:cNvSpPr>
          <p:nvPr/>
        </p:nvSpPr>
        <p:spPr>
          <a:xfrm xmlns:a="http://schemas.openxmlformats.org/drawingml/2006/main">
            <a:off x="533400" y="10287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D9E8EE"/>
                </a:solidFill>
                <a:latin typeface="Arial"/>
                <a:ea typeface="Arial"/>
                <a:cs typeface="Arial"/>
              </a:defRPr>
            </a:pPr>
            <a:r>
              <a:rPr sz="1800" b="0">
                <a:solidFill>
                  <a:srgbClr val="D9E8EE"/>
                </a:solidFill>
                <a:latin typeface="Arial"/>
                <a:ea typeface="Arial"/>
                <a:cs typeface="Arial"/>
              </a:rPr>
              <a:t>Doctor review is a separate step before the note can be signed.</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05aa25ad0c447ea"/>
          <a:stretch xmlns:a="http://schemas.openxmlformats.org/drawingml/2006/main"/>
        </p:blipFill>
        <p:spPr>
          <a:xfrm xmlns:a="http://schemas.openxmlformats.org/drawingml/2006/main">
            <a:off x="400050" y="1978711"/>
            <a:ext cx="8286750" cy="3672104"/>
          </a:xfrm>
          <a:prstGeom xmlns:a="http://schemas.openxmlformats.org/drawingml/2006/main" prst="rect">
            <a:avLst/>
          </a:prstGeom>
        </p:spPr>
      </p:pic>
      <p:sp>
        <p:nvSpPr>
          <p:cNvPr id="4" name="AI status">
            <a:extLst xmlns:a="http://schemas.openxmlformats.org/drawingml/2006/main">
              <a:ext uri="{FF2B5EF4-FFF2-40B4-BE49-F238E27FC236}">
                <a16:creationId xmlns:a16="http://schemas.microsoft.com/office/drawing/2014/main" id="{CA2D62F8-E4AB-4C5E-A049-8D8E6C14D637}"/>
              </a:ext>
            </a:extLst>
          </p:cNvPr>
          <p:cNvSpPr>
            <a:spLocks xmlns:a="http://schemas.openxmlformats.org/drawingml/2006/main" noGrp="1"/>
          </p:cNvSpPr>
          <p:nvPr/>
        </p:nvSpPr>
        <p:spPr>
          <a:xfrm xmlns:a="http://schemas.openxmlformats.org/drawingml/2006/main">
            <a:off x="533400" y="6048375"/>
            <a:ext cx="8001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FFE38C"/>
                </a:solidFill>
                <a:latin typeface="Arial"/>
                <a:ea typeface="Arial"/>
                <a:cs typeface="Arial"/>
              </a:defRPr>
            </a:pPr>
            <a:r>
              <a:rPr sz="1575" b="1">
                <a:solidFill>
                  <a:srgbClr val="FFE38C"/>
                </a:solidFill>
                <a:latin typeface="Arial"/>
                <a:ea typeface="Arial"/>
                <a:cs typeface="Arial"/>
              </a:rPr>
              <a:t>The recording and review screens work today. Connecting AI is the next step.</a:t>
            </a:r>
          </a:p>
        </p:txBody>
      </p:sp>
      <p:sp>
        <p:nvSpPr>
          <p:cNvPr id="5" name="AI step 1">
            <a:extLst xmlns:a="http://schemas.openxmlformats.org/drawingml/2006/main">
              <a:ext uri="{FF2B5EF4-FFF2-40B4-BE49-F238E27FC236}">
                <a16:creationId xmlns:a16="http://schemas.microsoft.com/office/drawing/2014/main" id="{546F3AFA-7CFD-4B7D-9074-5BE3373AA986}"/>
              </a:ext>
            </a:extLst>
          </p:cNvPr>
          <p:cNvSpPr>
            <a:spLocks xmlns:a="http://schemas.openxmlformats.org/drawingml/2006/main" noGrp="1"/>
          </p:cNvSpPr>
          <p:nvPr/>
        </p:nvSpPr>
        <p:spPr>
          <a:xfrm xmlns:a="http://schemas.openxmlformats.org/drawingml/2006/main">
            <a:off x="9001125" y="1676400"/>
            <a:ext cx="2657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9638"/>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1. Record the conversation</a:t>
            </a:r>
          </a:p>
        </p:txBody>
      </p:sp>
      <p:sp>
        <p:nvSpPr>
          <p:cNvPr id="6" name="AI step 1 detail">
            <a:extLst xmlns:a="http://schemas.openxmlformats.org/drawingml/2006/main">
              <a:ext uri="{FF2B5EF4-FFF2-40B4-BE49-F238E27FC236}">
                <a16:creationId xmlns:a16="http://schemas.microsoft.com/office/drawing/2014/main" id="{5D504D23-AB65-43DC-98E8-2C5674AFBBF9}"/>
              </a:ext>
            </a:extLst>
          </p:cNvPr>
          <p:cNvSpPr>
            <a:spLocks xmlns:a="http://schemas.openxmlformats.org/drawingml/2006/main" noGrp="1"/>
          </p:cNvSpPr>
          <p:nvPr/>
        </p:nvSpPr>
        <p:spPr>
          <a:xfrm xmlns:a="http://schemas.openxmlformats.org/drawingml/2006/main">
            <a:off x="9001125" y="2209800"/>
            <a:ext cx="26574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463" b="0">
                <a:solidFill>
                  <a:srgbClr val="D9E8EE"/>
                </a:solidFill>
                <a:latin typeface="Arial"/>
                <a:ea typeface="Arial"/>
                <a:cs typeface="Arial"/>
              </a:defRPr>
            </a:pPr>
            <a:r>
              <a:rPr sz="1463" b="0">
                <a:solidFill>
                  <a:srgbClr val="D9E8EE"/>
                </a:solidFill>
                <a:latin typeface="Arial"/>
                <a:ea typeface="Arial"/>
                <a:cs typeface="Arial"/>
              </a:rPr>
              <a:t>Ask permission, then record or add existing notes.</a:t>
            </a:r>
          </a:p>
        </p:txBody>
      </p:sp>
      <p:sp>
        <p:nvSpPr>
          <p:cNvPr id="7" name="AI step 2">
            <a:extLst xmlns:a="http://schemas.openxmlformats.org/drawingml/2006/main">
              <a:ext uri="{FF2B5EF4-FFF2-40B4-BE49-F238E27FC236}">
                <a16:creationId xmlns:a16="http://schemas.microsoft.com/office/drawing/2014/main" id="{8936CB0B-625F-486E-9741-F71D80A8C6D5}"/>
              </a:ext>
            </a:extLst>
          </p:cNvPr>
          <p:cNvSpPr>
            <a:spLocks xmlns:a="http://schemas.openxmlformats.org/drawingml/2006/main" noGrp="1"/>
          </p:cNvSpPr>
          <p:nvPr/>
        </p:nvSpPr>
        <p:spPr>
          <a:xfrm xmlns:a="http://schemas.openxmlformats.org/drawingml/2006/main">
            <a:off x="9001125" y="2828925"/>
            <a:ext cx="2657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2. AI prepares a draft</a:t>
            </a:r>
          </a:p>
        </p:txBody>
      </p:sp>
      <p:sp>
        <p:nvSpPr>
          <p:cNvPr id="8" name="AI step 2 detail">
            <a:extLst xmlns:a="http://schemas.openxmlformats.org/drawingml/2006/main">
              <a:ext uri="{FF2B5EF4-FFF2-40B4-BE49-F238E27FC236}">
                <a16:creationId xmlns:a16="http://schemas.microsoft.com/office/drawing/2014/main" id="{F7F46076-57FD-4475-B7E8-0949927FA201}"/>
              </a:ext>
            </a:extLst>
          </p:cNvPr>
          <p:cNvSpPr>
            <a:spLocks xmlns:a="http://schemas.openxmlformats.org/drawingml/2006/main" noGrp="1"/>
          </p:cNvSpPr>
          <p:nvPr/>
        </p:nvSpPr>
        <p:spPr>
          <a:xfrm xmlns:a="http://schemas.openxmlformats.org/drawingml/2006/main">
            <a:off x="9001125" y="3362325"/>
            <a:ext cx="26574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463" b="0">
                <a:solidFill>
                  <a:srgbClr val="D9E8EE"/>
                </a:solidFill>
                <a:latin typeface="Arial"/>
                <a:ea typeface="Arial"/>
                <a:cs typeface="Arial"/>
              </a:defRPr>
            </a:pPr>
            <a:r>
              <a:rPr sz="1463" b="0">
                <a:solidFill>
                  <a:srgbClr val="D9E8EE"/>
                </a:solidFill>
                <a:latin typeface="Arial"/>
                <a:ea typeface="Arial"/>
                <a:cs typeface="Arial"/>
              </a:rPr>
              <a:t>Each detail points back to the conversation.</a:t>
            </a:r>
          </a:p>
        </p:txBody>
      </p:sp>
      <p:sp>
        <p:nvSpPr>
          <p:cNvPr id="9" name="AI step 3">
            <a:extLst xmlns:a="http://schemas.openxmlformats.org/drawingml/2006/main">
              <a:ext uri="{FF2B5EF4-FFF2-40B4-BE49-F238E27FC236}">
                <a16:creationId xmlns:a16="http://schemas.microsoft.com/office/drawing/2014/main" id="{0FCA3039-749A-4BE4-BC69-32C44452CD31}"/>
              </a:ext>
            </a:extLst>
          </p:cNvPr>
          <p:cNvSpPr>
            <a:spLocks xmlns:a="http://schemas.openxmlformats.org/drawingml/2006/main" noGrp="1"/>
          </p:cNvSpPr>
          <p:nvPr/>
        </p:nvSpPr>
        <p:spPr>
          <a:xfrm xmlns:a="http://schemas.openxmlformats.org/drawingml/2006/main">
            <a:off x="9001125" y="3981450"/>
            <a:ext cx="2657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3. The doctor reviews it</a:t>
            </a:r>
          </a:p>
        </p:txBody>
      </p:sp>
      <p:sp>
        <p:nvSpPr>
          <p:cNvPr id="10" name="AI step 3 detail">
            <a:extLst xmlns:a="http://schemas.openxmlformats.org/drawingml/2006/main">
              <a:ext uri="{FF2B5EF4-FFF2-40B4-BE49-F238E27FC236}">
                <a16:creationId xmlns:a16="http://schemas.microsoft.com/office/drawing/2014/main" id="{2FDAB103-B35C-4BAF-8255-CDB657CA716F}"/>
              </a:ext>
            </a:extLst>
          </p:cNvPr>
          <p:cNvSpPr>
            <a:spLocks xmlns:a="http://schemas.openxmlformats.org/drawingml/2006/main" noGrp="1"/>
          </p:cNvSpPr>
          <p:nvPr/>
        </p:nvSpPr>
        <p:spPr>
          <a:xfrm xmlns:a="http://schemas.openxmlformats.org/drawingml/2006/main">
            <a:off x="9001125" y="4514850"/>
            <a:ext cx="26574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463" b="0">
                <a:solidFill>
                  <a:srgbClr val="D9E8EE"/>
                </a:solidFill>
                <a:latin typeface="Arial"/>
                <a:ea typeface="Arial"/>
                <a:cs typeface="Arial"/>
              </a:defRPr>
            </a:pPr>
            <a:r>
              <a:rPr sz="1463" b="0">
                <a:solidFill>
                  <a:srgbClr val="D9E8EE"/>
                </a:solidFill>
                <a:latin typeface="Arial"/>
                <a:ea typeface="Arial"/>
                <a:cs typeface="Arial"/>
              </a:rPr>
              <a:t>Check the source, change the wording or reject the draft.</a:t>
            </a:r>
          </a:p>
        </p:txBody>
      </p:sp>
      <p:sp>
        <p:nvSpPr>
          <p:cNvPr id="11" name="AI step 4">
            <a:extLst xmlns:a="http://schemas.openxmlformats.org/drawingml/2006/main">
              <a:ext uri="{FF2B5EF4-FFF2-40B4-BE49-F238E27FC236}">
                <a16:creationId xmlns:a16="http://schemas.microsoft.com/office/drawing/2014/main" id="{AECA3056-BB48-4DB4-90B2-50ED7B17CECD}"/>
              </a:ext>
            </a:extLst>
          </p:cNvPr>
          <p:cNvSpPr>
            <a:spLocks xmlns:a="http://schemas.openxmlformats.org/drawingml/2006/main" noGrp="1"/>
          </p:cNvSpPr>
          <p:nvPr/>
        </p:nvSpPr>
        <p:spPr>
          <a:xfrm xmlns:a="http://schemas.openxmlformats.org/drawingml/2006/main">
            <a:off x="9001125" y="5133975"/>
            <a:ext cx="2657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4. The doctor signs</a:t>
            </a:r>
          </a:p>
        </p:txBody>
      </p:sp>
      <p:sp>
        <p:nvSpPr>
          <p:cNvPr id="12" name="AI step 4 detail">
            <a:extLst xmlns:a="http://schemas.openxmlformats.org/drawingml/2006/main">
              <a:ext uri="{FF2B5EF4-FFF2-40B4-BE49-F238E27FC236}">
                <a16:creationId xmlns:a16="http://schemas.microsoft.com/office/drawing/2014/main" id="{79C552D4-D043-451B-A48F-0ED3D93ACE04}"/>
              </a:ext>
            </a:extLst>
          </p:cNvPr>
          <p:cNvSpPr>
            <a:spLocks xmlns:a="http://schemas.openxmlformats.org/drawingml/2006/main" noGrp="1"/>
          </p:cNvSpPr>
          <p:nvPr/>
        </p:nvSpPr>
        <p:spPr>
          <a:xfrm xmlns:a="http://schemas.openxmlformats.org/drawingml/2006/main">
            <a:off x="9001125" y="5667375"/>
            <a:ext cx="26574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463" b="0">
                <a:solidFill>
                  <a:srgbClr val="D9E8EE"/>
                </a:solidFill>
                <a:latin typeface="Arial"/>
                <a:ea typeface="Arial"/>
                <a:cs typeface="Arial"/>
              </a:defRPr>
            </a:pPr>
            <a:r>
              <a:rPr sz="1463" b="0">
                <a:solidFill>
                  <a:srgbClr val="D9E8EE"/>
                </a:solidFill>
                <a:latin typeface="Arial"/>
                <a:ea typeface="Arial"/>
                <a:cs typeface="Arial"/>
              </a:rPr>
              <a:t>Save a dated Care Note. Keep the earlier versions.</a:t>
            </a:r>
          </a:p>
        </p:txBody>
      </p:sp>
    </p:spTree>
    <p:extLst>
      <p:ext uri="{BB962C8B-B14F-4D97-AF65-F5344CB8AC3E}">
        <p14:creationId xmlns:p14="http://schemas.microsoft.com/office/powerpoint/2010/main" val="1779657811"/>
      </p:ext>
    </p:extLst>
  </p:cSld>
</p:sld>
</file>

<file path=ppt/slides/slide6.xml><?xml version="1.0" encoding="utf-8"?>
<p:sld xmlns:p="http://schemas.openxmlformats.org/presentationml/2006/main">
  <p:cSld>
    <p:bg>
      <p:bgPr>
        <a:solidFill xmlns:a="http://schemas.openxmlformats.org/drawingml/2006/main">
          <a:srgbClr val="E8F4F0"/>
        </a:solidFill>
      </p:bgPr>
    </p:bg>
    <p:spTree>
      <p:nvGrpSpPr>
        <p:cNvPr id="1" name=""/>
        <p:cNvGrpSpPr/>
        <p:nvPr/>
      </p:nvGrpSpPr>
      <p:grpSpPr>
        <a:xfrm xmlns:a="http://schemas.openxmlformats.org/drawingml/2006/main"/>
      </p:grpSpPr>
      <p:sp>
        <p:nvSpPr>
          <p:cNvPr id="10" name="Slide title">
            <a:extLst xmlns:a="http://schemas.openxmlformats.org/drawingml/2006/main">
              <a:ext uri="{FF2B5EF4-FFF2-40B4-BE49-F238E27FC236}">
                <a16:creationId xmlns:a16="http://schemas.microsoft.com/office/drawing/2014/main" id="{487C23E3-9804-49FF-9E72-E1A9B25F5F11}"/>
              </a:ext>
            </a:extLst>
          </p:cNvPr>
          <p:cNvSpPr>
            <a:spLocks xmlns:a="http://schemas.openxmlformats.org/drawingml/2006/main" noGrp="1"/>
          </p:cNvSpPr>
          <p:nvPr/>
        </p:nvSpPr>
        <p:spPr>
          <a:xfrm xmlns:a="http://schemas.openxmlformats.org/drawingml/2006/main">
            <a:off x="533400" y="36195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00" b="1">
                <a:solidFill>
                  <a:srgbClr val="173F33"/>
                </a:solidFill>
                <a:latin typeface="Arial"/>
                <a:ea typeface="Arial"/>
                <a:cs typeface="Arial"/>
              </a:defRPr>
            </a:pPr>
            <a:r>
              <a:rPr sz="3000" b="1">
                <a:solidFill>
                  <a:srgbClr val="173F33"/>
                </a:solidFill>
                <a:latin typeface="Arial"/>
                <a:ea typeface="Arial"/>
                <a:cs typeface="Arial"/>
              </a:rPr>
              <a:t>The family’s next steps stay together</a:t>
            </a:r>
          </a:p>
        </p:txBody>
      </p:sp>
      <p:sp>
        <p:nvSpPr>
          <p:cNvPr id="2" name="Daily support purpose">
            <a:extLst xmlns:a="http://schemas.openxmlformats.org/drawingml/2006/main">
              <a:ext uri="{FF2B5EF4-FFF2-40B4-BE49-F238E27FC236}">
                <a16:creationId xmlns:a16="http://schemas.microsoft.com/office/drawing/2014/main" id="{0E90906A-23D1-4CD7-A2FB-0249D4CEF697}"/>
              </a:ext>
            </a:extLst>
          </p:cNvPr>
          <p:cNvSpPr>
            <a:spLocks xmlns:a="http://schemas.openxmlformats.org/drawingml/2006/main" noGrp="1"/>
          </p:cNvSpPr>
          <p:nvPr/>
        </p:nvSpPr>
        <p:spPr>
          <a:xfrm xmlns:a="http://schemas.openxmlformats.org/drawingml/2006/main">
            <a:off x="533400" y="10287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0">
                <a:solidFill>
                  <a:srgbClr val="53655C"/>
                </a:solidFill>
                <a:latin typeface="Arial"/>
                <a:ea typeface="Arial"/>
                <a:cs typeface="Arial"/>
              </a:defRPr>
            </a:pPr>
            <a:r>
              <a:rPr sz="1725" b="0">
                <a:solidFill>
                  <a:srgbClr val="53655C"/>
                </a:solidFill>
                <a:latin typeface="Arial"/>
                <a:ea typeface="Arial"/>
                <a:cs typeface="Arial"/>
              </a:rPr>
              <a:t>The Care Note stays at the centre. These tools help between visits.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7f670fc9207493f"/>
          <a:stretch xmlns:a="http://schemas.openxmlformats.org/drawingml/2006/main"/>
        </p:blipFill>
        <p:spPr>
          <a:xfrm xmlns:a="http://schemas.openxmlformats.org/drawingml/2006/main">
            <a:off x="400050" y="2257453"/>
            <a:ext cx="8058150" cy="3533719"/>
          </a:xfrm>
          <a:prstGeom xmlns:a="http://schemas.openxmlformats.org/drawingml/2006/main" prst="rect">
            <a:avLst/>
          </a:prstGeom>
        </p:spPr>
      </p:pic>
      <p:sp>
        <p:nvSpPr>
          <p:cNvPr id="4" name="Family need 1">
            <a:extLst xmlns:a="http://schemas.openxmlformats.org/drawingml/2006/main">
              <a:ext uri="{FF2B5EF4-FFF2-40B4-BE49-F238E27FC236}">
                <a16:creationId xmlns:a16="http://schemas.microsoft.com/office/drawing/2014/main" id="{2E9C61EF-C295-41E9-998D-A62DD24D8E63}"/>
              </a:ext>
            </a:extLst>
          </p:cNvPr>
          <p:cNvSpPr>
            <a:spLocks xmlns:a="http://schemas.openxmlformats.org/drawingml/2006/main" noGrp="1"/>
          </p:cNvSpPr>
          <p:nvPr/>
        </p:nvSpPr>
        <p:spPr>
          <a:xfrm xmlns:a="http://schemas.openxmlformats.org/drawingml/2006/main">
            <a:off x="8763000" y="1714500"/>
            <a:ext cx="2895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1">
                <a:solidFill>
                  <a:srgbClr val="B75E43"/>
                </a:solidFill>
                <a:latin typeface="Arial"/>
                <a:ea typeface="Arial"/>
                <a:cs typeface="Arial"/>
              </a:defRPr>
            </a:pPr>
            <a:r>
              <a:rPr sz="1800" b="1">
                <a:solidFill>
                  <a:srgbClr val="B75E43"/>
                </a:solidFill>
                <a:latin typeface="Arial"/>
                <a:ea typeface="Arial"/>
                <a:cs typeface="Arial"/>
              </a:rPr>
              <a:t>Find the right record</a:t>
            </a:r>
          </a:p>
        </p:txBody>
      </p:sp>
      <p:sp>
        <p:nvSpPr>
          <p:cNvPr id="5" name="Family need 1 detail">
            <a:extLst xmlns:a="http://schemas.openxmlformats.org/drawingml/2006/main">
              <a:ext uri="{FF2B5EF4-FFF2-40B4-BE49-F238E27FC236}">
                <a16:creationId xmlns:a16="http://schemas.microsoft.com/office/drawing/2014/main" id="{10B41146-8AFA-412D-B8FB-302284E3E412}"/>
              </a:ext>
            </a:extLst>
          </p:cNvPr>
          <p:cNvSpPr>
            <a:spLocks xmlns:a="http://schemas.openxmlformats.org/drawingml/2006/main" noGrp="1"/>
          </p:cNvSpPr>
          <p:nvPr/>
        </p:nvSpPr>
        <p:spPr>
          <a:xfrm xmlns:a="http://schemas.openxmlformats.org/drawingml/2006/main">
            <a:off x="8763000" y="2162175"/>
            <a:ext cx="28956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Upload a report and find an answer with its original source. AI search is planned.</a:t>
            </a:r>
          </a:p>
        </p:txBody>
      </p:sp>
      <p:sp>
        <p:nvSpPr>
          <p:cNvPr id="6" name="Family need 2">
            <a:extLst xmlns:a="http://schemas.openxmlformats.org/drawingml/2006/main">
              <a:ext uri="{FF2B5EF4-FFF2-40B4-BE49-F238E27FC236}">
                <a16:creationId xmlns:a16="http://schemas.microsoft.com/office/drawing/2014/main" id="{45499BEC-D463-4BC0-AE5C-033C7042178B}"/>
              </a:ext>
            </a:extLst>
          </p:cNvPr>
          <p:cNvSpPr>
            <a:spLocks xmlns:a="http://schemas.openxmlformats.org/drawingml/2006/main" noGrp="1"/>
          </p:cNvSpPr>
          <p:nvPr/>
        </p:nvSpPr>
        <p:spPr>
          <a:xfrm xmlns:a="http://schemas.openxmlformats.org/drawingml/2006/main">
            <a:off x="8763000" y="3286125"/>
            <a:ext cx="2895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1">
                <a:solidFill>
                  <a:srgbClr val="B75E43"/>
                </a:solidFill>
                <a:latin typeface="Arial"/>
                <a:ea typeface="Arial"/>
                <a:cs typeface="Arial"/>
              </a:defRPr>
            </a:pPr>
            <a:r>
              <a:rPr sz="1800" b="1">
                <a:solidFill>
                  <a:srgbClr val="B75E43"/>
                </a:solidFill>
                <a:latin typeface="Arial"/>
                <a:ea typeface="Arial"/>
                <a:cs typeface="Arial"/>
              </a:rPr>
              <a:t>Know what is next</a:t>
            </a:r>
          </a:p>
        </p:txBody>
      </p:sp>
      <p:sp>
        <p:nvSpPr>
          <p:cNvPr id="7" name="Family need 2 detail">
            <a:extLst xmlns:a="http://schemas.openxmlformats.org/drawingml/2006/main">
              <a:ext uri="{FF2B5EF4-FFF2-40B4-BE49-F238E27FC236}">
                <a16:creationId xmlns:a16="http://schemas.microsoft.com/office/drawing/2014/main" id="{1EBAC13E-E029-4FF2-B0B9-F73957B042AE}"/>
              </a:ext>
            </a:extLst>
          </p:cNvPr>
          <p:cNvSpPr>
            <a:spLocks xmlns:a="http://schemas.openxmlformats.org/drawingml/2006/main" noGrp="1"/>
          </p:cNvSpPr>
          <p:nvPr/>
        </p:nvSpPr>
        <p:spPr>
          <a:xfrm xmlns:a="http://schemas.openxmlformats.org/drawingml/2006/main">
            <a:off x="8763000" y="3733800"/>
            <a:ext cx="28956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See appointments, prescribed medicine times and the doctor’s instructions.</a:t>
            </a:r>
          </a:p>
        </p:txBody>
      </p:sp>
      <p:sp>
        <p:nvSpPr>
          <p:cNvPr id="8" name="Family need 3">
            <a:extLst xmlns:a="http://schemas.openxmlformats.org/drawingml/2006/main">
              <a:ext uri="{FF2B5EF4-FFF2-40B4-BE49-F238E27FC236}">
                <a16:creationId xmlns:a16="http://schemas.microsoft.com/office/drawing/2014/main" id="{74A584E4-5C03-4CCC-AD88-60C90D4E2BA4}"/>
              </a:ext>
            </a:extLst>
          </p:cNvPr>
          <p:cNvSpPr>
            <a:spLocks xmlns:a="http://schemas.openxmlformats.org/drawingml/2006/main" noGrp="1"/>
          </p:cNvSpPr>
          <p:nvPr/>
        </p:nvSpPr>
        <p:spPr>
          <a:xfrm xmlns:a="http://schemas.openxmlformats.org/drawingml/2006/main">
            <a:off x="8763000" y="4857750"/>
            <a:ext cx="2895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1">
                <a:solidFill>
                  <a:srgbClr val="B75E43"/>
                </a:solidFill>
                <a:latin typeface="Arial"/>
                <a:ea typeface="Arial"/>
                <a:cs typeface="Arial"/>
              </a:defRPr>
            </a:pPr>
            <a:r>
              <a:rPr sz="1800" b="1">
                <a:solidFill>
                  <a:srgbClr val="B75E43"/>
                </a:solidFill>
                <a:latin typeface="Arial"/>
                <a:ea typeface="Arial"/>
                <a:cs typeface="Arial"/>
              </a:rPr>
              <a:t>Ask someone to help</a:t>
            </a:r>
          </a:p>
        </p:txBody>
      </p:sp>
      <p:sp>
        <p:nvSpPr>
          <p:cNvPr id="9" name="Family need 3 detail">
            <a:extLst xmlns:a="http://schemas.openxmlformats.org/drawingml/2006/main">
              <a:ext uri="{FF2B5EF4-FFF2-40B4-BE49-F238E27FC236}">
                <a16:creationId xmlns:a16="http://schemas.microsoft.com/office/drawing/2014/main" id="{D4C3CA67-68AD-493C-808A-A4A9B77957A2}"/>
              </a:ext>
            </a:extLst>
          </p:cNvPr>
          <p:cNvSpPr>
            <a:spLocks xmlns:a="http://schemas.openxmlformats.org/drawingml/2006/main" noGrp="1"/>
          </p:cNvSpPr>
          <p:nvPr/>
        </p:nvSpPr>
        <p:spPr>
          <a:xfrm xmlns:a="http://schemas.openxmlformats.org/drawingml/2006/main">
            <a:off x="8763000" y="5305425"/>
            <a:ext cx="28956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A named person can accept a task. The family can also find care centres and support groups.</a:t>
            </a:r>
          </a:p>
        </p:txBody>
      </p:sp>
    </p:spTree>
    <p:extLst>
      <p:ext uri="{BB962C8B-B14F-4D97-AF65-F5344CB8AC3E}">
        <p14:creationId xmlns:p14="http://schemas.microsoft.com/office/powerpoint/2010/main" val="1405124457"/>
      </p:ext>
    </p:extLst>
  </p:cSld>
</p:sld>
</file>

<file path=ppt/slides/slide7.xml><?xml version="1.0" encoding="utf-8"?>
<p:sld xmlns:p="http://schemas.openxmlformats.org/presentationml/2006/main">
  <p:cSld>
    <p:bg>
      <p:bgPr>
        <a:solidFill xmlns:a="http://schemas.openxmlformats.org/drawingml/2006/main">
          <a:srgbClr val="EFE8F8"/>
        </a:solidFill>
      </p:bgPr>
    </p:bg>
    <p:spTree>
      <p:nvGrpSpPr>
        <p:cNvPr id="1" name=""/>
        <p:cNvGrpSpPr/>
        <p:nvPr/>
      </p:nvGrpSpPr>
      <p:grpSpPr>
        <a:xfrm xmlns:a="http://schemas.openxmlformats.org/drawingml/2006/main"/>
      </p:grpSpPr>
      <p:sp>
        <p:nvSpPr>
          <p:cNvPr id="14" name="Slide title">
            <a:extLst xmlns:a="http://schemas.openxmlformats.org/drawingml/2006/main">
              <a:ext uri="{FF2B5EF4-FFF2-40B4-BE49-F238E27FC236}">
                <a16:creationId xmlns:a16="http://schemas.microsoft.com/office/drawing/2014/main" id="{AB755338-6638-449E-835C-6888C5E90884}"/>
              </a:ext>
            </a:extLst>
          </p:cNvPr>
          <p:cNvSpPr>
            <a:spLocks xmlns:a="http://schemas.openxmlformats.org/drawingml/2006/main" noGrp="1"/>
          </p:cNvSpPr>
          <p:nvPr/>
        </p:nvSpPr>
        <p:spPr>
          <a:xfrm xmlns:a="http://schemas.openxmlformats.org/drawingml/2006/main">
            <a:off x="533400" y="361950"/>
            <a:ext cx="111252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925" b="1">
                <a:solidFill>
                  <a:srgbClr val="173F33"/>
                </a:solidFill>
                <a:latin typeface="Arial"/>
                <a:ea typeface="Arial"/>
                <a:cs typeface="Arial"/>
              </a:defRPr>
            </a:pPr>
            <a:r>
              <a:rPr sz="2925" b="1">
                <a:solidFill>
                  <a:srgbClr val="173F33"/>
                </a:solidFill>
                <a:latin typeface="Arial"/>
                <a:ea typeface="Arial"/>
                <a:cs typeface="Arial"/>
              </a:rPr>
              <a:t>Did more care conversations happen and get recorded?</a:t>
            </a:r>
          </a:p>
        </p:txBody>
      </p:sp>
      <p:sp>
        <p:nvSpPr>
          <p:cNvPr id="2" name="Trial design">
            <a:extLst xmlns:a="http://schemas.openxmlformats.org/drawingml/2006/main">
              <a:ext uri="{FF2B5EF4-FFF2-40B4-BE49-F238E27FC236}">
                <a16:creationId xmlns:a16="http://schemas.microsoft.com/office/drawing/2014/main" id="{149C9889-4624-4D13-9D2A-5874E334308E}"/>
              </a:ext>
            </a:extLst>
          </p:cNvPr>
          <p:cNvSpPr>
            <a:spLocks xmlns:a="http://schemas.openxmlformats.org/drawingml/2006/main" noGrp="1"/>
          </p:cNvSpPr>
          <p:nvPr/>
        </p:nvSpPr>
        <p:spPr>
          <a:xfrm xmlns:a="http://schemas.openxmlformats.org/drawingml/2006/main">
            <a:off x="533400" y="13906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75" b="0">
                <a:solidFill>
                  <a:srgbClr val="53655C"/>
                </a:solidFill>
                <a:latin typeface="Arial"/>
                <a:ea typeface="Arial"/>
                <a:cs typeface="Arial"/>
              </a:defRPr>
            </a:pPr>
            <a:r>
              <a:rPr sz="1875" b="0">
                <a:solidFill>
                  <a:srgbClr val="53655C"/>
                </a:solidFill>
                <a:latin typeface="Arial"/>
                <a:ea typeface="Arial"/>
                <a:cs typeface="Arial"/>
              </a:rPr>
              <a:t>Proposed 60–90 day trial. Compare the same eligible patient group before and after deployment.</a:t>
            </a:r>
          </a:p>
        </p:txBody>
      </p:sp>
      <p:sp>
        <p:nvSpPr>
          <p:cNvPr id="3" name="Primary measure 1">
            <a:extLst xmlns:a="http://schemas.openxmlformats.org/drawingml/2006/main">
              <a:ext uri="{FF2B5EF4-FFF2-40B4-BE49-F238E27FC236}">
                <a16:creationId xmlns:a16="http://schemas.microsoft.com/office/drawing/2014/main" id="{D3F65AFA-C919-4A13-A3BD-DF220FDD4D5B}"/>
              </a:ext>
            </a:extLst>
          </p:cNvPr>
          <p:cNvSpPr>
            <a:spLocks xmlns:a="http://schemas.openxmlformats.org/drawingml/2006/main" noGrp="1"/>
          </p:cNvSpPr>
          <p:nvPr/>
        </p:nvSpPr>
        <p:spPr>
          <a:xfrm xmlns:a="http://schemas.openxmlformats.org/drawingml/2006/main">
            <a:off x="533400" y="2476500"/>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75" b="1">
                <a:solidFill>
                  <a:srgbClr val="B75E43"/>
                </a:solidFill>
                <a:latin typeface="Arial"/>
                <a:ea typeface="Arial"/>
                <a:cs typeface="Arial"/>
              </a:defRPr>
            </a:pPr>
            <a:r>
              <a:rPr sz="2175" b="1">
                <a:solidFill>
                  <a:srgbClr val="B75E43"/>
                </a:solidFill>
                <a:latin typeface="Arial"/>
                <a:ea typeface="Arial"/>
                <a:cs typeface="Arial"/>
              </a:rPr>
              <a:t>Patient requests</a:t>
            </a:r>
          </a:p>
        </p:txBody>
      </p:sp>
      <p:sp>
        <p:nvSpPr>
          <p:cNvPr id="4" name="Primary measure 1 detail">
            <a:extLst xmlns:a="http://schemas.openxmlformats.org/drawingml/2006/main">
              <a:ext uri="{FF2B5EF4-FFF2-40B4-BE49-F238E27FC236}">
                <a16:creationId xmlns:a16="http://schemas.microsoft.com/office/drawing/2014/main" id="{ABF23702-3027-4254-BEFF-B0B46162C960}"/>
              </a:ext>
            </a:extLst>
          </p:cNvPr>
          <p:cNvSpPr>
            <a:spLocks xmlns:a="http://schemas.openxmlformats.org/drawingml/2006/main" noGrp="1"/>
          </p:cNvSpPr>
          <p:nvPr/>
        </p:nvSpPr>
        <p:spPr>
          <a:xfrm xmlns:a="http://schemas.openxmlformats.org/drawingml/2006/main">
            <a:off x="533400" y="3295650"/>
            <a:ext cx="3476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173F33"/>
                </a:solidFill>
                <a:latin typeface="Arial"/>
                <a:ea typeface="Arial"/>
                <a:cs typeface="Arial"/>
              </a:defRPr>
            </a:pPr>
            <a:r>
              <a:rPr sz="1800" b="0">
                <a:solidFill>
                  <a:srgbClr val="173F33"/>
                </a:solidFill>
                <a:latin typeface="Arial"/>
                <a:ea typeface="Arial"/>
                <a:cs typeface="Arial"/>
              </a:rPr>
              <a:t>Count patients who ask for a goals-of-care conversation. Keep family requests separate.</a:t>
            </a:r>
          </a:p>
        </p:txBody>
      </p:sp>
      <p:sp>
        <p:nvSpPr>
          <p:cNvPr id="5" name="Primary measure 2">
            <a:extLst xmlns:a="http://schemas.openxmlformats.org/drawingml/2006/main">
              <a:ext uri="{FF2B5EF4-FFF2-40B4-BE49-F238E27FC236}">
                <a16:creationId xmlns:a16="http://schemas.microsoft.com/office/drawing/2014/main" id="{11236C5C-EA9F-4AC8-A228-FA14D4660EFE}"/>
              </a:ext>
            </a:extLst>
          </p:cNvPr>
          <p:cNvSpPr>
            <a:spLocks xmlns:a="http://schemas.openxmlformats.org/drawingml/2006/main" noGrp="1"/>
          </p:cNvSpPr>
          <p:nvPr/>
        </p:nvSpPr>
        <p:spPr>
          <a:xfrm xmlns:a="http://schemas.openxmlformats.org/drawingml/2006/main">
            <a:off x="4362450" y="2476500"/>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75" b="1">
                <a:solidFill>
                  <a:srgbClr val="7353AC"/>
                </a:solidFill>
                <a:latin typeface="Arial"/>
                <a:ea typeface="Arial"/>
                <a:cs typeface="Arial"/>
              </a:defRPr>
            </a:pPr>
            <a:r>
              <a:rPr sz="2175" b="1">
                <a:solidFill>
                  <a:srgbClr val="7353AC"/>
                </a:solidFill>
                <a:latin typeface="Arial"/>
                <a:ea typeface="Arial"/>
                <a:cs typeface="Arial"/>
              </a:rPr>
              <a:t>Doctor-started discussions</a:t>
            </a:r>
          </a:p>
        </p:txBody>
      </p:sp>
      <p:sp>
        <p:nvSpPr>
          <p:cNvPr id="6" name="Primary measure 2 detail">
            <a:extLst xmlns:a="http://schemas.openxmlformats.org/drawingml/2006/main">
              <a:ext uri="{FF2B5EF4-FFF2-40B4-BE49-F238E27FC236}">
                <a16:creationId xmlns:a16="http://schemas.microsoft.com/office/drawing/2014/main" id="{53D85D07-3C77-400C-A400-928F22376642}"/>
              </a:ext>
            </a:extLst>
          </p:cNvPr>
          <p:cNvSpPr>
            <a:spLocks xmlns:a="http://schemas.openxmlformats.org/drawingml/2006/main" noGrp="1"/>
          </p:cNvSpPr>
          <p:nvPr/>
        </p:nvSpPr>
        <p:spPr>
          <a:xfrm xmlns:a="http://schemas.openxmlformats.org/drawingml/2006/main">
            <a:off x="4362450" y="3295650"/>
            <a:ext cx="3476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173F33"/>
                </a:solidFill>
                <a:latin typeface="Arial"/>
                <a:ea typeface="Arial"/>
                <a:cs typeface="Arial"/>
              </a:defRPr>
            </a:pPr>
            <a:r>
              <a:rPr sz="1800" b="0">
                <a:solidFill>
                  <a:srgbClr val="173F33"/>
                </a:solidFill>
                <a:latin typeface="Arial"/>
                <a:ea typeface="Arial"/>
                <a:cs typeface="Arial"/>
              </a:rPr>
              <a:t>Count conversations started by a doctor. An invitation alone does not count as a held discussion.</a:t>
            </a:r>
          </a:p>
        </p:txBody>
      </p:sp>
      <p:sp>
        <p:nvSpPr>
          <p:cNvPr id="7" name="Primary measure 3">
            <a:extLst xmlns:a="http://schemas.openxmlformats.org/drawingml/2006/main">
              <a:ext uri="{FF2B5EF4-FFF2-40B4-BE49-F238E27FC236}">
                <a16:creationId xmlns:a16="http://schemas.microsoft.com/office/drawing/2014/main" id="{42EBED2A-E303-4CB1-884B-DC31234F5312}"/>
              </a:ext>
            </a:extLst>
          </p:cNvPr>
          <p:cNvSpPr>
            <a:spLocks xmlns:a="http://schemas.openxmlformats.org/drawingml/2006/main" noGrp="1"/>
          </p:cNvSpPr>
          <p:nvPr/>
        </p:nvSpPr>
        <p:spPr>
          <a:xfrm xmlns:a="http://schemas.openxmlformats.org/drawingml/2006/main">
            <a:off x="8191500" y="2476500"/>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75" b="1">
                <a:solidFill>
                  <a:srgbClr val="157B68"/>
                </a:solidFill>
                <a:latin typeface="Arial"/>
                <a:ea typeface="Arial"/>
                <a:cs typeface="Arial"/>
              </a:defRPr>
            </a:pPr>
            <a:r>
              <a:rPr sz="2175" b="1">
                <a:solidFill>
                  <a:srgbClr val="157B68"/>
                </a:solidFill>
                <a:latin typeface="Arial"/>
                <a:ea typeface="Arial"/>
                <a:cs typeface="Arial"/>
              </a:rPr>
              <a:t>Documented conversations</a:t>
            </a:r>
          </a:p>
        </p:txBody>
      </p:sp>
      <p:sp>
        <p:nvSpPr>
          <p:cNvPr id="8" name="Primary measure 3 detail">
            <a:extLst xmlns:a="http://schemas.openxmlformats.org/drawingml/2006/main">
              <a:ext uri="{FF2B5EF4-FFF2-40B4-BE49-F238E27FC236}">
                <a16:creationId xmlns:a16="http://schemas.microsoft.com/office/drawing/2014/main" id="{4EE93B96-E882-40A6-A0F5-A6A862AB40D0}"/>
              </a:ext>
            </a:extLst>
          </p:cNvPr>
          <p:cNvSpPr>
            <a:spLocks xmlns:a="http://schemas.openxmlformats.org/drawingml/2006/main" noGrp="1"/>
          </p:cNvSpPr>
          <p:nvPr/>
        </p:nvSpPr>
        <p:spPr>
          <a:xfrm xmlns:a="http://schemas.openxmlformats.org/drawingml/2006/main">
            <a:off x="8191500" y="3295650"/>
            <a:ext cx="3476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173F33"/>
                </a:solidFill>
                <a:latin typeface="Arial"/>
                <a:ea typeface="Arial"/>
                <a:cs typeface="Arial"/>
              </a:defRPr>
            </a:pPr>
            <a:r>
              <a:rPr sz="1800" b="0">
                <a:solidFill>
                  <a:srgbClr val="173F33"/>
                </a:solidFill>
                <a:latin typeface="Arial"/>
                <a:ea typeface="Arial"/>
                <a:cs typeface="Arial"/>
              </a:rPr>
              <a:t>Count discussions with a saved Care Note. Show how many the doctor has signed.</a:t>
            </a:r>
          </a:p>
        </p:txBody>
      </p:sp>
      <p:sp>
        <p:nvSpPr>
          <p:cNvPr id="9" name="">
            <a:extLst xmlns:a="http://schemas.openxmlformats.org/drawingml/2006/main">
              <a:ext uri="{FF2B5EF4-FFF2-40B4-BE49-F238E27FC236}">
                <a16:creationId xmlns:a16="http://schemas.microsoft.com/office/drawing/2014/main" id="{4C12EB82-09FB-4108-BD5C-25F584AD0787}"/>
              </a:ext>
            </a:extLst>
          </p:cNvPr>
          <p:cNvSpPr>
            <a:spLocks xmlns:a="http://schemas.openxmlformats.org/drawingml/2006/main" noGrp="1"/>
          </p:cNvSpPr>
          <p:nvPr/>
        </p:nvSpPr>
        <p:spPr>
          <a:xfrm xmlns:a="http://schemas.openxmlformats.org/drawingml/2006/main">
            <a:off x="533400" y="4781550"/>
            <a:ext cx="11125200" cy="0"/>
          </a:xfrm>
          <a:prstGeom xmlns:a="http://schemas.openxmlformats.org/drawingml/2006/main" prst="line">
            <a:avLst/>
          </a:prstGeom>
          <a:ln xmlns:a="http://schemas.openxmlformats.org/drawingml/2006/main" w="9525">
            <a:solidFill>
              <a:srgbClr val="D9D4C7"/>
            </a:solidFill>
          </a:ln>
        </p:spPr>
      </p:sp>
      <p:sp>
        <p:nvSpPr>
          <p:cNvPr id="10" name="Comparison">
            <a:extLst xmlns:a="http://schemas.openxmlformats.org/drawingml/2006/main">
              <a:ext uri="{FF2B5EF4-FFF2-40B4-BE49-F238E27FC236}">
                <a16:creationId xmlns:a16="http://schemas.microsoft.com/office/drawing/2014/main" id="{D82B185F-FC83-46F7-85EE-9FFDABF8469C}"/>
              </a:ext>
            </a:extLst>
          </p:cNvPr>
          <p:cNvSpPr>
            <a:spLocks xmlns:a="http://schemas.openxmlformats.org/drawingml/2006/main" noGrp="1"/>
          </p:cNvSpPr>
          <p:nvPr/>
        </p:nvSpPr>
        <p:spPr>
          <a:xfrm xmlns:a="http://schemas.openxmlformats.org/drawingml/2006/main">
            <a:off x="533400" y="5076825"/>
            <a:ext cx="2838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475" b="1">
                <a:solidFill>
                  <a:srgbClr val="173F33"/>
                </a:solidFill>
                <a:latin typeface="Arial"/>
                <a:ea typeface="Arial"/>
                <a:cs typeface="Arial"/>
              </a:defRPr>
            </a:pPr>
            <a:r>
              <a:rPr sz="2475" b="1">
                <a:solidFill>
                  <a:srgbClr val="173F33"/>
                </a:solidFill>
                <a:latin typeface="Arial"/>
                <a:ea typeface="Arial"/>
                <a:cs typeface="Arial"/>
              </a:rPr>
              <a:t>Before vs after</a:t>
            </a:r>
          </a:p>
        </p:txBody>
      </p:sp>
      <p:sp>
        <p:nvSpPr>
          <p:cNvPr id="11" name="Primary outcome definition">
            <a:extLst xmlns:a="http://schemas.openxmlformats.org/drawingml/2006/main">
              <a:ext uri="{FF2B5EF4-FFF2-40B4-BE49-F238E27FC236}">
                <a16:creationId xmlns:a16="http://schemas.microsoft.com/office/drawing/2014/main" id="{0AF14A02-1D6A-4E7A-BC57-C39D720B4071}"/>
              </a:ext>
            </a:extLst>
          </p:cNvPr>
          <p:cNvSpPr>
            <a:spLocks xmlns:a="http://schemas.openxmlformats.org/drawingml/2006/main" noGrp="1"/>
          </p:cNvSpPr>
          <p:nvPr/>
        </p:nvSpPr>
        <p:spPr>
          <a:xfrm xmlns:a="http://schemas.openxmlformats.org/drawingml/2006/main">
            <a:off x="3686175" y="5076825"/>
            <a:ext cx="79724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025" b="1">
                <a:solidFill>
                  <a:srgbClr val="173F33"/>
                </a:solidFill>
                <a:latin typeface="Arial"/>
                <a:ea typeface="Arial"/>
                <a:cs typeface="Arial"/>
              </a:defRPr>
            </a:pPr>
            <a:r>
              <a:rPr sz="2025" b="1">
                <a:solidFill>
                  <a:srgbClr val="173F33"/>
                </a:solidFill>
                <a:latin typeface="Arial"/>
                <a:ea typeface="Arial"/>
                <a:cs typeface="Arial"/>
              </a:rPr>
              <a:t>Patients with a documented conversation ÷ all eligible patients</a:t>
            </a:r>
          </a:p>
        </p:txBody>
      </p:sp>
      <p:sp>
        <p:nvSpPr>
          <p:cNvPr id="12" name="Additional measures">
            <a:extLst xmlns:a="http://schemas.openxmlformats.org/drawingml/2006/main">
              <a:ext uri="{FF2B5EF4-FFF2-40B4-BE49-F238E27FC236}">
                <a16:creationId xmlns:a16="http://schemas.microsoft.com/office/drawing/2014/main" id="{27FBFBB1-8D32-45FD-86FD-59EC19E45F4B}"/>
              </a:ext>
            </a:extLst>
          </p:cNvPr>
          <p:cNvSpPr>
            <a:spLocks xmlns:a="http://schemas.openxmlformats.org/drawingml/2006/main" noGrp="1"/>
          </p:cNvSpPr>
          <p:nvPr/>
        </p:nvSpPr>
        <p:spPr>
          <a:xfrm xmlns:a="http://schemas.openxmlformats.org/drawingml/2006/main">
            <a:off x="533400" y="5848350"/>
            <a:ext cx="11125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53655C"/>
                </a:solidFill>
                <a:latin typeface="Arial"/>
                <a:ea typeface="Arial"/>
                <a:cs typeface="Arial"/>
              </a:defRPr>
            </a:pPr>
            <a:r>
              <a:rPr sz="1575" b="0">
                <a:solidFill>
                  <a:srgbClr val="53655C"/>
                </a:solidFill>
                <a:latin typeface="Arial"/>
                <a:ea typeface="Arial"/>
                <a:cs typeface="Arial"/>
              </a:rPr>
              <a:t>Show counts as well as rates. Also track time, missing details and extra work for the doctor.</a:t>
            </a:r>
          </a:p>
        </p:txBody>
      </p:sp>
      <p:sp>
        <p:nvSpPr>
          <p:cNvPr id="13" name="Current and next">
            <a:extLst xmlns:a="http://schemas.openxmlformats.org/drawingml/2006/main">
              <a:ext uri="{FF2B5EF4-FFF2-40B4-BE49-F238E27FC236}">
                <a16:creationId xmlns:a16="http://schemas.microsoft.com/office/drawing/2014/main" id="{A39C1608-7D2C-4C54-BD10-7BA4666B813B}"/>
              </a:ext>
            </a:extLst>
          </p:cNvPr>
          <p:cNvSpPr>
            <a:spLocks xmlns:a="http://schemas.openxmlformats.org/drawingml/2006/main" noGrp="1"/>
          </p:cNvSpPr>
          <p:nvPr/>
        </p:nvSpPr>
        <p:spPr>
          <a:xfrm xmlns:a="http://schemas.openxmlformats.org/drawingml/2006/main">
            <a:off x="533400" y="646747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38" b="0">
                <a:solidFill>
                  <a:srgbClr val="53655C"/>
                </a:solidFill>
                <a:latin typeface="Arial"/>
                <a:ea typeface="Arial"/>
                <a:cs typeface="Arial"/>
              </a:defRPr>
            </a:pPr>
            <a:r>
              <a:rPr sz="1238" b="0">
                <a:solidFill>
                  <a:srgbClr val="53655C"/>
                </a:solidFill>
                <a:latin typeface="Arial"/>
                <a:ea typeface="Arial"/>
                <a:cs typeface="Arial"/>
              </a:rPr>
              <a:t>Built with Next.js, TypeScript and MapLibre. AI, verified accounts and sharing between phones come next.</a:t>
            </a:r>
          </a:p>
        </p:txBody>
      </p:sp>
    </p:spTree>
    <p:extLst>
      <p:ext uri="{BB962C8B-B14F-4D97-AF65-F5344CB8AC3E}">
        <p14:creationId xmlns:p14="http://schemas.microsoft.com/office/powerpoint/2010/main" val="1410585306"/>
      </p:ext>
    </p:extLst>
  </p:cSld>
</p:sld>
</file>

<file path=ppt/slides/slide8.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29" name="References title">
            <a:extLst xmlns:a="http://schemas.openxmlformats.org/drawingml/2006/main">
              <a:ext uri="{FF2B5EF4-FFF2-40B4-BE49-F238E27FC236}">
                <a16:creationId xmlns:a16="http://schemas.microsoft.com/office/drawing/2014/main" id="{8FAFA9BF-10E7-4E54-9BAB-25EA9E90241F}"/>
              </a:ext>
            </a:extLst>
          </p:cNvPr>
          <p:cNvSpPr>
            <a:spLocks xmlns:a="http://schemas.openxmlformats.org/drawingml/2006/main" noGrp="1"/>
          </p:cNvSpPr>
          <p:nvPr/>
        </p:nvSpPr>
        <p:spPr>
          <a:xfrm xmlns:a="http://schemas.openxmlformats.org/drawingml/2006/main">
            <a:off x="533400" y="3429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00" b="1">
                <a:solidFill>
                  <a:srgbClr val="173F33"/>
                </a:solidFill>
                <a:latin typeface="Arial"/>
                <a:ea typeface="Arial"/>
                <a:cs typeface="Arial"/>
              </a:defRPr>
            </a:pPr>
            <a:r>
              <a:rPr sz="3000" b="1">
                <a:solidFill>
                  <a:srgbClr val="173F33"/>
                </a:solidFill>
                <a:latin typeface="Arial"/>
                <a:ea typeface="Arial"/>
                <a:cs typeface="Arial"/>
              </a:rPr>
              <a:t>References</a:t>
            </a:r>
          </a:p>
        </p:txBody>
      </p:sp>
      <p:sp>
        <p:nvSpPr>
          <p:cNvPr id="2" name="Reference 1 author">
            <a:extLst xmlns:a="http://schemas.openxmlformats.org/drawingml/2006/main">
              <a:ext uri="{FF2B5EF4-FFF2-40B4-BE49-F238E27FC236}">
                <a16:creationId xmlns:a16="http://schemas.microsoft.com/office/drawing/2014/main" id="{AB9B3233-879E-403D-971D-EAD08C5AE79D}"/>
              </a:ext>
            </a:extLst>
          </p:cNvPr>
          <p:cNvSpPr>
            <a:spLocks xmlns:a="http://schemas.openxmlformats.org/drawingml/2006/main" noGrp="1"/>
          </p:cNvSpPr>
          <p:nvPr/>
        </p:nvSpPr>
        <p:spPr>
          <a:xfrm xmlns:a="http://schemas.openxmlformats.org/drawingml/2006/main">
            <a:off x="533400" y="10668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1. IARC. Global Cancer Observatory, 2024.</a:t>
            </a:r>
          </a:p>
        </p:txBody>
      </p:sp>
      <p:sp>
        <p:nvSpPr>
          <p:cNvPr id="3" name="Reference 1 title">
            <a:extLst xmlns:a="http://schemas.openxmlformats.org/drawingml/2006/main">
              <a:ext uri="{FF2B5EF4-FFF2-40B4-BE49-F238E27FC236}">
                <a16:creationId xmlns:a16="http://schemas.microsoft.com/office/drawing/2014/main" id="{E054AB72-E131-4F84-90FD-7F3103B3D2E6}"/>
              </a:ext>
            </a:extLst>
          </p:cNvPr>
          <p:cNvSpPr>
            <a:spLocks xmlns:a="http://schemas.openxmlformats.org/drawingml/2006/main" noGrp="1"/>
          </p:cNvSpPr>
          <p:nvPr/>
        </p:nvSpPr>
        <p:spPr>
          <a:xfrm xmlns:a="http://schemas.openxmlformats.org/drawingml/2006/main">
            <a:off x="533400" y="1323975"/>
            <a:ext cx="539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9c0b3795f9324582"/>
              </a:rPr>
              <a:t>India — GLOBOCAN 2024 Fact Sheet</a:t>
            </a:r>
          </a:p>
        </p:txBody>
      </p:sp>
      <p:sp>
        <p:nvSpPr>
          <p:cNvPr id="4" name="Reference 1 link">
            <a:extLst xmlns:a="http://schemas.openxmlformats.org/drawingml/2006/main">
              <a:ext uri="{FF2B5EF4-FFF2-40B4-BE49-F238E27FC236}">
                <a16:creationId xmlns:a16="http://schemas.microsoft.com/office/drawing/2014/main" id="{6CCABDD6-E4EE-4E2B-A8AE-79F6400511DF}"/>
              </a:ext>
            </a:extLst>
          </p:cNvPr>
          <p:cNvSpPr>
            <a:spLocks xmlns:a="http://schemas.openxmlformats.org/drawingml/2006/main" noGrp="1"/>
          </p:cNvSpPr>
          <p:nvPr/>
        </p:nvSpPr>
        <p:spPr>
          <a:xfrm xmlns:a="http://schemas.openxmlformats.org/drawingml/2006/main">
            <a:off x="533400" y="168592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c444a104f1d54599"/>
              </a:rPr>
              <a:t>IARC India fact sheet</a:t>
            </a:r>
          </a:p>
        </p:txBody>
      </p:sp>
      <p:sp>
        <p:nvSpPr>
          <p:cNvPr id="5" name="Reference 2 author">
            <a:extLst xmlns:a="http://schemas.openxmlformats.org/drawingml/2006/main">
              <a:ext uri="{FF2B5EF4-FFF2-40B4-BE49-F238E27FC236}">
                <a16:creationId xmlns:a16="http://schemas.microsoft.com/office/drawing/2014/main" id="{20FFAF2D-F4AC-409F-B697-5223371E7965}"/>
              </a:ext>
            </a:extLst>
          </p:cNvPr>
          <p:cNvSpPr>
            <a:spLocks xmlns:a="http://schemas.openxmlformats.org/drawingml/2006/main" noGrp="1"/>
          </p:cNvSpPr>
          <p:nvPr/>
        </p:nvSpPr>
        <p:spPr>
          <a:xfrm xmlns:a="http://schemas.openxmlformats.org/drawingml/2006/main">
            <a:off x="533400" y="211455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2. Patil S, et al. BMJ Support Palliat Care, 2024.</a:t>
            </a:r>
          </a:p>
        </p:txBody>
      </p:sp>
      <p:sp>
        <p:nvSpPr>
          <p:cNvPr id="6" name="Reference 2 title">
            <a:extLst xmlns:a="http://schemas.openxmlformats.org/drawingml/2006/main">
              <a:ext uri="{FF2B5EF4-FFF2-40B4-BE49-F238E27FC236}">
                <a16:creationId xmlns:a16="http://schemas.microsoft.com/office/drawing/2014/main" id="{315BC856-9C42-4E6C-9DA7-4505AD2C7F7B}"/>
              </a:ext>
            </a:extLst>
          </p:cNvPr>
          <p:cNvSpPr>
            <a:spLocks xmlns:a="http://schemas.openxmlformats.org/drawingml/2006/main" noGrp="1"/>
          </p:cNvSpPr>
          <p:nvPr/>
        </p:nvSpPr>
        <p:spPr>
          <a:xfrm xmlns:a="http://schemas.openxmlformats.org/drawingml/2006/main">
            <a:off x="533400" y="2371725"/>
            <a:ext cx="5391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86f2f78f1a9e4390"/>
              </a:rPr>
              <a:t>Unmet need for cancer palliative care in India</a:t>
            </a:r>
          </a:p>
        </p:txBody>
      </p:sp>
      <p:sp>
        <p:nvSpPr>
          <p:cNvPr id="7" name="Reference 2 link">
            <a:extLst xmlns:a="http://schemas.openxmlformats.org/drawingml/2006/main">
              <a:ext uri="{FF2B5EF4-FFF2-40B4-BE49-F238E27FC236}">
                <a16:creationId xmlns:a16="http://schemas.microsoft.com/office/drawing/2014/main" id="{9E49C545-AC44-4EE1-A504-7F8954C7C778}"/>
              </a:ext>
            </a:extLst>
          </p:cNvPr>
          <p:cNvSpPr>
            <a:spLocks xmlns:a="http://schemas.openxmlformats.org/drawingml/2006/main" noGrp="1"/>
          </p:cNvSpPr>
          <p:nvPr/>
        </p:nvSpPr>
        <p:spPr>
          <a:xfrm xmlns:a="http://schemas.openxmlformats.org/drawingml/2006/main">
            <a:off x="533400" y="283845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2356ca72a3e14a20"/>
              </a:rPr>
              <a:t>doi.org/10.1136/spcare-2024-004978</a:t>
            </a:r>
          </a:p>
        </p:txBody>
      </p:sp>
      <p:sp>
        <p:nvSpPr>
          <p:cNvPr id="8" name="Reference 3 author">
            <a:extLst xmlns:a="http://schemas.openxmlformats.org/drawingml/2006/main">
              <a:ext uri="{FF2B5EF4-FFF2-40B4-BE49-F238E27FC236}">
                <a16:creationId xmlns:a16="http://schemas.microsoft.com/office/drawing/2014/main" id="{577CB70C-D418-41DF-B42C-70EB1296ACC7}"/>
              </a:ext>
            </a:extLst>
          </p:cNvPr>
          <p:cNvSpPr>
            <a:spLocks xmlns:a="http://schemas.openxmlformats.org/drawingml/2006/main" noGrp="1"/>
          </p:cNvSpPr>
          <p:nvPr/>
        </p:nvSpPr>
        <p:spPr>
          <a:xfrm xmlns:a="http://schemas.openxmlformats.org/drawingml/2006/main">
            <a:off x="533400" y="32480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3. Aslam N, Hayat A. J Pain Symptom Manage, 2024.</a:t>
            </a:r>
          </a:p>
        </p:txBody>
      </p:sp>
      <p:sp>
        <p:nvSpPr>
          <p:cNvPr id="9" name="Reference 3 title">
            <a:extLst xmlns:a="http://schemas.openxmlformats.org/drawingml/2006/main">
              <a:ext uri="{FF2B5EF4-FFF2-40B4-BE49-F238E27FC236}">
                <a16:creationId xmlns:a16="http://schemas.microsoft.com/office/drawing/2014/main" id="{B3D810CE-671C-40A0-8C1A-7429DFF27893}"/>
              </a:ext>
            </a:extLst>
          </p:cNvPr>
          <p:cNvSpPr>
            <a:spLocks xmlns:a="http://schemas.openxmlformats.org/drawingml/2006/main" noGrp="1"/>
          </p:cNvSpPr>
          <p:nvPr/>
        </p:nvSpPr>
        <p:spPr>
          <a:xfrm xmlns:a="http://schemas.openxmlformats.org/drawingml/2006/main">
            <a:off x="533400" y="3505200"/>
            <a:ext cx="539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4983d2b2f37549eb"/>
              </a:rPr>
              <a:t>Early Goal of Care Discussions in Healthcare: A Survey Case Report on Benefits and Perceptions</a:t>
            </a:r>
          </a:p>
        </p:txBody>
      </p:sp>
      <p:sp>
        <p:nvSpPr>
          <p:cNvPr id="10" name="Reference 3 link">
            <a:extLst xmlns:a="http://schemas.openxmlformats.org/drawingml/2006/main">
              <a:ext uri="{FF2B5EF4-FFF2-40B4-BE49-F238E27FC236}">
                <a16:creationId xmlns:a16="http://schemas.microsoft.com/office/drawing/2014/main" id="{1DDB995B-E9F9-4D97-80DF-4892651AF580}"/>
              </a:ext>
            </a:extLst>
          </p:cNvPr>
          <p:cNvSpPr>
            <a:spLocks xmlns:a="http://schemas.openxmlformats.org/drawingml/2006/main" noGrp="1"/>
          </p:cNvSpPr>
          <p:nvPr/>
        </p:nvSpPr>
        <p:spPr>
          <a:xfrm xmlns:a="http://schemas.openxmlformats.org/drawingml/2006/main">
            <a:off x="533400" y="416242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990b1ad12afc4278"/>
              </a:rPr>
              <a:t>doi.org/10.1016/j.jpainsymman.2024.02.030</a:t>
            </a:r>
          </a:p>
        </p:txBody>
      </p:sp>
      <p:sp>
        <p:nvSpPr>
          <p:cNvPr id="11" name="Reference 4 author">
            <a:extLst xmlns:a="http://schemas.openxmlformats.org/drawingml/2006/main">
              <a:ext uri="{FF2B5EF4-FFF2-40B4-BE49-F238E27FC236}">
                <a16:creationId xmlns:a16="http://schemas.microsoft.com/office/drawing/2014/main" id="{DD088DA1-37CD-44B3-8F2B-C85401582082}"/>
              </a:ext>
            </a:extLst>
          </p:cNvPr>
          <p:cNvSpPr>
            <a:spLocks xmlns:a="http://schemas.openxmlformats.org/drawingml/2006/main" noGrp="1"/>
          </p:cNvSpPr>
          <p:nvPr/>
        </p:nvSpPr>
        <p:spPr>
          <a:xfrm xmlns:a="http://schemas.openxmlformats.org/drawingml/2006/main">
            <a:off x="533400" y="459105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4. Thangasamy DRJ, et al. Palliat Med Rep, 2025.</a:t>
            </a:r>
          </a:p>
        </p:txBody>
      </p:sp>
      <p:sp>
        <p:nvSpPr>
          <p:cNvPr id="12" name="Reference 4 title">
            <a:extLst xmlns:a="http://schemas.openxmlformats.org/drawingml/2006/main">
              <a:ext uri="{FF2B5EF4-FFF2-40B4-BE49-F238E27FC236}">
                <a16:creationId xmlns:a16="http://schemas.microsoft.com/office/drawing/2014/main" id="{192A273C-C2BD-4138-BEFA-9EA715347008}"/>
              </a:ext>
            </a:extLst>
          </p:cNvPr>
          <p:cNvSpPr>
            <a:spLocks xmlns:a="http://schemas.openxmlformats.org/drawingml/2006/main" noGrp="1"/>
          </p:cNvSpPr>
          <p:nvPr/>
        </p:nvSpPr>
        <p:spPr>
          <a:xfrm xmlns:a="http://schemas.openxmlformats.org/drawingml/2006/main">
            <a:off x="533400" y="4848225"/>
            <a:ext cx="5391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be3907f855df4c8a"/>
              </a:rPr>
              <a:t>Initiating and Documenting Goals of Care Discussion in Patients with Advanced Pancreatic and Colorectal Cancers: A Quality Improvement Project in a Low Resource Setting</a:t>
            </a:r>
          </a:p>
        </p:txBody>
      </p:sp>
      <p:sp>
        <p:nvSpPr>
          <p:cNvPr id="13" name="Reference 4 link">
            <a:extLst xmlns:a="http://schemas.openxmlformats.org/drawingml/2006/main">
              <a:ext uri="{FF2B5EF4-FFF2-40B4-BE49-F238E27FC236}">
                <a16:creationId xmlns:a16="http://schemas.microsoft.com/office/drawing/2014/main" id="{39E75C96-91A1-4C6B-ACA3-163123F3CFB4}"/>
              </a:ext>
            </a:extLst>
          </p:cNvPr>
          <p:cNvSpPr>
            <a:spLocks xmlns:a="http://schemas.openxmlformats.org/drawingml/2006/main" noGrp="1"/>
          </p:cNvSpPr>
          <p:nvPr/>
        </p:nvSpPr>
        <p:spPr>
          <a:xfrm xmlns:a="http://schemas.openxmlformats.org/drawingml/2006/main">
            <a:off x="533400" y="592455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9ec406ca5c534aae"/>
              </a:rPr>
              <a:t>doi.org/10.1177/26892820251392545</a:t>
            </a:r>
          </a:p>
        </p:txBody>
      </p:sp>
      <p:sp>
        <p:nvSpPr>
          <p:cNvPr id="14" name="Reference 5 author">
            <a:extLst xmlns:a="http://schemas.openxmlformats.org/drawingml/2006/main">
              <a:ext uri="{FF2B5EF4-FFF2-40B4-BE49-F238E27FC236}">
                <a16:creationId xmlns:a16="http://schemas.microsoft.com/office/drawing/2014/main" id="{2420F5BF-0527-4184-B025-C1266195239E}"/>
              </a:ext>
            </a:extLst>
          </p:cNvPr>
          <p:cNvSpPr>
            <a:spLocks xmlns:a="http://schemas.openxmlformats.org/drawingml/2006/main" noGrp="1"/>
          </p:cNvSpPr>
          <p:nvPr/>
        </p:nvSpPr>
        <p:spPr>
          <a:xfrm xmlns:a="http://schemas.openxmlformats.org/drawingml/2006/main">
            <a:off x="6248400" y="10668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5. Sharma P. IndiaSpend / Scroll.in, 2019.</a:t>
            </a:r>
          </a:p>
        </p:txBody>
      </p:sp>
      <p:sp>
        <p:nvSpPr>
          <p:cNvPr id="15" name="Reference 5 title">
            <a:extLst xmlns:a="http://schemas.openxmlformats.org/drawingml/2006/main">
              <a:ext uri="{FF2B5EF4-FFF2-40B4-BE49-F238E27FC236}">
                <a16:creationId xmlns:a16="http://schemas.microsoft.com/office/drawing/2014/main" id="{2D613D2A-1816-42D9-A4DC-EBD301742335}"/>
              </a:ext>
            </a:extLst>
          </p:cNvPr>
          <p:cNvSpPr>
            <a:spLocks xmlns:a="http://schemas.openxmlformats.org/drawingml/2006/main" noGrp="1"/>
          </p:cNvSpPr>
          <p:nvPr/>
        </p:nvSpPr>
        <p:spPr>
          <a:xfrm xmlns:a="http://schemas.openxmlformats.org/drawingml/2006/main">
            <a:off x="6248400" y="1323975"/>
            <a:ext cx="5391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6b4b27e1731b415a"/>
              </a:rPr>
              <a:t>73% urban Indians do not know about their right to make a living will, finds a survey</a:t>
            </a:r>
          </a:p>
        </p:txBody>
      </p:sp>
      <p:sp>
        <p:nvSpPr>
          <p:cNvPr id="16" name="Reference 5 link">
            <a:extLst xmlns:a="http://schemas.openxmlformats.org/drawingml/2006/main">
              <a:ext uri="{FF2B5EF4-FFF2-40B4-BE49-F238E27FC236}">
                <a16:creationId xmlns:a16="http://schemas.microsoft.com/office/drawing/2014/main" id="{F97A29BA-CEB9-458D-B95C-1AB35AB71E1F}"/>
              </a:ext>
            </a:extLst>
          </p:cNvPr>
          <p:cNvSpPr>
            <a:spLocks xmlns:a="http://schemas.openxmlformats.org/drawingml/2006/main" noGrp="1"/>
          </p:cNvSpPr>
          <p:nvPr/>
        </p:nvSpPr>
        <p:spPr>
          <a:xfrm xmlns:a="http://schemas.openxmlformats.org/drawingml/2006/main">
            <a:off x="6248400" y="185737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8aeebce7de414a50"/>
              </a:rPr>
              <a:t>Scroll.in survey report</a:t>
            </a:r>
          </a:p>
        </p:txBody>
      </p:sp>
      <p:sp>
        <p:nvSpPr>
          <p:cNvPr id="17" name="Reference 6 author">
            <a:extLst xmlns:a="http://schemas.openxmlformats.org/drawingml/2006/main">
              <a:ext uri="{FF2B5EF4-FFF2-40B4-BE49-F238E27FC236}">
                <a16:creationId xmlns:a16="http://schemas.microsoft.com/office/drawing/2014/main" id="{11828798-BD65-48AE-BEAA-5C872D83888E}"/>
              </a:ext>
            </a:extLst>
          </p:cNvPr>
          <p:cNvSpPr>
            <a:spLocks xmlns:a="http://schemas.openxmlformats.org/drawingml/2006/main" noGrp="1"/>
          </p:cNvSpPr>
          <p:nvPr/>
        </p:nvSpPr>
        <p:spPr>
          <a:xfrm xmlns:a="http://schemas.openxmlformats.org/drawingml/2006/main">
            <a:off x="6248400" y="20669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6. Jacob JA, et al. Natl Med J India, 2026.</a:t>
            </a:r>
          </a:p>
        </p:txBody>
      </p:sp>
      <p:sp>
        <p:nvSpPr>
          <p:cNvPr id="18" name="Reference 6 title">
            <a:extLst xmlns:a="http://schemas.openxmlformats.org/drawingml/2006/main">
              <a:ext uri="{FF2B5EF4-FFF2-40B4-BE49-F238E27FC236}">
                <a16:creationId xmlns:a16="http://schemas.microsoft.com/office/drawing/2014/main" id="{EBDBD68F-0E1E-4F9A-A13F-A721E9224B74}"/>
              </a:ext>
            </a:extLst>
          </p:cNvPr>
          <p:cNvSpPr>
            <a:spLocks xmlns:a="http://schemas.openxmlformats.org/drawingml/2006/main" noGrp="1"/>
          </p:cNvSpPr>
          <p:nvPr/>
        </p:nvSpPr>
        <p:spPr>
          <a:xfrm xmlns:a="http://schemas.openxmlformats.org/drawingml/2006/main">
            <a:off x="6248400" y="2324100"/>
            <a:ext cx="539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b598e7e6dd214a85"/>
              </a:rPr>
              <a:t>Knowledge and attitude towards advance directives for patients with terminal illnesses among doctors working in a tertiary care hospital</a:t>
            </a:r>
          </a:p>
        </p:txBody>
      </p:sp>
      <p:sp>
        <p:nvSpPr>
          <p:cNvPr id="19" name="Reference 6 link">
            <a:extLst xmlns:a="http://schemas.openxmlformats.org/drawingml/2006/main">
              <a:ext uri="{FF2B5EF4-FFF2-40B4-BE49-F238E27FC236}">
                <a16:creationId xmlns:a16="http://schemas.microsoft.com/office/drawing/2014/main" id="{F74BD547-B6DA-4C62-9DD4-59CF6E3AE349}"/>
              </a:ext>
            </a:extLst>
          </p:cNvPr>
          <p:cNvSpPr>
            <a:spLocks xmlns:a="http://schemas.openxmlformats.org/drawingml/2006/main" noGrp="1"/>
          </p:cNvSpPr>
          <p:nvPr/>
        </p:nvSpPr>
        <p:spPr>
          <a:xfrm xmlns:a="http://schemas.openxmlformats.org/drawingml/2006/main">
            <a:off x="6248400" y="298132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0ff70d8e0ad64a76"/>
              </a:rPr>
              <a:t>doi.org/10.25259/NMJI_817_2023</a:t>
            </a:r>
          </a:p>
        </p:txBody>
      </p:sp>
      <p:sp>
        <p:nvSpPr>
          <p:cNvPr id="20" name="Reference 7 author">
            <a:extLst xmlns:a="http://schemas.openxmlformats.org/drawingml/2006/main">
              <a:ext uri="{FF2B5EF4-FFF2-40B4-BE49-F238E27FC236}">
                <a16:creationId xmlns:a16="http://schemas.microsoft.com/office/drawing/2014/main" id="{9D3A0291-82EC-4A56-84FF-617F61EE6B44}"/>
              </a:ext>
            </a:extLst>
          </p:cNvPr>
          <p:cNvSpPr>
            <a:spLocks xmlns:a="http://schemas.openxmlformats.org/drawingml/2006/main" noGrp="1"/>
          </p:cNvSpPr>
          <p:nvPr/>
        </p:nvSpPr>
        <p:spPr>
          <a:xfrm xmlns:a="http://schemas.openxmlformats.org/drawingml/2006/main">
            <a:off x="6248400" y="32766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7. Singh P, et al. medRxiv, 2025. Preprint.</a:t>
            </a:r>
          </a:p>
        </p:txBody>
      </p:sp>
      <p:sp>
        <p:nvSpPr>
          <p:cNvPr id="21" name="Reference 7 title">
            <a:extLst xmlns:a="http://schemas.openxmlformats.org/drawingml/2006/main">
              <a:ext uri="{FF2B5EF4-FFF2-40B4-BE49-F238E27FC236}">
                <a16:creationId xmlns:a16="http://schemas.microsoft.com/office/drawing/2014/main" id="{1C65BC43-9E4F-4F51-8E04-75CDA78C4F87}"/>
              </a:ext>
            </a:extLst>
          </p:cNvPr>
          <p:cNvSpPr>
            <a:spLocks xmlns:a="http://schemas.openxmlformats.org/drawingml/2006/main" noGrp="1"/>
          </p:cNvSpPr>
          <p:nvPr/>
        </p:nvSpPr>
        <p:spPr>
          <a:xfrm xmlns:a="http://schemas.openxmlformats.org/drawingml/2006/main">
            <a:off x="6248400" y="3533775"/>
            <a:ext cx="5391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ae25742643cc4bc9"/>
              </a:rPr>
              <a:t>Barriers and Facilitators to Advance Care Planning Implementation for Patients with Neurodegenerative Diseases among Indian Physicians: A Mixed-Methods Analysis</a:t>
            </a:r>
          </a:p>
        </p:txBody>
      </p:sp>
      <p:sp>
        <p:nvSpPr>
          <p:cNvPr id="22" name="Reference 7 link">
            <a:extLst xmlns:a="http://schemas.openxmlformats.org/drawingml/2006/main">
              <a:ext uri="{FF2B5EF4-FFF2-40B4-BE49-F238E27FC236}">
                <a16:creationId xmlns:a16="http://schemas.microsoft.com/office/drawing/2014/main" id="{FD63D6E3-B43F-4C74-89F4-01222E2E3C77}"/>
              </a:ext>
            </a:extLst>
          </p:cNvPr>
          <p:cNvSpPr>
            <a:spLocks xmlns:a="http://schemas.openxmlformats.org/drawingml/2006/main" noGrp="1"/>
          </p:cNvSpPr>
          <p:nvPr/>
        </p:nvSpPr>
        <p:spPr>
          <a:xfrm xmlns:a="http://schemas.openxmlformats.org/drawingml/2006/main">
            <a:off x="6248400" y="437197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e0b4745ef01944e9"/>
              </a:rPr>
              <a:t>doi.org/10.1101/2025.10.17.25338242</a:t>
            </a:r>
          </a:p>
        </p:txBody>
      </p:sp>
      <p:sp>
        <p:nvSpPr>
          <p:cNvPr id="23" name="Reference 8 author">
            <a:extLst xmlns:a="http://schemas.openxmlformats.org/drawingml/2006/main">
              <a:ext uri="{FF2B5EF4-FFF2-40B4-BE49-F238E27FC236}">
                <a16:creationId xmlns:a16="http://schemas.microsoft.com/office/drawing/2014/main" id="{E1C87AD9-65AA-4846-A0E7-177504C7B33F}"/>
              </a:ext>
            </a:extLst>
          </p:cNvPr>
          <p:cNvSpPr>
            <a:spLocks xmlns:a="http://schemas.openxmlformats.org/drawingml/2006/main" noGrp="1"/>
          </p:cNvSpPr>
          <p:nvPr/>
        </p:nvSpPr>
        <p:spPr>
          <a:xfrm xmlns:a="http://schemas.openxmlformats.org/drawingml/2006/main">
            <a:off x="6248400" y="46101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8. LeBaron V, et al. The Oncologist, 2014.</a:t>
            </a:r>
          </a:p>
        </p:txBody>
      </p:sp>
      <p:sp>
        <p:nvSpPr>
          <p:cNvPr id="24" name="Reference 8 title">
            <a:extLst xmlns:a="http://schemas.openxmlformats.org/drawingml/2006/main">
              <a:ext uri="{FF2B5EF4-FFF2-40B4-BE49-F238E27FC236}">
                <a16:creationId xmlns:a16="http://schemas.microsoft.com/office/drawing/2014/main" id="{2679064B-80DF-44AA-A6E9-0E631F7E514B}"/>
              </a:ext>
            </a:extLst>
          </p:cNvPr>
          <p:cNvSpPr>
            <a:spLocks xmlns:a="http://schemas.openxmlformats.org/drawingml/2006/main" noGrp="1"/>
          </p:cNvSpPr>
          <p:nvPr/>
        </p:nvSpPr>
        <p:spPr>
          <a:xfrm xmlns:a="http://schemas.openxmlformats.org/drawingml/2006/main">
            <a:off x="6248400" y="4867275"/>
            <a:ext cx="5391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0445e9bb9a2c42e8"/>
              </a:rPr>
              <a:t>An Ethnographic Study of Barriers to Cancer Pain Management and Opioid Availability in India</a:t>
            </a:r>
          </a:p>
        </p:txBody>
      </p:sp>
      <p:sp>
        <p:nvSpPr>
          <p:cNvPr id="25" name="Reference 8 link">
            <a:extLst xmlns:a="http://schemas.openxmlformats.org/drawingml/2006/main">
              <a:ext uri="{FF2B5EF4-FFF2-40B4-BE49-F238E27FC236}">
                <a16:creationId xmlns:a16="http://schemas.microsoft.com/office/drawing/2014/main" id="{736E6EF7-F7D9-4E9A-8D1F-7F53E0E9C982}"/>
              </a:ext>
            </a:extLst>
          </p:cNvPr>
          <p:cNvSpPr>
            <a:spLocks xmlns:a="http://schemas.openxmlformats.org/drawingml/2006/main" noGrp="1"/>
          </p:cNvSpPr>
          <p:nvPr/>
        </p:nvSpPr>
        <p:spPr>
          <a:xfrm xmlns:a="http://schemas.openxmlformats.org/drawingml/2006/main">
            <a:off x="6248400" y="541972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eaaa0c250d4c4249"/>
              </a:rPr>
              <a:t>doi.org/10.1634/theoncologist.2013-0435</a:t>
            </a:r>
          </a:p>
        </p:txBody>
      </p:sp>
      <p:sp>
        <p:nvSpPr>
          <p:cNvPr id="26" name="Reference 9 author">
            <a:extLst xmlns:a="http://schemas.openxmlformats.org/drawingml/2006/main">
              <a:ext uri="{FF2B5EF4-FFF2-40B4-BE49-F238E27FC236}">
                <a16:creationId xmlns:a16="http://schemas.microsoft.com/office/drawing/2014/main" id="{404E8383-B9C5-4EC2-A59E-57B78E3F3C10}"/>
              </a:ext>
            </a:extLst>
          </p:cNvPr>
          <p:cNvSpPr>
            <a:spLocks xmlns:a="http://schemas.openxmlformats.org/drawingml/2006/main" noGrp="1"/>
          </p:cNvSpPr>
          <p:nvPr/>
        </p:nvSpPr>
        <p:spPr>
          <a:xfrm xmlns:a="http://schemas.openxmlformats.org/drawingml/2006/main">
            <a:off x="6248400" y="566737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9. Forsythe LP, et al. J Clin Oncol, 2013. U.S. cohort.</a:t>
            </a:r>
          </a:p>
        </p:txBody>
      </p:sp>
      <p:sp>
        <p:nvSpPr>
          <p:cNvPr id="27" name="Reference 9 title">
            <a:extLst xmlns:a="http://schemas.openxmlformats.org/drawingml/2006/main">
              <a:ext uri="{FF2B5EF4-FFF2-40B4-BE49-F238E27FC236}">
                <a16:creationId xmlns:a16="http://schemas.microsoft.com/office/drawing/2014/main" id="{475E092A-2902-4DC2-84A6-A03D45F0DFBC}"/>
              </a:ext>
            </a:extLst>
          </p:cNvPr>
          <p:cNvSpPr>
            <a:spLocks xmlns:a="http://schemas.openxmlformats.org/drawingml/2006/main" noGrp="1"/>
          </p:cNvSpPr>
          <p:nvPr/>
        </p:nvSpPr>
        <p:spPr>
          <a:xfrm xmlns:a="http://schemas.openxmlformats.org/drawingml/2006/main">
            <a:off x="6248400" y="5924550"/>
            <a:ext cx="5391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6ace8546b74743c7"/>
              </a:rPr>
              <a:t>Receipt of Psychosocial Care Among Cancer Survivors in the United States</a:t>
            </a:r>
          </a:p>
        </p:txBody>
      </p:sp>
      <p:sp>
        <p:nvSpPr>
          <p:cNvPr id="28" name="Reference 9 link">
            <a:extLst xmlns:a="http://schemas.openxmlformats.org/drawingml/2006/main">
              <a:ext uri="{FF2B5EF4-FFF2-40B4-BE49-F238E27FC236}">
                <a16:creationId xmlns:a16="http://schemas.microsoft.com/office/drawing/2014/main" id="{56BB940B-F1F5-49B7-B440-545BBB816510}"/>
              </a:ext>
            </a:extLst>
          </p:cNvPr>
          <p:cNvSpPr>
            <a:spLocks xmlns:a="http://schemas.openxmlformats.org/drawingml/2006/main" noGrp="1"/>
          </p:cNvSpPr>
          <p:nvPr/>
        </p:nvSpPr>
        <p:spPr>
          <a:xfrm xmlns:a="http://schemas.openxmlformats.org/drawingml/2006/main">
            <a:off x="6248400" y="641985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cd438b3b31794942"/>
              </a:rPr>
              <a:t>doi.org/10.1200/JCO.2012.46.2101</a:t>
            </a:r>
          </a:p>
        </p:txBody>
      </p:sp>
    </p:spTree>
    <p:extLst>
      <p:ext uri="{BB962C8B-B14F-4D97-AF65-F5344CB8AC3E}">
        <p14:creationId xmlns:p14="http://schemas.microsoft.com/office/powerpoint/2010/main" val="382509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2026-09-24T05:54:20.6470000Z</dcterms:created>
  <dcterms:modified xsi:type="dcterms:W3CDTF">2026-09-24T05:54:20.6470000Z</dcterms:modified>
</coreProperties>
</file>