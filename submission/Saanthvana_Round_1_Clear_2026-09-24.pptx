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b0f152e0394da8" /><Relationship Type="http://schemas.openxmlformats.org/officeDocument/2006/relationships/extended-properties" Target="/docProps/app.xml" Id="R61acff0e1220470e" /><Relationship Type="http://schemas.openxmlformats.org/officeDocument/2006/relationships/officeDocument" Target="/ppt/presentation.xml" Id="Ra818e96fd7644d76" /></Relationships>
</file>

<file path=ppt/presentation.xml><?xml version="1.0" encoding="utf-8"?>
<p:presentation xmlns:p="http://schemas.openxmlformats.org/presentationml/2006/main">
  <p:sldMasterIdLst>
    <p:sldMasterId xmlns:r="http://schemas.openxmlformats.org/officeDocument/2006/relationships" id="2147483648" r:id="Re65609bf26404080"/>
  </p:sldMasterIdLst>
  <p:notesMasterIdLst>
    <p:notesMasterId xmlns:r="http://schemas.openxmlformats.org/officeDocument/2006/relationships" r:id="R5c99cc9228ef4388"/>
  </p:notesMasterIdLst>
  <p:sldIdLst>
    <p:sldId xmlns:r="http://schemas.openxmlformats.org/officeDocument/2006/relationships" id="256" r:id="R4eb9e2a46b604a58"/>
    <p:sldId xmlns:r="http://schemas.openxmlformats.org/officeDocument/2006/relationships" id="257" r:id="Ra5726b35deff4606"/>
    <p:sldId xmlns:r="http://schemas.openxmlformats.org/officeDocument/2006/relationships" id="258" r:id="Rb05f6d81f1d04ba4"/>
    <p:sldId xmlns:r="http://schemas.openxmlformats.org/officeDocument/2006/relationships" id="259" r:id="Rc6aa5b3e910a4320"/>
    <p:sldId xmlns:r="http://schemas.openxmlformats.org/officeDocument/2006/relationships" id="260" r:id="R7951455765db4b4a"/>
    <p:sldId xmlns:r="http://schemas.openxmlformats.org/officeDocument/2006/relationships" id="261" r:id="R4b1030bb2ea14fad"/>
    <p:sldId xmlns:r="http://schemas.openxmlformats.org/officeDocument/2006/relationships" id="262" r:id="Rfe6cb7cd320d4d7c"/>
    <p:sldId xmlns:r="http://schemas.openxmlformats.org/officeDocument/2006/relationships" id="263" r:id="R39a789147b0144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12067206544025" /><Relationship Type="http://schemas.openxmlformats.org/officeDocument/2006/relationships/slideMaster" Target="/ppt/slideMasters/slideMaster1.xml" Id="Re65609bf26404080" /><Relationship Type="http://schemas.openxmlformats.org/officeDocument/2006/relationships/notesMaster" Target="/ppt/notesMasters/notesMaster1.xml" Id="R5c99cc9228ef4388" /><Relationship Type="http://schemas.openxmlformats.org/officeDocument/2006/relationships/presProps" Target="/ppt/presProps.xml" Id="Rf4d89c28d15742ac" /><Relationship Type="http://schemas.openxmlformats.org/officeDocument/2006/relationships/tableStyles" Target="/ppt/tableStyles.xml" Id="R884769f8bcac4027" /><Relationship Type="http://schemas.openxmlformats.org/officeDocument/2006/relationships/slide" Target="/ppt/slides/slide1.xml" Id="R4eb9e2a46b604a58" /><Relationship Type="http://schemas.openxmlformats.org/officeDocument/2006/relationships/slide" Target="/ppt/slides/slide2.xml" Id="Ra5726b35deff4606" /><Relationship Type="http://schemas.openxmlformats.org/officeDocument/2006/relationships/slide" Target="/ppt/slides/slide3.xml" Id="Rb05f6d81f1d04ba4" /><Relationship Type="http://schemas.openxmlformats.org/officeDocument/2006/relationships/slide" Target="/ppt/slides/slide4.xml" Id="Rc6aa5b3e910a4320" /><Relationship Type="http://schemas.openxmlformats.org/officeDocument/2006/relationships/slide" Target="/ppt/slides/slide5.xml" Id="R7951455765db4b4a" /><Relationship Type="http://schemas.openxmlformats.org/officeDocument/2006/relationships/slide" Target="/ppt/slides/slide6.xml" Id="R4b1030bb2ea14fad" /><Relationship Type="http://schemas.openxmlformats.org/officeDocument/2006/relationships/slide" Target="/ppt/slides/slide7.xml" Id="Rfe6cb7cd320d4d7c" /><Relationship Type="http://schemas.openxmlformats.org/officeDocument/2006/relationships/slide" Target="/ppt/slides/slide8.xml" Id="R39a789147b0144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831d0bc37844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9cf8ec836c403a" /><Relationship Type="http://schemas.openxmlformats.org/officeDocument/2006/relationships/notesMaster" Target="/ppt/notesMasters/notesMaster1.xml" Id="R5d0caf438d134e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a6332bb3cb4945" /><Relationship Type="http://schemas.openxmlformats.org/officeDocument/2006/relationships/notesMaster" Target="/ppt/notesMasters/notesMaster1.xml" Id="R06715dd0a1cb44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ae28921c9f4054" /><Relationship Type="http://schemas.openxmlformats.org/officeDocument/2006/relationships/notesMaster" Target="/ppt/notesMasters/notesMaster1.xml" Id="Re460c30347fc4a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4dcf7571dd4dff" /><Relationship Type="http://schemas.openxmlformats.org/officeDocument/2006/relationships/notesMaster" Target="/ppt/notesMasters/notesMaster1.xml" Id="R64e6cbb03e2c4c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f9a30d08c949e1" /><Relationship Type="http://schemas.openxmlformats.org/officeDocument/2006/relationships/notesMaster" Target="/ppt/notesMasters/notesMaster1.xml" Id="R5cd8e609987e48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ed04fcad1f462a" /><Relationship Type="http://schemas.openxmlformats.org/officeDocument/2006/relationships/notesMaster" Target="/ppt/notesMasters/notesMaster1.xml" Id="R1aadd9f02c6846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f9f47ee4ef4505" /><Relationship Type="http://schemas.openxmlformats.org/officeDocument/2006/relationships/notesMaster" Target="/ppt/notesMasters/notesMaster1.xml" Id="R877109ec085941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0c05f856984662" /><Relationship Type="http://schemas.openxmlformats.org/officeDocument/2006/relationships/notesMaster" Target="/ppt/notesMasters/notesMaster1.xml" Id="Rf3795add70714c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cover image is an illustration, not a photograph of a real patient or visit.</a:t>
            </a:r>
          </a:p>
          <a:p xmlns:a="http://schemas.openxmlformats.org/drawingml/2006/main">
            <a:r>
              <a:t/>
            </a:r>
          </a:p>
          <a:p xmlns:a="http://schemas.openxmlformats.org/drawingml/2006/main">
            <a:r>
              <a:t>[Sources]</a:t>
            </a:r>
          </a:p>
          <a:p xmlns:a="http://schemas.openxmlformats.org/drawingml/2006/main">
            <a:r>
              <a:t>- Saanthvana_Background_Rationale_1.pptx</a:t>
            </a:r>
          </a:p>
          <a:p xmlns:a="http://schemas.openxmlformats.org/drawingml/2006/main">
            <a:r>
              <a:t>- User-provided slide text: submission/Saanthvana_Round_1_Slide_Text_2026-09-24.md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scenario supplied by the team; this is not a reported patient case. The story does not recommend or reject any emergency treatment.</a:t>
            </a:r>
          </a:p>
          <a:p xmlns:a="http://schemas.openxmlformats.org/drawingml/2006/main">
            <a:r>
              <a:t/>
            </a:r>
          </a:p>
          <a:p xmlns:a="http://schemas.openxmlformats.org/drawingml/2006/main">
            <a:r>
              <a:t>[Sources]</a:t>
            </a:r>
          </a:p>
          <a:p xmlns:a="http://schemas.openxmlformats.org/drawingml/2006/main">
            <a:r>
              <a:t>- docs/meetings/2026-09-23-chat-follow-up.md</a:t>
            </a:r>
          </a:p>
          <a:p xmlns:a="http://schemas.openxmlformats.org/drawingml/2006/main">
            <a:r>
              <a:t>- User-provided slide text: submission/Saanthvana_Round_1_Slide_Text_2026-09-24.md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note-history screenshot is an actual local product capture. Names and patient details shown in the interface are sample data. The signing flow records a typed name.</a:t>
            </a:r>
          </a:p>
          <a:p xmlns:a="http://schemas.openxmlformats.org/drawingml/2006/main">
            <a:r>
              <a:t/>
            </a:r>
          </a:p>
          <a:p xmlns:a="http://schemas.openxmlformats.org/drawingml/2006/main">
            <a:r>
              <a:t>[Sources]</a:t>
            </a:r>
          </a:p>
          <a:p xmlns:a="http://schemas.openxmlformats.org/drawingml/2006/main">
            <a:r>
              <a:t>- output/playwright/2026-09-24-note-history.png</a:t>
            </a:r>
          </a:p>
          <a:p xmlns:a="http://schemas.openxmlformats.org/drawingml/2006/main">
            <a:r>
              <a:t>- docs/meetings/2026-09-23-chat-follow-up.md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connection is planned and is not connected in the current app. The current conversation, review and typed-name signing screens work. The doctor remains responsible for checking and signing the note.</a:t>
            </a:r>
          </a:p>
          <a:p xmlns:a="http://schemas.openxmlformats.org/drawingml/2006/main">
            <a:r>
              <a:t/>
            </a:r>
          </a:p>
          <a:p xmlns:a="http://schemas.openxmlformats.org/drawingml/2006/main">
            <a:r>
              <a:t>[Sources]</a:t>
            </a:r>
          </a:p>
          <a:p xmlns:a="http://schemas.openxmlformats.org/drawingml/2006/main">
            <a:r>
              <a:t>- Truly Left.md</a:t>
            </a:r>
          </a:p>
          <a:p xmlns:a="http://schemas.openxmlformats.org/drawingml/2006/main">
            <a:r>
              <a:t>- submission/Round_1_Answers_2026-09-24.md</a:t>
            </a:r>
          </a:p>
          <a:p xmlns:a="http://schemas.openxmlformats.org/drawingml/2006/main">
            <a:r>
              <a:t>- docs/releases/2026-09-24-uploads-signing-and-tasks.md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local Home capture from 24 September 2026. The screen shows the four care areas, Today panel, upload action and Quick access.</a:t>
            </a:r>
          </a:p>
          <a:p xmlns:a="http://schemas.openxmlformats.org/drawingml/2006/main">
            <a:r>
              <a:t/>
            </a:r>
          </a:p>
          <a:p xmlns:a="http://schemas.openxmlformats.org/drawingml/2006/main">
            <a:r>
              <a:t>[Sources]</a:t>
            </a:r>
          </a:p>
          <a:p xmlns:a="http://schemas.openxmlformats.org/drawingml/2006/main">
            <a:r>
              <a:t>- output/playwright/2026-09-24-home-desktop.png</a:t>
            </a:r>
          </a:p>
          <a:p xmlns:a="http://schemas.openxmlformats.org/drawingml/2006/main">
            <a:r>
              <a:t>- prototype/app/family-care-home.tsx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future example of how a shared task will work. Task updates between separate phones still need connecting.</a:t>
            </a:r>
          </a:p>
          <a:p xmlns:a="http://schemas.openxmlformats.org/drawingml/2006/main">
            <a:r>
              <a:t/>
            </a:r>
          </a:p>
          <a:p xmlns:a="http://schemas.openxmlformats.org/drawingml/2006/main">
            <a:r>
              <a:t>[Sources]</a:t>
            </a:r>
          </a:p>
          <a:p xmlns:a="http://schemas.openxmlformats.org/drawingml/2006/main">
            <a:r>
              <a:t>- docs/releases/2026-09-24-uploads-signing-and-tasks.md</a:t>
            </a:r>
          </a:p>
          <a:p xmlns:a="http://schemas.openxmlformats.org/drawingml/2006/main">
            <a:r>
              <a:t>- submission/Round_1_Answers_2026-09-24.md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capabilities and remaining work are described in the 24 September release notes and submission answers. The documents screenshot is an actual local capture.</a:t>
            </a:r>
          </a:p>
          <a:p xmlns:a="http://schemas.openxmlformats.org/drawingml/2006/main">
            <a:r>
              <a:t/>
            </a:r>
          </a:p>
          <a:p xmlns:a="http://schemas.openxmlformats.org/drawingml/2006/main">
            <a:r>
              <a:t>[Sources]</a:t>
            </a:r>
          </a:p>
          <a:p xmlns:a="http://schemas.openxmlformats.org/drawingml/2006/main">
            <a:r>
              <a:t>- output/playwright/2026-09-23-documents-desktop.png</a:t>
            </a:r>
          </a:p>
          <a:p xmlns:a="http://schemas.openxmlformats.org/drawingml/2006/main">
            <a:r>
              <a:t>- Truly Left.md</a:t>
            </a:r>
          </a:p>
          <a:p xmlns:a="http://schemas.openxmlformats.org/drawingml/2006/main">
            <a:r>
              <a:t>- submission/Round_1_Answers_2026-09-24.md</a:t>
            </a:r>
          </a:p>
          <a:p xmlns:a="http://schemas.openxmlformats.org/drawingml/2006/main">
            <a:r>
              <a:t>- docs/releases/2026-09-24-uploads-signing-and-tasks.md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60–90 day evaluation is a proposal; there are no results yet. The cover illustration and clinical story are illustrative, not evidence of outcomes.</a:t>
            </a:r>
          </a:p>
          <a:p xmlns:a="http://schemas.openxmlformats.org/drawingml/2006/main">
            <a:r>
              <a:t/>
            </a:r>
          </a:p>
          <a:p xmlns:a="http://schemas.openxmlformats.org/drawingml/2006/main">
            <a:r>
              <a:t>[Sources]</a:t>
            </a:r>
          </a:p>
          <a:p xmlns:a="http://schemas.openxmlformats.org/drawingml/2006/main">
            <a:r>
              <a:t>- submission/Saanthvana_Round_1_Slide_Text_2026-09-24.md</a:t>
            </a:r>
          </a:p>
          <a:p xmlns:a="http://schemas.openxmlformats.org/drawingml/2006/main">
            <a:r>
              <a:t>- PROJECT_CONTEXT_MAP.md</a:t>
            </a:r>
          </a:p>
          <a:p xmlns:a="http://schemas.openxmlformats.org/drawingml/2006/main">
            <a:r>
              <a:t>- VERCEL_DEPLOYMENT_HANDOFF.md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507cbccb494c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5b1807908c4acd" /><Relationship Type="http://schemas.openxmlformats.org/officeDocument/2006/relationships/slideLayout" Target="/ppt/slideLayouts/slideLayout1.xml" Id="Rfa4eec878e6b4f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4eec878e6b4f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c697841b9a4940" /><Relationship Type="http://schemas.openxmlformats.org/officeDocument/2006/relationships/image" Target="/ppt/media/image.png" Id="R8aef0a95b1964fec" /><Relationship Type="http://schemas.openxmlformats.org/officeDocument/2006/relationships/notesSlide" Target="/ppt/notesSlides/notesSlide1.xml" Id="Rd03a9bba771248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32b1bb6c97b40cb" /><Relationship Type="http://schemas.openxmlformats.org/officeDocument/2006/relationships/notesSlide" Target="/ppt/notesSlides/notesSlide2.xml" Id="R8cf221da688740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8378efa548481c" /><Relationship Type="http://schemas.openxmlformats.org/officeDocument/2006/relationships/image" Target="/ppt/media/image.jpeg" Id="R7d4a3e3ab5144048" /><Relationship Type="http://schemas.openxmlformats.org/officeDocument/2006/relationships/notesSlide" Target="/ppt/notesSlides/notesSlide3.xml" Id="R5906bc333d5c41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171b33c57424acb" /><Relationship Type="http://schemas.openxmlformats.org/officeDocument/2006/relationships/notesSlide" Target="/ppt/notesSlides/notesSlide4.xml" Id="R02267d3a181149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b502d7b13fc4c48" /><Relationship Type="http://schemas.openxmlformats.org/officeDocument/2006/relationships/image" Target="/ppt/media/image2.jpeg" Id="Rff3cbd02dfb94e9d" /><Relationship Type="http://schemas.openxmlformats.org/officeDocument/2006/relationships/notesSlide" Target="/ppt/notesSlides/notesSlide5.xml" Id="Ra1d99c7c1ded4e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557dee93944dce" /><Relationship Type="http://schemas.openxmlformats.org/officeDocument/2006/relationships/notesSlide" Target="/ppt/notesSlides/notesSlide6.xml" Id="R07520a3f79884a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2733cd7058d4718" /><Relationship Type="http://schemas.openxmlformats.org/officeDocument/2006/relationships/image" Target="/ppt/media/image2.png" Id="R16f9e6ff78a4408a" /><Relationship Type="http://schemas.openxmlformats.org/officeDocument/2006/relationships/notesSlide" Target="/ppt/notesSlides/notesSlide7.xml" Id="R478c4080909248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4660d1b898433f" /><Relationship Type="http://schemas.openxmlformats.org/officeDocument/2006/relationships/notesSlide" Target="/ppt/notesSlides/notesSlide8.xml" Id="Rcbce684cc54b4b77" /></Relationships>
</file>

<file path=ppt/slides/slide1.xml><?xml version="1.0" encoding="utf-8"?>
<p:sld xmlns:p="http://schemas.openxmlformats.org/presentationml/2006/main">
  <p:cSld>
    <p:bg>
      <p:bgPr>
        <a:solidFill xmlns:a="http://schemas.openxmlformats.org/drawingml/2006/main">
          <a:srgbClr val="123F32"/>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aef0a95b1964fec"/>
          <a:srcRect xmlns:a="http://schemas.openxmlformats.org/drawingml/2006/main" l="21852" t="0" r="21852" b="0"/>
          <a:stretch xmlns:a="http://schemas.openxmlformats.org/drawingml/2006/main">
            <a:fillRect l="0" t="0" r="0" b="0"/>
          </a:stretch>
        </p:blipFill>
        <p:spPr>
          <a:xfrm xmlns:a="http://schemas.openxmlformats.org/drawingml/2006/main">
            <a:off x="6400800" y="0"/>
            <a:ext cx="5791200" cy="6858000"/>
          </a:xfrm>
          <a:prstGeom xmlns:a="http://schemas.openxmlformats.org/drawingml/2006/main" prst="rect">
            <a:avLst/>
          </a:prstGeom>
        </p:spPr>
      </p:pic>
      <p:sp>
        <p:nvSpPr>
          <p:cNvPr id="8" name="Saanthvana">
            <a:extLst xmlns:a="http://schemas.openxmlformats.org/drawingml/2006/main">
              <a:ext uri="{FF2B5EF4-FFF2-40B4-BE49-F238E27FC236}">
                <a16:creationId xmlns:a16="http://schemas.microsoft.com/office/drawing/2014/main" id="{B8EEFC63-DC80-490F-9864-FF530270904D}"/>
              </a:ext>
            </a:extLst>
          </p:cNvPr>
          <p:cNvSpPr>
            <a:spLocks xmlns:a="http://schemas.openxmlformats.org/drawingml/2006/main" noGrp="1"/>
          </p:cNvSpPr>
          <p:nvPr/>
        </p:nvSpPr>
        <p:spPr>
          <a:xfrm xmlns:a="http://schemas.openxmlformats.org/drawingml/2006/main">
            <a:off x="533400" y="914400"/>
            <a:ext cx="5286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Saanthvana</a:t>
            </a:r>
          </a:p>
        </p:txBody>
      </p:sp>
      <p:sp>
        <p:nvSpPr>
          <p:cNvPr id="9" name="What Saanthvana does">
            <a:extLst xmlns:a="http://schemas.openxmlformats.org/drawingml/2006/main">
              <a:ext uri="{FF2B5EF4-FFF2-40B4-BE49-F238E27FC236}">
                <a16:creationId xmlns:a16="http://schemas.microsoft.com/office/drawing/2014/main" id="{133268B7-5A3C-4271-86C3-1C5B4C3FCD81}"/>
              </a:ext>
            </a:extLst>
          </p:cNvPr>
          <p:cNvSpPr>
            <a:spLocks xmlns:a="http://schemas.openxmlformats.org/drawingml/2006/main" noGrp="1"/>
          </p:cNvSpPr>
          <p:nvPr/>
        </p:nvSpPr>
        <p:spPr>
          <a:xfrm xmlns:a="http://schemas.openxmlformats.org/drawingml/2006/main">
            <a:off x="533400" y="1905000"/>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F4F1E6"/>
                </a:solidFill>
                <a:latin typeface="Arial"/>
                <a:ea typeface="Arial"/>
                <a:cs typeface="Arial"/>
              </a:defRPr>
            </a:pPr>
            <a:r>
              <a:rPr sz="1800" b="0">
                <a:solidFill>
                  <a:srgbClr val="F4F1E6"/>
                </a:solidFill>
                <a:latin typeface="Arial"/>
                <a:ea typeface="Arial"/>
                <a:cs typeface="Arial"/>
              </a:rPr>
              <a:t>Saanthvana helps people with cancer and their families keep track of what they discussed with their doctor.</a:t>
            </a:r>
          </a:p>
        </p:txBody>
      </p:sp>
      <p:sp>
        <p:nvSpPr>
          <p:cNvPr id="10" name="Shared record purpose">
            <a:extLst xmlns:a="http://schemas.openxmlformats.org/drawingml/2006/main">
              <a:ext uri="{FF2B5EF4-FFF2-40B4-BE49-F238E27FC236}">
                <a16:creationId xmlns:a16="http://schemas.microsoft.com/office/drawing/2014/main" id="{E3F8DD9F-7F90-4645-B6A2-E4390050251C}"/>
              </a:ext>
            </a:extLst>
          </p:cNvPr>
          <p:cNvSpPr>
            <a:spLocks xmlns:a="http://schemas.openxmlformats.org/drawingml/2006/main" noGrp="1"/>
          </p:cNvSpPr>
          <p:nvPr/>
        </p:nvSpPr>
        <p:spPr>
          <a:xfrm xmlns:a="http://schemas.openxmlformats.org/drawingml/2006/main">
            <a:off x="533400" y="3190875"/>
            <a:ext cx="5143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F4F1E6"/>
                </a:solidFill>
                <a:latin typeface="Arial"/>
                <a:ea typeface="Arial"/>
                <a:cs typeface="Arial"/>
              </a:defRPr>
            </a:pPr>
            <a:r>
              <a:rPr sz="1800" b="0">
                <a:solidFill>
                  <a:srgbClr val="F4F1E6"/>
                </a:solidFill>
                <a:latin typeface="Arial"/>
                <a:ea typeface="Arial"/>
                <a:cs typeface="Arial"/>
              </a:rPr>
              <a:t>We are building it so the family can find the patient's wishes, the doctor's notes and the next steps in one place.</a:t>
            </a:r>
          </a:p>
        </p:txBody>
      </p:sp>
      <p:sp>
        <p:nvSpPr>
          <p:cNvPr id="11" name="Health-a-thon focus">
            <a:extLst xmlns:a="http://schemas.openxmlformats.org/drawingml/2006/main">
              <a:ext uri="{FF2B5EF4-FFF2-40B4-BE49-F238E27FC236}">
                <a16:creationId xmlns:a16="http://schemas.microsoft.com/office/drawing/2014/main" id="{FAEB20EA-1810-4B72-8599-EA41B2DA904F}"/>
              </a:ext>
            </a:extLst>
          </p:cNvPr>
          <p:cNvSpPr>
            <a:spLocks xmlns:a="http://schemas.openxmlformats.org/drawingml/2006/main" noGrp="1"/>
          </p:cNvSpPr>
          <p:nvPr/>
        </p:nvSpPr>
        <p:spPr>
          <a:xfrm xmlns:a="http://schemas.openxmlformats.org/drawingml/2006/main">
            <a:off x="533400" y="4648200"/>
            <a:ext cx="5143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F4F1E6"/>
                </a:solidFill>
                <a:latin typeface="Arial"/>
                <a:ea typeface="Arial"/>
                <a:cs typeface="Arial"/>
              </a:defRPr>
            </a:pPr>
            <a:r>
              <a:rPr sz="1800" b="0">
                <a:solidFill>
                  <a:srgbClr val="F4F1E6"/>
                </a:solidFill>
                <a:latin typeface="Arial"/>
                <a:ea typeface="Arial"/>
                <a:cs typeface="Arial"/>
              </a:rPr>
              <a:t>Our Health-a-thon entry focuses on family and caregiver support in cancer care.</a:t>
            </a:r>
          </a:p>
        </p:txBody>
      </p:sp>
    </p:spTree>
    <p:extLst>
      <p:ext uri="{BB962C8B-B14F-4D97-AF65-F5344CB8AC3E}">
        <p14:creationId xmlns:p14="http://schemas.microsoft.com/office/powerpoint/2010/main" val="325207568"/>
      </p:ext>
    </p:extLst>
  </p:cSld>
</p:sld>
</file>

<file path=ppt/slides/slide2.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4A4BDAF8-BD4E-436E-8F12-34DFB8AA3139}"/>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550" b="1">
                <a:solidFill>
                  <a:srgbClr val="173F33"/>
                </a:solidFill>
                <a:latin typeface="Arial"/>
                <a:ea typeface="Arial"/>
                <a:cs typeface="Arial"/>
              </a:defRPr>
            </a:pPr>
            <a:r>
              <a:rPr sz="2550" b="1">
                <a:solidFill>
                  <a:srgbClr val="173F33"/>
                </a:solidFill>
                <a:latin typeface="Arial"/>
                <a:ea typeface="Arial"/>
                <a:cs typeface="Arial"/>
              </a:rPr>
              <a:t>When the family cannot find the earlier conversation</a:t>
            </a:r>
          </a:p>
        </p:txBody>
      </p:sp>
      <p:sp>
        <p:nvSpPr>
          <p:cNvPr id="2" name="Two months earlier">
            <a:extLst xmlns:a="http://schemas.openxmlformats.org/drawingml/2006/main">
              <a:ext uri="{FF2B5EF4-FFF2-40B4-BE49-F238E27FC236}">
                <a16:creationId xmlns:a16="http://schemas.microsoft.com/office/drawing/2014/main" id="{8B7410A4-2A62-4A39-A3F0-152ABB9410BB}"/>
              </a:ext>
            </a:extLst>
          </p:cNvPr>
          <p:cNvSpPr>
            <a:spLocks xmlns:a="http://schemas.openxmlformats.org/drawingml/2006/main" noGrp="1"/>
          </p:cNvSpPr>
          <p:nvPr/>
        </p:nvSpPr>
        <p:spPr>
          <a:xfrm xmlns:a="http://schemas.openxmlformats.org/drawingml/2006/main">
            <a:off x="533400" y="1371600"/>
            <a:ext cx="516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1">
                <a:solidFill>
                  <a:srgbClr val="173F33"/>
                </a:solidFill>
                <a:latin typeface="Arial"/>
                <a:ea typeface="Arial"/>
                <a:cs typeface="Arial"/>
              </a:defRPr>
            </a:pPr>
            <a:r>
              <a:rPr sz="1875" b="1">
                <a:solidFill>
                  <a:srgbClr val="173F33"/>
                </a:solidFill>
                <a:latin typeface="Arial"/>
                <a:ea typeface="Arial"/>
                <a:cs typeface="Arial"/>
              </a:rPr>
              <a:t>Two months earlier</a:t>
            </a:r>
          </a:p>
        </p:txBody>
      </p:sp>
      <p:sp>
        <p:nvSpPr>
          <p:cNvPr id="3" name="Earlier conversation">
            <a:extLst xmlns:a="http://schemas.openxmlformats.org/drawingml/2006/main">
              <a:ext uri="{FF2B5EF4-FFF2-40B4-BE49-F238E27FC236}">
                <a16:creationId xmlns:a16="http://schemas.microsoft.com/office/drawing/2014/main" id="{D7F8A375-A0B9-4A5E-AD7E-7E86E475F9F2}"/>
              </a:ext>
            </a:extLst>
          </p:cNvPr>
          <p:cNvSpPr>
            <a:spLocks xmlns:a="http://schemas.openxmlformats.org/drawingml/2006/main" noGrp="1"/>
          </p:cNvSpPr>
          <p:nvPr/>
        </p:nvSpPr>
        <p:spPr>
          <a:xfrm xmlns:a="http://schemas.openxmlformats.org/drawingml/2006/main">
            <a:off x="533400" y="1857375"/>
            <a:ext cx="5162550"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Imagine a 62-year-old woman with advanced breast cancer who starts best supportive care to help manage her symptoms. Her doctor discusses what she would want if her condition worsens, but only her husband attends.</a:t>
            </a:r>
          </a:p>
        </p:txBody>
      </p:sp>
      <p:sp>
        <p:nvSpPr>
          <p:cNvPr id="4" name="At the hospital">
            <a:extLst xmlns:a="http://schemas.openxmlformats.org/drawingml/2006/main">
              <a:ext uri="{FF2B5EF4-FFF2-40B4-BE49-F238E27FC236}">
                <a16:creationId xmlns:a16="http://schemas.microsoft.com/office/drawing/2014/main" id="{F13D3A55-29E7-4F6A-997A-CA76A6A905B7}"/>
              </a:ext>
            </a:extLst>
          </p:cNvPr>
          <p:cNvSpPr>
            <a:spLocks xmlns:a="http://schemas.openxmlformats.org/drawingml/2006/main" noGrp="1"/>
          </p:cNvSpPr>
          <p:nvPr/>
        </p:nvSpPr>
        <p:spPr>
          <a:xfrm xmlns:a="http://schemas.openxmlformats.org/drawingml/2006/main">
            <a:off x="533400" y="4057650"/>
            <a:ext cx="516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1">
                <a:solidFill>
                  <a:srgbClr val="173F33"/>
                </a:solidFill>
                <a:latin typeface="Arial"/>
                <a:ea typeface="Arial"/>
                <a:cs typeface="Arial"/>
              </a:defRPr>
            </a:pPr>
            <a:r>
              <a:rPr sz="1875" b="1">
                <a:solidFill>
                  <a:srgbClr val="173F33"/>
                </a:solidFill>
                <a:latin typeface="Arial"/>
                <a:ea typeface="Arial"/>
                <a:cs typeface="Arial"/>
              </a:rPr>
              <a:t>At the hospital</a:t>
            </a:r>
          </a:p>
        </p:txBody>
      </p:sp>
      <p:sp>
        <p:nvSpPr>
          <p:cNvPr id="5" name="Emergency question">
            <a:extLst xmlns:a="http://schemas.openxmlformats.org/drawingml/2006/main">
              <a:ext uri="{FF2B5EF4-FFF2-40B4-BE49-F238E27FC236}">
                <a16:creationId xmlns:a16="http://schemas.microsoft.com/office/drawing/2014/main" id="{3E74B6B2-6CCA-4616-BEF3-F3326DA37D21}"/>
              </a:ext>
            </a:extLst>
          </p:cNvPr>
          <p:cNvSpPr>
            <a:spLocks xmlns:a="http://schemas.openxmlformats.org/drawingml/2006/main" noGrp="1"/>
          </p:cNvSpPr>
          <p:nvPr/>
        </p:nvSpPr>
        <p:spPr>
          <a:xfrm xmlns:a="http://schemas.openxmlformats.org/drawingml/2006/main">
            <a:off x="533400" y="4543425"/>
            <a:ext cx="51625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She later becomes unconscious at home and is taken to hospital. The doctor asks what she would want if her heart stopped or she could not breathe on her own.</a:t>
            </a:r>
          </a:p>
        </p:txBody>
      </p:sp>
      <p:sp>
        <p:nvSpPr>
          <p:cNvPr id="6" name="Different answers">
            <a:extLst xmlns:a="http://schemas.openxmlformats.org/drawingml/2006/main">
              <a:ext uri="{FF2B5EF4-FFF2-40B4-BE49-F238E27FC236}">
                <a16:creationId xmlns:a16="http://schemas.microsoft.com/office/drawing/2014/main" id="{6A7E6606-C287-411C-BDD6-6CAEC1A5C0CE}"/>
              </a:ext>
            </a:extLst>
          </p:cNvPr>
          <p:cNvSpPr>
            <a:spLocks xmlns:a="http://schemas.openxmlformats.org/drawingml/2006/main" noGrp="1"/>
          </p:cNvSpPr>
          <p:nvPr/>
        </p:nvSpPr>
        <p:spPr>
          <a:xfrm xmlns:a="http://schemas.openxmlformats.org/drawingml/2006/main">
            <a:off x="6305550" y="1371600"/>
            <a:ext cx="5353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1">
                <a:solidFill>
                  <a:srgbClr val="173F33"/>
                </a:solidFill>
                <a:latin typeface="Arial"/>
                <a:ea typeface="Arial"/>
                <a:cs typeface="Arial"/>
              </a:defRPr>
            </a:pPr>
            <a:r>
              <a:rPr sz="1875" b="1">
                <a:solidFill>
                  <a:srgbClr val="173F33"/>
                </a:solidFill>
                <a:latin typeface="Arial"/>
                <a:ea typeface="Arial"/>
                <a:cs typeface="Arial"/>
              </a:rPr>
              <a:t>Her family remembers it differently</a:t>
            </a:r>
          </a:p>
        </p:txBody>
      </p:sp>
      <p:sp>
        <p:nvSpPr>
          <p:cNvPr id="7" name="Family answers">
            <a:extLst xmlns:a="http://schemas.openxmlformats.org/drawingml/2006/main">
              <a:ext uri="{FF2B5EF4-FFF2-40B4-BE49-F238E27FC236}">
                <a16:creationId xmlns:a16="http://schemas.microsoft.com/office/drawing/2014/main" id="{A3C51980-5C6F-45A2-9555-3D8C832D3FF7}"/>
              </a:ext>
            </a:extLst>
          </p:cNvPr>
          <p:cNvSpPr>
            <a:spLocks xmlns:a="http://schemas.openxmlformats.org/drawingml/2006/main" noGrp="1"/>
          </p:cNvSpPr>
          <p:nvPr/>
        </p:nvSpPr>
        <p:spPr>
          <a:xfrm xmlns:a="http://schemas.openxmlformats.org/drawingml/2006/main">
            <a:off x="6305550" y="1885950"/>
            <a:ext cx="53530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Her husband says yes to attempts to restart her heart and help her breathe. Her daughter says no. Her son, calling from another city, is unsure.</a:t>
            </a:r>
          </a:p>
        </p:txBody>
      </p:sp>
      <p:sp>
        <p:nvSpPr>
          <p:cNvPr id="8" name="Why the note matters">
            <a:extLst xmlns:a="http://schemas.openxmlformats.org/drawingml/2006/main">
              <a:ext uri="{FF2B5EF4-FFF2-40B4-BE49-F238E27FC236}">
                <a16:creationId xmlns:a16="http://schemas.microsoft.com/office/drawing/2014/main" id="{A022948A-91BD-4641-8F7B-CEDA909752D0}"/>
              </a:ext>
            </a:extLst>
          </p:cNvPr>
          <p:cNvSpPr>
            <a:spLocks xmlns:a="http://schemas.openxmlformats.org/drawingml/2006/main" noGrp="1"/>
          </p:cNvSpPr>
          <p:nvPr/>
        </p:nvSpPr>
        <p:spPr>
          <a:xfrm xmlns:a="http://schemas.openxmlformats.org/drawingml/2006/main">
            <a:off x="6305550" y="3905250"/>
            <a:ext cx="53530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0">
                <a:solidFill>
                  <a:srgbClr val="173F33"/>
                </a:solidFill>
                <a:latin typeface="Arial"/>
                <a:ea typeface="Arial"/>
                <a:cs typeface="Arial"/>
              </a:defRPr>
            </a:pPr>
            <a:r>
              <a:rPr sz="1725" b="0">
                <a:solidFill>
                  <a:srgbClr val="173F33"/>
                </a:solidFill>
                <a:latin typeface="Arial"/>
                <a:ea typeface="Arial"/>
                <a:cs typeface="Arial"/>
              </a:rPr>
              <a:t>No one can find the earlier discussion or her records. A shared note could help the family and doctors understand what she had said.</a:t>
            </a:r>
          </a:p>
        </p:txBody>
      </p:sp>
    </p:spTree>
    <p:extLst>
      <p:ext uri="{BB962C8B-B14F-4D97-AF65-F5344CB8AC3E}">
        <p14:creationId xmlns:p14="http://schemas.microsoft.com/office/powerpoint/2010/main" val="4687860"/>
      </p:ext>
    </p:extLst>
  </p:cSld>
</p:sld>
</file>

<file path=ppt/slides/slide3.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5E36CEEE-97DB-4E7F-A0AB-FFF432F27165}"/>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700" b="1">
                <a:solidFill>
                  <a:srgbClr val="173F33"/>
                </a:solidFill>
                <a:latin typeface="Arial"/>
                <a:ea typeface="Arial"/>
                <a:cs typeface="Arial"/>
              </a:defRPr>
            </a:pPr>
            <a:r>
              <a:rPr sz="2700" b="1">
                <a:solidFill>
                  <a:srgbClr val="173F33"/>
                </a:solidFill>
                <a:latin typeface="Arial"/>
                <a:ea typeface="Arial"/>
                <a:cs typeface="Arial"/>
              </a:rPr>
              <a:t>The patient's wishes stay at the centre</a:t>
            </a:r>
          </a:p>
        </p:txBody>
      </p:sp>
      <p:sp>
        <p:nvSpPr>
          <p:cNvPr id="12" name="Goals-of-care meaning">
            <a:extLst xmlns:a="http://schemas.openxmlformats.org/drawingml/2006/main">
              <a:ext uri="{FF2B5EF4-FFF2-40B4-BE49-F238E27FC236}">
                <a16:creationId xmlns:a16="http://schemas.microsoft.com/office/drawing/2014/main" id="{52FBF060-A83E-48B2-9573-3BCC1753535F}"/>
              </a:ext>
            </a:extLst>
          </p:cNvPr>
          <p:cNvSpPr>
            <a:spLocks xmlns:a="http://schemas.openxmlformats.org/drawingml/2006/main" noGrp="1"/>
          </p:cNvSpPr>
          <p:nvPr/>
        </p:nvSpPr>
        <p:spPr>
          <a:xfrm xmlns:a="http://schemas.openxmlformats.org/drawingml/2006/main">
            <a:off x="533400" y="1409700"/>
            <a:ext cx="5238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Doctors call this a goals-of-care conversation. In everyday words, it means talking about what matters to the patient and what they want from their care.</a:t>
            </a:r>
          </a:p>
        </p:txBody>
      </p:sp>
      <p:sp>
        <p:nvSpPr>
          <p:cNvPr id="13" name="Ask for a conversation">
            <a:extLst xmlns:a="http://schemas.openxmlformats.org/drawingml/2006/main">
              <a:ext uri="{FF2B5EF4-FFF2-40B4-BE49-F238E27FC236}">
                <a16:creationId xmlns:a16="http://schemas.microsoft.com/office/drawing/2014/main" id="{1FF83FAB-8A76-456F-A148-2F0800CFDC92}"/>
              </a:ext>
            </a:extLst>
          </p:cNvPr>
          <p:cNvSpPr>
            <a:spLocks xmlns:a="http://schemas.openxmlformats.org/drawingml/2006/main" noGrp="1"/>
          </p:cNvSpPr>
          <p:nvPr/>
        </p:nvSpPr>
        <p:spPr>
          <a:xfrm xmlns:a="http://schemas.openxmlformats.org/drawingml/2006/main">
            <a:off x="533400" y="2876550"/>
            <a:ext cx="523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The patient or a family member can ask for a conversation with the doctor.</a:t>
            </a:r>
          </a:p>
        </p:txBody>
      </p:sp>
      <p:sp>
        <p:nvSpPr>
          <p:cNvPr id="14" name="What the doctor records">
            <a:extLst xmlns:a="http://schemas.openxmlformats.org/drawingml/2006/main">
              <a:ext uri="{FF2B5EF4-FFF2-40B4-BE49-F238E27FC236}">
                <a16:creationId xmlns:a16="http://schemas.microsoft.com/office/drawing/2014/main" id="{6487D407-922E-4130-8F6E-58F604A79075}"/>
              </a:ext>
            </a:extLst>
          </p:cNvPr>
          <p:cNvSpPr>
            <a:spLocks xmlns:a="http://schemas.openxmlformats.org/drawingml/2006/main" noGrp="1"/>
          </p:cNvSpPr>
          <p:nvPr/>
        </p:nvSpPr>
        <p:spPr>
          <a:xfrm xmlns:a="http://schemas.openxmlformats.org/drawingml/2006/main">
            <a:off x="533400" y="3762375"/>
            <a:ext cx="5238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The doctor records what the patient said, what everyone agreed and what they still need to discuss.</a:t>
            </a:r>
          </a:p>
        </p:txBody>
      </p:sp>
      <p:sp>
        <p:nvSpPr>
          <p:cNvPr id="15" name="Patient controls sharing">
            <a:extLst xmlns:a="http://schemas.openxmlformats.org/drawingml/2006/main">
              <a:ext uri="{FF2B5EF4-FFF2-40B4-BE49-F238E27FC236}">
                <a16:creationId xmlns:a16="http://schemas.microsoft.com/office/drawing/2014/main" id="{E5423BB8-32C6-4CAE-B018-7F83B2394C14}"/>
              </a:ext>
            </a:extLst>
          </p:cNvPr>
          <p:cNvSpPr>
            <a:spLocks xmlns:a="http://schemas.openxmlformats.org/drawingml/2006/main" noGrp="1"/>
          </p:cNvSpPr>
          <p:nvPr/>
        </p:nvSpPr>
        <p:spPr>
          <a:xfrm xmlns:a="http://schemas.openxmlformats.org/drawingml/2006/main">
            <a:off x="533400" y="4857750"/>
            <a:ext cx="52387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In the shared app we are building, the patient will choose which family members can read the checked note. A later conversation gets a new dated note, while earlier notes stay available.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d4a3e3ab5144048"/>
          <a:stretch xmlns:a="http://schemas.openxmlformats.org/drawingml/2006/main"/>
        </p:blipFill>
        <p:spPr>
          <a:xfrm xmlns:a="http://schemas.openxmlformats.org/drawingml/2006/main">
            <a:off x="6400800" y="1754505"/>
            <a:ext cx="5257800" cy="4206240"/>
          </a:xfrm>
          <a:prstGeom xmlns:a="http://schemas.openxmlformats.org/drawingml/2006/main" prst="rect">
            <a:avLst/>
          </a:prstGeom>
        </p:spPr>
      </p:pic>
    </p:spTree>
    <p:extLst>
      <p:ext uri="{BB962C8B-B14F-4D97-AF65-F5344CB8AC3E}">
        <p14:creationId xmlns:p14="http://schemas.microsoft.com/office/powerpoint/2010/main" val="1744562408"/>
      </p:ext>
    </p:extLst>
  </p:cSld>
</p:sld>
</file>

<file path=ppt/slides/slide4.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8B335EC9-0C3E-4375-8615-6110DD739A98}"/>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550" b="1">
                <a:solidFill>
                  <a:srgbClr val="173F33"/>
                </a:solidFill>
                <a:latin typeface="Arial"/>
                <a:ea typeface="Arial"/>
                <a:cs typeface="Arial"/>
              </a:defRPr>
            </a:pPr>
            <a:r>
              <a:rPr sz="2550" b="1">
                <a:solidFill>
                  <a:srgbClr val="173F33"/>
                </a:solidFill>
                <a:latin typeface="Arial"/>
                <a:ea typeface="Arial"/>
                <a:cs typeface="Arial"/>
              </a:rPr>
              <a:t>AI will help write the note. The doctor will check it.</a:t>
            </a:r>
          </a:p>
        </p:txBody>
      </p:sp>
      <p:sp>
        <p:nvSpPr>
          <p:cNvPr id="10" name="AI introduction">
            <a:extLst xmlns:a="http://schemas.openxmlformats.org/drawingml/2006/main">
              <a:ext uri="{FF2B5EF4-FFF2-40B4-BE49-F238E27FC236}">
                <a16:creationId xmlns:a16="http://schemas.microsoft.com/office/drawing/2014/main" id="{22E994B0-07AF-44D2-9AB2-E47268411484}"/>
              </a:ext>
            </a:extLst>
          </p:cNvPr>
          <p:cNvSpPr>
            <a:spLocks xmlns:a="http://schemas.openxmlformats.org/drawingml/2006/main" noGrp="1"/>
          </p:cNvSpPr>
          <p:nvPr/>
        </p:nvSpPr>
        <p:spPr>
          <a:xfrm xmlns:a="http://schemas.openxmlformats.org/drawingml/2006/main">
            <a:off x="533400" y="12382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0">
                <a:solidFill>
                  <a:srgbClr val="53645B"/>
                </a:solidFill>
                <a:latin typeface="Arial"/>
                <a:ea typeface="Arial"/>
                <a:cs typeface="Arial"/>
              </a:defRPr>
            </a:pPr>
            <a:r>
              <a:rPr sz="1725" b="0">
                <a:solidFill>
                  <a:srgbClr val="53645B"/>
                </a:solidFill>
                <a:latin typeface="Arial"/>
                <a:ea typeface="Arial"/>
                <a:cs typeface="Arial"/>
              </a:rPr>
              <a:t>Artificial intelligence (AI) will help turn the doctor's conversation into a written note.</a:t>
            </a:r>
          </a:p>
        </p:txBody>
      </p:sp>
      <p:sp>
        <p:nvSpPr>
          <p:cNvPr id="11" name="">
            <a:extLst xmlns:a="http://schemas.openxmlformats.org/drawingml/2006/main">
              <a:ext uri="{FF2B5EF4-FFF2-40B4-BE49-F238E27FC236}">
                <a16:creationId xmlns:a16="http://schemas.microsoft.com/office/drawing/2014/main" id="{7BD97440-DC42-4DC0-ABA7-CB0F8AAA2946}"/>
              </a:ext>
            </a:extLst>
          </p:cNvPr>
          <p:cNvSpPr>
            <a:spLocks xmlns:a="http://schemas.openxmlformats.org/drawingml/2006/main" noGrp="1"/>
          </p:cNvSpPr>
          <p:nvPr/>
        </p:nvSpPr>
        <p:spPr>
          <a:xfrm xmlns:a="http://schemas.openxmlformats.org/drawingml/2006/main">
            <a:off x="533400" y="2076450"/>
            <a:ext cx="3543300" cy="2152650"/>
          </a:xfrm>
          <a:prstGeom xmlns:a="http://schemas.openxmlformats.org/drawingml/2006/main" prst="roundRect">
            <a:avLst>
              <a:gd name="adj" fmla="val 3540"/>
            </a:avLst>
          </a:prstGeom>
          <a:solidFill xmlns:a="http://schemas.openxmlformats.org/drawingml/2006/main">
            <a:srgbClr val="F2EAF8"/>
          </a:solidFill>
          <a:ln xmlns:a="http://schemas.openxmlformats.org/drawingml/2006/main" w="9525">
            <a:solidFill>
              <a:srgbClr val="D8DED7"/>
            </a:solidFill>
          </a:ln>
        </p:spPr>
      </p:sp>
      <p:sp>
        <p:nvSpPr>
          <p:cNvPr id="12" name="Step 01">
            <a:extLst xmlns:a="http://schemas.openxmlformats.org/drawingml/2006/main">
              <a:ext uri="{FF2B5EF4-FFF2-40B4-BE49-F238E27FC236}">
                <a16:creationId xmlns:a16="http://schemas.microsoft.com/office/drawing/2014/main" id="{EB3A2448-EC9B-4372-A940-8B2BCAE3FAC8}"/>
              </a:ext>
            </a:extLst>
          </p:cNvPr>
          <p:cNvSpPr>
            <a:spLocks xmlns:a="http://schemas.openxmlformats.org/drawingml/2006/main" noGrp="1"/>
          </p:cNvSpPr>
          <p:nvPr/>
        </p:nvSpPr>
        <p:spPr>
          <a:xfrm xmlns:a="http://schemas.openxmlformats.org/drawingml/2006/main">
            <a:off x="723900" y="2247900"/>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50" b="1">
                <a:solidFill>
                  <a:srgbClr val="8A5436"/>
                </a:solidFill>
                <a:latin typeface="Arial"/>
                <a:ea typeface="Arial"/>
                <a:cs typeface="Arial"/>
              </a:defRPr>
            </a:pPr>
            <a:r>
              <a:rPr sz="1350" b="1">
                <a:solidFill>
                  <a:srgbClr val="8A5436"/>
                </a:solidFill>
                <a:latin typeface="Arial"/>
                <a:ea typeface="Arial"/>
                <a:cs typeface="Arial"/>
              </a:rPr>
              <a:t>01</a:t>
            </a:r>
          </a:p>
        </p:txBody>
      </p:sp>
      <p:sp>
        <p:nvSpPr>
          <p:cNvPr id="13" name="The doctor adds the conversation heading">
            <a:extLst xmlns:a="http://schemas.openxmlformats.org/drawingml/2006/main">
              <a:ext uri="{FF2B5EF4-FFF2-40B4-BE49-F238E27FC236}">
                <a16:creationId xmlns:a16="http://schemas.microsoft.com/office/drawing/2014/main" id="{B08CACA7-ED3F-474F-85E0-1F72CF98AB75}"/>
              </a:ext>
            </a:extLst>
          </p:cNvPr>
          <p:cNvSpPr>
            <a:spLocks xmlns:a="http://schemas.openxmlformats.org/drawingml/2006/main" noGrp="1"/>
          </p:cNvSpPr>
          <p:nvPr/>
        </p:nvSpPr>
        <p:spPr>
          <a:xfrm xmlns:a="http://schemas.openxmlformats.org/drawingml/2006/main">
            <a:off x="723900" y="2619375"/>
            <a:ext cx="3162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The doctor adds the conversation</a:t>
            </a:r>
          </a:p>
        </p:txBody>
      </p:sp>
      <p:sp>
        <p:nvSpPr>
          <p:cNvPr id="14" name="The doctor adds the conversation detail">
            <a:extLst xmlns:a="http://schemas.openxmlformats.org/drawingml/2006/main">
              <a:ext uri="{FF2B5EF4-FFF2-40B4-BE49-F238E27FC236}">
                <a16:creationId xmlns:a16="http://schemas.microsoft.com/office/drawing/2014/main" id="{76FD5C1C-3A52-4B02-8F89-343BB8A10B52}"/>
              </a:ext>
            </a:extLst>
          </p:cNvPr>
          <p:cNvSpPr>
            <a:spLocks xmlns:a="http://schemas.openxmlformats.org/drawingml/2006/main" noGrp="1"/>
          </p:cNvSpPr>
          <p:nvPr/>
        </p:nvSpPr>
        <p:spPr>
          <a:xfrm xmlns:a="http://schemas.openxmlformats.org/drawingml/2006/main">
            <a:off x="723900" y="3276600"/>
            <a:ext cx="3162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With permission, the doctor records the conversation or adds their existing notes.</a:t>
            </a:r>
          </a:p>
        </p:txBody>
      </p:sp>
      <p:sp>
        <p:nvSpPr>
          <p:cNvPr id="15" name="">
            <a:extLst xmlns:a="http://schemas.openxmlformats.org/drawingml/2006/main">
              <a:ext uri="{FF2B5EF4-FFF2-40B4-BE49-F238E27FC236}">
                <a16:creationId xmlns:a16="http://schemas.microsoft.com/office/drawing/2014/main" id="{0EB0218C-ECA5-49FC-A8BF-8DE1BF8CBBDE}"/>
              </a:ext>
            </a:extLst>
          </p:cNvPr>
          <p:cNvSpPr>
            <a:spLocks xmlns:a="http://schemas.openxmlformats.org/drawingml/2006/main" noGrp="1"/>
          </p:cNvSpPr>
          <p:nvPr/>
        </p:nvSpPr>
        <p:spPr>
          <a:xfrm xmlns:a="http://schemas.openxmlformats.org/drawingml/2006/main">
            <a:off x="4324350" y="2076450"/>
            <a:ext cx="3543300" cy="2152650"/>
          </a:xfrm>
          <a:prstGeom xmlns:a="http://schemas.openxmlformats.org/drawingml/2006/main" prst="roundRect">
            <a:avLst>
              <a:gd name="adj" fmla="val 3540"/>
            </a:avLst>
          </a:prstGeom>
          <a:solidFill xmlns:a="http://schemas.openxmlformats.org/drawingml/2006/main">
            <a:srgbClr val="E8F2EB"/>
          </a:solidFill>
          <a:ln xmlns:a="http://schemas.openxmlformats.org/drawingml/2006/main" w="9525">
            <a:solidFill>
              <a:srgbClr val="D8DED7"/>
            </a:solidFill>
          </a:ln>
        </p:spPr>
      </p:sp>
      <p:sp>
        <p:nvSpPr>
          <p:cNvPr id="16" name="Step 02">
            <a:extLst xmlns:a="http://schemas.openxmlformats.org/drawingml/2006/main">
              <a:ext uri="{FF2B5EF4-FFF2-40B4-BE49-F238E27FC236}">
                <a16:creationId xmlns:a16="http://schemas.microsoft.com/office/drawing/2014/main" id="{A5FDE854-820F-4A90-9200-31F856DD5328}"/>
              </a:ext>
            </a:extLst>
          </p:cNvPr>
          <p:cNvSpPr>
            <a:spLocks xmlns:a="http://schemas.openxmlformats.org/drawingml/2006/main" noGrp="1"/>
          </p:cNvSpPr>
          <p:nvPr/>
        </p:nvSpPr>
        <p:spPr>
          <a:xfrm xmlns:a="http://schemas.openxmlformats.org/drawingml/2006/main">
            <a:off x="4514850" y="2247900"/>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50" b="1">
                <a:solidFill>
                  <a:srgbClr val="8A5436"/>
                </a:solidFill>
                <a:latin typeface="Arial"/>
                <a:ea typeface="Arial"/>
                <a:cs typeface="Arial"/>
              </a:defRPr>
            </a:pPr>
            <a:r>
              <a:rPr sz="1350" b="1">
                <a:solidFill>
                  <a:srgbClr val="8A5436"/>
                </a:solidFill>
                <a:latin typeface="Arial"/>
                <a:ea typeface="Arial"/>
                <a:cs typeface="Arial"/>
              </a:rPr>
              <a:t>02</a:t>
            </a:r>
          </a:p>
        </p:txBody>
      </p:sp>
      <p:sp>
        <p:nvSpPr>
          <p:cNvPr id="17" name="AI prepares a draft heading">
            <a:extLst xmlns:a="http://schemas.openxmlformats.org/drawingml/2006/main">
              <a:ext uri="{FF2B5EF4-FFF2-40B4-BE49-F238E27FC236}">
                <a16:creationId xmlns:a16="http://schemas.microsoft.com/office/drawing/2014/main" id="{770BC40D-0386-465C-958F-E5E6248AFAD7}"/>
              </a:ext>
            </a:extLst>
          </p:cNvPr>
          <p:cNvSpPr>
            <a:spLocks xmlns:a="http://schemas.openxmlformats.org/drawingml/2006/main" noGrp="1"/>
          </p:cNvSpPr>
          <p:nvPr/>
        </p:nvSpPr>
        <p:spPr>
          <a:xfrm xmlns:a="http://schemas.openxmlformats.org/drawingml/2006/main">
            <a:off x="4514850" y="2619375"/>
            <a:ext cx="3162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AI prepares a draft</a:t>
            </a:r>
          </a:p>
        </p:txBody>
      </p:sp>
      <p:sp>
        <p:nvSpPr>
          <p:cNvPr id="18" name="AI prepares a draft detail">
            <a:extLst xmlns:a="http://schemas.openxmlformats.org/drawingml/2006/main">
              <a:ext uri="{FF2B5EF4-FFF2-40B4-BE49-F238E27FC236}">
                <a16:creationId xmlns:a16="http://schemas.microsoft.com/office/drawing/2014/main" id="{93677AB1-3C42-4E4C-B474-55E2971F18C7}"/>
              </a:ext>
            </a:extLst>
          </p:cNvPr>
          <p:cNvSpPr>
            <a:spLocks xmlns:a="http://schemas.openxmlformats.org/drawingml/2006/main" noGrp="1"/>
          </p:cNvSpPr>
          <p:nvPr/>
        </p:nvSpPr>
        <p:spPr>
          <a:xfrm xmlns:a="http://schemas.openxmlformats.org/drawingml/2006/main">
            <a:off x="4514850" y="3276600"/>
            <a:ext cx="3162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AI turns those words into a draft and shows where each detail came from.</a:t>
            </a:r>
          </a:p>
        </p:txBody>
      </p:sp>
      <p:sp>
        <p:nvSpPr>
          <p:cNvPr id="19" name="">
            <a:extLst xmlns:a="http://schemas.openxmlformats.org/drawingml/2006/main">
              <a:ext uri="{FF2B5EF4-FFF2-40B4-BE49-F238E27FC236}">
                <a16:creationId xmlns:a16="http://schemas.microsoft.com/office/drawing/2014/main" id="{DB02D326-2C99-47CF-A43D-7799230B613E}"/>
              </a:ext>
            </a:extLst>
          </p:cNvPr>
          <p:cNvSpPr>
            <a:spLocks xmlns:a="http://schemas.openxmlformats.org/drawingml/2006/main" noGrp="1"/>
          </p:cNvSpPr>
          <p:nvPr/>
        </p:nvSpPr>
        <p:spPr>
          <a:xfrm xmlns:a="http://schemas.openxmlformats.org/drawingml/2006/main">
            <a:off x="8115300" y="2076450"/>
            <a:ext cx="3543300" cy="2152650"/>
          </a:xfrm>
          <a:prstGeom xmlns:a="http://schemas.openxmlformats.org/drawingml/2006/main" prst="roundRect">
            <a:avLst>
              <a:gd name="adj" fmla="val 3540"/>
            </a:avLst>
          </a:prstGeom>
          <a:solidFill xmlns:a="http://schemas.openxmlformats.org/drawingml/2006/main">
            <a:srgbClr val="FBEED6"/>
          </a:solidFill>
          <a:ln xmlns:a="http://schemas.openxmlformats.org/drawingml/2006/main" w="9525">
            <a:solidFill>
              <a:srgbClr val="D8DED7"/>
            </a:solidFill>
          </a:ln>
        </p:spPr>
      </p:sp>
      <p:sp>
        <p:nvSpPr>
          <p:cNvPr id="20" name="Step 03">
            <a:extLst xmlns:a="http://schemas.openxmlformats.org/drawingml/2006/main">
              <a:ext uri="{FF2B5EF4-FFF2-40B4-BE49-F238E27FC236}">
                <a16:creationId xmlns:a16="http://schemas.microsoft.com/office/drawing/2014/main" id="{1D3F8130-59C8-4D74-9317-2DC3FF10FF50}"/>
              </a:ext>
            </a:extLst>
          </p:cNvPr>
          <p:cNvSpPr>
            <a:spLocks xmlns:a="http://schemas.openxmlformats.org/drawingml/2006/main" noGrp="1"/>
          </p:cNvSpPr>
          <p:nvPr/>
        </p:nvSpPr>
        <p:spPr>
          <a:xfrm xmlns:a="http://schemas.openxmlformats.org/drawingml/2006/main">
            <a:off x="8305800" y="2247900"/>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50" b="1">
                <a:solidFill>
                  <a:srgbClr val="8A5436"/>
                </a:solidFill>
                <a:latin typeface="Arial"/>
                <a:ea typeface="Arial"/>
                <a:cs typeface="Arial"/>
              </a:defRPr>
            </a:pPr>
            <a:r>
              <a:rPr sz="1350" b="1">
                <a:solidFill>
                  <a:srgbClr val="8A5436"/>
                </a:solidFill>
                <a:latin typeface="Arial"/>
                <a:ea typeface="Arial"/>
                <a:cs typeface="Arial"/>
              </a:rPr>
              <a:t>03</a:t>
            </a:r>
          </a:p>
        </p:txBody>
      </p:sp>
      <p:sp>
        <p:nvSpPr>
          <p:cNvPr id="21" name="The doctor checks and signs heading">
            <a:extLst xmlns:a="http://schemas.openxmlformats.org/drawingml/2006/main">
              <a:ext uri="{FF2B5EF4-FFF2-40B4-BE49-F238E27FC236}">
                <a16:creationId xmlns:a16="http://schemas.microsoft.com/office/drawing/2014/main" id="{C929A6E6-3363-433D-AA54-CFAB5855BB25}"/>
              </a:ext>
            </a:extLst>
          </p:cNvPr>
          <p:cNvSpPr>
            <a:spLocks xmlns:a="http://schemas.openxmlformats.org/drawingml/2006/main" noGrp="1"/>
          </p:cNvSpPr>
          <p:nvPr/>
        </p:nvSpPr>
        <p:spPr>
          <a:xfrm xmlns:a="http://schemas.openxmlformats.org/drawingml/2006/main">
            <a:off x="8305800" y="2619375"/>
            <a:ext cx="3162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The doctor checks and signs</a:t>
            </a:r>
          </a:p>
        </p:txBody>
      </p:sp>
      <p:sp>
        <p:nvSpPr>
          <p:cNvPr id="22" name="The doctor checks and signs detail">
            <a:extLst xmlns:a="http://schemas.openxmlformats.org/drawingml/2006/main">
              <a:ext uri="{FF2B5EF4-FFF2-40B4-BE49-F238E27FC236}">
                <a16:creationId xmlns:a16="http://schemas.microsoft.com/office/drawing/2014/main" id="{C3BA2438-D0EB-4D0D-900F-FAE5C73EEE2B}"/>
              </a:ext>
            </a:extLst>
          </p:cNvPr>
          <p:cNvSpPr>
            <a:spLocks xmlns:a="http://schemas.openxmlformats.org/drawingml/2006/main" noGrp="1"/>
          </p:cNvSpPr>
          <p:nvPr/>
        </p:nvSpPr>
        <p:spPr>
          <a:xfrm xmlns:a="http://schemas.openxmlformats.org/drawingml/2006/main">
            <a:off x="8305800" y="3276600"/>
            <a:ext cx="3162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The doctor fixes mistakes and signs the note before the family can use it.</a:t>
            </a:r>
          </a:p>
        </p:txBody>
      </p:sp>
      <p:sp>
        <p:nvSpPr>
          <p:cNvPr id="23" name="">
            <a:extLst xmlns:a="http://schemas.openxmlformats.org/drawingml/2006/main">
              <a:ext uri="{FF2B5EF4-FFF2-40B4-BE49-F238E27FC236}">
                <a16:creationId xmlns:a16="http://schemas.microsoft.com/office/drawing/2014/main" id="{CF31B783-3C81-471F-AE7C-E1692754ED5F}"/>
              </a:ext>
            </a:extLst>
          </p:cNvPr>
          <p:cNvSpPr>
            <a:spLocks xmlns:a="http://schemas.openxmlformats.org/drawingml/2006/main" noGrp="1"/>
          </p:cNvSpPr>
          <p:nvPr/>
        </p:nvSpPr>
        <p:spPr>
          <a:xfrm xmlns:a="http://schemas.openxmlformats.org/drawingml/2006/main">
            <a:off x="4076700" y="3009900"/>
            <a:ext cx="266700" cy="228600"/>
          </a:xfrm>
          <a:prstGeom xmlns:a="http://schemas.openxmlformats.org/drawingml/2006/main" prst="rightArrow">
            <a:avLst/>
          </a:prstGeom>
          <a:solidFill xmlns:a="http://schemas.openxmlformats.org/drawingml/2006/main">
            <a:srgbClr val="A7B9AD"/>
          </a:solidFill>
          <a:ln xmlns:a="http://schemas.openxmlformats.org/drawingml/2006/main" w="0">
            <a:solidFill>
              <a:srgbClr val="A7B9AD"/>
            </a:solidFill>
          </a:ln>
        </p:spPr>
      </p:sp>
      <p:sp>
        <p:nvSpPr>
          <p:cNvPr id="24" name="">
            <a:extLst xmlns:a="http://schemas.openxmlformats.org/drawingml/2006/main">
              <a:ext uri="{FF2B5EF4-FFF2-40B4-BE49-F238E27FC236}">
                <a16:creationId xmlns:a16="http://schemas.microsoft.com/office/drawing/2014/main" id="{CF591E17-F858-410D-81AE-DBDECA5542FD}"/>
              </a:ext>
            </a:extLst>
          </p:cNvPr>
          <p:cNvSpPr>
            <a:spLocks xmlns:a="http://schemas.openxmlformats.org/drawingml/2006/main" noGrp="1"/>
          </p:cNvSpPr>
          <p:nvPr/>
        </p:nvSpPr>
        <p:spPr>
          <a:xfrm xmlns:a="http://schemas.openxmlformats.org/drawingml/2006/main">
            <a:off x="7867650" y="3009900"/>
            <a:ext cx="266700" cy="228600"/>
          </a:xfrm>
          <a:prstGeom xmlns:a="http://schemas.openxmlformats.org/drawingml/2006/main" prst="rightArrow">
            <a:avLst/>
          </a:prstGeom>
          <a:solidFill xmlns:a="http://schemas.openxmlformats.org/drawingml/2006/main">
            <a:srgbClr val="A7B9AD"/>
          </a:solidFill>
          <a:ln xmlns:a="http://schemas.openxmlformats.org/drawingml/2006/main" w="0">
            <a:solidFill>
              <a:srgbClr val="A7B9AD"/>
            </a:solidFill>
          </a:ln>
        </p:spPr>
      </p:sp>
      <p:sp>
        <p:nvSpPr>
          <p:cNvPr id="25" name="AI limits">
            <a:extLst xmlns:a="http://schemas.openxmlformats.org/drawingml/2006/main">
              <a:ext uri="{FF2B5EF4-FFF2-40B4-BE49-F238E27FC236}">
                <a16:creationId xmlns:a16="http://schemas.microsoft.com/office/drawing/2014/main" id="{7B40F1EB-3DEF-4B3C-BF03-1AB4CC98639E}"/>
              </a:ext>
            </a:extLst>
          </p:cNvPr>
          <p:cNvSpPr>
            <a:spLocks xmlns:a="http://schemas.openxmlformats.org/drawingml/2006/main" noGrp="1"/>
          </p:cNvSpPr>
          <p:nvPr/>
        </p:nvSpPr>
        <p:spPr>
          <a:xfrm xmlns:a="http://schemas.openxmlformats.org/drawingml/2006/main">
            <a:off x="533400" y="4533900"/>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AI will organise what people actually said. It will not diagnose cancer, interpret tests or choose treatment.</a:t>
            </a:r>
          </a:p>
        </p:txBody>
      </p:sp>
      <p:sp>
        <p:nvSpPr>
          <p:cNvPr id="26" name="AI next step">
            <a:extLst xmlns:a="http://schemas.openxmlformats.org/drawingml/2006/main">
              <a:ext uri="{FF2B5EF4-FFF2-40B4-BE49-F238E27FC236}">
                <a16:creationId xmlns:a16="http://schemas.microsoft.com/office/drawing/2014/main" id="{B22ECF60-6BF3-4963-B939-D25A4478103E}"/>
              </a:ext>
            </a:extLst>
          </p:cNvPr>
          <p:cNvSpPr>
            <a:spLocks xmlns:a="http://schemas.openxmlformats.org/drawingml/2006/main" noGrp="1"/>
          </p:cNvSpPr>
          <p:nvPr/>
        </p:nvSpPr>
        <p:spPr>
          <a:xfrm xmlns:a="http://schemas.openxmlformats.org/drawingml/2006/main">
            <a:off x="533400" y="5476875"/>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The recording, review and signing screens work. Connecting AI to this flow is our next step.</a:t>
            </a:r>
          </a:p>
        </p:txBody>
      </p:sp>
    </p:spTree>
    <p:extLst>
      <p:ext uri="{BB962C8B-B14F-4D97-AF65-F5344CB8AC3E}">
        <p14:creationId xmlns:p14="http://schemas.microsoft.com/office/powerpoint/2010/main" val="1501826171"/>
      </p:ext>
    </p:extLst>
  </p:cSld>
</p:sld>
</file>

<file path=ppt/slides/slide5.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2F9F5D32-85F6-4D95-8C74-911D2DBBBBB0}"/>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550" b="1">
                <a:solidFill>
                  <a:srgbClr val="173F33"/>
                </a:solidFill>
                <a:latin typeface="Arial"/>
                <a:ea typeface="Arial"/>
                <a:cs typeface="Arial"/>
              </a:defRPr>
            </a:pPr>
            <a:r>
              <a:rPr sz="2550" b="1">
                <a:solidFill>
                  <a:srgbClr val="173F33"/>
                </a:solidFill>
                <a:latin typeface="Arial"/>
                <a:ea typeface="Arial"/>
                <a:cs typeface="Arial"/>
              </a:rPr>
              <a:t>The same app helps the family between visits</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f3cbd02dfb94e9d"/>
          <a:stretch xmlns:a="http://schemas.openxmlformats.org/drawingml/2006/main"/>
        </p:blipFill>
        <p:spPr>
          <a:xfrm xmlns:a="http://schemas.openxmlformats.org/drawingml/2006/main">
            <a:off x="457200" y="2063353"/>
            <a:ext cx="5600700" cy="3150394"/>
          </a:xfrm>
          <a:prstGeom xmlns:a="http://schemas.openxmlformats.org/drawingml/2006/main" prst="rect">
            <a:avLst/>
          </a:prstGeom>
        </p:spPr>
      </p:pic>
      <p:sp>
        <p:nvSpPr>
          <p:cNvPr id="11" name="My documents">
            <a:extLst xmlns:a="http://schemas.openxmlformats.org/drawingml/2006/main">
              <a:ext uri="{FF2B5EF4-FFF2-40B4-BE49-F238E27FC236}">
                <a16:creationId xmlns:a16="http://schemas.microsoft.com/office/drawing/2014/main" id="{1BE6DAB8-5A73-4301-8FED-848A3DF36E02}"/>
              </a:ext>
            </a:extLst>
          </p:cNvPr>
          <p:cNvSpPr>
            <a:spLocks xmlns:a="http://schemas.openxmlformats.org/drawingml/2006/main" noGrp="1"/>
          </p:cNvSpPr>
          <p:nvPr/>
        </p:nvSpPr>
        <p:spPr>
          <a:xfrm xmlns:a="http://schemas.openxmlformats.org/drawingml/2006/main">
            <a:off x="6419850" y="143827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1">
                <a:solidFill>
                  <a:srgbClr val="173F33"/>
                </a:solidFill>
                <a:latin typeface="Arial"/>
                <a:ea typeface="Arial"/>
                <a:cs typeface="Arial"/>
              </a:defRPr>
            </a:pPr>
            <a:r>
              <a:rPr sz="1650" b="1">
                <a:solidFill>
                  <a:srgbClr val="173F33"/>
                </a:solidFill>
                <a:latin typeface="Arial"/>
                <a:ea typeface="Arial"/>
                <a:cs typeface="Arial"/>
              </a:rPr>
              <a:t>My documents</a:t>
            </a:r>
          </a:p>
        </p:txBody>
      </p:sp>
      <p:sp>
        <p:nvSpPr>
          <p:cNvPr id="12" name="Documents detail">
            <a:extLst xmlns:a="http://schemas.openxmlformats.org/drawingml/2006/main">
              <a:ext uri="{FF2B5EF4-FFF2-40B4-BE49-F238E27FC236}">
                <a16:creationId xmlns:a16="http://schemas.microsoft.com/office/drawing/2014/main" id="{938FA4B4-4C29-4F85-BD22-57A487C401D2}"/>
              </a:ext>
            </a:extLst>
          </p:cNvPr>
          <p:cNvSpPr>
            <a:spLocks xmlns:a="http://schemas.openxmlformats.org/drawingml/2006/main" noGrp="1"/>
          </p:cNvSpPr>
          <p:nvPr/>
        </p:nvSpPr>
        <p:spPr>
          <a:xfrm xmlns:a="http://schemas.openxmlformats.org/drawingml/2006/main">
            <a:off x="6419850" y="17621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53645B"/>
                </a:solidFill>
                <a:latin typeface="Arial"/>
                <a:ea typeface="Arial"/>
                <a:cs typeface="Arial"/>
              </a:defRPr>
            </a:pPr>
            <a:r>
              <a:rPr sz="1575" b="0">
                <a:solidFill>
                  <a:srgbClr val="53645B"/>
                </a:solidFill>
                <a:latin typeface="Arial"/>
                <a:ea typeface="Arial"/>
                <a:cs typeface="Arial"/>
              </a:rPr>
              <a:t>Families can keep reports together and look back at test results by date.</a:t>
            </a:r>
          </a:p>
        </p:txBody>
      </p:sp>
      <p:sp>
        <p:nvSpPr>
          <p:cNvPr id="13" name="Calendar">
            <a:extLst xmlns:a="http://schemas.openxmlformats.org/drawingml/2006/main">
              <a:ext uri="{FF2B5EF4-FFF2-40B4-BE49-F238E27FC236}">
                <a16:creationId xmlns:a16="http://schemas.microsoft.com/office/drawing/2014/main" id="{8605A8FF-81CB-47CF-B25A-E2E86F19F58C}"/>
              </a:ext>
            </a:extLst>
          </p:cNvPr>
          <p:cNvSpPr>
            <a:spLocks xmlns:a="http://schemas.openxmlformats.org/drawingml/2006/main" noGrp="1"/>
          </p:cNvSpPr>
          <p:nvPr/>
        </p:nvSpPr>
        <p:spPr>
          <a:xfrm xmlns:a="http://schemas.openxmlformats.org/drawingml/2006/main">
            <a:off x="6419850" y="23622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1">
                <a:solidFill>
                  <a:srgbClr val="173F33"/>
                </a:solidFill>
                <a:latin typeface="Arial"/>
                <a:ea typeface="Arial"/>
                <a:cs typeface="Arial"/>
              </a:defRPr>
            </a:pPr>
            <a:r>
              <a:rPr sz="1650" b="1">
                <a:solidFill>
                  <a:srgbClr val="173F33"/>
                </a:solidFill>
                <a:latin typeface="Arial"/>
                <a:ea typeface="Arial"/>
                <a:cs typeface="Arial"/>
              </a:rPr>
              <a:t>Calendar</a:t>
            </a:r>
          </a:p>
        </p:txBody>
      </p:sp>
      <p:sp>
        <p:nvSpPr>
          <p:cNvPr id="14" name="Calendar detail">
            <a:extLst xmlns:a="http://schemas.openxmlformats.org/drawingml/2006/main">
              <a:ext uri="{FF2B5EF4-FFF2-40B4-BE49-F238E27FC236}">
                <a16:creationId xmlns:a16="http://schemas.microsoft.com/office/drawing/2014/main" id="{655ED8C8-485B-44FD-9347-4B3A01731C58}"/>
              </a:ext>
            </a:extLst>
          </p:cNvPr>
          <p:cNvSpPr>
            <a:spLocks xmlns:a="http://schemas.openxmlformats.org/drawingml/2006/main" noGrp="1"/>
          </p:cNvSpPr>
          <p:nvPr/>
        </p:nvSpPr>
        <p:spPr>
          <a:xfrm xmlns:a="http://schemas.openxmlformats.org/drawingml/2006/main">
            <a:off x="6419850" y="2686050"/>
            <a:ext cx="5238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53645B"/>
                </a:solidFill>
                <a:latin typeface="Arial"/>
                <a:ea typeface="Arial"/>
                <a:cs typeface="Arial"/>
              </a:defRPr>
            </a:pPr>
            <a:r>
              <a:rPr sz="1575" b="0">
                <a:solidFill>
                  <a:srgbClr val="53645B"/>
                </a:solidFill>
                <a:latin typeface="Arial"/>
                <a:ea typeface="Arial"/>
                <a:cs typeface="Arial"/>
              </a:rPr>
              <a:t>They can see scheduled medicines, visits and the doctor's preparation notes.</a:t>
            </a:r>
          </a:p>
        </p:txBody>
      </p:sp>
      <p:sp>
        <p:nvSpPr>
          <p:cNvPr id="15" name="My space">
            <a:extLst xmlns:a="http://schemas.openxmlformats.org/drawingml/2006/main">
              <a:ext uri="{FF2B5EF4-FFF2-40B4-BE49-F238E27FC236}">
                <a16:creationId xmlns:a16="http://schemas.microsoft.com/office/drawing/2014/main" id="{6ED4685B-A0DD-4464-98ED-8FEFDDDAEB85}"/>
              </a:ext>
            </a:extLst>
          </p:cNvPr>
          <p:cNvSpPr>
            <a:spLocks xmlns:a="http://schemas.openxmlformats.org/drawingml/2006/main" noGrp="1"/>
          </p:cNvSpPr>
          <p:nvPr/>
        </p:nvSpPr>
        <p:spPr>
          <a:xfrm xmlns:a="http://schemas.openxmlformats.org/drawingml/2006/main">
            <a:off x="6419850" y="33147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1">
                <a:solidFill>
                  <a:srgbClr val="173F33"/>
                </a:solidFill>
                <a:latin typeface="Arial"/>
                <a:ea typeface="Arial"/>
                <a:cs typeface="Arial"/>
              </a:defRPr>
            </a:pPr>
            <a:r>
              <a:rPr sz="1650" b="1">
                <a:solidFill>
                  <a:srgbClr val="173F33"/>
                </a:solidFill>
                <a:latin typeface="Arial"/>
                <a:ea typeface="Arial"/>
                <a:cs typeface="Arial"/>
              </a:rPr>
              <a:t>My space</a:t>
            </a:r>
          </a:p>
        </p:txBody>
      </p:sp>
      <p:sp>
        <p:nvSpPr>
          <p:cNvPr id="16" name="My space detail">
            <a:extLst xmlns:a="http://schemas.openxmlformats.org/drawingml/2006/main">
              <a:ext uri="{FF2B5EF4-FFF2-40B4-BE49-F238E27FC236}">
                <a16:creationId xmlns:a16="http://schemas.microsoft.com/office/drawing/2014/main" id="{91EDC38D-D482-4861-8227-F5CD0122B842}"/>
              </a:ext>
            </a:extLst>
          </p:cNvPr>
          <p:cNvSpPr>
            <a:spLocks xmlns:a="http://schemas.openxmlformats.org/drawingml/2006/main" noGrp="1"/>
          </p:cNvSpPr>
          <p:nvPr/>
        </p:nvSpPr>
        <p:spPr>
          <a:xfrm xmlns:a="http://schemas.openxmlformats.org/drawingml/2006/main">
            <a:off x="6419850" y="3638550"/>
            <a:ext cx="5238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53645B"/>
                </a:solidFill>
                <a:latin typeface="Arial"/>
                <a:ea typeface="Arial"/>
                <a:cs typeface="Arial"/>
              </a:defRPr>
            </a:pPr>
            <a:r>
              <a:rPr sz="1575" b="0">
                <a:solidFill>
                  <a:srgbClr val="53645B"/>
                </a:solidFill>
                <a:latin typeface="Arial"/>
                <a:ea typeface="Arial"/>
                <a:cs typeface="Arial"/>
              </a:rPr>
              <a:t>Patients can write down symptoms, feelings and questions for their next visit.</a:t>
            </a:r>
          </a:p>
        </p:txBody>
      </p:sp>
      <p:sp>
        <p:nvSpPr>
          <p:cNvPr id="17" name="Find support">
            <a:extLst xmlns:a="http://schemas.openxmlformats.org/drawingml/2006/main">
              <a:ext uri="{FF2B5EF4-FFF2-40B4-BE49-F238E27FC236}">
                <a16:creationId xmlns:a16="http://schemas.microsoft.com/office/drawing/2014/main" id="{BA4E3BEE-0677-4728-B8A1-AA9615B016FB}"/>
              </a:ext>
            </a:extLst>
          </p:cNvPr>
          <p:cNvSpPr>
            <a:spLocks xmlns:a="http://schemas.openxmlformats.org/drawingml/2006/main" noGrp="1"/>
          </p:cNvSpPr>
          <p:nvPr/>
        </p:nvSpPr>
        <p:spPr>
          <a:xfrm xmlns:a="http://schemas.openxmlformats.org/drawingml/2006/main">
            <a:off x="6419850" y="42672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1">
                <a:solidFill>
                  <a:srgbClr val="173F33"/>
                </a:solidFill>
                <a:latin typeface="Arial"/>
                <a:ea typeface="Arial"/>
                <a:cs typeface="Arial"/>
              </a:defRPr>
            </a:pPr>
            <a:r>
              <a:rPr sz="1650" b="1">
                <a:solidFill>
                  <a:srgbClr val="173F33"/>
                </a:solidFill>
                <a:latin typeface="Arial"/>
                <a:ea typeface="Arial"/>
                <a:cs typeface="Arial"/>
              </a:rPr>
              <a:t>Find support</a:t>
            </a:r>
          </a:p>
        </p:txBody>
      </p:sp>
      <p:sp>
        <p:nvSpPr>
          <p:cNvPr id="18" name="Find support detail">
            <a:extLst xmlns:a="http://schemas.openxmlformats.org/drawingml/2006/main">
              <a:ext uri="{FF2B5EF4-FFF2-40B4-BE49-F238E27FC236}">
                <a16:creationId xmlns:a16="http://schemas.microsoft.com/office/drawing/2014/main" id="{0868E7E8-E927-48CD-8AB3-E2D06EE70ADB}"/>
              </a:ext>
            </a:extLst>
          </p:cNvPr>
          <p:cNvSpPr>
            <a:spLocks xmlns:a="http://schemas.openxmlformats.org/drawingml/2006/main" noGrp="1"/>
          </p:cNvSpPr>
          <p:nvPr/>
        </p:nvSpPr>
        <p:spPr>
          <a:xfrm xmlns:a="http://schemas.openxmlformats.org/drawingml/2006/main">
            <a:off x="6419850" y="459105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53645B"/>
                </a:solidFill>
                <a:latin typeface="Arial"/>
                <a:ea typeface="Arial"/>
                <a:cs typeface="Arial"/>
              </a:defRPr>
            </a:pPr>
            <a:r>
              <a:rPr sz="1575" b="0">
                <a:solidFill>
                  <a:srgbClr val="53645B"/>
                </a:solidFill>
                <a:latin typeface="Arial"/>
                <a:ea typeface="Arial"/>
                <a:cs typeface="Arial"/>
              </a:rPr>
              <a:t>Families can find nearby care centres and support groups, then call to confirm the help available.</a:t>
            </a:r>
          </a:p>
        </p:txBody>
      </p:sp>
      <p:sp>
        <p:nvSpPr>
          <p:cNvPr id="19" name="Between visits">
            <a:extLst xmlns:a="http://schemas.openxmlformats.org/drawingml/2006/main">
              <a:ext uri="{FF2B5EF4-FFF2-40B4-BE49-F238E27FC236}">
                <a16:creationId xmlns:a16="http://schemas.microsoft.com/office/drawing/2014/main" id="{D0AEF3B2-2D06-4BF9-9E6E-E394EDB2B463}"/>
              </a:ext>
            </a:extLst>
          </p:cNvPr>
          <p:cNvSpPr>
            <a:spLocks xmlns:a="http://schemas.openxmlformats.org/drawingml/2006/main" noGrp="1"/>
          </p:cNvSpPr>
          <p:nvPr/>
        </p:nvSpPr>
        <p:spPr>
          <a:xfrm xmlns:a="http://schemas.openxmlformats.org/drawingml/2006/main">
            <a:off x="6419850" y="5391150"/>
            <a:ext cx="523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73F33"/>
                </a:solidFill>
                <a:latin typeface="Arial"/>
                <a:ea typeface="Arial"/>
                <a:cs typeface="Arial"/>
              </a:defRPr>
            </a:pPr>
            <a:r>
              <a:rPr sz="1575" b="1">
                <a:solidFill>
                  <a:srgbClr val="173F33"/>
                </a:solidFill>
                <a:latin typeface="Arial"/>
                <a:ea typeface="Arial"/>
                <a:cs typeface="Arial"/>
              </a:rPr>
              <a:t>These everyday tools help families follow the care plan after the conversation ends.</a:t>
            </a:r>
          </a:p>
        </p:txBody>
      </p:sp>
    </p:spTree>
    <p:extLst>
      <p:ext uri="{BB962C8B-B14F-4D97-AF65-F5344CB8AC3E}">
        <p14:creationId xmlns:p14="http://schemas.microsoft.com/office/powerpoint/2010/main" val="827073822"/>
      </p:ext>
    </p:extLst>
  </p:cSld>
</p:sld>
</file>

<file path=ppt/slides/slide6.xml><?xml version="1.0" encoding="utf-8"?>
<p:sld xmlns:p="http://schemas.openxmlformats.org/presentationml/2006/main">
  <p:cSld>
    <p:bg>
      <p:bgPr>
        <a:solidFill xmlns:a="http://schemas.openxmlformats.org/drawingml/2006/main">
          <a:srgbClr val="DBEBC5"/>
        </a:solidFill>
      </p:bgPr>
    </p:bg>
    <p:spTree>
      <p:nvGrpSpPr>
        <p:cNvPr id="1" name=""/>
        <p:cNvGrpSpPr/>
        <p:nvPr/>
      </p:nvGrpSpPr>
      <p:grpSpPr>
        <a:xfrm xmlns:a="http://schemas.openxmlformats.org/drawingml/2006/main"/>
      </p:grpSpPr>
      <p:sp>
        <p:nvSpPr>
          <p:cNvPr id="19" name="Slide title">
            <a:extLst xmlns:a="http://schemas.openxmlformats.org/drawingml/2006/main">
              <a:ext uri="{FF2B5EF4-FFF2-40B4-BE49-F238E27FC236}">
                <a16:creationId xmlns:a16="http://schemas.microsoft.com/office/drawing/2014/main" id="{FA14FA40-2499-466D-81A3-822EFBF44762}"/>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700" b="1">
                <a:solidFill>
                  <a:srgbClr val="173F33"/>
                </a:solidFill>
                <a:latin typeface="Arial"/>
                <a:ea typeface="Arial"/>
                <a:cs typeface="Arial"/>
              </a:defRPr>
            </a:pPr>
            <a:r>
              <a:rPr sz="2700" b="1">
                <a:solidFill>
                  <a:srgbClr val="173F33"/>
                </a:solidFill>
                <a:latin typeface="Arial"/>
                <a:ea typeface="Arial"/>
                <a:cs typeface="Arial"/>
              </a:rPr>
              <a:t>A request goes to someone who can help</a:t>
            </a:r>
          </a:p>
        </p:txBody>
      </p:sp>
      <p:sp>
        <p:nvSpPr>
          <p:cNvPr id="2" name="Task introduction">
            <a:extLst xmlns:a="http://schemas.openxmlformats.org/drawingml/2006/main">
              <a:ext uri="{FF2B5EF4-FFF2-40B4-BE49-F238E27FC236}">
                <a16:creationId xmlns:a16="http://schemas.microsoft.com/office/drawing/2014/main" id="{466F3D86-84EB-495D-983F-33CB509CD59C}"/>
              </a:ext>
            </a:extLst>
          </p:cNvPr>
          <p:cNvSpPr>
            <a:spLocks xmlns:a="http://schemas.openxmlformats.org/drawingml/2006/main" noGrp="1"/>
          </p:cNvSpPr>
          <p:nvPr/>
        </p:nvSpPr>
        <p:spPr>
          <a:xfrm xmlns:a="http://schemas.openxmlformats.org/drawingml/2006/main">
            <a:off x="533400" y="125730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0">
                <a:solidFill>
                  <a:srgbClr val="53645B"/>
                </a:solidFill>
                <a:latin typeface="Arial"/>
                <a:ea typeface="Arial"/>
                <a:cs typeface="Arial"/>
              </a:defRPr>
            </a:pPr>
            <a:r>
              <a:rPr sz="1725" b="0">
                <a:solidFill>
                  <a:srgbClr val="53645B"/>
                </a:solidFill>
                <a:latin typeface="Arial"/>
                <a:ea typeface="Arial"/>
                <a:cs typeface="Arial"/>
              </a:rPr>
              <a:t>Here is how a shared task will work when the doctor asks the family to bring earlier reports to a visit.</a:t>
            </a:r>
          </a:p>
        </p:txBody>
      </p:sp>
      <p:sp>
        <p:nvSpPr>
          <p:cNvPr id="3" name="">
            <a:extLst xmlns:a="http://schemas.openxmlformats.org/drawingml/2006/main">
              <a:ext uri="{FF2B5EF4-FFF2-40B4-BE49-F238E27FC236}">
                <a16:creationId xmlns:a16="http://schemas.microsoft.com/office/drawing/2014/main" id="{A9B03627-FF98-45CC-959F-CD8BA3B3BFA0}"/>
              </a:ext>
            </a:extLst>
          </p:cNvPr>
          <p:cNvSpPr>
            <a:spLocks xmlns:a="http://schemas.openxmlformats.org/drawingml/2006/main" noGrp="1"/>
          </p:cNvSpPr>
          <p:nvPr/>
        </p:nvSpPr>
        <p:spPr>
          <a:xfrm xmlns:a="http://schemas.openxmlformats.org/drawingml/2006/main">
            <a:off x="533400" y="2133600"/>
            <a:ext cx="3543300" cy="2152650"/>
          </a:xfrm>
          <a:prstGeom xmlns:a="http://schemas.openxmlformats.org/drawingml/2006/main" prst="roundRect">
            <a:avLst>
              <a:gd name="adj" fmla="val 3540"/>
            </a:avLst>
          </a:prstGeom>
          <a:solidFill xmlns:a="http://schemas.openxmlformats.org/drawingml/2006/main">
            <a:srgbClr val="F2EAF8"/>
          </a:solidFill>
          <a:ln xmlns:a="http://schemas.openxmlformats.org/drawingml/2006/main" w="9525">
            <a:solidFill>
              <a:srgbClr val="D8DED7"/>
            </a:solidFill>
          </a:ln>
        </p:spPr>
      </p:sp>
      <p:sp>
        <p:nvSpPr>
          <p:cNvPr id="4" name="Step 01">
            <a:extLst xmlns:a="http://schemas.openxmlformats.org/drawingml/2006/main">
              <a:ext uri="{FF2B5EF4-FFF2-40B4-BE49-F238E27FC236}">
                <a16:creationId xmlns:a16="http://schemas.microsoft.com/office/drawing/2014/main" id="{580719AA-AD8F-42A8-966B-E00883AC1303}"/>
              </a:ext>
            </a:extLst>
          </p:cNvPr>
          <p:cNvSpPr>
            <a:spLocks xmlns:a="http://schemas.openxmlformats.org/drawingml/2006/main" noGrp="1"/>
          </p:cNvSpPr>
          <p:nvPr/>
        </p:nvSpPr>
        <p:spPr>
          <a:xfrm xmlns:a="http://schemas.openxmlformats.org/drawingml/2006/main">
            <a:off x="723900" y="2305050"/>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50" b="1">
                <a:solidFill>
                  <a:srgbClr val="8A5436"/>
                </a:solidFill>
                <a:latin typeface="Arial"/>
                <a:ea typeface="Arial"/>
                <a:cs typeface="Arial"/>
              </a:defRPr>
            </a:pPr>
            <a:r>
              <a:rPr sz="1350" b="1">
                <a:solidFill>
                  <a:srgbClr val="8A5436"/>
                </a:solidFill>
                <a:latin typeface="Arial"/>
                <a:ea typeface="Arial"/>
                <a:cs typeface="Arial"/>
              </a:rPr>
              <a:t>01</a:t>
            </a:r>
          </a:p>
        </p:txBody>
      </p:sp>
      <p:sp>
        <p:nvSpPr>
          <p:cNvPr id="5" name="The doctor asks a named person heading">
            <a:extLst xmlns:a="http://schemas.openxmlformats.org/drawingml/2006/main">
              <a:ext uri="{FF2B5EF4-FFF2-40B4-BE49-F238E27FC236}">
                <a16:creationId xmlns:a16="http://schemas.microsoft.com/office/drawing/2014/main" id="{76547E5C-A070-4B49-956A-230D2E23DEF7}"/>
              </a:ext>
            </a:extLst>
          </p:cNvPr>
          <p:cNvSpPr>
            <a:spLocks xmlns:a="http://schemas.openxmlformats.org/drawingml/2006/main" noGrp="1"/>
          </p:cNvSpPr>
          <p:nvPr/>
        </p:nvSpPr>
        <p:spPr>
          <a:xfrm xmlns:a="http://schemas.openxmlformats.org/drawingml/2006/main">
            <a:off x="723900" y="2676525"/>
            <a:ext cx="3162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The doctor asks a named person</a:t>
            </a:r>
          </a:p>
        </p:txBody>
      </p:sp>
      <p:sp>
        <p:nvSpPr>
          <p:cNvPr id="6" name="The doctor asks a named person detail">
            <a:extLst xmlns:a="http://schemas.openxmlformats.org/drawingml/2006/main">
              <a:ext uri="{FF2B5EF4-FFF2-40B4-BE49-F238E27FC236}">
                <a16:creationId xmlns:a16="http://schemas.microsoft.com/office/drawing/2014/main" id="{3363E03A-C43A-4852-B713-0CB8AFE9E627}"/>
              </a:ext>
            </a:extLst>
          </p:cNvPr>
          <p:cNvSpPr>
            <a:spLocks xmlns:a="http://schemas.openxmlformats.org/drawingml/2006/main" noGrp="1"/>
          </p:cNvSpPr>
          <p:nvPr/>
        </p:nvSpPr>
        <p:spPr>
          <a:xfrm xmlns:a="http://schemas.openxmlformats.org/drawingml/2006/main">
            <a:off x="723900" y="3333750"/>
            <a:ext cx="3162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The doctor assigns “Bring the reports” to the patient’s daughter.</a:t>
            </a:r>
          </a:p>
        </p:txBody>
      </p:sp>
      <p:sp>
        <p:nvSpPr>
          <p:cNvPr id="7" name="">
            <a:extLst xmlns:a="http://schemas.openxmlformats.org/drawingml/2006/main">
              <a:ext uri="{FF2B5EF4-FFF2-40B4-BE49-F238E27FC236}">
                <a16:creationId xmlns:a16="http://schemas.microsoft.com/office/drawing/2014/main" id="{F7EB297A-D3F9-4A25-82F1-4A2CC67EB559}"/>
              </a:ext>
            </a:extLst>
          </p:cNvPr>
          <p:cNvSpPr>
            <a:spLocks xmlns:a="http://schemas.openxmlformats.org/drawingml/2006/main" noGrp="1"/>
          </p:cNvSpPr>
          <p:nvPr/>
        </p:nvSpPr>
        <p:spPr>
          <a:xfrm xmlns:a="http://schemas.openxmlformats.org/drawingml/2006/main">
            <a:off x="4324350" y="2133600"/>
            <a:ext cx="3543300" cy="2152650"/>
          </a:xfrm>
          <a:prstGeom xmlns:a="http://schemas.openxmlformats.org/drawingml/2006/main" prst="roundRect">
            <a:avLst>
              <a:gd name="adj" fmla="val 3540"/>
            </a:avLst>
          </a:prstGeom>
          <a:solidFill xmlns:a="http://schemas.openxmlformats.org/drawingml/2006/main">
            <a:srgbClr val="E8F2EB"/>
          </a:solidFill>
          <a:ln xmlns:a="http://schemas.openxmlformats.org/drawingml/2006/main" w="9525">
            <a:solidFill>
              <a:srgbClr val="D8DED7"/>
            </a:solidFill>
          </a:ln>
        </p:spPr>
      </p:sp>
      <p:sp>
        <p:nvSpPr>
          <p:cNvPr id="8" name="Step 02">
            <a:extLst xmlns:a="http://schemas.openxmlformats.org/drawingml/2006/main">
              <a:ext uri="{FF2B5EF4-FFF2-40B4-BE49-F238E27FC236}">
                <a16:creationId xmlns:a16="http://schemas.microsoft.com/office/drawing/2014/main" id="{8CCBFE24-974B-41FF-A5B9-C9970D4DB2CB}"/>
              </a:ext>
            </a:extLst>
          </p:cNvPr>
          <p:cNvSpPr>
            <a:spLocks xmlns:a="http://schemas.openxmlformats.org/drawingml/2006/main" noGrp="1"/>
          </p:cNvSpPr>
          <p:nvPr/>
        </p:nvSpPr>
        <p:spPr>
          <a:xfrm xmlns:a="http://schemas.openxmlformats.org/drawingml/2006/main">
            <a:off x="4514850" y="2305050"/>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50" b="1">
                <a:solidFill>
                  <a:srgbClr val="8A5436"/>
                </a:solidFill>
                <a:latin typeface="Arial"/>
                <a:ea typeface="Arial"/>
                <a:cs typeface="Arial"/>
              </a:defRPr>
            </a:pPr>
            <a:r>
              <a:rPr sz="1350" b="1">
                <a:solidFill>
                  <a:srgbClr val="8A5436"/>
                </a:solidFill>
                <a:latin typeface="Arial"/>
                <a:ea typeface="Arial"/>
                <a:cs typeface="Arial"/>
              </a:rPr>
              <a:t>02</a:t>
            </a:r>
          </a:p>
        </p:txBody>
      </p:sp>
      <p:sp>
        <p:nvSpPr>
          <p:cNvPr id="9" name="She agrees to help heading">
            <a:extLst xmlns:a="http://schemas.openxmlformats.org/drawingml/2006/main">
              <a:ext uri="{FF2B5EF4-FFF2-40B4-BE49-F238E27FC236}">
                <a16:creationId xmlns:a16="http://schemas.microsoft.com/office/drawing/2014/main" id="{AAD8891C-5A2B-4E2A-AA19-693F12069D9F}"/>
              </a:ext>
            </a:extLst>
          </p:cNvPr>
          <p:cNvSpPr>
            <a:spLocks xmlns:a="http://schemas.openxmlformats.org/drawingml/2006/main" noGrp="1"/>
          </p:cNvSpPr>
          <p:nvPr/>
        </p:nvSpPr>
        <p:spPr>
          <a:xfrm xmlns:a="http://schemas.openxmlformats.org/drawingml/2006/main">
            <a:off x="4514850" y="2676525"/>
            <a:ext cx="3162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She agrees to help</a:t>
            </a:r>
          </a:p>
        </p:txBody>
      </p:sp>
      <p:sp>
        <p:nvSpPr>
          <p:cNvPr id="10" name="She agrees to help detail">
            <a:extLst xmlns:a="http://schemas.openxmlformats.org/drawingml/2006/main">
              <a:ext uri="{FF2B5EF4-FFF2-40B4-BE49-F238E27FC236}">
                <a16:creationId xmlns:a16="http://schemas.microsoft.com/office/drawing/2014/main" id="{523F35B4-43EC-463B-ACA6-2319812D1883}"/>
              </a:ext>
            </a:extLst>
          </p:cNvPr>
          <p:cNvSpPr>
            <a:spLocks xmlns:a="http://schemas.openxmlformats.org/drawingml/2006/main" noGrp="1"/>
          </p:cNvSpPr>
          <p:nvPr/>
        </p:nvSpPr>
        <p:spPr>
          <a:xfrm xmlns:a="http://schemas.openxmlformats.org/drawingml/2006/main">
            <a:off x="4514850" y="3333750"/>
            <a:ext cx="3162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She accepts the request, so everyone knows who is taking care of it.</a:t>
            </a:r>
          </a:p>
        </p:txBody>
      </p:sp>
      <p:sp>
        <p:nvSpPr>
          <p:cNvPr id="11" name="">
            <a:extLst xmlns:a="http://schemas.openxmlformats.org/drawingml/2006/main">
              <a:ext uri="{FF2B5EF4-FFF2-40B4-BE49-F238E27FC236}">
                <a16:creationId xmlns:a16="http://schemas.microsoft.com/office/drawing/2014/main" id="{F5E3A8EA-72B6-421C-9DAC-B63B545FCB05}"/>
              </a:ext>
            </a:extLst>
          </p:cNvPr>
          <p:cNvSpPr>
            <a:spLocks xmlns:a="http://schemas.openxmlformats.org/drawingml/2006/main" noGrp="1"/>
          </p:cNvSpPr>
          <p:nvPr/>
        </p:nvSpPr>
        <p:spPr>
          <a:xfrm xmlns:a="http://schemas.openxmlformats.org/drawingml/2006/main">
            <a:off x="8115300" y="2133600"/>
            <a:ext cx="3543300" cy="2152650"/>
          </a:xfrm>
          <a:prstGeom xmlns:a="http://schemas.openxmlformats.org/drawingml/2006/main" prst="roundRect">
            <a:avLst>
              <a:gd name="adj" fmla="val 3540"/>
            </a:avLst>
          </a:prstGeom>
          <a:solidFill xmlns:a="http://schemas.openxmlformats.org/drawingml/2006/main">
            <a:srgbClr val="FBEED6"/>
          </a:solidFill>
          <a:ln xmlns:a="http://schemas.openxmlformats.org/drawingml/2006/main" w="9525">
            <a:solidFill>
              <a:srgbClr val="D8DED7"/>
            </a:solidFill>
          </a:ln>
        </p:spPr>
      </p:sp>
      <p:sp>
        <p:nvSpPr>
          <p:cNvPr id="12" name="Step 03">
            <a:extLst xmlns:a="http://schemas.openxmlformats.org/drawingml/2006/main">
              <a:ext uri="{FF2B5EF4-FFF2-40B4-BE49-F238E27FC236}">
                <a16:creationId xmlns:a16="http://schemas.microsoft.com/office/drawing/2014/main" id="{FFA89D94-F116-45AF-B956-19E42B433748}"/>
              </a:ext>
            </a:extLst>
          </p:cNvPr>
          <p:cNvSpPr>
            <a:spLocks xmlns:a="http://schemas.openxmlformats.org/drawingml/2006/main" noGrp="1"/>
          </p:cNvSpPr>
          <p:nvPr/>
        </p:nvSpPr>
        <p:spPr>
          <a:xfrm xmlns:a="http://schemas.openxmlformats.org/drawingml/2006/main">
            <a:off x="8305800" y="2305050"/>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50" b="1">
                <a:solidFill>
                  <a:srgbClr val="8A5436"/>
                </a:solidFill>
                <a:latin typeface="Arial"/>
                <a:ea typeface="Arial"/>
                <a:cs typeface="Arial"/>
              </a:defRPr>
            </a:pPr>
            <a:r>
              <a:rPr sz="1350" b="1">
                <a:solidFill>
                  <a:srgbClr val="8A5436"/>
                </a:solidFill>
                <a:latin typeface="Arial"/>
                <a:ea typeface="Arial"/>
                <a:cs typeface="Arial"/>
              </a:rPr>
              <a:t>03</a:t>
            </a:r>
          </a:p>
        </p:txBody>
      </p:sp>
      <p:sp>
        <p:nvSpPr>
          <p:cNvPr id="13" name="The family can see when it is done heading">
            <a:extLst xmlns:a="http://schemas.openxmlformats.org/drawingml/2006/main">
              <a:ext uri="{FF2B5EF4-FFF2-40B4-BE49-F238E27FC236}">
                <a16:creationId xmlns:a16="http://schemas.microsoft.com/office/drawing/2014/main" id="{BBFA3B6B-143E-4035-B279-6962938963F1}"/>
              </a:ext>
            </a:extLst>
          </p:cNvPr>
          <p:cNvSpPr>
            <a:spLocks xmlns:a="http://schemas.openxmlformats.org/drawingml/2006/main" noGrp="1"/>
          </p:cNvSpPr>
          <p:nvPr/>
        </p:nvSpPr>
        <p:spPr>
          <a:xfrm xmlns:a="http://schemas.openxmlformats.org/drawingml/2006/main">
            <a:off x="8305800" y="2676525"/>
            <a:ext cx="3162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The family can see when it is done</a:t>
            </a:r>
          </a:p>
        </p:txBody>
      </p:sp>
      <p:sp>
        <p:nvSpPr>
          <p:cNvPr id="14" name="The family can see when it is done detail">
            <a:extLst xmlns:a="http://schemas.openxmlformats.org/drawingml/2006/main">
              <a:ext uri="{FF2B5EF4-FFF2-40B4-BE49-F238E27FC236}">
                <a16:creationId xmlns:a16="http://schemas.microsoft.com/office/drawing/2014/main" id="{1BF9A6ED-6EFB-44A2-8203-EED2DBBE7D82}"/>
              </a:ext>
            </a:extLst>
          </p:cNvPr>
          <p:cNvSpPr>
            <a:spLocks xmlns:a="http://schemas.openxmlformats.org/drawingml/2006/main" noGrp="1"/>
          </p:cNvSpPr>
          <p:nvPr/>
        </p:nvSpPr>
        <p:spPr>
          <a:xfrm xmlns:a="http://schemas.openxmlformats.org/drawingml/2006/main">
            <a:off x="8305800" y="3333750"/>
            <a:ext cx="3162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She marks it done when the reports are ready. The person who asked can see the update.</a:t>
            </a:r>
          </a:p>
        </p:txBody>
      </p:sp>
      <p:sp>
        <p:nvSpPr>
          <p:cNvPr id="15" name="">
            <a:extLst xmlns:a="http://schemas.openxmlformats.org/drawingml/2006/main">
              <a:ext uri="{FF2B5EF4-FFF2-40B4-BE49-F238E27FC236}">
                <a16:creationId xmlns:a16="http://schemas.microsoft.com/office/drawing/2014/main" id="{AD729C06-1FE6-4CBB-BDAE-658A21AAA885}"/>
              </a:ext>
            </a:extLst>
          </p:cNvPr>
          <p:cNvSpPr>
            <a:spLocks xmlns:a="http://schemas.openxmlformats.org/drawingml/2006/main" noGrp="1"/>
          </p:cNvSpPr>
          <p:nvPr/>
        </p:nvSpPr>
        <p:spPr>
          <a:xfrm xmlns:a="http://schemas.openxmlformats.org/drawingml/2006/main">
            <a:off x="4076700" y="3067050"/>
            <a:ext cx="266700" cy="228600"/>
          </a:xfrm>
          <a:prstGeom xmlns:a="http://schemas.openxmlformats.org/drawingml/2006/main" prst="rightArrow">
            <a:avLst/>
          </a:prstGeom>
          <a:solidFill xmlns:a="http://schemas.openxmlformats.org/drawingml/2006/main">
            <a:srgbClr val="A7B9AD"/>
          </a:solidFill>
          <a:ln xmlns:a="http://schemas.openxmlformats.org/drawingml/2006/main" w="0">
            <a:solidFill>
              <a:srgbClr val="A7B9AD"/>
            </a:solidFill>
          </a:ln>
        </p:spPr>
      </p:sp>
      <p:sp>
        <p:nvSpPr>
          <p:cNvPr id="16" name="">
            <a:extLst xmlns:a="http://schemas.openxmlformats.org/drawingml/2006/main">
              <a:ext uri="{FF2B5EF4-FFF2-40B4-BE49-F238E27FC236}">
                <a16:creationId xmlns:a16="http://schemas.microsoft.com/office/drawing/2014/main" id="{37ADED37-061B-4312-BC83-7674EF3B1410}"/>
              </a:ext>
            </a:extLst>
          </p:cNvPr>
          <p:cNvSpPr>
            <a:spLocks xmlns:a="http://schemas.openxmlformats.org/drawingml/2006/main" noGrp="1"/>
          </p:cNvSpPr>
          <p:nvPr/>
        </p:nvSpPr>
        <p:spPr>
          <a:xfrm xmlns:a="http://schemas.openxmlformats.org/drawingml/2006/main">
            <a:off x="7867650" y="3067050"/>
            <a:ext cx="266700" cy="228600"/>
          </a:xfrm>
          <a:prstGeom xmlns:a="http://schemas.openxmlformats.org/drawingml/2006/main" prst="rightArrow">
            <a:avLst/>
          </a:prstGeom>
          <a:solidFill xmlns:a="http://schemas.openxmlformats.org/drawingml/2006/main">
            <a:srgbClr val="A7B9AD"/>
          </a:solidFill>
          <a:ln xmlns:a="http://schemas.openxmlformats.org/drawingml/2006/main" w="0">
            <a:solidFill>
              <a:srgbClr val="A7B9AD"/>
            </a:solidFill>
          </a:ln>
        </p:spPr>
      </p:sp>
      <p:sp>
        <p:nvSpPr>
          <p:cNvPr id="17" name="Task purpose">
            <a:extLst xmlns:a="http://schemas.openxmlformats.org/drawingml/2006/main">
              <a:ext uri="{FF2B5EF4-FFF2-40B4-BE49-F238E27FC236}">
                <a16:creationId xmlns:a16="http://schemas.microsoft.com/office/drawing/2014/main" id="{2582A824-F770-451D-8C70-1C5A8FCB045B}"/>
              </a:ext>
            </a:extLst>
          </p:cNvPr>
          <p:cNvSpPr>
            <a:spLocks xmlns:a="http://schemas.openxmlformats.org/drawingml/2006/main" noGrp="1"/>
          </p:cNvSpPr>
          <p:nvPr/>
        </p:nvSpPr>
        <p:spPr>
          <a:xfrm xmlns:a="http://schemas.openxmlformats.org/drawingml/2006/main">
            <a:off x="533400" y="4648200"/>
            <a:ext cx="11125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The family should know what needs doing and who has agreed to do it.</a:t>
            </a:r>
          </a:p>
        </p:txBody>
      </p:sp>
      <p:sp>
        <p:nvSpPr>
          <p:cNvPr id="18" name="Task connection status">
            <a:extLst xmlns:a="http://schemas.openxmlformats.org/drawingml/2006/main">
              <a:ext uri="{FF2B5EF4-FFF2-40B4-BE49-F238E27FC236}">
                <a16:creationId xmlns:a16="http://schemas.microsoft.com/office/drawing/2014/main" id="{33ABA950-CB3C-4CF1-8B57-38FDA8D316E0}"/>
              </a:ext>
            </a:extLst>
          </p:cNvPr>
          <p:cNvSpPr>
            <a:spLocks xmlns:a="http://schemas.openxmlformats.org/drawingml/2006/main" noGrp="1"/>
          </p:cNvSpPr>
          <p:nvPr/>
        </p:nvSpPr>
        <p:spPr>
          <a:xfrm xmlns:a="http://schemas.openxmlformats.org/drawingml/2006/main">
            <a:off x="533400" y="5372100"/>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These steps can be tried in the app today. Sharing updates between separate phones still needs connecting.</a:t>
            </a:r>
          </a:p>
        </p:txBody>
      </p:sp>
    </p:spTree>
    <p:extLst>
      <p:ext uri="{BB962C8B-B14F-4D97-AF65-F5344CB8AC3E}">
        <p14:creationId xmlns:p14="http://schemas.microsoft.com/office/powerpoint/2010/main" val="1999476030"/>
      </p:ext>
    </p:extLst>
  </p:cSld>
</p:sld>
</file>

<file path=ppt/slides/slide7.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80C55711-CCA7-4BF9-94B5-A50C46CB3405}"/>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700" b="1">
                <a:solidFill>
                  <a:srgbClr val="173F33"/>
                </a:solidFill>
                <a:latin typeface="Arial"/>
                <a:ea typeface="Arial"/>
                <a:cs typeface="Arial"/>
              </a:defRPr>
            </a:pPr>
            <a:r>
              <a:rPr sz="2700" b="1">
                <a:solidFill>
                  <a:srgbClr val="173F33"/>
                </a:solidFill>
                <a:latin typeface="Arial"/>
                <a:ea typeface="Arial"/>
                <a:cs typeface="Arial"/>
              </a:rPr>
              <a:t>What works today, and what comes next</a:t>
            </a:r>
          </a:p>
        </p:txBody>
      </p:sp>
      <p:sp>
        <p:nvSpPr>
          <p:cNvPr id="2" name="What works today">
            <a:extLst xmlns:a="http://schemas.openxmlformats.org/drawingml/2006/main">
              <a:ext uri="{FF2B5EF4-FFF2-40B4-BE49-F238E27FC236}">
                <a16:creationId xmlns:a16="http://schemas.microsoft.com/office/drawing/2014/main" id="{863BF6B5-09E0-4BC1-BEB6-DEB6FF5B9677}"/>
              </a:ext>
            </a:extLst>
          </p:cNvPr>
          <p:cNvSpPr>
            <a:spLocks xmlns:a="http://schemas.openxmlformats.org/drawingml/2006/main" noGrp="1"/>
          </p:cNvSpPr>
          <p:nvPr/>
        </p:nvSpPr>
        <p:spPr>
          <a:xfrm xmlns:a="http://schemas.openxmlformats.org/drawingml/2006/main">
            <a:off x="533400" y="1371600"/>
            <a:ext cx="521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1">
                <a:solidFill>
                  <a:srgbClr val="173F33"/>
                </a:solidFill>
                <a:latin typeface="Arial"/>
                <a:ea typeface="Arial"/>
                <a:cs typeface="Arial"/>
              </a:defRPr>
            </a:pPr>
            <a:r>
              <a:rPr sz="1875" b="1">
                <a:solidFill>
                  <a:srgbClr val="173F33"/>
                </a:solidFill>
                <a:latin typeface="Arial"/>
                <a:ea typeface="Arial"/>
                <a:cs typeface="Arial"/>
              </a:rPr>
              <a:t>What you can try today</a:t>
            </a:r>
          </a:p>
        </p:txBody>
      </p:sp>
      <p:sp>
        <p:nvSpPr>
          <p:cNvPr id="3" name="Current features">
            <a:extLst xmlns:a="http://schemas.openxmlformats.org/drawingml/2006/main">
              <a:ext uri="{FF2B5EF4-FFF2-40B4-BE49-F238E27FC236}">
                <a16:creationId xmlns:a16="http://schemas.microsoft.com/office/drawing/2014/main" id="{E6E23C7D-4A82-436F-B661-F09B0583120F}"/>
              </a:ext>
            </a:extLst>
          </p:cNvPr>
          <p:cNvSpPr>
            <a:spLocks xmlns:a="http://schemas.openxmlformats.org/drawingml/2006/main" noGrp="1"/>
          </p:cNvSpPr>
          <p:nvPr/>
        </p:nvSpPr>
        <p:spPr>
          <a:xfrm xmlns:a="http://schemas.openxmlformats.org/drawingml/2006/main">
            <a:off x="533400" y="1828800"/>
            <a:ext cx="52197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You can upload reports, record a care discussion and check the note. The doctor types their name to sign it. Families can see earlier notes and organise medicines, visits and tasks.</a:t>
            </a:r>
          </a:p>
        </p:txBody>
      </p:sp>
      <p:sp>
        <p:nvSpPr>
          <p:cNvPr id="4" name="What needs connecting">
            <a:extLst xmlns:a="http://schemas.openxmlformats.org/drawingml/2006/main">
              <a:ext uri="{FF2B5EF4-FFF2-40B4-BE49-F238E27FC236}">
                <a16:creationId xmlns:a16="http://schemas.microsoft.com/office/drawing/2014/main" id="{812C54F6-4411-4ABA-8362-569C7A94A560}"/>
              </a:ext>
            </a:extLst>
          </p:cNvPr>
          <p:cNvSpPr>
            <a:spLocks xmlns:a="http://schemas.openxmlformats.org/drawingml/2006/main" noGrp="1"/>
          </p:cNvSpPr>
          <p:nvPr/>
        </p:nvSpPr>
        <p:spPr>
          <a:xfrm xmlns:a="http://schemas.openxmlformats.org/drawingml/2006/main">
            <a:off x="6305550" y="1371600"/>
            <a:ext cx="5353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1">
                <a:solidFill>
                  <a:srgbClr val="173F33"/>
                </a:solidFill>
                <a:latin typeface="Arial"/>
                <a:ea typeface="Arial"/>
                <a:cs typeface="Arial"/>
              </a:defRPr>
            </a:pPr>
            <a:r>
              <a:rPr sz="1875" b="1">
                <a:solidFill>
                  <a:srgbClr val="173F33"/>
                </a:solidFill>
                <a:latin typeface="Arial"/>
                <a:ea typeface="Arial"/>
                <a:cs typeface="Arial"/>
              </a:rPr>
              <a:t>What we still need to connect</a:t>
            </a:r>
          </a:p>
        </p:txBody>
      </p:sp>
      <p:sp>
        <p:nvSpPr>
          <p:cNvPr id="5" name="Next work">
            <a:extLst xmlns:a="http://schemas.openxmlformats.org/drawingml/2006/main">
              <a:ext uri="{FF2B5EF4-FFF2-40B4-BE49-F238E27FC236}">
                <a16:creationId xmlns:a16="http://schemas.microsoft.com/office/drawing/2014/main" id="{06E91F2B-0683-4EE1-9A8D-732ABBF9FD18}"/>
              </a:ext>
            </a:extLst>
          </p:cNvPr>
          <p:cNvSpPr>
            <a:spLocks xmlns:a="http://schemas.openxmlformats.org/drawingml/2006/main" noGrp="1"/>
          </p:cNvSpPr>
          <p:nvPr/>
        </p:nvSpPr>
        <p:spPr>
          <a:xfrm xmlns:a="http://schemas.openxmlformats.org/drawingml/2006/main">
            <a:off x="6305550" y="1828800"/>
            <a:ext cx="53530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Next, we will connect AI drafts, reliable speech-to-text and separate accounts that share only what the patient allows.</a:t>
            </a:r>
          </a:p>
          <a:p xmlns:a="http://schemas.openxmlformats.org/drawingml/2006/main">
            <a:r>
              <a:t/>
            </a:r>
          </a:p>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We will also finish the key screens in the languages our users need and check care-centre details before families rely on them.</a:t>
            </a:r>
          </a:p>
          <a:p xmlns:a="http://schemas.openxmlformats.org/drawingml/2006/main">
            <a:r>
              <a:t/>
            </a:r>
          </a:p>
          <a:p xmlns:a="http://schemas.openxmlformats.org/drawingml/2006/main">
            <a:pPr>
              <a:defRPr sz="1650" b="0">
                <a:solidFill>
                  <a:srgbClr val="53645B"/>
                </a:solidFill>
                <a:latin typeface="Arial"/>
                <a:ea typeface="Arial"/>
                <a:cs typeface="Arial"/>
              </a:defRPr>
            </a:pPr>
            <a:r>
              <a:rPr sz="1650" b="0">
                <a:solidFill>
                  <a:srgbClr val="53645B"/>
                </a:solidFill>
                <a:latin typeface="Arial"/>
                <a:ea typeface="Arial"/>
                <a:cs typeface="Arial"/>
              </a:rPr>
              <a:t>We still need to try the complete app with patients, families and doctors before using it in real care.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6f9e6ff78a4408a"/>
          <a:stretch xmlns:a="http://schemas.openxmlformats.org/drawingml/2006/main"/>
        </p:blipFill>
        <p:spPr>
          <a:xfrm xmlns:a="http://schemas.openxmlformats.org/drawingml/2006/main">
            <a:off x="7724775" y="4762500"/>
            <a:ext cx="2514600" cy="1676400"/>
          </a:xfrm>
          <a:prstGeom xmlns:a="http://schemas.openxmlformats.org/drawingml/2006/main" prst="rect">
            <a:avLst/>
          </a:prstGeom>
        </p:spPr>
      </p:pic>
    </p:spTree>
    <p:extLst>
      <p:ext uri="{BB962C8B-B14F-4D97-AF65-F5344CB8AC3E}">
        <p14:creationId xmlns:p14="http://schemas.microsoft.com/office/powerpoint/2010/main" val="1306055702"/>
      </p:ext>
    </p:extLst>
  </p:cSld>
</p:sld>
</file>

<file path=ppt/slides/slide8.xml><?xml version="1.0" encoding="utf-8"?>
<p:sld xmlns:p="http://schemas.openxmlformats.org/presentationml/2006/main">
  <p:cSld>
    <p:bg>
      <p:bgPr>
        <a:solidFill xmlns:a="http://schemas.openxmlformats.org/drawingml/2006/main">
          <a:srgbClr val="123F32"/>
        </a:solidFill>
      </p:bgPr>
    </p:bg>
    <p:spTree>
      <p:nvGrpSpPr>
        <p:cNvPr id="1" name=""/>
        <p:cNvGrpSpPr/>
        <p:nvPr/>
      </p:nvGrpSpPr>
      <p:grpSpPr>
        <a:xfrm xmlns:a="http://schemas.openxmlformats.org/drawingml/2006/main"/>
      </p:grpSpPr>
      <p:sp>
        <p:nvSpPr>
          <p:cNvPr id="14" name="Slide title">
            <a:extLst xmlns:a="http://schemas.openxmlformats.org/drawingml/2006/main">
              <a:ext uri="{FF2B5EF4-FFF2-40B4-BE49-F238E27FC236}">
                <a16:creationId xmlns:a16="http://schemas.microsoft.com/office/drawing/2014/main" id="{C129FF4B-2D33-4C7D-AB5A-5F08A47679BA}"/>
              </a:ext>
            </a:extLst>
          </p:cNvPr>
          <p:cNvSpPr>
            <a:spLocks xmlns:a="http://schemas.openxmlformats.org/drawingml/2006/main" noGrp="1"/>
          </p:cNvSpPr>
          <p:nvPr/>
        </p:nvSpPr>
        <p:spPr>
          <a:xfrm xmlns:a="http://schemas.openxmlformats.org/drawingml/2006/main">
            <a:off x="533400" y="4000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How we will know whether it helps</a:t>
            </a:r>
          </a:p>
        </p:txBody>
      </p:sp>
      <p:sp>
        <p:nvSpPr>
          <p:cNvPr id="2" name="Pilot plan">
            <a:extLst xmlns:a="http://schemas.openxmlformats.org/drawingml/2006/main">
              <a:ext uri="{FF2B5EF4-FFF2-40B4-BE49-F238E27FC236}">
                <a16:creationId xmlns:a16="http://schemas.microsoft.com/office/drawing/2014/main" id="{D6AA78AD-5210-44AD-AE58-12F1BBA47117}"/>
              </a:ext>
            </a:extLst>
          </p:cNvPr>
          <p:cNvSpPr>
            <a:spLocks xmlns:a="http://schemas.openxmlformats.org/drawingml/2006/main" noGrp="1"/>
          </p:cNvSpPr>
          <p:nvPr/>
        </p:nvSpPr>
        <p:spPr>
          <a:xfrm xmlns:a="http://schemas.openxmlformats.org/drawingml/2006/main">
            <a:off x="533400" y="1314450"/>
            <a:ext cx="695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0">
                <a:solidFill>
                  <a:srgbClr val="F4F1E6"/>
                </a:solidFill>
                <a:latin typeface="Arial"/>
                <a:ea typeface="Arial"/>
                <a:cs typeface="Arial"/>
              </a:defRPr>
            </a:pPr>
            <a:r>
              <a:rPr sz="1725" b="0">
                <a:solidFill>
                  <a:srgbClr val="F4F1E6"/>
                </a:solidFill>
                <a:latin typeface="Arial"/>
                <a:ea typeface="Arial"/>
                <a:cs typeface="Arial"/>
              </a:rPr>
              <a:t>We plan to try Saanthvana with willing families and doctors over 60–90 days.</a:t>
            </a:r>
          </a:p>
        </p:txBody>
      </p:sp>
      <p:sp>
        <p:nvSpPr>
          <p:cNvPr id="3" name="Pilot question one">
            <a:extLst xmlns:a="http://schemas.openxmlformats.org/drawingml/2006/main">
              <a:ext uri="{FF2B5EF4-FFF2-40B4-BE49-F238E27FC236}">
                <a16:creationId xmlns:a16="http://schemas.microsoft.com/office/drawing/2014/main" id="{A18920BA-422B-4E82-8BCF-A2DAFA554251}"/>
              </a:ext>
            </a:extLst>
          </p:cNvPr>
          <p:cNvSpPr>
            <a:spLocks xmlns:a="http://schemas.openxmlformats.org/drawingml/2006/main" noGrp="1"/>
          </p:cNvSpPr>
          <p:nvPr/>
        </p:nvSpPr>
        <p:spPr>
          <a:xfrm xmlns:a="http://schemas.openxmlformats.org/drawingml/2006/main">
            <a:off x="533400" y="2105025"/>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Does the doctor spend less time writing the note?</a:t>
            </a:r>
          </a:p>
        </p:txBody>
      </p:sp>
      <p:sp>
        <p:nvSpPr>
          <p:cNvPr id="4" name="Pilot question two">
            <a:extLst xmlns:a="http://schemas.openxmlformats.org/drawingml/2006/main">
              <a:ext uri="{FF2B5EF4-FFF2-40B4-BE49-F238E27FC236}">
                <a16:creationId xmlns:a16="http://schemas.microsoft.com/office/drawing/2014/main" id="{3A768929-69CE-4D22-A9CA-CA89EFD03E8F}"/>
              </a:ext>
            </a:extLst>
          </p:cNvPr>
          <p:cNvSpPr>
            <a:spLocks xmlns:a="http://schemas.openxmlformats.org/drawingml/2006/main" noGrp="1"/>
          </p:cNvSpPr>
          <p:nvPr/>
        </p:nvSpPr>
        <p:spPr>
          <a:xfrm xmlns:a="http://schemas.openxmlformats.org/drawingml/2006/main">
            <a:off x="533400" y="2705100"/>
            <a:ext cx="695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Can the family quickly find the latest note and understand the next step?</a:t>
            </a:r>
          </a:p>
        </p:txBody>
      </p:sp>
      <p:sp>
        <p:nvSpPr>
          <p:cNvPr id="5" name="Pilot question three">
            <a:extLst xmlns:a="http://schemas.openxmlformats.org/drawingml/2006/main">
              <a:ext uri="{FF2B5EF4-FFF2-40B4-BE49-F238E27FC236}">
                <a16:creationId xmlns:a16="http://schemas.microsoft.com/office/drawing/2014/main" id="{7F9DF44D-A205-4A70-BDB0-F93B78C81E5E}"/>
              </a:ext>
            </a:extLst>
          </p:cNvPr>
          <p:cNvSpPr>
            <a:spLocks xmlns:a="http://schemas.openxmlformats.org/drawingml/2006/main" noGrp="1"/>
          </p:cNvSpPr>
          <p:nvPr/>
        </p:nvSpPr>
        <p:spPr>
          <a:xfrm xmlns:a="http://schemas.openxmlformats.org/drawingml/2006/main">
            <a:off x="533400" y="3448050"/>
            <a:ext cx="695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Do agreed tasks get done without extra work for the care team?</a:t>
            </a:r>
          </a:p>
        </p:txBody>
      </p:sp>
      <p:sp>
        <p:nvSpPr>
          <p:cNvPr id="6" name="No results yet">
            <a:extLst xmlns:a="http://schemas.openxmlformats.org/drawingml/2006/main">
              <a:ext uri="{FF2B5EF4-FFF2-40B4-BE49-F238E27FC236}">
                <a16:creationId xmlns:a16="http://schemas.microsoft.com/office/drawing/2014/main" id="{A950FFB4-0AF8-42E8-9AC0-9BBC7A9A1C65}"/>
              </a:ext>
            </a:extLst>
          </p:cNvPr>
          <p:cNvSpPr>
            <a:spLocks xmlns:a="http://schemas.openxmlformats.org/drawingml/2006/main" noGrp="1"/>
          </p:cNvSpPr>
          <p:nvPr/>
        </p:nvSpPr>
        <p:spPr>
          <a:xfrm xmlns:a="http://schemas.openxmlformats.org/drawingml/2006/main">
            <a:off x="533400" y="4229100"/>
            <a:ext cx="695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DCEBE4"/>
                </a:solidFill>
                <a:latin typeface="Arial"/>
                <a:ea typeface="Arial"/>
                <a:cs typeface="Arial"/>
              </a:defRPr>
            </a:pPr>
            <a:r>
              <a:rPr sz="1650" b="0">
                <a:solidFill>
                  <a:srgbClr val="DCEBE4"/>
                </a:solidFill>
                <a:latin typeface="Arial"/>
                <a:ea typeface="Arial"/>
                <a:cs typeface="Arial"/>
              </a:rPr>
              <a:t>These are the questions we will test. We do not have results yet.</a:t>
            </a:r>
          </a:p>
        </p:txBody>
      </p:sp>
      <p:sp>
        <p:nvSpPr>
          <p:cNvPr id="7" name="Doctors on our team">
            <a:extLst xmlns:a="http://schemas.openxmlformats.org/drawingml/2006/main">
              <a:ext uri="{FF2B5EF4-FFF2-40B4-BE49-F238E27FC236}">
                <a16:creationId xmlns:a16="http://schemas.microsoft.com/office/drawing/2014/main" id="{650DFA90-9ABC-4A4C-A7BC-AEC2EA1DF54A}"/>
              </a:ext>
            </a:extLst>
          </p:cNvPr>
          <p:cNvSpPr>
            <a:spLocks xmlns:a="http://schemas.openxmlformats.org/drawingml/2006/main" noGrp="1"/>
          </p:cNvSpPr>
          <p:nvPr/>
        </p:nvSpPr>
        <p:spPr>
          <a:xfrm xmlns:a="http://schemas.openxmlformats.org/drawingml/2006/main">
            <a:off x="8020050" y="13716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E5F0E9"/>
                </a:solidFill>
                <a:latin typeface="Arial"/>
                <a:ea typeface="Arial"/>
                <a:cs typeface="Arial"/>
              </a:defRPr>
            </a:pPr>
            <a:r>
              <a:rPr sz="1725" b="1">
                <a:solidFill>
                  <a:srgbClr val="E5F0E9"/>
                </a:solidFill>
                <a:latin typeface="Arial"/>
                <a:ea typeface="Arial"/>
                <a:cs typeface="Arial"/>
              </a:rPr>
              <a:t>Doctors on our team</a:t>
            </a:r>
          </a:p>
        </p:txBody>
      </p:sp>
      <p:sp>
        <p:nvSpPr>
          <p:cNvPr id="8" name="Clinical team">
            <a:extLst xmlns:a="http://schemas.openxmlformats.org/drawingml/2006/main">
              <a:ext uri="{FF2B5EF4-FFF2-40B4-BE49-F238E27FC236}">
                <a16:creationId xmlns:a16="http://schemas.microsoft.com/office/drawing/2014/main" id="{8FACC439-613F-433E-96E3-09EF4B9DFB32}"/>
              </a:ext>
            </a:extLst>
          </p:cNvPr>
          <p:cNvSpPr>
            <a:spLocks xmlns:a="http://schemas.openxmlformats.org/drawingml/2006/main" noGrp="1"/>
          </p:cNvSpPr>
          <p:nvPr/>
        </p:nvSpPr>
        <p:spPr>
          <a:xfrm xmlns:a="http://schemas.openxmlformats.org/drawingml/2006/main">
            <a:off x="8020050" y="1790700"/>
            <a:ext cx="3619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Dr Sharada Vinod Kutty</a:t>
            </a:r>
          </a:p>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Dr Sujay Halkur Shankar</a:t>
            </a:r>
          </a:p>
        </p:txBody>
      </p:sp>
      <p:sp>
        <p:nvSpPr>
          <p:cNvPr id="9" name="Building the app">
            <a:extLst xmlns:a="http://schemas.openxmlformats.org/drawingml/2006/main">
              <a:ext uri="{FF2B5EF4-FFF2-40B4-BE49-F238E27FC236}">
                <a16:creationId xmlns:a16="http://schemas.microsoft.com/office/drawing/2014/main" id="{A9820AD3-1487-4A82-8545-83A83C6E73DC}"/>
              </a:ext>
            </a:extLst>
          </p:cNvPr>
          <p:cNvSpPr>
            <a:spLocks xmlns:a="http://schemas.openxmlformats.org/drawingml/2006/main" noGrp="1"/>
          </p:cNvSpPr>
          <p:nvPr/>
        </p:nvSpPr>
        <p:spPr>
          <a:xfrm xmlns:a="http://schemas.openxmlformats.org/drawingml/2006/main">
            <a:off x="8020050" y="27432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E5F0E9"/>
                </a:solidFill>
                <a:latin typeface="Arial"/>
                <a:ea typeface="Arial"/>
                <a:cs typeface="Arial"/>
              </a:defRPr>
            </a:pPr>
            <a:r>
              <a:rPr sz="1725" b="1">
                <a:solidFill>
                  <a:srgbClr val="E5F0E9"/>
                </a:solidFill>
                <a:latin typeface="Arial"/>
                <a:ea typeface="Arial"/>
                <a:cs typeface="Arial"/>
              </a:rPr>
              <a:t>Building the app</a:t>
            </a:r>
          </a:p>
        </p:txBody>
      </p:sp>
      <p:sp>
        <p:nvSpPr>
          <p:cNvPr id="10" name="Product team">
            <a:extLst xmlns:a="http://schemas.openxmlformats.org/drawingml/2006/main">
              <a:ext uri="{FF2B5EF4-FFF2-40B4-BE49-F238E27FC236}">
                <a16:creationId xmlns:a16="http://schemas.microsoft.com/office/drawing/2014/main" id="{F2A993C0-9B9E-4363-9602-15BD625F20F4}"/>
              </a:ext>
            </a:extLst>
          </p:cNvPr>
          <p:cNvSpPr>
            <a:spLocks xmlns:a="http://schemas.openxmlformats.org/drawingml/2006/main" noGrp="1"/>
          </p:cNvSpPr>
          <p:nvPr/>
        </p:nvSpPr>
        <p:spPr>
          <a:xfrm xmlns:a="http://schemas.openxmlformats.org/drawingml/2006/main">
            <a:off x="8020050" y="3162300"/>
            <a:ext cx="3619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Shaik Abdul Basith</a:t>
            </a:r>
          </a:p>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Shaik Muhammad Awaiz</a:t>
            </a:r>
          </a:p>
        </p:txBody>
      </p:sp>
      <p:sp>
        <p:nvSpPr>
          <p:cNvPr id="11" name="Open the app">
            <a:extLst xmlns:a="http://schemas.openxmlformats.org/drawingml/2006/main">
              <a:ext uri="{FF2B5EF4-FFF2-40B4-BE49-F238E27FC236}">
                <a16:creationId xmlns:a16="http://schemas.microsoft.com/office/drawing/2014/main" id="{A6269937-C13F-4CF9-AE12-C9761A4C0041}"/>
              </a:ext>
            </a:extLst>
          </p:cNvPr>
          <p:cNvSpPr>
            <a:spLocks xmlns:a="http://schemas.openxmlformats.org/drawingml/2006/main" noGrp="1"/>
          </p:cNvSpPr>
          <p:nvPr/>
        </p:nvSpPr>
        <p:spPr>
          <a:xfrm xmlns:a="http://schemas.openxmlformats.org/drawingml/2006/main">
            <a:off x="8020050" y="40957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E5F0E9"/>
                </a:solidFill>
                <a:latin typeface="Arial"/>
                <a:ea typeface="Arial"/>
                <a:cs typeface="Arial"/>
              </a:defRPr>
            </a:pPr>
            <a:r>
              <a:rPr sz="1725" b="1">
                <a:solidFill>
                  <a:srgbClr val="E5F0E9"/>
                </a:solidFill>
                <a:latin typeface="Arial"/>
                <a:ea typeface="Arial"/>
                <a:cs typeface="Arial"/>
              </a:rPr>
              <a:t>Open the app</a:t>
            </a:r>
          </a:p>
        </p:txBody>
      </p:sp>
      <p:sp>
        <p:nvSpPr>
          <p:cNvPr id="12" name="Public URL">
            <a:extLst xmlns:a="http://schemas.openxmlformats.org/drawingml/2006/main">
              <a:ext uri="{FF2B5EF4-FFF2-40B4-BE49-F238E27FC236}">
                <a16:creationId xmlns:a16="http://schemas.microsoft.com/office/drawing/2014/main" id="{CAF0A027-97C9-424C-AE2E-37DA6CB07987}"/>
              </a:ext>
            </a:extLst>
          </p:cNvPr>
          <p:cNvSpPr>
            <a:spLocks xmlns:a="http://schemas.openxmlformats.org/drawingml/2006/main" noGrp="1"/>
          </p:cNvSpPr>
          <p:nvPr/>
        </p:nvSpPr>
        <p:spPr>
          <a:xfrm xmlns:a="http://schemas.openxmlformats.org/drawingml/2006/main">
            <a:off x="8020050" y="4514850"/>
            <a:ext cx="361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https://continuity-loop-healthathon.vercel.app/</a:t>
            </a:r>
          </a:p>
        </p:txBody>
      </p:sp>
      <p:sp>
        <p:nvSpPr>
          <p:cNvPr id="13" name="Closing thought">
            <a:extLst xmlns:a="http://schemas.openxmlformats.org/drawingml/2006/main">
              <a:ext uri="{FF2B5EF4-FFF2-40B4-BE49-F238E27FC236}">
                <a16:creationId xmlns:a16="http://schemas.microsoft.com/office/drawing/2014/main" id="{A16C6D8B-59CC-4627-B567-CE0C2CC3475F}"/>
              </a:ext>
            </a:extLst>
          </p:cNvPr>
          <p:cNvSpPr>
            <a:spLocks xmlns:a="http://schemas.openxmlformats.org/drawingml/2006/main" noGrp="1"/>
          </p:cNvSpPr>
          <p:nvPr/>
        </p:nvSpPr>
        <p:spPr>
          <a:xfrm xmlns:a="http://schemas.openxmlformats.org/drawingml/2006/main">
            <a:off x="533400" y="5857875"/>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The hardest decisions shouldn't be made without the right information.</a:t>
            </a:r>
          </a:p>
        </p:txBody>
      </p:sp>
    </p:spTree>
    <p:extLst>
      <p:ext uri="{BB962C8B-B14F-4D97-AF65-F5344CB8AC3E}">
        <p14:creationId xmlns:p14="http://schemas.microsoft.com/office/powerpoint/2010/main" val="16135930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2026-09-23T19:39:40.7550000Z</dcterms:created>
  <dcterms:modified xsi:type="dcterms:W3CDTF">2026-09-23T19:39:40.7550000Z</dcterms:modified>
</coreProperties>
</file>