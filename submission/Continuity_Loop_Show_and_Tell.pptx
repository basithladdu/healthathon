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1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00" y="629000"/>
            <a:ext cx="5600000" cy="56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00000" y="1350000"/>
            <a:ext cx="52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Continuity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0" y="2350000"/>
            <a:ext cx="52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9EF75"/>
                </a:solidFill>
                <a:latin typeface="Inter"/>
              </a:rPr>
              <a:t>Scan it. Try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0" y="3350000"/>
            <a:ext cx="52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continuity-loop-healthathon.vercel.app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0000" y="4450000"/>
            <a:ext cx="52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FB8AC"/>
                </a:solidFill>
                <a:latin typeface="Inter"/>
              </a:rPr>
              <a:t>One care plan. Every handoff.
Synthetic patients · works in the browser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000" y="230000"/>
            <a:ext cx="114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D9EF75"/>
                </a:solidFill>
                <a:latin typeface="Inter"/>
              </a:rPr>
              <a:t>2 a.m. in the 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000" y="820000"/>
            <a:ext cx="1143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FB8AC"/>
                </a:solidFill>
                <a:latin typeface="Inter"/>
              </a:rPr>
              <a:t>The emergency doctor finds the plan in seconds.</a:t>
            </a:r>
          </a:p>
        </p:txBody>
      </p:sp>
      <p:pic>
        <p:nvPicPr>
          <p:cNvPr id="4" name="Picture 3" descr="10-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600" y="1300000"/>
            <a:ext cx="8476800" cy="529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000" y="230000"/>
            <a:ext cx="114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D9EF75"/>
                </a:solidFill>
                <a:latin typeface="Inter"/>
              </a:rPr>
              <a:t>Where every patient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000" y="820000"/>
            <a:ext cx="1143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FB8AC"/>
                </a:solidFill>
                <a:latin typeface="Inter"/>
              </a:rPr>
              <a:t>Live Bangalore map — send an ASHA or a 108.</a:t>
            </a:r>
          </a:p>
        </p:txBody>
      </p:sp>
      <p:pic>
        <p:nvPicPr>
          <p:cNvPr id="4" name="Picture 3" descr="02-mapli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600" y="1300000"/>
            <a:ext cx="8476800" cy="529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000" y="230000"/>
            <a:ext cx="114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D9EF75"/>
                </a:solidFill>
                <a:latin typeface="Inter"/>
              </a:rPr>
              <a:t>Scan at the door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000" y="820000"/>
            <a:ext cx="1143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FB8AC"/>
                </a:solidFill>
                <a:latin typeface="Inter"/>
              </a:rPr>
              <a:t>A QR that unlocks the handoff, never the notes.</a:t>
            </a:r>
          </a:p>
        </p:txBody>
      </p:sp>
      <p:pic>
        <p:nvPicPr>
          <p:cNvPr id="4" name="Picture 3" descr="03-qr-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600" y="1300000"/>
            <a:ext cx="8476800" cy="529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000" y="230000"/>
            <a:ext cx="114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D9EF75"/>
                </a:solidFill>
                <a:latin typeface="Inter"/>
              </a:rPr>
              <a:t>20 conversations, scored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000" y="820000"/>
            <a:ext cx="1143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FB8AC"/>
                </a:solidFill>
                <a:latin typeface="Inter"/>
              </a:rPr>
              <a:t>Every number computed. Every miss named.</a:t>
            </a:r>
          </a:p>
        </p:txBody>
      </p:sp>
      <p:pic>
        <p:nvPicPr>
          <p:cNvPr id="4" name="Picture 3" descr="08-scenario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600" y="1300000"/>
            <a:ext cx="8476800" cy="529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000" y="230000"/>
            <a:ext cx="114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D9EF75"/>
                </a:solidFill>
                <a:latin typeface="Inter"/>
              </a:rPr>
              <a:t>The family sees it too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000" y="820000"/>
            <a:ext cx="1143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FB8AC"/>
                </a:solidFill>
                <a:latin typeface="Inter"/>
              </a:rPr>
              <a:t>Plain words. Hindi. Read aloud.</a:t>
            </a:r>
          </a:p>
        </p:txBody>
      </p:sp>
      <p:pic>
        <p:nvPicPr>
          <p:cNvPr id="4" name="Picture 3" descr="11-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0" y="1400000"/>
            <a:ext cx="5596000" cy="3497500"/>
          </a:xfrm>
          <a:prstGeom prst="rect">
            <a:avLst/>
          </a:prstGeom>
        </p:spPr>
      </p:pic>
      <p:pic>
        <p:nvPicPr>
          <p:cNvPr id="5" name="Picture 4" descr="12-pat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000" y="1400000"/>
            <a:ext cx="5596000" cy="3497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0000" y="230000"/>
            <a:ext cx="114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D9EF75"/>
                </a:solidFill>
                <a:latin typeface="Inter"/>
              </a:rPr>
              <a:t>The doctor leads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000" y="820000"/>
            <a:ext cx="1143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FB8AC"/>
                </a:solidFill>
                <a:latin typeface="Inter"/>
              </a:rPr>
              <a:t>Guided conversation → reviewed draft → locked version.</a:t>
            </a:r>
          </a:p>
        </p:txBody>
      </p:sp>
      <p:pic>
        <p:nvPicPr>
          <p:cNvPr id="4" name="Picture 3" descr="04-conver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0" y="1400000"/>
            <a:ext cx="5596000" cy="3497500"/>
          </a:xfrm>
          <a:prstGeom prst="rect">
            <a:avLst/>
          </a:prstGeom>
        </p:spPr>
      </p:pic>
      <p:pic>
        <p:nvPicPr>
          <p:cNvPr id="5" name="Picture 4" descr="05-dra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000" y="1400000"/>
            <a:ext cx="5596000" cy="349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