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074a74dc484d4f" /><Relationship Type="http://schemas.openxmlformats.org/officeDocument/2006/relationships/extended-properties" Target="/docProps/app.xml" Id="R4d3eecc788c24606" /><Relationship Type="http://schemas.openxmlformats.org/officeDocument/2006/relationships/officeDocument" Target="/ppt/presentation.xml" Id="Rbce28e8d997249b8" /></Relationships>
</file>

<file path=ppt/presentation.xml><?xml version="1.0" encoding="utf-8"?>
<p:presentation xmlns:p="http://schemas.openxmlformats.org/presentationml/2006/main">
  <p:sldMasterIdLst>
    <p:sldMasterId xmlns:r="http://schemas.openxmlformats.org/officeDocument/2006/relationships" id="2147483648" r:id="R98555854ca3a462c"/>
  </p:sldMasterIdLst>
  <p:notesMasterIdLst>
    <p:notesMasterId xmlns:r="http://schemas.openxmlformats.org/officeDocument/2006/relationships" r:id="Re62668edb9f84b32"/>
  </p:notesMasterIdLst>
  <p:sldIdLst>
    <p:sldId xmlns:r="http://schemas.openxmlformats.org/officeDocument/2006/relationships" id="256" r:id="R06770d2de9b04a40"/>
    <p:sldId xmlns:r="http://schemas.openxmlformats.org/officeDocument/2006/relationships" id="257" r:id="Rd897138082314fb5"/>
    <p:sldId xmlns:r="http://schemas.openxmlformats.org/officeDocument/2006/relationships" id="258" r:id="R22240613a888446b"/>
    <p:sldId xmlns:r="http://schemas.openxmlformats.org/officeDocument/2006/relationships" id="259" r:id="Rf51260a60ddd4e77"/>
    <p:sldId xmlns:r="http://schemas.openxmlformats.org/officeDocument/2006/relationships" id="260" r:id="R818feb1225534d6c"/>
    <p:sldId xmlns:r="http://schemas.openxmlformats.org/officeDocument/2006/relationships" id="261" r:id="Rcacf9dc0c3a644ca"/>
    <p:sldId xmlns:r="http://schemas.openxmlformats.org/officeDocument/2006/relationships" id="262" r:id="R2d5c0ab212e34334"/>
    <p:sldId xmlns:r="http://schemas.openxmlformats.org/officeDocument/2006/relationships" id="263" r:id="R24b18549fda14a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ccf3c714644e63" /><Relationship Type="http://schemas.openxmlformats.org/officeDocument/2006/relationships/slideMaster" Target="/ppt/slideMasters/slideMaster1.xml" Id="R98555854ca3a462c" /><Relationship Type="http://schemas.openxmlformats.org/officeDocument/2006/relationships/notesMaster" Target="/ppt/notesMasters/notesMaster1.xml" Id="Re62668edb9f84b32" /><Relationship Type="http://schemas.openxmlformats.org/officeDocument/2006/relationships/presProps" Target="/ppt/presProps.xml" Id="R8054e479ff254577" /><Relationship Type="http://schemas.openxmlformats.org/officeDocument/2006/relationships/tableStyles" Target="/ppt/tableStyles.xml" Id="R7b5633fd527f4f44" /><Relationship Type="http://schemas.openxmlformats.org/officeDocument/2006/relationships/slide" Target="/ppt/slides/slide1.xml" Id="R06770d2de9b04a40" /><Relationship Type="http://schemas.openxmlformats.org/officeDocument/2006/relationships/slide" Target="/ppt/slides/slide2.xml" Id="Rd897138082314fb5" /><Relationship Type="http://schemas.openxmlformats.org/officeDocument/2006/relationships/slide" Target="/ppt/slides/slide3.xml" Id="R22240613a888446b" /><Relationship Type="http://schemas.openxmlformats.org/officeDocument/2006/relationships/slide" Target="/ppt/slides/slide4.xml" Id="Rf51260a60ddd4e77" /><Relationship Type="http://schemas.openxmlformats.org/officeDocument/2006/relationships/slide" Target="/ppt/slides/slide5.xml" Id="R818feb1225534d6c" /><Relationship Type="http://schemas.openxmlformats.org/officeDocument/2006/relationships/slide" Target="/ppt/slides/slide6.xml" Id="Rcacf9dc0c3a644ca" /><Relationship Type="http://schemas.openxmlformats.org/officeDocument/2006/relationships/slide" Target="/ppt/slides/slide7.xml" Id="R2d5c0ab212e34334" /><Relationship Type="http://schemas.openxmlformats.org/officeDocument/2006/relationships/slide" Target="/ppt/slides/slide8.xml" Id="R24b18549fda14a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7c915855414a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2ae1a248004c98" /><Relationship Type="http://schemas.openxmlformats.org/officeDocument/2006/relationships/notesMaster" Target="/ppt/notesMasters/notesMaster1.xml" Id="R8739fb15574640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5abf6256764f18" /><Relationship Type="http://schemas.openxmlformats.org/officeDocument/2006/relationships/notesMaster" Target="/ppt/notesMasters/notesMaster1.xml" Id="R2840de40f27444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955c5c66574238" /><Relationship Type="http://schemas.openxmlformats.org/officeDocument/2006/relationships/notesMaster" Target="/ppt/notesMasters/notesMaster1.xml" Id="Ra419b0fc2fef4b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8c34dfc9a74001" /><Relationship Type="http://schemas.openxmlformats.org/officeDocument/2006/relationships/notesMaster" Target="/ppt/notesMasters/notesMaster1.xml" Id="R57522e72d9e546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ced401c1674b44" /><Relationship Type="http://schemas.openxmlformats.org/officeDocument/2006/relationships/notesMaster" Target="/ppt/notesMasters/notesMaster1.xml" Id="R8bf71a0bbb064d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30cdc038894e1d" /><Relationship Type="http://schemas.openxmlformats.org/officeDocument/2006/relationships/notesMaster" Target="/ppt/notesMasters/notesMaster1.xml" Id="R87c28c1117c241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55d91f39cf47bd" /><Relationship Type="http://schemas.openxmlformats.org/officeDocument/2006/relationships/notesMaster" Target="/ppt/notesMasters/notesMaster1.xml" Id="R666f5950f6294f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560c2f668346a9" /><Relationship Type="http://schemas.openxmlformats.org/officeDocument/2006/relationships/notesMaster" Target="/ppt/notesMasters/notesMaster1.xml" Id="R7cc3ee5fa9ec42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 (साथ) means together/with in this naming context. The five named people are the current team; Shirin Ayub was added in the user's latest roster. Basith and Awaiz portraits are original team assets from the DevIT ITI deck, with provenance in submission/assets/2026-09-24-team/README.md. Blank spaces are intentionally reserved for the other members' photos. Roles use the supplied roster. The app logo is extracted from the actual app. GitHub and WhatsApp marks are unmodified Simple Icons assets. The QR and large clickable link open https://continuity-loop-healthathon.vercel.app/. The requested santwana.wedevit.in address returned 404 and the connected Vercel account could not assign it, so the deck uses the working link. Entry: Cancer / Patient and Caregiver / Family &amp; Caregiver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The scenario uses best supportive care, omits the earlier death outcome, and does not recommend or reject emergency treatment. A Care Note records wishes and discussion; it is not an automatic treatment order or a legal advance directive. The photograph provides general consultation context and does not depict the story patient or a Saath user. Photo: Thierry Falise / ILO Asia-Pacific, https://commons.wikimedia.org/wiki/File:Doctor_consultation.jpg, CC BY-SA 4.0 https://creativecommons.org/licenses/by-sa/4.0/, cropped.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proposed AI workflow, not a claim that a model is already connected. With recording consent, a transcript or existing note becomes a source-linked draft. The clinician can edit, reject or correct it in a distinct review step and must sign before approval. Unanswered questions remain unanswered. No diagnosis, treatment recommendation, risk scoring or interpretation of medical results. Today the browser app supports recording, source-based rule preparation, editing and typed-name signing. Reliable transcription, model integration, verified accounts and sharing between phones remain to connect. A typed name is not a verified digital signature. The screenshot is a real Chrome capture of the live app. The Meera conversation and preferences are fictional illustrative content entered through the app's normal controls; the draft remains unsigned and is not an actual clinical record. Screenshot: output/playwright/2026-09-24-doctor-note-review-filled.png. Sources: 21 September transcript lines 251–303 and 1097–1155; 23 September meeting and chat; Sujay's 24 September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Treatment dates must be present in the record and must not be inferred from the report date. Handwritten prescription recognition was not adopted. The actual screenshot shows literal retrieval from a fictional stored record and a way to open its original; it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actual live Chrome capture output/playwright/2026-09-24-documents-source.png.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Goals of care means a discussion about what matters to the patient and what they want from care. The patient or family can request it; the clinician can initiate it too. Discussion, decisions and unresolved questions remain distinct. Home shows the latest signed Care Note and a QR for that patient and version; an unsigned draft is not presented as approved. The cover QR opens the app. Patient, Family and Doctor are three current access choices in the browser; verified accounts and authenticated sharing between phones remain to connect. A Care Note is not a legal advance directive. Screenshot: output/playwright/2026-09-24-home-note-desktop.png. Sources: both meeting transcripts from 21 and 23 September; Sujay's 24 September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trial, not a measured result or a confirmed deployment partner. Start with an agreed baseline and keep the same eligibility and documentation definition after deployment. Tally eligible, informed and consented participants, patient requests, family requests, clinician-initiated conversations, held discussions, saved notes and signed notes separately. Deduplicate repeat activity within a discussion episode and record missing data. Primary before/after rate: patients with a documented goals-of-care discussion in the clinical record / all eligible patients. Also report documented/consented, patient requests/informed eligible and doctor-signed/documented where consistently available, each with n/N. Do not infer a completed discussion from an app recording or a signed note. Offering information to all clinic patients is a proposed opt-in approach for discussion with a site. Consent to the discussion, recording and evaluation data are separate. Supporting measures include clinician time to check/sign, patient-family retrieval time, errors and clarification contacts. Protocol detail: docs/pitch/2026-09-24-impact-plan.md. Sources: Sujay's 24 September messages supplied by the user; Health-a-thon design brief, https://healthathon.reskilll.com/guide.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34707fa24849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8336d5f6004d5b" /><Relationship Type="http://schemas.openxmlformats.org/officeDocument/2006/relationships/slideLayout" Target="/ppt/slideLayouts/slideLayout1.xml" Id="R8c3725b9f2ee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3725b9f2ee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db5edb01f940a2" /><Relationship Type="http://schemas.openxmlformats.org/officeDocument/2006/relationships/image" Target="/ppt/media/image.png" Id="Rb019402759524f7a" /><Relationship Type="http://schemas.openxmlformats.org/officeDocument/2006/relationships/image" Target="/ppt/media/image.svg" Id="R9e5927fd1613415d" /><Relationship Type="http://schemas.openxmlformats.org/officeDocument/2006/relationships/image" Target="/ppt/media/image2.png" Id="Ra6ac192ba8ac445e" /><Relationship Type="http://schemas.openxmlformats.org/officeDocument/2006/relationships/hyperlink" Target="https://continuity-loop-healthathon.vercel.app/" TargetMode="External" Id="R47e76a51b1014420" /><Relationship Type="http://schemas.openxmlformats.org/officeDocument/2006/relationships/image" Target="/ppt/media/image3.png" Id="Rbc9dc8e34dfe4954" /><Relationship Type="http://schemas.openxmlformats.org/officeDocument/2006/relationships/image" Target="/ppt/media/image2.svg" Id="R857620db48104a86" /><Relationship Type="http://schemas.openxmlformats.org/officeDocument/2006/relationships/hyperlink" Target="https://github.com/basithladdu/healthathon" TargetMode="External" Id="Rfa9c98d5ce62412a" /><Relationship Type="http://schemas.openxmlformats.org/officeDocument/2006/relationships/image" Target="/ppt/media/image4.png" Id="Ra44fa9ed7a034bdf" /><Relationship Type="http://schemas.openxmlformats.org/officeDocument/2006/relationships/image" Target="/ppt/media/image3.svg" Id="R9f1039699fdd49f1" /><Relationship Type="http://schemas.openxmlformats.org/officeDocument/2006/relationships/hyperlink" Target="https://wa.me/919553321211" TargetMode="External" Id="Ra2ca75816db74c2b" /><Relationship Type="http://schemas.openxmlformats.org/officeDocument/2006/relationships/hyperlink" Target="https://wa.me/919553321211" TargetMode="External" Id="Rd1d668c17bbf47fc" /><Relationship Type="http://schemas.openxmlformats.org/officeDocument/2006/relationships/image" Target="/ppt/media/image.jpeg" Id="R6dbbf69a87184c6c" /><Relationship Type="http://schemas.openxmlformats.org/officeDocument/2006/relationships/image" Target="/ppt/media/image2.jpeg" Id="R3badcc4598fe48bd" /><Relationship Type="http://schemas.openxmlformats.org/officeDocument/2006/relationships/notesSlide" Target="/ppt/notesSlides/notesSlide1.xml" Id="R848dd21b8e244e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8bc830cf954397" /><Relationship Type="http://schemas.openxmlformats.org/officeDocument/2006/relationships/image" Target="/ppt/media/image3.jpeg" Id="Rb3663c6639654c3f" /><Relationship Type="http://schemas.openxmlformats.org/officeDocument/2006/relationships/notesSlide" Target="/ppt/notesSlides/notesSlide2.xml" Id="R971cf23ef48644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caa649d1634297" /><Relationship Type="http://schemas.openxmlformats.org/officeDocument/2006/relationships/chart" Target="/ppt/slides/charts/chart1.xml" Id="Rc729f83f530d4d3b" /><Relationship Type="http://schemas.openxmlformats.org/officeDocument/2006/relationships/notesSlide" Target="/ppt/notesSlides/notesSlide3.xml" Id="Rcfd91bc29b0e42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cf4072d911475f" /><Relationship Type="http://schemas.openxmlformats.org/officeDocument/2006/relationships/image" Target="/ppt/media/image5.png" Id="Rb34430e0ab1648b6" /><Relationship Type="http://schemas.openxmlformats.org/officeDocument/2006/relationships/notesSlide" Target="/ppt/notesSlides/notesSlide4.xml" Id="Rc016dc0b845b4a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a9fc6754d2457f" /><Relationship Type="http://schemas.openxmlformats.org/officeDocument/2006/relationships/image" Target="/ppt/media/image6.png" Id="R36c5406c36744824" /><Relationship Type="http://schemas.openxmlformats.org/officeDocument/2006/relationships/notesSlide" Target="/ppt/notesSlides/notesSlide5.xml" Id="R2957444a1d9c40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55e82e320f404f" /><Relationship Type="http://schemas.openxmlformats.org/officeDocument/2006/relationships/image" Target="/ppt/media/image4.jpeg" Id="Rda262135d3ca4ea1" /><Relationship Type="http://schemas.openxmlformats.org/officeDocument/2006/relationships/notesSlide" Target="/ppt/notesSlides/notesSlide6.xml" Id="R48b15251c2464e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9f550866e6459b" /><Relationship Type="http://schemas.openxmlformats.org/officeDocument/2006/relationships/notesSlide" Target="/ppt/notesSlides/notesSlide7.xml" Id="R8a8ef3769fb945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1761efbf104395" /><Relationship Type="http://schemas.openxmlformats.org/officeDocument/2006/relationships/hyperlink" Target="https://gco.iarc.who.int/media/globocan/factsheets/populations/356-india-fact-sheet.pdf" TargetMode="External" Id="R79f8256049024aa0" /><Relationship Type="http://schemas.openxmlformats.org/officeDocument/2006/relationships/hyperlink" Target="https://gco.iarc.who.int/media/globocan/factsheets/populations/356-india-fact-sheet.pdf" TargetMode="External" Id="R5b4f08966458499d" /><Relationship Type="http://schemas.openxmlformats.org/officeDocument/2006/relationships/hyperlink" Target="https://doi.org/10.1136/spcare-2024-004978" TargetMode="External" Id="R111c1a2b97fc4967" /><Relationship Type="http://schemas.openxmlformats.org/officeDocument/2006/relationships/hyperlink" Target="https://doi.org/10.1136/spcare-2024-004978" TargetMode="External" Id="R671cb7945bfc40c1" /><Relationship Type="http://schemas.openxmlformats.org/officeDocument/2006/relationships/hyperlink" Target="https://doi.org/10.1016/j.jpainsymman.2024.02.030" TargetMode="External" Id="R0ddde95021ba451b" /><Relationship Type="http://schemas.openxmlformats.org/officeDocument/2006/relationships/hyperlink" Target="https://doi.org/10.1016/j.jpainsymman.2024.02.030" TargetMode="External" Id="R64a14dc9ebaa40c9" /><Relationship Type="http://schemas.openxmlformats.org/officeDocument/2006/relationships/hyperlink" Target="https://doi.org/10.1177/26892820251392545" TargetMode="External" Id="R33452ff56c774da2" /><Relationship Type="http://schemas.openxmlformats.org/officeDocument/2006/relationships/hyperlink" Target="https://doi.org/10.1177/26892820251392545" TargetMode="External" Id="R068b77f679994ca2" /><Relationship Type="http://schemas.openxmlformats.org/officeDocument/2006/relationships/hyperlink" Target="https://scroll.in/article/925875/73-urban-indians-do-not-know-about-their-right-to-make-a-living-will-finds-a-survey" TargetMode="External" Id="Ra698d4386de24910" /><Relationship Type="http://schemas.openxmlformats.org/officeDocument/2006/relationships/hyperlink" Target="https://scroll.in/article/925875/73-urban-indians-do-not-know-about-their-right-to-make-a-living-will-finds-a-survey" TargetMode="External" Id="R849c5029fc304705" /><Relationship Type="http://schemas.openxmlformats.org/officeDocument/2006/relationships/hyperlink" Target="https://doi.org/10.25259/NMJI_817_2023" TargetMode="External" Id="R48992252ad5842b4" /><Relationship Type="http://schemas.openxmlformats.org/officeDocument/2006/relationships/hyperlink" Target="https://doi.org/10.25259/NMJI_817_2023" TargetMode="External" Id="Rf82f8bc97ce54be6" /><Relationship Type="http://schemas.openxmlformats.org/officeDocument/2006/relationships/hyperlink" Target="https://doi.org/10.1101/2025.10.17.25338242" TargetMode="External" Id="Rad4eb99f16bb4bee" /><Relationship Type="http://schemas.openxmlformats.org/officeDocument/2006/relationships/hyperlink" Target="https://doi.org/10.1101/2025.10.17.25338242" TargetMode="External" Id="R5b1bd023c2514cc7" /><Relationship Type="http://schemas.openxmlformats.org/officeDocument/2006/relationships/hyperlink" Target="https://doi.org/10.1634/theoncologist.2013-0435" TargetMode="External" Id="Rf091d888f41d43c6" /><Relationship Type="http://schemas.openxmlformats.org/officeDocument/2006/relationships/hyperlink" Target="https://doi.org/10.1634/theoncologist.2013-0435" TargetMode="External" Id="R77757e5295cd4e82" /><Relationship Type="http://schemas.openxmlformats.org/officeDocument/2006/relationships/hyperlink" Target="https://doi.org/10.1200/JCO.2012.46.2101" TargetMode="External" Id="R9dd6acbccdf34572" /><Relationship Type="http://schemas.openxmlformats.org/officeDocument/2006/relationships/hyperlink" Target="https://doi.org/10.1200/JCO.2012.46.2101" TargetMode="External" Id="Rbe303f029d614abf" /><Relationship Type="http://schemas.openxmlformats.org/officeDocument/2006/relationships/notesSlide" Target="/ppt/notesSlides/notesSlide8.xml" Id="R67cd364537c74d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019402759524f7a">
            <a:extLst>
              <a:ext uri="{96DAC541-7B7A-43D3-8B79-37D633B846F1}">
                <asvg:svgBlip xmlns:asvg="http://schemas.microsoft.com/office/drawing/2016/SVG/main" r:embed="R9e5927fd1613415d"/>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12C6A233-85EE-4C8B-9B75-CB3442FCEA3B}"/>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5775" b="1">
                <a:solidFill>
                  <a:srgbClr val="173F33"/>
                </a:solidFill>
                <a:latin typeface="Arial"/>
                <a:ea typeface="Arial"/>
                <a:cs typeface="Arial"/>
              </a:defRPr>
            </a:pPr>
            <a:r>
              <a:rPr sz="5775" b="1">
                <a:solidFill>
                  <a:srgbClr val="173F33"/>
                </a:solidFill>
                <a:latin typeface="Arial"/>
                <a:ea typeface="Arial"/>
                <a:cs typeface="Arial"/>
              </a:rPr>
              <a:t>Saath</a:t>
            </a:r>
          </a:p>
        </p:txBody>
      </p:sp>
      <p:sp>
        <p:nvSpPr>
          <p:cNvPr id="3" name="Hindi name">
            <a:extLst xmlns:a="http://schemas.openxmlformats.org/drawingml/2006/main">
              <a:ext uri="{FF2B5EF4-FFF2-40B4-BE49-F238E27FC236}">
                <a16:creationId xmlns:a16="http://schemas.microsoft.com/office/drawing/2014/main" id="{E14FBA88-8168-45E0-B054-9CEB84304F77}"/>
              </a:ext>
            </a:extLst>
          </p:cNvPr>
          <p:cNvSpPr>
            <a:spLocks xmlns:a="http://schemas.openxmlformats.org/drawingml/2006/main" noGrp="1"/>
          </p:cNvSpPr>
          <p:nvPr/>
        </p:nvSpPr>
        <p:spPr>
          <a:xfrm xmlns:a="http://schemas.openxmlformats.org/drawingml/2006/main">
            <a:off x="4867275" y="504825"/>
            <a:ext cx="2162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xmlns:a="http://schemas.openxmlformats.org/drawingml/2006/main">
              <a:ext uri="{FF2B5EF4-FFF2-40B4-BE49-F238E27FC236}">
                <a16:creationId xmlns:a16="http://schemas.microsoft.com/office/drawing/2014/main" id="{D8ADE00F-C764-4FF3-A8B9-18372223C4A8}"/>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0">
                <a:solidFill>
                  <a:srgbClr val="B75E43"/>
                </a:solidFill>
                <a:latin typeface="Arial"/>
                <a:ea typeface="Arial"/>
                <a:cs typeface="Arial"/>
              </a:defRPr>
            </a:pPr>
            <a:r>
              <a:rPr sz="2400" b="0">
                <a:solidFill>
                  <a:srgbClr val="B75E43"/>
                </a:solidFill>
                <a:latin typeface="Arial"/>
                <a:ea typeface="Arial"/>
                <a:cs typeface="Arial"/>
              </a:rPr>
              <a:t>Together</a:t>
            </a:r>
          </a:p>
        </p:txBody>
      </p:sp>
      <p:sp>
        <p:nvSpPr>
          <p:cNvPr id="5" name="Purpose">
            <a:extLst xmlns:a="http://schemas.openxmlformats.org/drawingml/2006/main">
              <a:ext uri="{FF2B5EF4-FFF2-40B4-BE49-F238E27FC236}">
                <a16:creationId xmlns:a16="http://schemas.microsoft.com/office/drawing/2014/main" id="{EC202BB9-114F-43E6-81F2-F3DBD80F84DF}"/>
              </a:ext>
            </a:extLst>
          </p:cNvPr>
          <p:cNvSpPr>
            <a:spLocks xmlns:a="http://schemas.openxmlformats.org/drawingml/2006/main" noGrp="1"/>
          </p:cNvSpPr>
          <p:nvPr/>
        </p:nvSpPr>
        <p:spPr>
          <a:xfrm xmlns:a="http://schemas.openxmlformats.org/drawingml/2006/main">
            <a:off x="533400" y="16192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1">
                <a:solidFill>
                  <a:srgbClr val="173F33"/>
                </a:solidFill>
                <a:latin typeface="Arial"/>
                <a:ea typeface="Arial"/>
                <a:cs typeface="Arial"/>
              </a:defRPr>
            </a:pPr>
            <a:r>
              <a:rPr sz="2400" b="1">
                <a:solidFill>
                  <a:srgbClr val="173F33"/>
                </a:solidFill>
                <a:latin typeface="Arial"/>
                <a:ea typeface="Arial"/>
                <a:cs typeface="Arial"/>
              </a:rPr>
              <a:t>AI-assisted Care Notes for cancer patients and their families.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6ac192ba8ac445e"/>
          <a:stretch xmlns:a="http://schemas.openxmlformats.org/drawingml/2006/main"/>
        </p:blipFill>
        <p:spPr>
          <a:xfrm xmlns:a="http://schemas.openxmlformats.org/drawingml/2006/main">
            <a:off x="533400" y="2619375"/>
            <a:ext cx="1219200" cy="1219200"/>
          </a:xfrm>
          <a:prstGeom xmlns:a="http://schemas.openxmlformats.org/drawingml/2006/main" prst="rect">
            <a:avLst/>
          </a:prstGeom>
        </p:spPr>
      </p:pic>
      <p:sp>
        <p:nvSpPr>
          <p:cNvPr id="7" name="App call to action">
            <a:extLst xmlns:a="http://schemas.openxmlformats.org/drawingml/2006/main">
              <a:ext uri="{FF2B5EF4-FFF2-40B4-BE49-F238E27FC236}">
                <a16:creationId xmlns:a16="http://schemas.microsoft.com/office/drawing/2014/main" id="{C512F45A-474B-481A-9392-8CAD51D4B36A}"/>
              </a:ext>
            </a:extLst>
          </p:cNvPr>
          <p:cNvSpPr>
            <a:spLocks xmlns:a="http://schemas.openxmlformats.org/drawingml/2006/main" noGrp="1"/>
          </p:cNvSpPr>
          <p:nvPr/>
        </p:nvSpPr>
        <p:spPr>
          <a:xfrm xmlns:a="http://schemas.openxmlformats.org/drawingml/2006/main">
            <a:off x="2124075" y="2552700"/>
            <a:ext cx="9534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Open the app</a:t>
            </a:r>
          </a:p>
        </p:txBody>
      </p:sp>
      <p:sp>
        <p:nvSpPr>
          <p:cNvPr id="8" name="Prototype address">
            <a:extLst xmlns:a="http://schemas.openxmlformats.org/drawingml/2006/main">
              <a:ext uri="{FF2B5EF4-FFF2-40B4-BE49-F238E27FC236}">
                <a16:creationId xmlns:a16="http://schemas.microsoft.com/office/drawing/2014/main" id="{E03E7668-1D72-4D46-918C-2AA9FA123D6C}"/>
              </a:ext>
            </a:extLst>
          </p:cNvPr>
          <p:cNvSpPr>
            <a:spLocks xmlns:a="http://schemas.openxmlformats.org/drawingml/2006/main" noGrp="1"/>
          </p:cNvSpPr>
          <p:nvPr/>
        </p:nvSpPr>
        <p:spPr>
          <a:xfrm xmlns:a="http://schemas.openxmlformats.org/drawingml/2006/main">
            <a:off x="2124075" y="30194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225" b="1">
                <a:solidFill>
                  <a:srgbClr val="145AC6"/>
                </a:solidFill>
                <a:latin typeface="Arial"/>
                <a:ea typeface="Arial"/>
                <a:cs typeface="Arial"/>
              </a:defRPr>
            </a:pPr>
            <a:r>
              <a:rPr sz="3225" b="1" u="sng">
                <a:solidFill>
                  <a:srgbClr val="145AC6"/>
                </a:solidFill>
                <a:latin typeface="Arial"/>
                <a:ea typeface="Arial"/>
                <a:cs typeface="Arial"/>
                <a:hlinkClick xmlns:r="http://schemas.openxmlformats.org/officeDocument/2006/relationships" r:id="R47e76a51b1014420"/>
              </a:rPr>
              <a:t>continuity-loop-healthathon.vercel.app</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c9dc8e34dfe4954">
            <a:extLst>
              <a:ext uri="{96DAC541-7B7A-43D3-8B79-37D633B846F1}">
                <asvg:svgBlip xmlns:asvg="http://schemas.microsoft.com/office/drawing/2016/SVG/main" r:embed="R857620db48104a86"/>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10" name="Repository link">
            <a:extLst xmlns:a="http://schemas.openxmlformats.org/drawingml/2006/main">
              <a:ext uri="{FF2B5EF4-FFF2-40B4-BE49-F238E27FC236}">
                <a16:creationId xmlns:a16="http://schemas.microsoft.com/office/drawing/2014/main" id="{7369A90B-DEFA-4D31-9CE7-F0A7B28B6939}"/>
              </a:ext>
            </a:extLst>
          </p:cNvPr>
          <p:cNvSpPr>
            <a:spLocks xmlns:a="http://schemas.openxmlformats.org/drawingml/2006/main" noGrp="1"/>
          </p:cNvSpPr>
          <p:nvPr/>
        </p:nvSpPr>
        <p:spPr>
          <a:xfrm xmlns:a="http://schemas.openxmlformats.org/drawingml/2006/main">
            <a:off x="962025" y="42576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fa9c98d5ce62412a"/>
              </a:rPr>
              <a:t>github.com/basithladdu/healthathon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44fa9ed7a034bdf">
            <a:extLst>
              <a:ext uri="{96DAC541-7B7A-43D3-8B79-37D633B846F1}">
                <asvg:svgBlip xmlns:asvg="http://schemas.microsoft.com/office/drawing/2016/SVG/main" r:embed="R9f1039699fdd49f1"/>
              </a:ext>
            </a:extLst>
          </a:blip>
          <a:stretch xmlns:a="http://schemas.openxmlformats.org/drawingml/2006/main"/>
        </p:blipFill>
        <p:spPr>
          <a:xfrm xmlns:a="http://schemas.openxmlformats.org/drawingml/2006/main">
            <a:off x="6334125" y="4257675"/>
            <a:ext cx="285750" cy="285750"/>
          </a:xfrm>
          <a:prstGeom xmlns:a="http://schemas.openxmlformats.org/drawingml/2006/main" prst="rect">
            <a:avLst/>
          </a:prstGeom>
        </p:spPr>
      </p:pic>
      <p:sp>
        <p:nvSpPr>
          <p:cNvPr id="12" name="Access contact">
            <a:extLst xmlns:a="http://schemas.openxmlformats.org/drawingml/2006/main">
              <a:ext uri="{FF2B5EF4-FFF2-40B4-BE49-F238E27FC236}">
                <a16:creationId xmlns:a16="http://schemas.microsoft.com/office/drawing/2014/main" id="{964EEF66-7D66-48B7-95CC-FAD4FFB6F984}"/>
              </a:ext>
            </a:extLst>
          </p:cNvPr>
          <p:cNvSpPr>
            <a:spLocks xmlns:a="http://schemas.openxmlformats.org/drawingml/2006/main" noGrp="1"/>
          </p:cNvSpPr>
          <p:nvPr/>
        </p:nvSpPr>
        <p:spPr>
          <a:xfrm xmlns:a="http://schemas.openxmlformats.org/drawingml/2006/main">
            <a:off x="6762750" y="4181475"/>
            <a:ext cx="4895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28C4A"/>
                </a:solidFill>
                <a:latin typeface="Arial"/>
                <a:ea typeface="Arial"/>
                <a:cs typeface="Arial"/>
              </a:defRPr>
            </a:pPr>
            <a:r>
              <a:rPr sz="1575" b="1" u="sng">
                <a:solidFill>
                  <a:srgbClr val="128C4A"/>
                </a:solidFill>
                <a:latin typeface="Arial"/>
                <a:ea typeface="Arial"/>
                <a:cs typeface="Arial"/>
                <a:hlinkClick xmlns:r="http://schemas.openxmlformats.org/officeDocument/2006/relationships" r:id="Ra2ca75816db74c2b"/>
              </a:rPr>
              <a:t>For access, contact us on WhatsApp</a:t>
            </a:r>
          </a:p>
        </p:txBody>
      </p:sp>
      <p:sp>
        <p:nvSpPr>
          <p:cNvPr id="13" name="Visible WhatsApp link">
            <a:extLst xmlns:a="http://schemas.openxmlformats.org/drawingml/2006/main">
              <a:ext uri="{FF2B5EF4-FFF2-40B4-BE49-F238E27FC236}">
                <a16:creationId xmlns:a16="http://schemas.microsoft.com/office/drawing/2014/main" id="{569EB8D0-A231-4F75-AB1D-4C78A5E2CEE5}"/>
              </a:ext>
            </a:extLst>
          </p:cNvPr>
          <p:cNvSpPr>
            <a:spLocks xmlns:a="http://schemas.openxmlformats.org/drawingml/2006/main" noGrp="1"/>
          </p:cNvSpPr>
          <p:nvPr/>
        </p:nvSpPr>
        <p:spPr>
          <a:xfrm xmlns:a="http://schemas.openxmlformats.org/drawingml/2006/main">
            <a:off x="6762750" y="4514850"/>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d1d668c17bbf47fc"/>
              </a:rPr>
              <a:t>wa.me/919553321211</a:t>
            </a:r>
          </a:p>
        </p:txBody>
      </p:sp>
      <p:sp>
        <p:nvSpPr>
          <p:cNvPr id="14" name="">
            <a:extLst xmlns:a="http://schemas.openxmlformats.org/drawingml/2006/main">
              <a:ext uri="{FF2B5EF4-FFF2-40B4-BE49-F238E27FC236}">
                <a16:creationId xmlns:a16="http://schemas.microsoft.com/office/drawing/2014/main" id="{78F71A76-88FC-4AA3-B86A-C8F0B51790D3}"/>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5" name="Team heading">
            <a:extLst xmlns:a="http://schemas.openxmlformats.org/drawingml/2006/main">
              <a:ext uri="{FF2B5EF4-FFF2-40B4-BE49-F238E27FC236}">
                <a16:creationId xmlns:a16="http://schemas.microsoft.com/office/drawing/2014/main" id="{745A42EB-6839-42C4-A7DA-0346A8538A80}"/>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dbbf69a87184c6c"/>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7" name="Team member 1">
            <a:extLst xmlns:a="http://schemas.openxmlformats.org/drawingml/2006/main">
              <a:ext uri="{FF2B5EF4-FFF2-40B4-BE49-F238E27FC236}">
                <a16:creationId xmlns:a16="http://schemas.microsoft.com/office/drawing/2014/main" id="{A4B5936E-F965-494C-844E-C898F34B7378}"/>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8" name="Team role 1">
            <a:extLst xmlns:a="http://schemas.openxmlformats.org/drawingml/2006/main">
              <a:ext uri="{FF2B5EF4-FFF2-40B4-BE49-F238E27FC236}">
                <a16:creationId xmlns:a16="http://schemas.microsoft.com/office/drawing/2014/main" id="{A6B7B64E-AFFA-440F-82ED-2CEA9A654603}"/>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badcc4598fe48b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20" name="Team member 2">
            <a:extLst xmlns:a="http://schemas.openxmlformats.org/drawingml/2006/main">
              <a:ext uri="{FF2B5EF4-FFF2-40B4-BE49-F238E27FC236}">
                <a16:creationId xmlns:a16="http://schemas.microsoft.com/office/drawing/2014/main" id="{43343141-00A5-4274-A68A-13CA89E80E86}"/>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1" name="Team role 2">
            <a:extLst xmlns:a="http://schemas.openxmlformats.org/drawingml/2006/main">
              <a:ext uri="{FF2B5EF4-FFF2-40B4-BE49-F238E27FC236}">
                <a16:creationId xmlns:a16="http://schemas.microsoft.com/office/drawing/2014/main" id="{22FCE30E-A6A4-4716-86BF-4A3DC0A95EE0}"/>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Technology</a:t>
            </a:r>
          </a:p>
        </p:txBody>
      </p:sp>
      <p:sp>
        <p:nvSpPr>
          <p:cNvPr id="22" name="Photo space for Dr Sharada&#10;Vinod Kutty">
            <a:extLst xmlns:a="http://schemas.openxmlformats.org/drawingml/2006/main">
              <a:ext uri="{FF2B5EF4-FFF2-40B4-BE49-F238E27FC236}">
                <a16:creationId xmlns:a16="http://schemas.microsoft.com/office/drawing/2014/main" id="{60FA18A3-C14E-4AF1-9E72-83857160C1F6}"/>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3" name="Team member 3">
            <a:extLst xmlns:a="http://schemas.openxmlformats.org/drawingml/2006/main">
              <a:ext uri="{FF2B5EF4-FFF2-40B4-BE49-F238E27FC236}">
                <a16:creationId xmlns:a16="http://schemas.microsoft.com/office/drawing/2014/main" id="{2EE4E810-6DFB-483E-9DB3-9C09C9A145F7}"/>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4" name="Team role 3">
            <a:extLst xmlns:a="http://schemas.openxmlformats.org/drawingml/2006/main">
              <a:ext uri="{FF2B5EF4-FFF2-40B4-BE49-F238E27FC236}">
                <a16:creationId xmlns:a16="http://schemas.microsoft.com/office/drawing/2014/main" id="{CC234207-F01A-41D4-91F2-3C46F4470383}"/>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sp>
        <p:nvSpPr>
          <p:cNvPr id="25" name="Photo space for Dr Sujay&#10;Halkur Shankar">
            <a:extLst xmlns:a="http://schemas.openxmlformats.org/drawingml/2006/main">
              <a:ext uri="{FF2B5EF4-FFF2-40B4-BE49-F238E27FC236}">
                <a16:creationId xmlns:a16="http://schemas.microsoft.com/office/drawing/2014/main" id="{3C6180A8-F18A-4774-AF5B-0FB04E4F06C7}"/>
              </a:ext>
            </a:extLst>
          </p:cNvPr>
          <p:cNvSpPr>
            <a:spLocks xmlns:a="http://schemas.openxmlformats.org/drawingml/2006/main" noGrp="1"/>
          </p:cNvSpPr>
          <p:nvPr/>
        </p:nvSpPr>
        <p:spPr>
          <a:xfrm xmlns:a="http://schemas.openxmlformats.org/drawingml/2006/main">
            <a:off x="72771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6" name="Team member 4">
            <a:extLst xmlns:a="http://schemas.openxmlformats.org/drawingml/2006/main">
              <a:ext uri="{FF2B5EF4-FFF2-40B4-BE49-F238E27FC236}">
                <a16:creationId xmlns:a16="http://schemas.microsoft.com/office/drawing/2014/main" id="{A018C836-C4C3-4BBA-B8BA-EEC959E71B58}"/>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7" name="Team role 4">
            <a:extLst xmlns:a="http://schemas.openxmlformats.org/drawingml/2006/main">
              <a:ext uri="{FF2B5EF4-FFF2-40B4-BE49-F238E27FC236}">
                <a16:creationId xmlns:a16="http://schemas.microsoft.com/office/drawing/2014/main" id="{6E10A14F-F67F-4583-9F1A-94487CDB145B}"/>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sp>
        <p:nvSpPr>
          <p:cNvPr id="28" name="Photo space for Shirin Ayub">
            <a:extLst xmlns:a="http://schemas.openxmlformats.org/drawingml/2006/main">
              <a:ext uri="{FF2B5EF4-FFF2-40B4-BE49-F238E27FC236}">
                <a16:creationId xmlns:a16="http://schemas.microsoft.com/office/drawing/2014/main" id="{3B688D8B-EDA5-4E87-9BD4-1F95F4BC69CE}"/>
              </a:ext>
            </a:extLst>
          </p:cNvPr>
          <p:cNvSpPr>
            <a:spLocks xmlns:a="http://schemas.openxmlformats.org/drawingml/2006/main" noGrp="1"/>
          </p:cNvSpPr>
          <p:nvPr/>
        </p:nvSpPr>
        <p:spPr>
          <a:xfrm xmlns:a="http://schemas.openxmlformats.org/drawingml/2006/main">
            <a:off x="95250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9" name="Team member 5">
            <a:extLst xmlns:a="http://schemas.openxmlformats.org/drawingml/2006/main">
              <a:ext uri="{FF2B5EF4-FFF2-40B4-BE49-F238E27FC236}">
                <a16:creationId xmlns:a16="http://schemas.microsoft.com/office/drawing/2014/main" id="{078E82A4-F0A8-4528-BC2B-28E25BC2968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30" name="Team role 5">
            <a:extLst xmlns:a="http://schemas.openxmlformats.org/drawingml/2006/main">
              <a:ext uri="{FF2B5EF4-FFF2-40B4-BE49-F238E27FC236}">
                <a16:creationId xmlns:a16="http://schemas.microsoft.com/office/drawing/2014/main" id="{1C86A23C-6CB6-4482-B712-A6FE39FFD178}"/>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Team member</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7D7CA62E-C5D0-4267-80B1-D825A6836A6B}"/>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When the care conversation gets lost</a:t>
            </a:r>
          </a:p>
        </p:txBody>
      </p:sp>
      <p:sp>
        <p:nvSpPr>
          <p:cNvPr id="2" name="Story number 1">
            <a:extLst xmlns:a="http://schemas.openxmlformats.org/drawingml/2006/main">
              <a:ext uri="{FF2B5EF4-FFF2-40B4-BE49-F238E27FC236}">
                <a16:creationId xmlns:a16="http://schemas.microsoft.com/office/drawing/2014/main" id="{A859C35E-19C0-458D-B95B-9815EA9963B1}"/>
              </a:ext>
            </a:extLst>
          </p:cNvPr>
          <p:cNvSpPr>
            <a:spLocks xmlns:a="http://schemas.openxmlformats.org/drawingml/2006/main" noGrp="1"/>
          </p:cNvSpPr>
          <p:nvPr/>
        </p:nvSpPr>
        <p:spPr>
          <a:xfrm xmlns:a="http://schemas.openxmlformats.org/drawingml/2006/main">
            <a:off x="533400" y="13239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B75E43"/>
                </a:solidFill>
                <a:latin typeface="Arial"/>
                <a:ea typeface="Arial"/>
                <a:cs typeface="Arial"/>
              </a:defRPr>
            </a:pPr>
            <a:r>
              <a:rPr sz="2100" b="1">
                <a:solidFill>
                  <a:srgbClr val="B75E43"/>
                </a:solidFill>
                <a:latin typeface="Arial"/>
                <a:ea typeface="Arial"/>
                <a:cs typeface="Arial"/>
              </a:rPr>
              <a:t>01</a:t>
            </a:r>
          </a:p>
        </p:txBody>
      </p:sp>
      <p:sp>
        <p:nvSpPr>
          <p:cNvPr id="3" name="Story step 1">
            <a:extLst xmlns:a="http://schemas.openxmlformats.org/drawingml/2006/main">
              <a:ext uri="{FF2B5EF4-FFF2-40B4-BE49-F238E27FC236}">
                <a16:creationId xmlns:a16="http://schemas.microsoft.com/office/drawing/2014/main" id="{17F45E53-8A46-46B7-86DB-91078278B5C7}"/>
              </a:ext>
            </a:extLst>
          </p:cNvPr>
          <p:cNvSpPr>
            <a:spLocks xmlns:a="http://schemas.openxmlformats.org/drawingml/2006/main" noGrp="1"/>
          </p:cNvSpPr>
          <p:nvPr/>
        </p:nvSpPr>
        <p:spPr>
          <a:xfrm xmlns:a="http://schemas.openxmlformats.org/drawingml/2006/main">
            <a:off x="1200150" y="13239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At the clinic</a:t>
            </a:r>
          </a:p>
        </p:txBody>
      </p:sp>
      <p:sp>
        <p:nvSpPr>
          <p:cNvPr id="4" name="Story step 1 detail">
            <a:extLst xmlns:a="http://schemas.openxmlformats.org/drawingml/2006/main">
              <a:ext uri="{FF2B5EF4-FFF2-40B4-BE49-F238E27FC236}">
                <a16:creationId xmlns:a16="http://schemas.microsoft.com/office/drawing/2014/main" id="{0029C28B-1B8D-433F-9066-03D65D5365D2}"/>
              </a:ext>
            </a:extLst>
          </p:cNvPr>
          <p:cNvSpPr>
            <a:spLocks xmlns:a="http://schemas.openxmlformats.org/drawingml/2006/main" noGrp="1"/>
          </p:cNvSpPr>
          <p:nvPr/>
        </p:nvSpPr>
        <p:spPr>
          <a:xfrm xmlns:a="http://schemas.openxmlformats.org/drawingml/2006/main">
            <a:off x="1200150" y="17811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Imagine a 62-year-old woman with advanced breast cancer receiving best supportive care. Her doctor discusses her wishes. Only her husband attends.</a:t>
            </a:r>
          </a:p>
        </p:txBody>
      </p:sp>
      <p:sp>
        <p:nvSpPr>
          <p:cNvPr id="5" name="Story number 2">
            <a:extLst xmlns:a="http://schemas.openxmlformats.org/drawingml/2006/main">
              <a:ext uri="{FF2B5EF4-FFF2-40B4-BE49-F238E27FC236}">
                <a16:creationId xmlns:a16="http://schemas.microsoft.com/office/drawing/2014/main" id="{DDFCEC51-6C55-4077-A9CE-1897208024DE}"/>
              </a:ext>
            </a:extLst>
          </p:cNvPr>
          <p:cNvSpPr>
            <a:spLocks xmlns:a="http://schemas.openxmlformats.org/drawingml/2006/main" noGrp="1"/>
          </p:cNvSpPr>
          <p:nvPr/>
        </p:nvSpPr>
        <p:spPr>
          <a:xfrm xmlns:a="http://schemas.openxmlformats.org/drawingml/2006/main">
            <a:off x="533400" y="25622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7353AC"/>
                </a:solidFill>
                <a:latin typeface="Arial"/>
                <a:ea typeface="Arial"/>
                <a:cs typeface="Arial"/>
              </a:defRPr>
            </a:pPr>
            <a:r>
              <a:rPr sz="2100" b="1">
                <a:solidFill>
                  <a:srgbClr val="7353AC"/>
                </a:solidFill>
                <a:latin typeface="Arial"/>
                <a:ea typeface="Arial"/>
                <a:cs typeface="Arial"/>
              </a:rPr>
              <a:t>02</a:t>
            </a:r>
          </a:p>
        </p:txBody>
      </p:sp>
      <p:sp>
        <p:nvSpPr>
          <p:cNvPr id="6" name="Story step 2">
            <a:extLst xmlns:a="http://schemas.openxmlformats.org/drawingml/2006/main">
              <a:ext uri="{FF2B5EF4-FFF2-40B4-BE49-F238E27FC236}">
                <a16:creationId xmlns:a16="http://schemas.microsoft.com/office/drawing/2014/main" id="{B262E7A1-450E-4852-944B-8820367B8D08}"/>
              </a:ext>
            </a:extLst>
          </p:cNvPr>
          <p:cNvSpPr>
            <a:spLocks xmlns:a="http://schemas.openxmlformats.org/drawingml/2006/main" noGrp="1"/>
          </p:cNvSpPr>
          <p:nvPr/>
        </p:nvSpPr>
        <p:spPr>
          <a:xfrm xmlns:a="http://schemas.openxmlformats.org/drawingml/2006/main">
            <a:off x="1200150" y="25622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Two months later</a:t>
            </a:r>
          </a:p>
        </p:txBody>
      </p:sp>
      <p:sp>
        <p:nvSpPr>
          <p:cNvPr id="7" name="Story step 2 detail">
            <a:extLst xmlns:a="http://schemas.openxmlformats.org/drawingml/2006/main">
              <a:ext uri="{FF2B5EF4-FFF2-40B4-BE49-F238E27FC236}">
                <a16:creationId xmlns:a16="http://schemas.microsoft.com/office/drawing/2014/main" id="{4B7604CC-67C5-4403-9A11-DE6BF91F6B60}"/>
              </a:ext>
            </a:extLst>
          </p:cNvPr>
          <p:cNvSpPr>
            <a:spLocks xmlns:a="http://schemas.openxmlformats.org/drawingml/2006/main" noGrp="1"/>
          </p:cNvSpPr>
          <p:nvPr/>
        </p:nvSpPr>
        <p:spPr>
          <a:xfrm xmlns:a="http://schemas.openxmlformats.org/drawingml/2006/main">
            <a:off x="1200150" y="30194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She becomes unconscious and reaches hospital. The doctor asks what she would want if her heart stopped.</a:t>
            </a:r>
          </a:p>
        </p:txBody>
      </p:sp>
      <p:sp>
        <p:nvSpPr>
          <p:cNvPr id="8" name="Story number 3">
            <a:extLst xmlns:a="http://schemas.openxmlformats.org/drawingml/2006/main">
              <a:ext uri="{FF2B5EF4-FFF2-40B4-BE49-F238E27FC236}">
                <a16:creationId xmlns:a16="http://schemas.microsoft.com/office/drawing/2014/main" id="{B68C29D6-655B-48B5-9A7A-12628741B10D}"/>
              </a:ext>
            </a:extLst>
          </p:cNvPr>
          <p:cNvSpPr>
            <a:spLocks xmlns:a="http://schemas.openxmlformats.org/drawingml/2006/main" noGrp="1"/>
          </p:cNvSpPr>
          <p:nvPr/>
        </p:nvSpPr>
        <p:spPr>
          <a:xfrm xmlns:a="http://schemas.openxmlformats.org/drawingml/2006/main">
            <a:off x="533400" y="38004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57B68"/>
                </a:solidFill>
                <a:latin typeface="Arial"/>
                <a:ea typeface="Arial"/>
                <a:cs typeface="Arial"/>
              </a:defRPr>
            </a:pPr>
            <a:r>
              <a:rPr sz="2100" b="1">
                <a:solidFill>
                  <a:srgbClr val="157B68"/>
                </a:solidFill>
                <a:latin typeface="Arial"/>
                <a:ea typeface="Arial"/>
                <a:cs typeface="Arial"/>
              </a:rPr>
              <a:t>03</a:t>
            </a:r>
          </a:p>
        </p:txBody>
      </p:sp>
      <p:sp>
        <p:nvSpPr>
          <p:cNvPr id="9" name="Story step 3">
            <a:extLst xmlns:a="http://schemas.openxmlformats.org/drawingml/2006/main">
              <a:ext uri="{FF2B5EF4-FFF2-40B4-BE49-F238E27FC236}">
                <a16:creationId xmlns:a16="http://schemas.microsoft.com/office/drawing/2014/main" id="{7070A2B9-AB19-49FE-B15F-0C3D9DCAFE3F}"/>
              </a:ext>
            </a:extLst>
          </p:cNvPr>
          <p:cNvSpPr>
            <a:spLocks xmlns:a="http://schemas.openxmlformats.org/drawingml/2006/main" noGrp="1"/>
          </p:cNvSpPr>
          <p:nvPr/>
        </p:nvSpPr>
        <p:spPr>
          <a:xfrm xmlns:a="http://schemas.openxmlformats.org/drawingml/2006/main">
            <a:off x="1200150" y="38004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The family disagrees</a:t>
            </a:r>
          </a:p>
        </p:txBody>
      </p:sp>
      <p:sp>
        <p:nvSpPr>
          <p:cNvPr id="10" name="Story step 3 detail">
            <a:extLst xmlns:a="http://schemas.openxmlformats.org/drawingml/2006/main">
              <a:ext uri="{FF2B5EF4-FFF2-40B4-BE49-F238E27FC236}">
                <a16:creationId xmlns:a16="http://schemas.microsoft.com/office/drawing/2014/main" id="{3DE36F8F-7484-4094-8AE2-43FA9DA9C4A3}"/>
              </a:ext>
            </a:extLst>
          </p:cNvPr>
          <p:cNvSpPr>
            <a:spLocks xmlns:a="http://schemas.openxmlformats.org/drawingml/2006/main" noGrp="1"/>
          </p:cNvSpPr>
          <p:nvPr/>
        </p:nvSpPr>
        <p:spPr>
          <a:xfrm xmlns:a="http://schemas.openxmlformats.org/drawingml/2006/main">
            <a:off x="1200150" y="42576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Her husband says yes to attempts to restart her heart. Her daughter says no. Her son calls from another city. No one can find the earlier discussion.</a:t>
            </a:r>
          </a:p>
        </p:txBody>
      </p:sp>
      <p:sp>
        <p:nvSpPr>
          <p:cNvPr id="11" name="Story number 4">
            <a:extLst xmlns:a="http://schemas.openxmlformats.org/drawingml/2006/main">
              <a:ext uri="{FF2B5EF4-FFF2-40B4-BE49-F238E27FC236}">
                <a16:creationId xmlns:a16="http://schemas.microsoft.com/office/drawing/2014/main" id="{4AC27096-F401-452B-A50F-C5CA8391B640}"/>
              </a:ext>
            </a:extLst>
          </p:cNvPr>
          <p:cNvSpPr>
            <a:spLocks xmlns:a="http://schemas.openxmlformats.org/drawingml/2006/main" noGrp="1"/>
          </p:cNvSpPr>
          <p:nvPr/>
        </p:nvSpPr>
        <p:spPr>
          <a:xfrm xmlns:a="http://schemas.openxmlformats.org/drawingml/2006/main">
            <a:off x="533400" y="50387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73F33"/>
                </a:solidFill>
                <a:latin typeface="Arial"/>
                <a:ea typeface="Arial"/>
                <a:cs typeface="Arial"/>
              </a:defRPr>
            </a:pPr>
            <a:r>
              <a:rPr sz="2100" b="1">
                <a:solidFill>
                  <a:srgbClr val="173F33"/>
                </a:solidFill>
                <a:latin typeface="Arial"/>
                <a:ea typeface="Arial"/>
                <a:cs typeface="Arial"/>
              </a:rPr>
              <a:t>04</a:t>
            </a:r>
          </a:p>
        </p:txBody>
      </p:sp>
      <p:sp>
        <p:nvSpPr>
          <p:cNvPr id="12" name="Story step 4">
            <a:extLst xmlns:a="http://schemas.openxmlformats.org/drawingml/2006/main">
              <a:ext uri="{FF2B5EF4-FFF2-40B4-BE49-F238E27FC236}">
                <a16:creationId xmlns:a16="http://schemas.microsoft.com/office/drawing/2014/main" id="{402F38A2-F9DB-4E5E-89C7-699632EE429D}"/>
              </a:ext>
            </a:extLst>
          </p:cNvPr>
          <p:cNvSpPr>
            <a:spLocks xmlns:a="http://schemas.openxmlformats.org/drawingml/2006/main" noGrp="1"/>
          </p:cNvSpPr>
          <p:nvPr/>
        </p:nvSpPr>
        <p:spPr>
          <a:xfrm xmlns:a="http://schemas.openxmlformats.org/drawingml/2006/main">
            <a:off x="1200150" y="50387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What could help</a:t>
            </a:r>
          </a:p>
        </p:txBody>
      </p:sp>
      <p:sp>
        <p:nvSpPr>
          <p:cNvPr id="13" name="Story step 4 detail">
            <a:extLst xmlns:a="http://schemas.openxmlformats.org/drawingml/2006/main">
              <a:ext uri="{FF2B5EF4-FFF2-40B4-BE49-F238E27FC236}">
                <a16:creationId xmlns:a16="http://schemas.microsoft.com/office/drawing/2014/main" id="{D320AA3B-FDEA-427A-9EA3-6AFABDE816D2}"/>
              </a:ext>
            </a:extLst>
          </p:cNvPr>
          <p:cNvSpPr>
            <a:spLocks xmlns:a="http://schemas.openxmlformats.org/drawingml/2006/main" noGrp="1"/>
          </p:cNvSpPr>
          <p:nvPr/>
        </p:nvSpPr>
        <p:spPr>
          <a:xfrm xmlns:a="http://schemas.openxmlformats.org/drawingml/2006/main">
            <a:off x="1200150" y="54959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shared, doctor-checked Care Note could give everyone the same information before a crisis.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3663c6639654c3f"/>
          <a:srcRect xmlns:a="http://schemas.openxmlformats.org/drawingml/2006/main" l="3646" t="0" r="3646" b="0"/>
          <a:stretch xmlns:a="http://schemas.openxmlformats.org/drawingml/2006/main">
            <a:fillRect l="0" t="0" r="0" b="0"/>
          </a:stretch>
        </p:blipFill>
        <p:spPr>
          <a:xfrm xmlns:a="http://schemas.openxmlformats.org/drawingml/2006/main">
            <a:off x="7419975" y="1352550"/>
            <a:ext cx="4238625" cy="3143250"/>
          </a:xfrm>
          <a:prstGeom xmlns:a="http://schemas.openxmlformats.org/drawingml/2006/main" prst="rect">
            <a:avLst/>
          </a:prstGeom>
        </p:spPr>
      </p:pic>
      <p:sp>
        <p:nvSpPr>
          <p:cNvPr id="15" name="Closing thought">
            <a:extLst xmlns:a="http://schemas.openxmlformats.org/drawingml/2006/main">
              <a:ext uri="{FF2B5EF4-FFF2-40B4-BE49-F238E27FC236}">
                <a16:creationId xmlns:a16="http://schemas.microsoft.com/office/drawing/2014/main" id="{B360244A-8997-4417-A865-5D146A2CAE7E}"/>
              </a:ext>
            </a:extLst>
          </p:cNvPr>
          <p:cNvSpPr>
            <a:spLocks xmlns:a="http://schemas.openxmlformats.org/drawingml/2006/main" noGrp="1"/>
          </p:cNvSpPr>
          <p:nvPr/>
        </p:nvSpPr>
        <p:spPr>
          <a:xfrm xmlns:a="http://schemas.openxmlformats.org/drawingml/2006/main">
            <a:off x="7419975" y="4876800"/>
            <a:ext cx="4238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325" b="1">
                <a:solidFill>
                  <a:srgbClr val="173F33"/>
                </a:solidFill>
                <a:latin typeface="Arial"/>
                <a:ea typeface="Arial"/>
                <a:cs typeface="Arial"/>
              </a:defRPr>
            </a:pPr>
            <a:r>
              <a:rPr sz="2325" b="1">
                <a:solidFill>
                  <a:srgbClr val="173F33"/>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graphicFrame>
        <p:nvGraphicFramePr>
          <p:cNvPr id="32" name="Chart"/>
          <p:cNvGraphicFramePr/>
          <p:nvPr/>
        </p:nvGraphicFramePr>
        <p:xfrm>
          <a:off xmlns:a="http://schemas.openxmlformats.org/drawingml/2006/main" x="7734300" y="1971675"/>
          <a:ext xmlns:a="http://schemas.openxmlformats.org/drawingml/2006/main" cx="3924300" cy="2495550"/>
        </p:xfrm>
        <a:graphic xmlns:a="http://schemas.openxmlformats.org/drawingml/2006/main">
          <a:graphicData uri="http://schemas.openxmlformats.org/drawingml/2006/chart">
            <c:chart xmlns:r="http://schemas.openxmlformats.org/officeDocument/2006/relationships" xmlns:c="http://schemas.openxmlformats.org/drawingml/2006/chart" r:id="Rc729f83f530d4d3b"/>
          </a:graphicData>
        </a:graphic>
      </p:graphicFrame>
      <p:sp>
        <p:nvSpPr>
          <p:cNvPr id="15" name="Slide title">
            <a:extLst xmlns:a="http://schemas.openxmlformats.org/drawingml/2006/main">
              <a:ext uri="{FF2B5EF4-FFF2-40B4-BE49-F238E27FC236}">
                <a16:creationId xmlns:a16="http://schemas.microsoft.com/office/drawing/2014/main" id="{8463879A-46BE-41ED-ABD5-F450EC7C7385}"/>
              </a:ext>
            </a:extLst>
          </p:cNvPr>
          <p:cNvSpPr>
            <a:spLocks xmlns:a="http://schemas.openxmlformats.org/drawingml/2006/main" noGrp="1"/>
          </p:cNvSpPr>
          <p:nvPr/>
        </p:nvSpPr>
        <p:spPr>
          <a:xfrm xmlns:a="http://schemas.openxmlformats.org/drawingml/2006/main">
            <a:off x="533400" y="3619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Why these conversations need a record</a:t>
            </a:r>
          </a:p>
        </p:txBody>
      </p:sp>
      <p:sp>
        <p:nvSpPr>
          <p:cNvPr id="16" name="Evidence 15.6 lakh">
            <a:extLst xmlns:a="http://schemas.openxmlformats.org/drawingml/2006/main">
              <a:ext uri="{FF2B5EF4-FFF2-40B4-BE49-F238E27FC236}">
                <a16:creationId xmlns:a16="http://schemas.microsoft.com/office/drawing/2014/main" id="{5CBDD428-217D-418A-9730-2730DC79DB79}"/>
              </a:ext>
            </a:extLst>
          </p:cNvPr>
          <p:cNvSpPr>
            <a:spLocks xmlns:a="http://schemas.openxmlformats.org/drawingml/2006/main" noGrp="1"/>
          </p:cNvSpPr>
          <p:nvPr/>
        </p:nvSpPr>
        <p:spPr>
          <a:xfrm xmlns:a="http://schemas.openxmlformats.org/drawingml/2006/main">
            <a:off x="533400" y="14859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B75E43"/>
                </a:solidFill>
                <a:latin typeface="Arial"/>
                <a:ea typeface="Arial"/>
                <a:cs typeface="Arial"/>
              </a:defRPr>
            </a:pPr>
            <a:r>
              <a:rPr sz="4275" b="1">
                <a:solidFill>
                  <a:srgbClr val="B75E43"/>
                </a:solidFill>
                <a:latin typeface="Arial"/>
                <a:ea typeface="Arial"/>
                <a:cs typeface="Arial"/>
              </a:rPr>
              <a:t>15.6 lakh</a:t>
            </a:r>
          </a:p>
        </p:txBody>
      </p:sp>
      <p:sp>
        <p:nvSpPr>
          <p:cNvPr id="17" name="Evidence 15.6 lakh scope">
            <a:extLst xmlns:a="http://schemas.openxmlformats.org/drawingml/2006/main">
              <a:ext uri="{FF2B5EF4-FFF2-40B4-BE49-F238E27FC236}">
                <a16:creationId xmlns:a16="http://schemas.microsoft.com/office/drawing/2014/main" id="{EBC00A98-B0D9-449D-A36F-8339A090F77F}"/>
              </a:ext>
            </a:extLst>
          </p:cNvPr>
          <p:cNvSpPr>
            <a:spLocks xmlns:a="http://schemas.openxmlformats.org/drawingml/2006/main" noGrp="1"/>
          </p:cNvSpPr>
          <p:nvPr/>
        </p:nvSpPr>
        <p:spPr>
          <a:xfrm xmlns:a="http://schemas.openxmlformats.org/drawingml/2006/main">
            <a:off x="533400" y="22669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new cancer cases in India in 2024.</a:t>
            </a:r>
          </a:p>
        </p:txBody>
      </p:sp>
      <p:sp>
        <p:nvSpPr>
          <p:cNvPr id="18" name="Evidence 15.6 lakh source">
            <a:extLst xmlns:a="http://schemas.openxmlformats.org/drawingml/2006/main">
              <a:ext uri="{FF2B5EF4-FFF2-40B4-BE49-F238E27FC236}">
                <a16:creationId xmlns:a16="http://schemas.microsoft.com/office/drawing/2014/main" id="{61CAF79A-12DE-455A-9A6E-4476657C3460}"/>
              </a:ext>
            </a:extLst>
          </p:cNvPr>
          <p:cNvSpPr>
            <a:spLocks xmlns:a="http://schemas.openxmlformats.org/drawingml/2006/main" noGrp="1"/>
          </p:cNvSpPr>
          <p:nvPr/>
        </p:nvSpPr>
        <p:spPr>
          <a:xfrm xmlns:a="http://schemas.openxmlformats.org/drawingml/2006/main">
            <a:off x="533400" y="339090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IARC, GLOBOCAN 2024</a:t>
            </a:r>
          </a:p>
        </p:txBody>
      </p:sp>
      <p:sp>
        <p:nvSpPr>
          <p:cNvPr id="19" name="Evidence 98.39%">
            <a:extLst xmlns:a="http://schemas.openxmlformats.org/drawingml/2006/main">
              <a:ext uri="{FF2B5EF4-FFF2-40B4-BE49-F238E27FC236}">
                <a16:creationId xmlns:a16="http://schemas.microsoft.com/office/drawing/2014/main" id="{C6716DE3-0363-4599-AD31-3223DB1873B9}"/>
              </a:ext>
            </a:extLst>
          </p:cNvPr>
          <p:cNvSpPr>
            <a:spLocks xmlns:a="http://schemas.openxmlformats.org/drawingml/2006/main" noGrp="1"/>
          </p:cNvSpPr>
          <p:nvPr/>
        </p:nvSpPr>
        <p:spPr>
          <a:xfrm xmlns:a="http://schemas.openxmlformats.org/drawingml/2006/main">
            <a:off x="4010025" y="1485900"/>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157B68"/>
                </a:solidFill>
                <a:latin typeface="Arial"/>
                <a:ea typeface="Arial"/>
                <a:cs typeface="Arial"/>
              </a:defRPr>
            </a:pPr>
            <a:r>
              <a:rPr sz="4275" b="1">
                <a:solidFill>
                  <a:srgbClr val="157B68"/>
                </a:solidFill>
                <a:latin typeface="Arial"/>
                <a:ea typeface="Arial"/>
                <a:cs typeface="Arial"/>
              </a:rPr>
              <a:t>98.39%</a:t>
            </a:r>
          </a:p>
        </p:txBody>
      </p:sp>
      <p:sp>
        <p:nvSpPr>
          <p:cNvPr id="20" name="Evidence 98.39% scope">
            <a:extLst xmlns:a="http://schemas.openxmlformats.org/drawingml/2006/main">
              <a:ext uri="{FF2B5EF4-FFF2-40B4-BE49-F238E27FC236}">
                <a16:creationId xmlns:a16="http://schemas.microsoft.com/office/drawing/2014/main" id="{0D02963D-593C-4A08-8E2D-E07A196C0262}"/>
              </a:ext>
            </a:extLst>
          </p:cNvPr>
          <p:cNvSpPr>
            <a:spLocks xmlns:a="http://schemas.openxmlformats.org/drawingml/2006/main" noGrp="1"/>
          </p:cNvSpPr>
          <p:nvPr/>
        </p:nvSpPr>
        <p:spPr>
          <a:xfrm xmlns:a="http://schemas.openxmlformats.org/drawingml/2006/main">
            <a:off x="4010025" y="22669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unmet need for palliative care among people whose cancer had spread, across 10 cancer types.</a:t>
            </a:r>
          </a:p>
        </p:txBody>
      </p:sp>
      <p:sp>
        <p:nvSpPr>
          <p:cNvPr id="21" name="Evidence 98.39% source">
            <a:extLst xmlns:a="http://schemas.openxmlformats.org/drawingml/2006/main">
              <a:ext uri="{FF2B5EF4-FFF2-40B4-BE49-F238E27FC236}">
                <a16:creationId xmlns:a16="http://schemas.microsoft.com/office/drawing/2014/main" id="{768BCFCB-FEAA-43B8-9A93-52776C5475DB}"/>
              </a:ext>
            </a:extLst>
          </p:cNvPr>
          <p:cNvSpPr>
            <a:spLocks xmlns:a="http://schemas.openxmlformats.org/drawingml/2006/main" noGrp="1"/>
          </p:cNvSpPr>
          <p:nvPr/>
        </p:nvSpPr>
        <p:spPr>
          <a:xfrm xmlns:a="http://schemas.openxmlformats.org/drawingml/2006/main">
            <a:off x="4010025" y="3390900"/>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Patil et al., 2024</a:t>
            </a:r>
          </a:p>
        </p:txBody>
      </p:sp>
      <p:sp>
        <p:nvSpPr>
          <p:cNvPr id="22" name="Evidence 88%">
            <a:extLst xmlns:a="http://schemas.openxmlformats.org/drawingml/2006/main">
              <a:ext uri="{FF2B5EF4-FFF2-40B4-BE49-F238E27FC236}">
                <a16:creationId xmlns:a16="http://schemas.microsoft.com/office/drawing/2014/main" id="{AC79B574-087E-4984-89C1-E2ABA9FA4E20}"/>
              </a:ext>
            </a:extLst>
          </p:cNvPr>
          <p:cNvSpPr>
            <a:spLocks xmlns:a="http://schemas.openxmlformats.org/drawingml/2006/main" noGrp="1"/>
          </p:cNvSpPr>
          <p:nvPr/>
        </p:nvSpPr>
        <p:spPr>
          <a:xfrm xmlns:a="http://schemas.openxmlformats.org/drawingml/2006/main">
            <a:off x="533400" y="412432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7353AC"/>
                </a:solidFill>
                <a:latin typeface="Arial"/>
                <a:ea typeface="Arial"/>
                <a:cs typeface="Arial"/>
              </a:defRPr>
            </a:pPr>
            <a:r>
              <a:rPr sz="4275" b="1">
                <a:solidFill>
                  <a:srgbClr val="7353AC"/>
                </a:solidFill>
                <a:latin typeface="Arial"/>
                <a:ea typeface="Arial"/>
                <a:cs typeface="Arial"/>
              </a:rPr>
              <a:t>88%</a:t>
            </a:r>
          </a:p>
        </p:txBody>
      </p:sp>
      <p:sp>
        <p:nvSpPr>
          <p:cNvPr id="23" name="Evidence 88% scope">
            <a:extLst xmlns:a="http://schemas.openxmlformats.org/drawingml/2006/main">
              <a:ext uri="{FF2B5EF4-FFF2-40B4-BE49-F238E27FC236}">
                <a16:creationId xmlns:a16="http://schemas.microsoft.com/office/drawing/2014/main" id="{9E7E6167-0422-4E3A-8590-28C84A4D396F}"/>
              </a:ext>
            </a:extLst>
          </p:cNvPr>
          <p:cNvSpPr>
            <a:spLocks xmlns:a="http://schemas.openxmlformats.org/drawingml/2006/main" noGrp="1"/>
          </p:cNvSpPr>
          <p:nvPr/>
        </p:nvSpPr>
        <p:spPr>
          <a:xfrm xmlns:a="http://schemas.openxmlformats.org/drawingml/2006/main">
            <a:off x="533400" y="4905375"/>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Wanted to choose their treatment near the end of life in a 2019 survey of 2,400+ urban respondents.</a:t>
            </a:r>
          </a:p>
        </p:txBody>
      </p:sp>
      <p:sp>
        <p:nvSpPr>
          <p:cNvPr id="24" name="Evidence 88% source">
            <a:extLst xmlns:a="http://schemas.openxmlformats.org/drawingml/2006/main">
              <a:ext uri="{FF2B5EF4-FFF2-40B4-BE49-F238E27FC236}">
                <a16:creationId xmlns:a16="http://schemas.microsoft.com/office/drawing/2014/main" id="{D1D23BC0-9A77-480E-B4E1-2276C63AE369}"/>
              </a:ext>
            </a:extLst>
          </p:cNvPr>
          <p:cNvSpPr>
            <a:spLocks xmlns:a="http://schemas.openxmlformats.org/drawingml/2006/main" noGrp="1"/>
          </p:cNvSpPr>
          <p:nvPr/>
        </p:nvSpPr>
        <p:spPr>
          <a:xfrm xmlns:a="http://schemas.openxmlformats.org/drawingml/2006/main">
            <a:off x="533400" y="6029325"/>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IndiaSpend reporting; seven cities</a:t>
            </a:r>
          </a:p>
        </p:txBody>
      </p:sp>
      <p:sp>
        <p:nvSpPr>
          <p:cNvPr id="25" name="Evidence 11.5%">
            <a:extLst xmlns:a="http://schemas.openxmlformats.org/drawingml/2006/main">
              <a:ext uri="{FF2B5EF4-FFF2-40B4-BE49-F238E27FC236}">
                <a16:creationId xmlns:a16="http://schemas.microsoft.com/office/drawing/2014/main" id="{A027ACA8-97B3-4A81-B6BC-F777B5766E44}"/>
              </a:ext>
            </a:extLst>
          </p:cNvPr>
          <p:cNvSpPr>
            <a:spLocks xmlns:a="http://schemas.openxmlformats.org/drawingml/2006/main" noGrp="1"/>
          </p:cNvSpPr>
          <p:nvPr/>
        </p:nvSpPr>
        <p:spPr>
          <a:xfrm xmlns:a="http://schemas.openxmlformats.org/drawingml/2006/main">
            <a:off x="4010025" y="4124325"/>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4357C7"/>
                </a:solidFill>
                <a:latin typeface="Arial"/>
                <a:ea typeface="Arial"/>
                <a:cs typeface="Arial"/>
              </a:defRPr>
            </a:pPr>
            <a:r>
              <a:rPr sz="4275" b="1">
                <a:solidFill>
                  <a:srgbClr val="4357C7"/>
                </a:solidFill>
                <a:latin typeface="Arial"/>
                <a:ea typeface="Arial"/>
                <a:cs typeface="Arial"/>
              </a:rPr>
              <a:t>11.5%</a:t>
            </a:r>
          </a:p>
        </p:txBody>
      </p:sp>
      <p:sp>
        <p:nvSpPr>
          <p:cNvPr id="26" name="Evidence 11.5% scope">
            <a:extLst xmlns:a="http://schemas.openxmlformats.org/drawingml/2006/main">
              <a:ext uri="{FF2B5EF4-FFF2-40B4-BE49-F238E27FC236}">
                <a16:creationId xmlns:a16="http://schemas.microsoft.com/office/drawing/2014/main" id="{D73A5891-45FE-43CE-A636-2AD2547FE8B5}"/>
              </a:ext>
            </a:extLst>
          </p:cNvPr>
          <p:cNvSpPr>
            <a:spLocks xmlns:a="http://schemas.openxmlformats.org/drawingml/2006/main" noGrp="1"/>
          </p:cNvSpPr>
          <p:nvPr/>
        </p:nvSpPr>
        <p:spPr>
          <a:xfrm xmlns:a="http://schemas.openxmlformats.org/drawingml/2006/main">
            <a:off x="4010025" y="4905375"/>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45 of 391 doctors at one hospital had training in advance directives, which record wishes for future care.</a:t>
            </a:r>
          </a:p>
        </p:txBody>
      </p:sp>
      <p:sp>
        <p:nvSpPr>
          <p:cNvPr id="27" name="Evidence 11.5% source">
            <a:extLst xmlns:a="http://schemas.openxmlformats.org/drawingml/2006/main">
              <a:ext uri="{FF2B5EF4-FFF2-40B4-BE49-F238E27FC236}">
                <a16:creationId xmlns:a16="http://schemas.microsoft.com/office/drawing/2014/main" id="{8D71BDE1-CD01-4CF4-9F15-6F1742278572}"/>
              </a:ext>
            </a:extLst>
          </p:cNvPr>
          <p:cNvSpPr>
            <a:spLocks xmlns:a="http://schemas.openxmlformats.org/drawingml/2006/main" noGrp="1"/>
          </p:cNvSpPr>
          <p:nvPr/>
        </p:nvSpPr>
        <p:spPr>
          <a:xfrm xmlns:a="http://schemas.openxmlformats.org/drawingml/2006/main">
            <a:off x="4010025" y="6029325"/>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Jacob et al., CMC Vellore, 2026</a:t>
            </a:r>
          </a:p>
        </p:txBody>
      </p:sp>
      <p:sp>
        <p:nvSpPr>
          <p:cNvPr id="28" name="QI measure">
            <a:extLst xmlns:a="http://schemas.openxmlformats.org/drawingml/2006/main">
              <a:ext uri="{FF2B5EF4-FFF2-40B4-BE49-F238E27FC236}">
                <a16:creationId xmlns:a16="http://schemas.microsoft.com/office/drawing/2014/main" id="{1BDD5331-5669-445A-AEAD-5639901396D1}"/>
              </a:ext>
            </a:extLst>
          </p:cNvPr>
          <p:cNvSpPr>
            <a:spLocks xmlns:a="http://schemas.openxmlformats.org/drawingml/2006/main" noGrp="1"/>
          </p:cNvSpPr>
          <p:nvPr/>
        </p:nvSpPr>
        <p:spPr>
          <a:xfrm xmlns:a="http://schemas.openxmlformats.org/drawingml/2006/main">
            <a:off x="7734300" y="1495425"/>
            <a:ext cx="3924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173F33"/>
                </a:solidFill>
                <a:latin typeface="Arial"/>
                <a:ea typeface="Arial"/>
                <a:cs typeface="Arial"/>
              </a:defRPr>
            </a:pPr>
            <a:r>
              <a:rPr sz="1800" b="1">
                <a:solidFill>
                  <a:srgbClr val="173F33"/>
                </a:solidFill>
                <a:latin typeface="Arial"/>
                <a:ea typeface="Arial"/>
                <a:cs typeface="Arial"/>
              </a:rPr>
              <a:t>Care discussions written down</a:t>
            </a:r>
          </a:p>
        </p:txBody>
      </p:sp>
      <p:sp>
        <p:nvSpPr>
          <p:cNvPr id="29" name="QI finding">
            <a:extLst xmlns:a="http://schemas.openxmlformats.org/drawingml/2006/main">
              <a:ext uri="{FF2B5EF4-FFF2-40B4-BE49-F238E27FC236}">
                <a16:creationId xmlns:a16="http://schemas.microsoft.com/office/drawing/2014/main" id="{27C30647-5E94-4C79-8C05-70F613BD6071}"/>
              </a:ext>
            </a:extLst>
          </p:cNvPr>
          <p:cNvSpPr>
            <a:spLocks xmlns:a="http://schemas.openxmlformats.org/drawingml/2006/main" noGrp="1"/>
          </p:cNvSpPr>
          <p:nvPr/>
        </p:nvSpPr>
        <p:spPr>
          <a:xfrm xmlns:a="http://schemas.openxmlformats.org/drawingml/2006/main">
            <a:off x="7734300" y="4667250"/>
            <a:ext cx="392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standard process helped one Chennai hospital write down care discussions for 24 of 26 eligible patients.</a:t>
            </a:r>
          </a:p>
        </p:txBody>
      </p:sp>
      <p:sp>
        <p:nvSpPr>
          <p:cNvPr id="30" name="QI scope">
            <a:extLst xmlns:a="http://schemas.openxmlformats.org/drawingml/2006/main">
              <a:ext uri="{FF2B5EF4-FFF2-40B4-BE49-F238E27FC236}">
                <a16:creationId xmlns:a16="http://schemas.microsoft.com/office/drawing/2014/main" id="{BC130376-9A69-482A-8D0E-3FEB2BBEA7E6}"/>
              </a:ext>
            </a:extLst>
          </p:cNvPr>
          <p:cNvSpPr>
            <a:spLocks xmlns:a="http://schemas.openxmlformats.org/drawingml/2006/main" noGrp="1"/>
          </p:cNvSpPr>
          <p:nvPr/>
        </p:nvSpPr>
        <p:spPr>
          <a:xfrm xmlns:a="http://schemas.openxmlformats.org/drawingml/2006/main">
            <a:off x="7734300" y="5781675"/>
            <a:ext cx="3924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53655C"/>
                </a:solidFill>
                <a:latin typeface="Arial"/>
                <a:ea typeface="Arial"/>
                <a:cs typeface="Arial"/>
              </a:defRPr>
            </a:pPr>
            <a:r>
              <a:rPr sz="1275" b="0">
                <a:solidFill>
                  <a:srgbClr val="53655C"/>
                </a:solidFill>
                <a:latin typeface="Arial"/>
                <a:ea typeface="Arial"/>
                <a:cs typeface="Arial"/>
              </a:rPr>
              <a:t>Advanced pancreatic / colorectal cancer. Thangasamy et al., 2025.</a:t>
            </a:r>
          </a:p>
        </p:txBody>
      </p:sp>
      <p:sp>
        <p:nvSpPr>
          <p:cNvPr id="31" name="Evidence boundary">
            <a:extLst xmlns:a="http://schemas.openxmlformats.org/drawingml/2006/main">
              <a:ext uri="{FF2B5EF4-FFF2-40B4-BE49-F238E27FC236}">
                <a16:creationId xmlns:a16="http://schemas.microsoft.com/office/drawing/2014/main" id="{212E569E-A7E9-4D48-85F5-2517DD43F4B6}"/>
              </a:ext>
            </a:extLst>
          </p:cNvPr>
          <p:cNvSpPr>
            <a:spLocks xmlns:a="http://schemas.openxmlformats.org/drawingml/2006/main" noGrp="1"/>
          </p:cNvSpPr>
          <p:nvPr/>
        </p:nvSpPr>
        <p:spPr>
          <a:xfrm xmlns:a="http://schemas.openxmlformats.org/drawingml/2006/main">
            <a:off x="533400" y="65151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00" b="0">
                <a:solidFill>
                  <a:srgbClr val="53655C"/>
                </a:solidFill>
                <a:latin typeface="Arial"/>
                <a:ea typeface="Arial"/>
                <a:cs typeface="Arial"/>
              </a:defRPr>
            </a:pPr>
            <a:r>
              <a:rPr sz="1200" b="0">
                <a:solidFill>
                  <a:srgbClr val="53655C"/>
                </a:solidFill>
                <a:latin typeface="Arial"/>
                <a:ea typeface="Arial"/>
                <a:cs typeface="Arial"/>
              </a:rPr>
              <a:t>Each study looked at a different group of people. These figures are not results from Saath.</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142C50"/>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E282B979-6CB8-42AF-AE32-0C8515353A2E}"/>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AI turns the conversation into a draft Care Note</a:t>
            </a:r>
          </a:p>
        </p:txBody>
      </p:sp>
      <p:sp>
        <p:nvSpPr>
          <p:cNvPr id="2" name="Human review">
            <a:extLst xmlns:a="http://schemas.openxmlformats.org/drawingml/2006/main">
              <a:ext uri="{FF2B5EF4-FFF2-40B4-BE49-F238E27FC236}">
                <a16:creationId xmlns:a16="http://schemas.microsoft.com/office/drawing/2014/main" id="{616C7128-32B8-4C43-82FE-B680C231265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D9E8EE"/>
                </a:solidFill>
                <a:latin typeface="Arial"/>
                <a:ea typeface="Arial"/>
                <a:cs typeface="Arial"/>
              </a:defRPr>
            </a:pPr>
            <a:r>
              <a:rPr sz="1875" b="0">
                <a:solidFill>
                  <a:srgbClr val="D9E8EE"/>
                </a:solidFill>
                <a:latin typeface="Arial"/>
                <a:ea typeface="Arial"/>
                <a:cs typeface="Arial"/>
              </a:rPr>
              <a:t>The doctor checks it before anyone uses 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4430e0ab1648b6"/>
          <a:stretch xmlns:a="http://schemas.openxmlformats.org/drawingml/2006/main"/>
        </p:blipFill>
        <p:spPr>
          <a:xfrm xmlns:a="http://schemas.openxmlformats.org/drawingml/2006/main">
            <a:off x="400050" y="1979682"/>
            <a:ext cx="8286750" cy="3670161"/>
          </a:xfrm>
          <a:prstGeom xmlns:a="http://schemas.openxmlformats.org/drawingml/2006/main" prst="rect">
            <a:avLst/>
          </a:prstGeom>
        </p:spPr>
      </p:pic>
      <p:sp>
        <p:nvSpPr>
          <p:cNvPr id="4" name="Source traceability">
            <a:extLst xmlns:a="http://schemas.openxmlformats.org/drawingml/2006/main">
              <a:ext uri="{FF2B5EF4-FFF2-40B4-BE49-F238E27FC236}">
                <a16:creationId xmlns:a16="http://schemas.microsoft.com/office/drawing/2014/main" id="{A3A75609-5529-490C-AD04-BC21195AB4D0}"/>
              </a:ext>
            </a:extLst>
          </p:cNvPr>
          <p:cNvSpPr>
            <a:spLocks xmlns:a="http://schemas.openxmlformats.org/drawingml/2006/main" noGrp="1"/>
          </p:cNvSpPr>
          <p:nvPr/>
        </p:nvSpPr>
        <p:spPr>
          <a:xfrm xmlns:a="http://schemas.openxmlformats.org/drawingml/2006/main">
            <a:off x="533400" y="6048375"/>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E38C"/>
                </a:solidFill>
                <a:latin typeface="Arial"/>
                <a:ea typeface="Arial"/>
                <a:cs typeface="Arial"/>
              </a:defRPr>
            </a:pPr>
            <a:r>
              <a:rPr sz="1725" b="1">
                <a:solidFill>
                  <a:srgbClr val="FFE38C"/>
                </a:solidFill>
                <a:latin typeface="Arial"/>
                <a:ea typeface="Arial"/>
                <a:cs typeface="Arial"/>
              </a:rPr>
              <a:t>Every part of the note links back to what the patient and doctor actually said.</a:t>
            </a:r>
          </a:p>
        </p:txBody>
      </p:sp>
      <p:sp>
        <p:nvSpPr>
          <p:cNvPr id="5" name="AI step 1">
            <a:extLst xmlns:a="http://schemas.openxmlformats.org/drawingml/2006/main">
              <a:ext uri="{FF2B5EF4-FFF2-40B4-BE49-F238E27FC236}">
                <a16:creationId xmlns:a16="http://schemas.microsoft.com/office/drawing/2014/main" id="{F9311741-4CDA-4F55-B78F-2A6F21AF9C61}"/>
              </a:ext>
            </a:extLst>
          </p:cNvPr>
          <p:cNvSpPr>
            <a:spLocks xmlns:a="http://schemas.openxmlformats.org/drawingml/2006/main" noGrp="1"/>
          </p:cNvSpPr>
          <p:nvPr/>
        </p:nvSpPr>
        <p:spPr>
          <a:xfrm xmlns:a="http://schemas.openxmlformats.org/drawingml/2006/main">
            <a:off x="9001125" y="167640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1. Record the conversation</a:t>
            </a:r>
          </a:p>
        </p:txBody>
      </p:sp>
      <p:sp>
        <p:nvSpPr>
          <p:cNvPr id="6" name="AI step 1 detail">
            <a:extLst xmlns:a="http://schemas.openxmlformats.org/drawingml/2006/main">
              <a:ext uri="{FF2B5EF4-FFF2-40B4-BE49-F238E27FC236}">
                <a16:creationId xmlns:a16="http://schemas.microsoft.com/office/drawing/2014/main" id="{5564041D-9083-49D1-AA65-4307162AAA04}"/>
              </a:ext>
            </a:extLst>
          </p:cNvPr>
          <p:cNvSpPr>
            <a:spLocks xmlns:a="http://schemas.openxmlformats.org/drawingml/2006/main" noGrp="1"/>
          </p:cNvSpPr>
          <p:nvPr/>
        </p:nvSpPr>
        <p:spPr>
          <a:xfrm xmlns:a="http://schemas.openxmlformats.org/drawingml/2006/main">
            <a:off x="9001125" y="220980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Ask permission to record what the patient and doctor say.</a:t>
            </a:r>
          </a:p>
        </p:txBody>
      </p:sp>
      <p:sp>
        <p:nvSpPr>
          <p:cNvPr id="7" name="AI step 2">
            <a:extLst xmlns:a="http://schemas.openxmlformats.org/drawingml/2006/main">
              <a:ext uri="{FF2B5EF4-FFF2-40B4-BE49-F238E27FC236}">
                <a16:creationId xmlns:a16="http://schemas.microsoft.com/office/drawing/2014/main" id="{9A4E4B11-CCE6-454E-9E7E-9B8D662A9E4C}"/>
              </a:ext>
            </a:extLst>
          </p:cNvPr>
          <p:cNvSpPr>
            <a:spLocks xmlns:a="http://schemas.openxmlformats.org/drawingml/2006/main" noGrp="1"/>
          </p:cNvSpPr>
          <p:nvPr/>
        </p:nvSpPr>
        <p:spPr>
          <a:xfrm xmlns:a="http://schemas.openxmlformats.org/drawingml/2006/main">
            <a:off x="9001125" y="282892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2. AI writes a draft</a:t>
            </a:r>
          </a:p>
        </p:txBody>
      </p:sp>
      <p:sp>
        <p:nvSpPr>
          <p:cNvPr id="8" name="AI step 2 detail">
            <a:extLst xmlns:a="http://schemas.openxmlformats.org/drawingml/2006/main">
              <a:ext uri="{FF2B5EF4-FFF2-40B4-BE49-F238E27FC236}">
                <a16:creationId xmlns:a16="http://schemas.microsoft.com/office/drawing/2014/main" id="{571A351D-0737-486E-BCC8-1D5CCD8F7DA8}"/>
              </a:ext>
            </a:extLst>
          </p:cNvPr>
          <p:cNvSpPr>
            <a:spLocks xmlns:a="http://schemas.openxmlformats.org/drawingml/2006/main" noGrp="1"/>
          </p:cNvSpPr>
          <p:nvPr/>
        </p:nvSpPr>
        <p:spPr>
          <a:xfrm xmlns:a="http://schemas.openxmlformats.org/drawingml/2006/main">
            <a:off x="9001125" y="336232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1169"/>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Separate what was discussed, what was agreed and what still needs an answer.</a:t>
            </a:r>
          </a:p>
        </p:txBody>
      </p:sp>
      <p:sp>
        <p:nvSpPr>
          <p:cNvPr id="9" name="AI step 3">
            <a:extLst xmlns:a="http://schemas.openxmlformats.org/drawingml/2006/main">
              <a:ext uri="{FF2B5EF4-FFF2-40B4-BE49-F238E27FC236}">
                <a16:creationId xmlns:a16="http://schemas.microsoft.com/office/drawing/2014/main" id="{3FDFEBAA-A6BA-4E56-849B-C97FEF66E996}"/>
              </a:ext>
            </a:extLst>
          </p:cNvPr>
          <p:cNvSpPr>
            <a:spLocks xmlns:a="http://schemas.openxmlformats.org/drawingml/2006/main" noGrp="1"/>
          </p:cNvSpPr>
          <p:nvPr/>
        </p:nvSpPr>
        <p:spPr>
          <a:xfrm xmlns:a="http://schemas.openxmlformats.org/drawingml/2006/main">
            <a:off x="9001125" y="398145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3. The doctor checks it</a:t>
            </a:r>
          </a:p>
        </p:txBody>
      </p:sp>
      <p:sp>
        <p:nvSpPr>
          <p:cNvPr id="10" name="AI step 3 detail">
            <a:extLst xmlns:a="http://schemas.openxmlformats.org/drawingml/2006/main">
              <a:ext uri="{FF2B5EF4-FFF2-40B4-BE49-F238E27FC236}">
                <a16:creationId xmlns:a16="http://schemas.microsoft.com/office/drawing/2014/main" id="{13E56754-6A2A-40A1-832B-098047362D52}"/>
              </a:ext>
            </a:extLst>
          </p:cNvPr>
          <p:cNvSpPr>
            <a:spLocks xmlns:a="http://schemas.openxmlformats.org/drawingml/2006/main" noGrp="1"/>
          </p:cNvSpPr>
          <p:nvPr/>
        </p:nvSpPr>
        <p:spPr>
          <a:xfrm xmlns:a="http://schemas.openxmlformats.org/drawingml/2006/main">
            <a:off x="9001125" y="451485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Read the original words, correct the note and sign what is right.</a:t>
            </a:r>
          </a:p>
        </p:txBody>
      </p:sp>
      <p:sp>
        <p:nvSpPr>
          <p:cNvPr id="11" name="AI step 4">
            <a:extLst xmlns:a="http://schemas.openxmlformats.org/drawingml/2006/main">
              <a:ext uri="{FF2B5EF4-FFF2-40B4-BE49-F238E27FC236}">
                <a16:creationId xmlns:a16="http://schemas.microsoft.com/office/drawing/2014/main" id="{59627384-F3EE-4900-8130-75054BD2883B}"/>
              </a:ext>
            </a:extLst>
          </p:cNvPr>
          <p:cNvSpPr>
            <a:spLocks xmlns:a="http://schemas.openxmlformats.org/drawingml/2006/main" noGrp="1"/>
          </p:cNvSpPr>
          <p:nvPr/>
        </p:nvSpPr>
        <p:spPr>
          <a:xfrm xmlns:a="http://schemas.openxmlformats.org/drawingml/2006/main">
            <a:off x="9001125" y="513397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4. Keep each conversation</a:t>
            </a:r>
          </a:p>
        </p:txBody>
      </p:sp>
      <p:sp>
        <p:nvSpPr>
          <p:cNvPr id="12" name="AI step 4 detail">
            <a:extLst xmlns:a="http://schemas.openxmlformats.org/drawingml/2006/main">
              <a:ext uri="{FF2B5EF4-FFF2-40B4-BE49-F238E27FC236}">
                <a16:creationId xmlns:a16="http://schemas.microsoft.com/office/drawing/2014/main" id="{C7144CBB-1B82-45A1-9FC1-8C59C0F67D07}"/>
              </a:ext>
            </a:extLst>
          </p:cNvPr>
          <p:cNvSpPr>
            <a:spLocks xmlns:a="http://schemas.openxmlformats.org/drawingml/2006/main" noGrp="1"/>
          </p:cNvSpPr>
          <p:nvPr/>
        </p:nvSpPr>
        <p:spPr>
          <a:xfrm xmlns:a="http://schemas.openxmlformats.org/drawingml/2006/main">
            <a:off x="9001125" y="56673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1169"/>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Start from the earlier note at the next visit. Check changes and keep both versions.</a:t>
            </a:r>
          </a:p>
        </p:txBody>
      </p:sp>
    </p:spTree>
    <p:extLst>
      <p:ext uri="{BB962C8B-B14F-4D97-AF65-F5344CB8AC3E}">
        <p14:creationId xmlns:p14="http://schemas.microsoft.com/office/powerpoint/2010/main" val="1779657811"/>
      </p:ext>
    </p:extLst>
  </p:cSld>
</p:sld>
</file>

<file path=ppt/slides/slide5.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2F242652-3625-4C8B-8645-1A8FE31EF440}"/>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AI makes the family’s records easier to use</a:t>
            </a:r>
          </a:p>
        </p:txBody>
      </p:sp>
      <p:sp>
        <p:nvSpPr>
          <p:cNvPr id="2" name="Records assistant purpose">
            <a:extLst xmlns:a="http://schemas.openxmlformats.org/drawingml/2006/main">
              <a:ext uri="{FF2B5EF4-FFF2-40B4-BE49-F238E27FC236}">
                <a16:creationId xmlns:a16="http://schemas.microsoft.com/office/drawing/2014/main" id="{D8AB9BC3-5CAA-4BD1-8BB5-4554D78F99FC}"/>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Ask about your own reports. See the original passage with the answer.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6c5406c36744824"/>
          <a:stretch xmlns:a="http://schemas.openxmlformats.org/drawingml/2006/main"/>
        </p:blipFill>
        <p:spPr>
          <a:xfrm xmlns:a="http://schemas.openxmlformats.org/drawingml/2006/main">
            <a:off x="400050" y="1938366"/>
            <a:ext cx="8058150" cy="3533719"/>
          </a:xfrm>
          <a:prstGeom xmlns:a="http://schemas.openxmlformats.org/drawingml/2006/main" prst="rect">
            <a:avLst/>
          </a:prstGeom>
        </p:spPr>
      </p:pic>
      <p:sp>
        <p:nvSpPr>
          <p:cNvPr id="4" name="Records assistant 1">
            <a:extLst xmlns:a="http://schemas.openxmlformats.org/drawingml/2006/main">
              <a:ext uri="{FF2B5EF4-FFF2-40B4-BE49-F238E27FC236}">
                <a16:creationId xmlns:a16="http://schemas.microsoft.com/office/drawing/2014/main" id="{26920F9B-A733-4B79-B275-F9E2861FCBD2}"/>
              </a:ext>
            </a:extLst>
          </p:cNvPr>
          <p:cNvSpPr>
            <a:spLocks xmlns:a="http://schemas.openxmlformats.org/drawingml/2006/main" noGrp="1"/>
          </p:cNvSpPr>
          <p:nvPr/>
        </p:nvSpPr>
        <p:spPr>
          <a:xfrm xmlns:a="http://schemas.openxmlformats.org/drawingml/2006/main">
            <a:off x="8763000" y="16668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Find an answer in a report</a:t>
            </a:r>
          </a:p>
        </p:txBody>
      </p:sp>
      <p:sp>
        <p:nvSpPr>
          <p:cNvPr id="5" name="Records assistant 1 detail">
            <a:extLst xmlns:a="http://schemas.openxmlformats.org/drawingml/2006/main">
              <a:ext uri="{FF2B5EF4-FFF2-40B4-BE49-F238E27FC236}">
                <a16:creationId xmlns:a16="http://schemas.microsoft.com/office/drawing/2014/main" id="{14B43974-D720-4A70-B967-88CCE7445071}"/>
              </a:ext>
            </a:extLst>
          </p:cNvPr>
          <p:cNvSpPr>
            <a:spLocks xmlns:a="http://schemas.openxmlformats.org/drawingml/2006/main" noGrp="1"/>
          </p:cNvSpPr>
          <p:nvPr/>
        </p:nvSpPr>
        <p:spPr>
          <a:xfrm xmlns:a="http://schemas.openxmlformats.org/drawingml/2006/main">
            <a:off x="8763000" y="2247900"/>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Ask a question. See the exact part of the report the answer came from. Say when it cannot be found.</a:t>
            </a:r>
          </a:p>
        </p:txBody>
      </p:sp>
      <p:sp>
        <p:nvSpPr>
          <p:cNvPr id="6" name="Records assistant 2">
            <a:extLst xmlns:a="http://schemas.openxmlformats.org/drawingml/2006/main">
              <a:ext uri="{FF2B5EF4-FFF2-40B4-BE49-F238E27FC236}">
                <a16:creationId xmlns:a16="http://schemas.microsoft.com/office/drawing/2014/main" id="{B8D6CE3A-816E-4601-991E-03FADCA34D08}"/>
              </a:ext>
            </a:extLst>
          </p:cNvPr>
          <p:cNvSpPr>
            <a:spLocks xmlns:a="http://schemas.openxmlformats.org/drawingml/2006/main" noGrp="1"/>
          </p:cNvSpPr>
          <p:nvPr/>
        </p:nvSpPr>
        <p:spPr>
          <a:xfrm xmlns:a="http://schemas.openxmlformats.org/drawingml/2006/main">
            <a:off x="8763000" y="3276600"/>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See what happened when</a:t>
            </a:r>
          </a:p>
        </p:txBody>
      </p:sp>
      <p:sp>
        <p:nvSpPr>
          <p:cNvPr id="7" name="Records assistant 2 detail">
            <a:extLst xmlns:a="http://schemas.openxmlformats.org/drawingml/2006/main">
              <a:ext uri="{FF2B5EF4-FFF2-40B4-BE49-F238E27FC236}">
                <a16:creationId xmlns:a16="http://schemas.microsoft.com/office/drawing/2014/main" id="{B1697B35-2F6F-4770-A47C-AAF5E41088D0}"/>
              </a:ext>
            </a:extLst>
          </p:cNvPr>
          <p:cNvSpPr>
            <a:spLocks xmlns:a="http://schemas.openxmlformats.org/drawingml/2006/main" noGrp="1"/>
          </p:cNvSpPr>
          <p:nvPr/>
        </p:nvSpPr>
        <p:spPr>
          <a:xfrm xmlns:a="http://schemas.openxmlformats.org/drawingml/2006/main">
            <a:off x="8763000" y="3857625"/>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Put reports in date order. Show earlier treatment dates beside the reports they came from.</a:t>
            </a:r>
          </a:p>
        </p:txBody>
      </p:sp>
      <p:sp>
        <p:nvSpPr>
          <p:cNvPr id="8" name="Records assistant 3">
            <a:extLst xmlns:a="http://schemas.openxmlformats.org/drawingml/2006/main">
              <a:ext uri="{FF2B5EF4-FFF2-40B4-BE49-F238E27FC236}">
                <a16:creationId xmlns:a16="http://schemas.microsoft.com/office/drawing/2014/main" id="{66ECDFB3-139F-4B38-8837-6FC8B1CFD667}"/>
              </a:ext>
            </a:extLst>
          </p:cNvPr>
          <p:cNvSpPr>
            <a:spLocks xmlns:a="http://schemas.openxmlformats.org/drawingml/2006/main" noGrp="1"/>
          </p:cNvSpPr>
          <p:nvPr/>
        </p:nvSpPr>
        <p:spPr>
          <a:xfrm xmlns:a="http://schemas.openxmlformats.org/drawingml/2006/main">
            <a:off x="8763000" y="488632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Add medicine reminders</a:t>
            </a:r>
          </a:p>
        </p:txBody>
      </p:sp>
      <p:sp>
        <p:nvSpPr>
          <p:cNvPr id="9" name="Records assistant 3 detail">
            <a:extLst xmlns:a="http://schemas.openxmlformats.org/drawingml/2006/main">
              <a:ext uri="{FF2B5EF4-FFF2-40B4-BE49-F238E27FC236}">
                <a16:creationId xmlns:a16="http://schemas.microsoft.com/office/drawing/2014/main" id="{FA930B26-0C42-44B1-A437-53483C043491}"/>
              </a:ext>
            </a:extLst>
          </p:cNvPr>
          <p:cNvSpPr>
            <a:spLocks xmlns:a="http://schemas.openxmlformats.org/drawingml/2006/main" noGrp="1"/>
          </p:cNvSpPr>
          <p:nvPr/>
        </p:nvSpPr>
        <p:spPr>
          <a:xfrm xmlns:a="http://schemas.openxmlformats.org/drawingml/2006/main">
            <a:off x="8763000" y="5467350"/>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Read the names and times from a printed prescription. Let a person check them before adding reminders.</a:t>
            </a:r>
          </a:p>
        </p:txBody>
      </p:sp>
      <p:sp>
        <p:nvSpPr>
          <p:cNvPr id="10" name="Clinical scope">
            <a:extLst xmlns:a="http://schemas.openxmlformats.org/drawingml/2006/main">
              <a:ext uri="{FF2B5EF4-FFF2-40B4-BE49-F238E27FC236}">
                <a16:creationId xmlns:a16="http://schemas.microsoft.com/office/drawing/2014/main" id="{3B97D87A-4A1F-4467-81BA-70102C23B479}"/>
              </a:ext>
            </a:extLst>
          </p:cNvPr>
          <p:cNvSpPr>
            <a:spLocks xmlns:a="http://schemas.openxmlformats.org/drawingml/2006/main" noGrp="1"/>
          </p:cNvSpPr>
          <p:nvPr/>
        </p:nvSpPr>
        <p:spPr>
          <a:xfrm xmlns:a="http://schemas.openxmlformats.org/drawingml/2006/main">
            <a:off x="533400" y="5895975"/>
            <a:ext cx="7762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AI organises the records. The care team decides what treatment the patient needs.</a:t>
            </a:r>
          </a:p>
        </p:txBody>
      </p:sp>
    </p:spTree>
    <p:extLst>
      <p:ext uri="{BB962C8B-B14F-4D97-AF65-F5344CB8AC3E}">
        <p14:creationId xmlns:p14="http://schemas.microsoft.com/office/powerpoint/2010/main" val="1405124457"/>
      </p:ext>
    </p:extLst>
  </p:cSld>
</p:sld>
</file>

<file path=ppt/slides/slide6.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39F0F469-CD4B-4EC3-93EE-7F968BD6522C}"/>
              </a:ext>
            </a:extLst>
          </p:cNvPr>
          <p:cNvSpPr>
            <a:spLocks xmlns:a="http://schemas.openxmlformats.org/drawingml/2006/main" noGrp="1"/>
          </p:cNvSpPr>
          <p:nvPr/>
        </p:nvSpPr>
        <p:spPr>
          <a:xfrm xmlns:a="http://schemas.openxmlformats.org/drawingml/2006/main">
            <a:off x="533400" y="36195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One place for the patient, family and doctor</a:t>
            </a:r>
          </a:p>
        </p:txBody>
      </p:sp>
      <p:sp>
        <p:nvSpPr>
          <p:cNvPr id="2" name="Purpose">
            <a:extLst xmlns:a="http://schemas.openxmlformats.org/drawingml/2006/main">
              <a:ext uri="{FF2B5EF4-FFF2-40B4-BE49-F238E27FC236}">
                <a16:creationId xmlns:a16="http://schemas.microsoft.com/office/drawing/2014/main" id="{E1D812E7-836D-4658-8DBB-51489FDC3D36}"/>
              </a:ext>
            </a:extLst>
          </p:cNvPr>
          <p:cNvSpPr>
            <a:spLocks xmlns:a="http://schemas.openxmlformats.org/drawingml/2006/main" noGrp="1"/>
          </p:cNvSpPr>
          <p:nvPr/>
        </p:nvSpPr>
        <p:spPr>
          <a:xfrm xmlns:a="http://schemas.openxmlformats.org/drawingml/2006/main">
            <a:off x="533400" y="1028700"/>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The latest Care Note and the family’s next steps stay together.</a:t>
            </a:r>
          </a:p>
        </p:txBody>
      </p:sp>
      <p:sp>
        <p:nvSpPr>
          <p:cNvPr id="3" name="Three sign-ins">
            <a:extLst xmlns:a="http://schemas.openxmlformats.org/drawingml/2006/main">
              <a:ext uri="{FF2B5EF4-FFF2-40B4-BE49-F238E27FC236}">
                <a16:creationId xmlns:a16="http://schemas.microsoft.com/office/drawing/2014/main" id="{62132EA0-28C3-427A-8ADB-D4B9C7C75119}"/>
              </a:ext>
            </a:extLst>
          </p:cNvPr>
          <p:cNvSpPr>
            <a:spLocks xmlns:a="http://schemas.openxmlformats.org/drawingml/2006/main" noGrp="1"/>
          </p:cNvSpPr>
          <p:nvPr/>
        </p:nvSpPr>
        <p:spPr>
          <a:xfrm xmlns:a="http://schemas.openxmlformats.org/drawingml/2006/main">
            <a:off x="533400" y="1638300"/>
            <a:ext cx="1781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53655C"/>
                </a:solidFill>
                <a:latin typeface="Arial"/>
                <a:ea typeface="Arial"/>
                <a:cs typeface="Arial"/>
              </a:defRPr>
            </a:pPr>
            <a:r>
              <a:rPr sz="1575" b="1">
                <a:solidFill>
                  <a:srgbClr val="53655C"/>
                </a:solidFill>
                <a:latin typeface="Arial"/>
                <a:ea typeface="Arial"/>
                <a:cs typeface="Arial"/>
              </a:rPr>
              <a:t>Three sign-ins</a:t>
            </a:r>
          </a:p>
        </p:txBody>
      </p:sp>
      <p:sp>
        <p:nvSpPr>
          <p:cNvPr id="4" name="">
            <a:extLst xmlns:a="http://schemas.openxmlformats.org/drawingml/2006/main">
              <a:ext uri="{FF2B5EF4-FFF2-40B4-BE49-F238E27FC236}">
                <a16:creationId xmlns:a16="http://schemas.microsoft.com/office/drawing/2014/main" id="{B5B41F15-1DCD-4952-BBFE-1A87588FE279}"/>
              </a:ext>
            </a:extLst>
          </p:cNvPr>
          <p:cNvSpPr>
            <a:spLocks xmlns:a="http://schemas.openxmlformats.org/drawingml/2006/main" noGrp="1"/>
          </p:cNvSpPr>
          <p:nvPr/>
        </p:nvSpPr>
        <p:spPr>
          <a:xfrm xmlns:a="http://schemas.openxmlformats.org/drawingml/2006/main">
            <a:off x="2447925" y="1600200"/>
            <a:ext cx="1714500" cy="400050"/>
          </a:xfrm>
          <a:prstGeom xmlns:a="http://schemas.openxmlformats.org/drawingml/2006/main" prst="roundRect">
            <a:avLst>
              <a:gd name="adj" fmla="val 19048"/>
            </a:avLst>
          </a:prstGeom>
          <a:solidFill xmlns:a="http://schemas.openxmlformats.org/drawingml/2006/main">
            <a:srgbClr val="E8F4F0"/>
          </a:solidFill>
          <a:ln xmlns:a="http://schemas.openxmlformats.org/drawingml/2006/main" w="0">
            <a:noFill/>
          </a:ln>
        </p:spPr>
      </p:sp>
      <p:sp>
        <p:nvSpPr>
          <p:cNvPr id="5" name="Patient sign-in">
            <a:extLst xmlns:a="http://schemas.openxmlformats.org/drawingml/2006/main">
              <a:ext uri="{FF2B5EF4-FFF2-40B4-BE49-F238E27FC236}">
                <a16:creationId xmlns:a16="http://schemas.microsoft.com/office/drawing/2014/main" id="{084141BC-6A04-4345-99E9-F114D8DBAA09}"/>
              </a:ext>
            </a:extLst>
          </p:cNvPr>
          <p:cNvSpPr>
            <a:spLocks xmlns:a="http://schemas.openxmlformats.org/drawingml/2006/main" noGrp="1"/>
          </p:cNvSpPr>
          <p:nvPr/>
        </p:nvSpPr>
        <p:spPr>
          <a:xfrm xmlns:a="http://schemas.openxmlformats.org/drawingml/2006/main">
            <a:off x="261937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Patient</a:t>
            </a:r>
          </a:p>
        </p:txBody>
      </p:sp>
      <p:sp>
        <p:nvSpPr>
          <p:cNvPr id="6" name="">
            <a:extLst xmlns:a="http://schemas.openxmlformats.org/drawingml/2006/main">
              <a:ext uri="{FF2B5EF4-FFF2-40B4-BE49-F238E27FC236}">
                <a16:creationId xmlns:a16="http://schemas.microsoft.com/office/drawing/2014/main" id="{04323820-7B53-4BED-B852-49AFE5D4A0E1}"/>
              </a:ext>
            </a:extLst>
          </p:cNvPr>
          <p:cNvSpPr>
            <a:spLocks xmlns:a="http://schemas.openxmlformats.org/drawingml/2006/main" noGrp="1"/>
          </p:cNvSpPr>
          <p:nvPr/>
        </p:nvSpPr>
        <p:spPr>
          <a:xfrm xmlns:a="http://schemas.openxmlformats.org/drawingml/2006/main">
            <a:off x="4400550" y="1600200"/>
            <a:ext cx="1714500" cy="400050"/>
          </a:xfrm>
          <a:prstGeom xmlns:a="http://schemas.openxmlformats.org/drawingml/2006/main" prst="roundRect">
            <a:avLst>
              <a:gd name="adj" fmla="val 19048"/>
            </a:avLst>
          </a:prstGeom>
          <a:solidFill xmlns:a="http://schemas.openxmlformats.org/drawingml/2006/main">
            <a:srgbClr val="EEE7FA"/>
          </a:solidFill>
          <a:ln xmlns:a="http://schemas.openxmlformats.org/drawingml/2006/main" w="0">
            <a:noFill/>
          </a:ln>
        </p:spPr>
      </p:sp>
      <p:sp>
        <p:nvSpPr>
          <p:cNvPr id="7" name="Family sign-in">
            <a:extLst xmlns:a="http://schemas.openxmlformats.org/drawingml/2006/main">
              <a:ext uri="{FF2B5EF4-FFF2-40B4-BE49-F238E27FC236}">
                <a16:creationId xmlns:a16="http://schemas.microsoft.com/office/drawing/2014/main" id="{7C15BF71-60BB-49C5-833D-7635F1410841}"/>
              </a:ext>
            </a:extLst>
          </p:cNvPr>
          <p:cNvSpPr>
            <a:spLocks xmlns:a="http://schemas.openxmlformats.org/drawingml/2006/main" noGrp="1"/>
          </p:cNvSpPr>
          <p:nvPr/>
        </p:nvSpPr>
        <p:spPr>
          <a:xfrm xmlns:a="http://schemas.openxmlformats.org/drawingml/2006/main">
            <a:off x="4572000"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Family</a:t>
            </a:r>
          </a:p>
        </p:txBody>
      </p:sp>
      <p:sp>
        <p:nvSpPr>
          <p:cNvPr id="8" name="">
            <a:extLst xmlns:a="http://schemas.openxmlformats.org/drawingml/2006/main">
              <a:ext uri="{FF2B5EF4-FFF2-40B4-BE49-F238E27FC236}">
                <a16:creationId xmlns:a16="http://schemas.microsoft.com/office/drawing/2014/main" id="{F422F39B-A120-483B-A632-E99A01BB6CA4}"/>
              </a:ext>
            </a:extLst>
          </p:cNvPr>
          <p:cNvSpPr>
            <a:spLocks xmlns:a="http://schemas.openxmlformats.org/drawingml/2006/main" noGrp="1"/>
          </p:cNvSpPr>
          <p:nvPr/>
        </p:nvSpPr>
        <p:spPr>
          <a:xfrm xmlns:a="http://schemas.openxmlformats.org/drawingml/2006/main">
            <a:off x="6353175" y="1600200"/>
            <a:ext cx="1714500" cy="400050"/>
          </a:xfrm>
          <a:prstGeom xmlns:a="http://schemas.openxmlformats.org/drawingml/2006/main" prst="roundRect">
            <a:avLst>
              <a:gd name="adj" fmla="val 19048"/>
            </a:avLst>
          </a:prstGeom>
          <a:solidFill xmlns:a="http://schemas.openxmlformats.org/drawingml/2006/main">
            <a:srgbClr val="FFF0C6"/>
          </a:solidFill>
          <a:ln xmlns:a="http://schemas.openxmlformats.org/drawingml/2006/main" w="0">
            <a:noFill/>
          </a:ln>
        </p:spPr>
      </p:sp>
      <p:sp>
        <p:nvSpPr>
          <p:cNvPr id="9" name="Doctor sign-in">
            <a:extLst xmlns:a="http://schemas.openxmlformats.org/drawingml/2006/main">
              <a:ext uri="{FF2B5EF4-FFF2-40B4-BE49-F238E27FC236}">
                <a16:creationId xmlns:a16="http://schemas.microsoft.com/office/drawing/2014/main" id="{03AE1D01-92AD-428C-8BC6-68E698CBC7EE}"/>
              </a:ext>
            </a:extLst>
          </p:cNvPr>
          <p:cNvSpPr>
            <a:spLocks xmlns:a="http://schemas.openxmlformats.org/drawingml/2006/main" noGrp="1"/>
          </p:cNvSpPr>
          <p:nvPr/>
        </p:nvSpPr>
        <p:spPr>
          <a:xfrm xmlns:a="http://schemas.openxmlformats.org/drawingml/2006/main">
            <a:off x="652462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Doctor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a262135d3ca4ea1"/>
          <a:stretch xmlns:a="http://schemas.openxmlformats.org/drawingml/2006/main"/>
        </p:blipFill>
        <p:spPr>
          <a:xfrm xmlns:a="http://schemas.openxmlformats.org/drawingml/2006/main">
            <a:off x="400050" y="2440867"/>
            <a:ext cx="8524875" cy="3738390"/>
          </a:xfrm>
          <a:prstGeom xmlns:a="http://schemas.openxmlformats.org/drawingml/2006/main" prst="rect">
            <a:avLst/>
          </a:prstGeom>
        </p:spPr>
      </p:pic>
      <p:sp>
        <p:nvSpPr>
          <p:cNvPr id="11" name="Daily need 1">
            <a:extLst xmlns:a="http://schemas.openxmlformats.org/drawingml/2006/main">
              <a:ext uri="{FF2B5EF4-FFF2-40B4-BE49-F238E27FC236}">
                <a16:creationId xmlns:a16="http://schemas.microsoft.com/office/drawing/2014/main" id="{AEDBEF9A-D588-4F2F-BC46-F31AC3230400}"/>
              </a:ext>
            </a:extLst>
          </p:cNvPr>
          <p:cNvSpPr>
            <a:spLocks xmlns:a="http://schemas.openxmlformats.org/drawingml/2006/main" noGrp="1"/>
          </p:cNvSpPr>
          <p:nvPr/>
        </p:nvSpPr>
        <p:spPr>
          <a:xfrm xmlns:a="http://schemas.openxmlformats.org/drawingml/2006/main">
            <a:off x="9182100" y="216217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Care Note and QR</a:t>
            </a:r>
          </a:p>
        </p:txBody>
      </p:sp>
      <p:sp>
        <p:nvSpPr>
          <p:cNvPr id="12" name="Daily need 1 detail">
            <a:extLst xmlns:a="http://schemas.openxmlformats.org/drawingml/2006/main">
              <a:ext uri="{FF2B5EF4-FFF2-40B4-BE49-F238E27FC236}">
                <a16:creationId xmlns:a16="http://schemas.microsoft.com/office/drawing/2014/main" id="{4070FEEF-5D41-41C8-A683-6CA63939481F}"/>
              </a:ext>
            </a:extLst>
          </p:cNvPr>
          <p:cNvSpPr>
            <a:spLocks xmlns:a="http://schemas.openxmlformats.org/drawingml/2006/main" noGrp="1"/>
          </p:cNvSpPr>
          <p:nvPr/>
        </p:nvSpPr>
        <p:spPr>
          <a:xfrm xmlns:a="http://schemas.openxmlformats.org/drawingml/2006/main">
            <a:off x="9182100" y="25336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Find the latest signed version and earlier notes.</a:t>
            </a:r>
          </a:p>
        </p:txBody>
      </p:sp>
      <p:sp>
        <p:nvSpPr>
          <p:cNvPr id="13" name="Daily need 2">
            <a:extLst xmlns:a="http://schemas.openxmlformats.org/drawingml/2006/main">
              <a:ext uri="{FF2B5EF4-FFF2-40B4-BE49-F238E27FC236}">
                <a16:creationId xmlns:a16="http://schemas.microsoft.com/office/drawing/2014/main" id="{9F4B831E-6ABF-4D89-900A-CFA84E43EF85}"/>
              </a:ext>
            </a:extLst>
          </p:cNvPr>
          <p:cNvSpPr>
            <a:spLocks xmlns:a="http://schemas.openxmlformats.org/drawingml/2006/main" noGrp="1"/>
          </p:cNvSpPr>
          <p:nvPr/>
        </p:nvSpPr>
        <p:spPr>
          <a:xfrm xmlns:a="http://schemas.openxmlformats.org/drawingml/2006/main">
            <a:off x="9182100" y="32385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Today’s plan</a:t>
            </a:r>
          </a:p>
        </p:txBody>
      </p:sp>
      <p:sp>
        <p:nvSpPr>
          <p:cNvPr id="14" name="Daily need 2 detail">
            <a:extLst xmlns:a="http://schemas.openxmlformats.org/drawingml/2006/main">
              <a:ext uri="{FF2B5EF4-FFF2-40B4-BE49-F238E27FC236}">
                <a16:creationId xmlns:a16="http://schemas.microsoft.com/office/drawing/2014/main" id="{CB48A58C-AC66-469D-943A-B13D088BAED6}"/>
              </a:ext>
            </a:extLst>
          </p:cNvPr>
          <p:cNvSpPr>
            <a:spLocks xmlns:a="http://schemas.openxmlformats.org/drawingml/2006/main" noGrp="1"/>
          </p:cNvSpPr>
          <p:nvPr/>
        </p:nvSpPr>
        <p:spPr>
          <a:xfrm xmlns:a="http://schemas.openxmlformats.org/drawingml/2006/main">
            <a:off x="9182100" y="360997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See medicine times, appointments and preparation notes.</a:t>
            </a:r>
          </a:p>
        </p:txBody>
      </p:sp>
      <p:sp>
        <p:nvSpPr>
          <p:cNvPr id="15" name="Daily need 3">
            <a:extLst xmlns:a="http://schemas.openxmlformats.org/drawingml/2006/main">
              <a:ext uri="{FF2B5EF4-FFF2-40B4-BE49-F238E27FC236}">
                <a16:creationId xmlns:a16="http://schemas.microsoft.com/office/drawing/2014/main" id="{12B8D093-EC9E-4D45-9650-3DDA59032AAF}"/>
              </a:ext>
            </a:extLst>
          </p:cNvPr>
          <p:cNvSpPr>
            <a:spLocks xmlns:a="http://schemas.openxmlformats.org/drawingml/2006/main" noGrp="1"/>
          </p:cNvSpPr>
          <p:nvPr/>
        </p:nvSpPr>
        <p:spPr>
          <a:xfrm xmlns:a="http://schemas.openxmlformats.org/drawingml/2006/main">
            <a:off x="9182100" y="431482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Someone to help</a:t>
            </a:r>
          </a:p>
        </p:txBody>
      </p:sp>
      <p:sp>
        <p:nvSpPr>
          <p:cNvPr id="16" name="Daily need 3 detail">
            <a:extLst xmlns:a="http://schemas.openxmlformats.org/drawingml/2006/main">
              <a:ext uri="{FF2B5EF4-FFF2-40B4-BE49-F238E27FC236}">
                <a16:creationId xmlns:a16="http://schemas.microsoft.com/office/drawing/2014/main" id="{097596B7-72E3-4F24-8CEC-FEA0343433E4}"/>
              </a:ext>
            </a:extLst>
          </p:cNvPr>
          <p:cNvSpPr>
            <a:spLocks xmlns:a="http://schemas.openxmlformats.org/drawingml/2006/main" noGrp="1"/>
          </p:cNvSpPr>
          <p:nvPr/>
        </p:nvSpPr>
        <p:spPr>
          <a:xfrm xmlns:a="http://schemas.openxmlformats.org/drawingml/2006/main">
            <a:off x="9182100" y="46863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Ask someone in the family to help. See who has agreed and what is done.</a:t>
            </a:r>
          </a:p>
        </p:txBody>
      </p:sp>
      <p:sp>
        <p:nvSpPr>
          <p:cNvPr id="17" name="Daily need 4">
            <a:extLst xmlns:a="http://schemas.openxmlformats.org/drawingml/2006/main">
              <a:ext uri="{FF2B5EF4-FFF2-40B4-BE49-F238E27FC236}">
                <a16:creationId xmlns:a16="http://schemas.microsoft.com/office/drawing/2014/main" id="{145CA51F-1AFF-4386-897A-4495290578B1}"/>
              </a:ext>
            </a:extLst>
          </p:cNvPr>
          <p:cNvSpPr>
            <a:spLocks xmlns:a="http://schemas.openxmlformats.org/drawingml/2006/main" noGrp="1"/>
          </p:cNvSpPr>
          <p:nvPr/>
        </p:nvSpPr>
        <p:spPr>
          <a:xfrm xmlns:a="http://schemas.openxmlformats.org/drawingml/2006/main">
            <a:off x="9182100" y="539115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Space and support</a:t>
            </a:r>
          </a:p>
        </p:txBody>
      </p:sp>
      <p:sp>
        <p:nvSpPr>
          <p:cNvPr id="18" name="Daily need 4 detail">
            <a:extLst xmlns:a="http://schemas.openxmlformats.org/drawingml/2006/main">
              <a:ext uri="{FF2B5EF4-FFF2-40B4-BE49-F238E27FC236}">
                <a16:creationId xmlns:a16="http://schemas.microsoft.com/office/drawing/2014/main" id="{6DA3E26B-8C70-4B58-B796-98FC91BA6DCF}"/>
              </a:ext>
            </a:extLst>
          </p:cNvPr>
          <p:cNvSpPr>
            <a:spLocks xmlns:a="http://schemas.openxmlformats.org/drawingml/2006/main" noGrp="1"/>
          </p:cNvSpPr>
          <p:nvPr/>
        </p:nvSpPr>
        <p:spPr>
          <a:xfrm xmlns:a="http://schemas.openxmlformats.org/drawingml/2006/main">
            <a:off x="9182100" y="576262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5683"/>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Keep a journal and questions. Find best supportive care and support groups.</a:t>
            </a:r>
          </a:p>
        </p:txBody>
      </p:sp>
    </p:spTree>
    <p:extLst>
      <p:ext uri="{BB962C8B-B14F-4D97-AF65-F5344CB8AC3E}">
        <p14:creationId xmlns:p14="http://schemas.microsoft.com/office/powerpoint/2010/main" val="221085739"/>
      </p:ext>
    </p:extLst>
  </p:cSld>
</p:sld>
</file>

<file path=ppt/slides/slide7.xml><?xml version="1.0" encoding="utf-8"?>
<p:sld xmlns:p="http://schemas.openxmlformats.org/presentationml/2006/main">
  <p:cSld>
    <p:bg>
      <p:bgPr>
        <a:solidFill xmlns:a="http://schemas.openxmlformats.org/drawingml/2006/main">
          <a:srgbClr val="EFE8F8"/>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D86C894D-19E5-47BB-89DF-DC8CD7AF9673}"/>
              </a:ext>
            </a:extLst>
          </p:cNvPr>
          <p:cNvSpPr>
            <a:spLocks xmlns:a="http://schemas.openxmlformats.org/drawingml/2006/main" noGrp="1"/>
          </p:cNvSpPr>
          <p:nvPr/>
        </p:nvSpPr>
        <p:spPr>
          <a:xfrm xmlns:a="http://schemas.openxmlformats.org/drawingml/2006/main">
            <a:off x="533400" y="361950"/>
            <a:ext cx="11125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Does Saath help more care conversations happen?</a:t>
            </a:r>
          </a:p>
        </p:txBody>
      </p:sp>
      <p:sp>
        <p:nvSpPr>
          <p:cNvPr id="2" name="Trial design">
            <a:extLst xmlns:a="http://schemas.openxmlformats.org/drawingml/2006/main">
              <a:ext uri="{FF2B5EF4-FFF2-40B4-BE49-F238E27FC236}">
                <a16:creationId xmlns:a16="http://schemas.microsoft.com/office/drawing/2014/main" id="{0192505D-C053-4359-838D-1D5569690DE5}"/>
              </a:ext>
            </a:extLst>
          </p:cNvPr>
          <p:cNvSpPr>
            <a:spLocks xmlns:a="http://schemas.openxmlformats.org/drawingml/2006/main" noGrp="1"/>
          </p:cNvSpPr>
          <p:nvPr/>
        </p:nvSpPr>
        <p:spPr>
          <a:xfrm xmlns:a="http://schemas.openxmlformats.org/drawingml/2006/main">
            <a:off x="533400" y="13906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We propose a 60–90 day study in a clinic, comparing care conversations before and after Saath.</a:t>
            </a:r>
          </a:p>
        </p:txBody>
      </p:sp>
      <p:sp>
        <p:nvSpPr>
          <p:cNvPr id="3" name="Primary measure 1">
            <a:extLst xmlns:a="http://schemas.openxmlformats.org/drawingml/2006/main">
              <a:ext uri="{FF2B5EF4-FFF2-40B4-BE49-F238E27FC236}">
                <a16:creationId xmlns:a16="http://schemas.microsoft.com/office/drawing/2014/main" id="{4F512540-D328-4828-BD66-728124AC6681}"/>
              </a:ext>
            </a:extLst>
          </p:cNvPr>
          <p:cNvSpPr>
            <a:spLocks xmlns:a="http://schemas.openxmlformats.org/drawingml/2006/main" noGrp="1"/>
          </p:cNvSpPr>
          <p:nvPr/>
        </p:nvSpPr>
        <p:spPr>
          <a:xfrm xmlns:a="http://schemas.openxmlformats.org/drawingml/2006/main">
            <a:off x="5334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B75E43"/>
                </a:solidFill>
                <a:latin typeface="Arial"/>
                <a:ea typeface="Arial"/>
                <a:cs typeface="Arial"/>
              </a:defRPr>
            </a:pPr>
            <a:r>
              <a:rPr sz="2175" b="1">
                <a:solidFill>
                  <a:srgbClr val="B75E43"/>
                </a:solidFill>
                <a:latin typeface="Arial"/>
                <a:ea typeface="Arial"/>
                <a:cs typeface="Arial"/>
              </a:rPr>
              <a:t>Patient requests</a:t>
            </a:r>
          </a:p>
        </p:txBody>
      </p:sp>
      <p:sp>
        <p:nvSpPr>
          <p:cNvPr id="4" name="Primary measure 1 detail">
            <a:extLst xmlns:a="http://schemas.openxmlformats.org/drawingml/2006/main">
              <a:ext uri="{FF2B5EF4-FFF2-40B4-BE49-F238E27FC236}">
                <a16:creationId xmlns:a16="http://schemas.microsoft.com/office/drawing/2014/main" id="{308C9582-E185-4B3C-A066-FA3E7A56F10D}"/>
              </a:ext>
            </a:extLst>
          </p:cNvPr>
          <p:cNvSpPr>
            <a:spLocks xmlns:a="http://schemas.openxmlformats.org/drawingml/2006/main" noGrp="1"/>
          </p:cNvSpPr>
          <p:nvPr/>
        </p:nvSpPr>
        <p:spPr>
          <a:xfrm xmlns:a="http://schemas.openxmlformats.org/drawingml/2006/main">
            <a:off x="5334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patients who ask for a conversation about their care and wishes. Record family requests separately.</a:t>
            </a:r>
          </a:p>
        </p:txBody>
      </p:sp>
      <p:sp>
        <p:nvSpPr>
          <p:cNvPr id="5" name="Primary measure 2">
            <a:extLst xmlns:a="http://schemas.openxmlformats.org/drawingml/2006/main">
              <a:ext uri="{FF2B5EF4-FFF2-40B4-BE49-F238E27FC236}">
                <a16:creationId xmlns:a16="http://schemas.microsoft.com/office/drawing/2014/main" id="{607FFD89-CD7A-4D3E-8AFB-2DF296874EC9}"/>
              </a:ext>
            </a:extLst>
          </p:cNvPr>
          <p:cNvSpPr>
            <a:spLocks xmlns:a="http://schemas.openxmlformats.org/drawingml/2006/main" noGrp="1"/>
          </p:cNvSpPr>
          <p:nvPr/>
        </p:nvSpPr>
        <p:spPr>
          <a:xfrm xmlns:a="http://schemas.openxmlformats.org/drawingml/2006/main">
            <a:off x="436245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7353AC"/>
                </a:solidFill>
                <a:latin typeface="Arial"/>
                <a:ea typeface="Arial"/>
                <a:cs typeface="Arial"/>
              </a:defRPr>
            </a:pPr>
            <a:r>
              <a:rPr sz="2175" b="1">
                <a:solidFill>
                  <a:srgbClr val="7353AC"/>
                </a:solidFill>
                <a:latin typeface="Arial"/>
                <a:ea typeface="Arial"/>
                <a:cs typeface="Arial"/>
              </a:rPr>
              <a:t>Doctor-started discussions</a:t>
            </a:r>
          </a:p>
        </p:txBody>
      </p:sp>
      <p:sp>
        <p:nvSpPr>
          <p:cNvPr id="6" name="Primary measure 2 detail">
            <a:extLst xmlns:a="http://schemas.openxmlformats.org/drawingml/2006/main">
              <a:ext uri="{FF2B5EF4-FFF2-40B4-BE49-F238E27FC236}">
                <a16:creationId xmlns:a16="http://schemas.microsoft.com/office/drawing/2014/main" id="{8CF233CE-22AA-479B-9936-39E6458AAFAF}"/>
              </a:ext>
            </a:extLst>
          </p:cNvPr>
          <p:cNvSpPr>
            <a:spLocks xmlns:a="http://schemas.openxmlformats.org/drawingml/2006/main" noGrp="1"/>
          </p:cNvSpPr>
          <p:nvPr/>
        </p:nvSpPr>
        <p:spPr>
          <a:xfrm xmlns:a="http://schemas.openxmlformats.org/drawingml/2006/main">
            <a:off x="436245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a doctor starts. Keep these separate from invitations that did not lead to a conversation.</a:t>
            </a:r>
          </a:p>
        </p:txBody>
      </p:sp>
      <p:sp>
        <p:nvSpPr>
          <p:cNvPr id="7" name="Primary measure 3">
            <a:extLst xmlns:a="http://schemas.openxmlformats.org/drawingml/2006/main">
              <a:ext uri="{FF2B5EF4-FFF2-40B4-BE49-F238E27FC236}">
                <a16:creationId xmlns:a16="http://schemas.microsoft.com/office/drawing/2014/main" id="{8B80B7B5-BC07-4069-8A3E-1AD807E34ABE}"/>
              </a:ext>
            </a:extLst>
          </p:cNvPr>
          <p:cNvSpPr>
            <a:spLocks xmlns:a="http://schemas.openxmlformats.org/drawingml/2006/main" noGrp="1"/>
          </p:cNvSpPr>
          <p:nvPr/>
        </p:nvSpPr>
        <p:spPr>
          <a:xfrm xmlns:a="http://schemas.openxmlformats.org/drawingml/2006/main">
            <a:off x="81915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157B68"/>
                </a:solidFill>
                <a:latin typeface="Arial"/>
                <a:ea typeface="Arial"/>
                <a:cs typeface="Arial"/>
              </a:defRPr>
            </a:pPr>
            <a:r>
              <a:rPr sz="2175" b="1">
                <a:solidFill>
                  <a:srgbClr val="157B68"/>
                </a:solidFill>
                <a:latin typeface="Arial"/>
                <a:ea typeface="Arial"/>
                <a:cs typeface="Arial"/>
              </a:rPr>
              <a:t>Conversations written down</a:t>
            </a:r>
          </a:p>
        </p:txBody>
      </p:sp>
      <p:sp>
        <p:nvSpPr>
          <p:cNvPr id="8" name="Primary measure 3 detail">
            <a:extLst xmlns:a="http://schemas.openxmlformats.org/drawingml/2006/main">
              <a:ext uri="{FF2B5EF4-FFF2-40B4-BE49-F238E27FC236}">
                <a16:creationId xmlns:a16="http://schemas.microsoft.com/office/drawing/2014/main" id="{9E216055-91AC-480D-8AB4-120354DA833C}"/>
              </a:ext>
            </a:extLst>
          </p:cNvPr>
          <p:cNvSpPr>
            <a:spLocks xmlns:a="http://schemas.openxmlformats.org/drawingml/2006/main" noGrp="1"/>
          </p:cNvSpPr>
          <p:nvPr/>
        </p:nvSpPr>
        <p:spPr>
          <a:xfrm xmlns:a="http://schemas.openxmlformats.org/drawingml/2006/main">
            <a:off x="81915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with a saved Care Note. Record how many the doctor has checked and signed.</a:t>
            </a:r>
          </a:p>
        </p:txBody>
      </p:sp>
      <p:sp>
        <p:nvSpPr>
          <p:cNvPr id="9" name="">
            <a:extLst xmlns:a="http://schemas.openxmlformats.org/drawingml/2006/main">
              <a:ext uri="{FF2B5EF4-FFF2-40B4-BE49-F238E27FC236}">
                <a16:creationId xmlns:a16="http://schemas.microsoft.com/office/drawing/2014/main" id="{54B2477B-1EDF-4C48-84F7-6CE76643E8CB}"/>
              </a:ext>
            </a:extLst>
          </p:cNvPr>
          <p:cNvSpPr>
            <a:spLocks xmlns:a="http://schemas.openxmlformats.org/drawingml/2006/main" noGrp="1"/>
          </p:cNvSpPr>
          <p:nvPr/>
        </p:nvSpPr>
        <p:spPr>
          <a:xfrm xmlns:a="http://schemas.openxmlformats.org/drawingml/2006/main">
            <a:off x="533400" y="4781550"/>
            <a:ext cx="11125200" cy="0"/>
          </a:xfrm>
          <a:prstGeom xmlns:a="http://schemas.openxmlformats.org/drawingml/2006/main" prst="line">
            <a:avLst/>
          </a:prstGeom>
          <a:ln xmlns:a="http://schemas.openxmlformats.org/drawingml/2006/main" w="9525">
            <a:solidFill>
              <a:srgbClr val="D9D4C7"/>
            </a:solidFill>
          </a:ln>
        </p:spPr>
      </p:sp>
      <p:sp>
        <p:nvSpPr>
          <p:cNvPr id="10" name="Comparison">
            <a:extLst xmlns:a="http://schemas.openxmlformats.org/drawingml/2006/main">
              <a:ext uri="{FF2B5EF4-FFF2-40B4-BE49-F238E27FC236}">
                <a16:creationId xmlns:a16="http://schemas.microsoft.com/office/drawing/2014/main" id="{0A793D13-E439-4BD8-9F7A-52A0E8650B2C}"/>
              </a:ext>
            </a:extLst>
          </p:cNvPr>
          <p:cNvSpPr>
            <a:spLocks xmlns:a="http://schemas.openxmlformats.org/drawingml/2006/main" noGrp="1"/>
          </p:cNvSpPr>
          <p:nvPr/>
        </p:nvSpPr>
        <p:spPr>
          <a:xfrm xmlns:a="http://schemas.openxmlformats.org/drawingml/2006/main">
            <a:off x="533400" y="5076825"/>
            <a:ext cx="283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75" b="1">
                <a:solidFill>
                  <a:srgbClr val="173F33"/>
                </a:solidFill>
                <a:latin typeface="Arial"/>
                <a:ea typeface="Arial"/>
                <a:cs typeface="Arial"/>
              </a:defRPr>
            </a:pPr>
            <a:r>
              <a:rPr sz="2475" b="1">
                <a:solidFill>
                  <a:srgbClr val="173F33"/>
                </a:solidFill>
                <a:latin typeface="Arial"/>
                <a:ea typeface="Arial"/>
                <a:cs typeface="Arial"/>
              </a:rPr>
              <a:t>Before vs after</a:t>
            </a:r>
          </a:p>
        </p:txBody>
      </p:sp>
      <p:sp>
        <p:nvSpPr>
          <p:cNvPr id="11" name="Primary outcome definition">
            <a:extLst xmlns:a="http://schemas.openxmlformats.org/drawingml/2006/main">
              <a:ext uri="{FF2B5EF4-FFF2-40B4-BE49-F238E27FC236}">
                <a16:creationId xmlns:a16="http://schemas.microsoft.com/office/drawing/2014/main" id="{79FFD2FB-ED9C-431C-9D50-2C50E3637E1E}"/>
              </a:ext>
            </a:extLst>
          </p:cNvPr>
          <p:cNvSpPr>
            <a:spLocks xmlns:a="http://schemas.openxmlformats.org/drawingml/2006/main" noGrp="1"/>
          </p:cNvSpPr>
          <p:nvPr/>
        </p:nvSpPr>
        <p:spPr>
          <a:xfrm xmlns:a="http://schemas.openxmlformats.org/drawingml/2006/main">
            <a:off x="3686175" y="5076825"/>
            <a:ext cx="79724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Patients whose care discussion was written down ÷ all patients who fit the study’s agreed rules</a:t>
            </a:r>
          </a:p>
        </p:txBody>
      </p:sp>
      <p:sp>
        <p:nvSpPr>
          <p:cNvPr id="12" name="Additional measures">
            <a:extLst xmlns:a="http://schemas.openxmlformats.org/drawingml/2006/main">
              <a:ext uri="{FF2B5EF4-FFF2-40B4-BE49-F238E27FC236}">
                <a16:creationId xmlns:a16="http://schemas.microsoft.com/office/drawing/2014/main" id="{F033BD46-493C-4BD9-960B-0F544082DD62}"/>
              </a:ext>
            </a:extLst>
          </p:cNvPr>
          <p:cNvSpPr>
            <a:spLocks xmlns:a="http://schemas.openxmlformats.org/drawingml/2006/main" noGrp="1"/>
          </p:cNvSpPr>
          <p:nvPr/>
        </p:nvSpPr>
        <p:spPr>
          <a:xfrm xmlns:a="http://schemas.openxmlformats.org/drawingml/2006/main">
            <a:off x="533400" y="592455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Also measure how long the work takes, what details were missed and whether doctors have more work.</a:t>
            </a:r>
          </a:p>
        </p:txBody>
      </p:sp>
      <p:sp>
        <p:nvSpPr>
          <p:cNvPr id="13" name="Implementation status">
            <a:extLst xmlns:a="http://schemas.openxmlformats.org/drawingml/2006/main">
              <a:ext uri="{FF2B5EF4-FFF2-40B4-BE49-F238E27FC236}">
                <a16:creationId xmlns:a16="http://schemas.microsoft.com/office/drawing/2014/main" id="{FBD2A994-8330-4885-B5C7-A9F5B155F0DD}"/>
              </a:ext>
            </a:extLst>
          </p:cNvPr>
          <p:cNvSpPr>
            <a:spLocks xmlns:a="http://schemas.openxmlformats.org/drawingml/2006/main" noGrp="1"/>
          </p:cNvSpPr>
          <p:nvPr/>
        </p:nvSpPr>
        <p:spPr>
          <a:xfrm xmlns:a="http://schemas.openxmlformats.org/drawingml/2006/main">
            <a:off x="533400" y="65341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The linked app shows the workflow. AI, verified sign-in and sharing between phones still need connecting.</a:t>
            </a:r>
          </a:p>
        </p:txBody>
      </p:sp>
    </p:spTree>
    <p:extLst>
      <p:ext uri="{BB962C8B-B14F-4D97-AF65-F5344CB8AC3E}">
        <p14:creationId xmlns:p14="http://schemas.microsoft.com/office/powerpoint/2010/main" val="1410585306"/>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9" name="References title">
            <a:extLst xmlns:a="http://schemas.openxmlformats.org/drawingml/2006/main">
              <a:ext uri="{FF2B5EF4-FFF2-40B4-BE49-F238E27FC236}">
                <a16:creationId xmlns:a16="http://schemas.microsoft.com/office/drawing/2014/main" id="{DEF119BE-84F6-4C92-A8B3-E479A509E28E}"/>
              </a:ext>
            </a:extLst>
          </p:cNvPr>
          <p:cNvSpPr>
            <a:spLocks xmlns:a="http://schemas.openxmlformats.org/drawingml/2006/main" noGrp="1"/>
          </p:cNvSpPr>
          <p:nvPr/>
        </p:nvSpPr>
        <p:spPr>
          <a:xfrm xmlns:a="http://schemas.openxmlformats.org/drawingml/2006/main">
            <a:off x="533400" y="3429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References</a:t>
            </a:r>
          </a:p>
        </p:txBody>
      </p:sp>
      <p:sp>
        <p:nvSpPr>
          <p:cNvPr id="2" name="Reference 1 author">
            <a:extLst xmlns:a="http://schemas.openxmlformats.org/drawingml/2006/main">
              <a:ext uri="{FF2B5EF4-FFF2-40B4-BE49-F238E27FC236}">
                <a16:creationId xmlns:a16="http://schemas.microsoft.com/office/drawing/2014/main" id="{284502BB-3C6D-4053-8A96-690F2AF042E2}"/>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3" name="Reference 1 title">
            <a:extLst xmlns:a="http://schemas.openxmlformats.org/drawingml/2006/main">
              <a:ext uri="{FF2B5EF4-FFF2-40B4-BE49-F238E27FC236}">
                <a16:creationId xmlns:a16="http://schemas.microsoft.com/office/drawing/2014/main" id="{BBAE1778-8699-438C-9CF0-0A9769FA8083}"/>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79f8256049024aa0"/>
              </a:rPr>
              <a:t>India — GLOBOCAN 2024 Fact Sheet</a:t>
            </a:r>
          </a:p>
        </p:txBody>
      </p:sp>
      <p:sp>
        <p:nvSpPr>
          <p:cNvPr id="4" name="Reference 1 link">
            <a:extLst xmlns:a="http://schemas.openxmlformats.org/drawingml/2006/main">
              <a:ext uri="{FF2B5EF4-FFF2-40B4-BE49-F238E27FC236}">
                <a16:creationId xmlns:a16="http://schemas.microsoft.com/office/drawing/2014/main" id="{4037C518-3564-4E2A-93D6-30A9D60DACE0}"/>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5b4f08966458499d"/>
              </a:rPr>
              <a:t>https://gco.iarc.who.int/media/globocan/factsheets/populations/356-india-fact-sheet.pdf</a:t>
            </a:r>
          </a:p>
        </p:txBody>
      </p:sp>
      <p:sp>
        <p:nvSpPr>
          <p:cNvPr id="5" name="Reference 2 author">
            <a:extLst xmlns:a="http://schemas.openxmlformats.org/drawingml/2006/main">
              <a:ext uri="{FF2B5EF4-FFF2-40B4-BE49-F238E27FC236}">
                <a16:creationId xmlns:a16="http://schemas.microsoft.com/office/drawing/2014/main" id="{93402094-1F2C-4261-AB5B-BE4DE4E1CF4B}"/>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6" name="Reference 2 title">
            <a:extLst xmlns:a="http://schemas.openxmlformats.org/drawingml/2006/main">
              <a:ext uri="{FF2B5EF4-FFF2-40B4-BE49-F238E27FC236}">
                <a16:creationId xmlns:a16="http://schemas.microsoft.com/office/drawing/2014/main" id="{AF57EF63-41DA-4D66-8360-BC4D0336738A}"/>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11c1a2b97fc4967"/>
              </a:rPr>
              <a:t>Unmet need for cancer palliative care in India</a:t>
            </a:r>
          </a:p>
        </p:txBody>
      </p:sp>
      <p:sp>
        <p:nvSpPr>
          <p:cNvPr id="7" name="Reference 2 link">
            <a:extLst xmlns:a="http://schemas.openxmlformats.org/drawingml/2006/main">
              <a:ext uri="{FF2B5EF4-FFF2-40B4-BE49-F238E27FC236}">
                <a16:creationId xmlns:a16="http://schemas.microsoft.com/office/drawing/2014/main" id="{D492FBF1-A10E-4FE8-86AA-78C0FDEB9F66}"/>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71cb7945bfc40c1"/>
              </a:rPr>
              <a:t>https://doi.org/10.1136/spcare-2024-004978</a:t>
            </a:r>
          </a:p>
        </p:txBody>
      </p:sp>
      <p:sp>
        <p:nvSpPr>
          <p:cNvPr id="8" name="Reference 3 author">
            <a:extLst xmlns:a="http://schemas.openxmlformats.org/drawingml/2006/main">
              <a:ext uri="{FF2B5EF4-FFF2-40B4-BE49-F238E27FC236}">
                <a16:creationId xmlns:a16="http://schemas.microsoft.com/office/drawing/2014/main" id="{4533B8AC-80E4-4691-8873-F702557D41B2}"/>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9" name="Reference 3 title">
            <a:extLst xmlns:a="http://schemas.openxmlformats.org/drawingml/2006/main">
              <a:ext uri="{FF2B5EF4-FFF2-40B4-BE49-F238E27FC236}">
                <a16:creationId xmlns:a16="http://schemas.microsoft.com/office/drawing/2014/main" id="{8822607D-D7DC-4E2F-B0CB-82612E590BD0}"/>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0ddde95021ba451b"/>
              </a:rPr>
              <a:t>Early Goal of Care Discussions in Healthcare: A Survey Case Report on Benefits and Perceptions</a:t>
            </a:r>
          </a:p>
        </p:txBody>
      </p:sp>
      <p:sp>
        <p:nvSpPr>
          <p:cNvPr id="10" name="Reference 3 link">
            <a:extLst xmlns:a="http://schemas.openxmlformats.org/drawingml/2006/main">
              <a:ext uri="{FF2B5EF4-FFF2-40B4-BE49-F238E27FC236}">
                <a16:creationId xmlns:a16="http://schemas.microsoft.com/office/drawing/2014/main" id="{851BD8A4-A733-4A96-87EA-B346F08701D0}"/>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4a14dc9ebaa40c9"/>
              </a:rPr>
              <a:t>https://doi.org/10.1016/j.jpainsymman.2024.02.030</a:t>
            </a:r>
          </a:p>
        </p:txBody>
      </p:sp>
      <p:sp>
        <p:nvSpPr>
          <p:cNvPr id="11" name="Reference 4 author">
            <a:extLst xmlns:a="http://schemas.openxmlformats.org/drawingml/2006/main">
              <a:ext uri="{FF2B5EF4-FFF2-40B4-BE49-F238E27FC236}">
                <a16:creationId xmlns:a16="http://schemas.microsoft.com/office/drawing/2014/main" id="{193E4D0C-F441-4AEB-B750-1DAD4C660EE0}"/>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2" name="Reference 4 title">
            <a:extLst xmlns:a="http://schemas.openxmlformats.org/drawingml/2006/main">
              <a:ext uri="{FF2B5EF4-FFF2-40B4-BE49-F238E27FC236}">
                <a16:creationId xmlns:a16="http://schemas.microsoft.com/office/drawing/2014/main" id="{05D8D517-79C8-4961-AA86-B500CC0A2074}"/>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33452ff56c774da2"/>
              </a:rPr>
              <a:t>Initiating and Documenting Goals of Care Discussion in Patients with Advanced Pancreatic and Colorectal Cancers: A Quality Improvement Project in a Low Resource Setting</a:t>
            </a:r>
          </a:p>
        </p:txBody>
      </p:sp>
      <p:sp>
        <p:nvSpPr>
          <p:cNvPr id="13" name="Reference 4 link">
            <a:extLst xmlns:a="http://schemas.openxmlformats.org/drawingml/2006/main">
              <a:ext uri="{FF2B5EF4-FFF2-40B4-BE49-F238E27FC236}">
                <a16:creationId xmlns:a16="http://schemas.microsoft.com/office/drawing/2014/main" id="{B76DD443-6B3D-4AEC-81B2-EB8303246507}"/>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068b77f679994ca2"/>
              </a:rPr>
              <a:t>https://doi.org/10.1177/26892820251392545</a:t>
            </a:r>
          </a:p>
        </p:txBody>
      </p:sp>
      <p:sp>
        <p:nvSpPr>
          <p:cNvPr id="14" name="Reference 5 author">
            <a:extLst xmlns:a="http://schemas.openxmlformats.org/drawingml/2006/main">
              <a:ext uri="{FF2B5EF4-FFF2-40B4-BE49-F238E27FC236}">
                <a16:creationId xmlns:a16="http://schemas.microsoft.com/office/drawing/2014/main" id="{700241B7-8DF2-42D8-B90E-60E074DAF024}"/>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5" name="Reference 5 title">
            <a:extLst xmlns:a="http://schemas.openxmlformats.org/drawingml/2006/main">
              <a:ext uri="{FF2B5EF4-FFF2-40B4-BE49-F238E27FC236}">
                <a16:creationId xmlns:a16="http://schemas.microsoft.com/office/drawing/2014/main" id="{9AA9DA8C-DFD3-471E-ABD5-217D37BCBA55}"/>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698d4386de24910"/>
              </a:rPr>
              <a:t>73% urban Indians do not know about their right to make a living will, finds a survey</a:t>
            </a:r>
          </a:p>
        </p:txBody>
      </p:sp>
      <p:sp>
        <p:nvSpPr>
          <p:cNvPr id="16" name="Reference 5 link">
            <a:extLst xmlns:a="http://schemas.openxmlformats.org/drawingml/2006/main">
              <a:ext uri="{FF2B5EF4-FFF2-40B4-BE49-F238E27FC236}">
                <a16:creationId xmlns:a16="http://schemas.microsoft.com/office/drawing/2014/main" id="{41A8775C-71CD-4800-8881-31A74CBD4461}"/>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849c5029fc304705"/>
              </a:rPr>
              <a:t>https://scroll.in/article/925875/73-urban-indians-do-not-know-about-their-right-to-make-a-living-will-finds-a-survey</a:t>
            </a:r>
          </a:p>
        </p:txBody>
      </p:sp>
      <p:sp>
        <p:nvSpPr>
          <p:cNvPr id="17" name="Reference 6 author">
            <a:extLst xmlns:a="http://schemas.openxmlformats.org/drawingml/2006/main">
              <a:ext uri="{FF2B5EF4-FFF2-40B4-BE49-F238E27FC236}">
                <a16:creationId xmlns:a16="http://schemas.microsoft.com/office/drawing/2014/main" id="{17261F86-962B-44B2-9D0A-B50856C0692E}"/>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18" name="Reference 6 title">
            <a:extLst xmlns:a="http://schemas.openxmlformats.org/drawingml/2006/main">
              <a:ext uri="{FF2B5EF4-FFF2-40B4-BE49-F238E27FC236}">
                <a16:creationId xmlns:a16="http://schemas.microsoft.com/office/drawing/2014/main" id="{243F40B1-CAA4-4158-B7CF-A55326B29647}"/>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48992252ad5842b4"/>
              </a:rPr>
              <a:t>Knowledge and attitude towards advance directives for patients with terminal illnesses among doctors working in a tertiary care hospital</a:t>
            </a:r>
          </a:p>
        </p:txBody>
      </p:sp>
      <p:sp>
        <p:nvSpPr>
          <p:cNvPr id="19" name="Reference 6 link">
            <a:extLst xmlns:a="http://schemas.openxmlformats.org/drawingml/2006/main">
              <a:ext uri="{FF2B5EF4-FFF2-40B4-BE49-F238E27FC236}">
                <a16:creationId xmlns:a16="http://schemas.microsoft.com/office/drawing/2014/main" id="{C6A5B753-A3A7-4039-8221-AC7E9C633D34}"/>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f82f8bc97ce54be6"/>
              </a:rPr>
              <a:t>https://doi.org/10.25259/NMJI_817_2023</a:t>
            </a:r>
          </a:p>
        </p:txBody>
      </p:sp>
      <p:sp>
        <p:nvSpPr>
          <p:cNvPr id="20" name="Reference 7 author">
            <a:extLst xmlns:a="http://schemas.openxmlformats.org/drawingml/2006/main">
              <a:ext uri="{FF2B5EF4-FFF2-40B4-BE49-F238E27FC236}">
                <a16:creationId xmlns:a16="http://schemas.microsoft.com/office/drawing/2014/main" id="{FB8FEF9D-3173-4FED-A484-7EFF807894B5}"/>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1" name="Reference 7 title">
            <a:extLst xmlns:a="http://schemas.openxmlformats.org/drawingml/2006/main">
              <a:ext uri="{FF2B5EF4-FFF2-40B4-BE49-F238E27FC236}">
                <a16:creationId xmlns:a16="http://schemas.microsoft.com/office/drawing/2014/main" id="{6477FD24-73A1-4865-9E79-C59E4DD20EA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d4eb99f16bb4bee"/>
              </a:rPr>
              <a:t>Barriers and Facilitators to Advance Care Planning Implementation for Patients with Neurodegenerative Diseases among Indian Physicians: A Mixed-Methods Analysis</a:t>
            </a:r>
          </a:p>
        </p:txBody>
      </p:sp>
      <p:sp>
        <p:nvSpPr>
          <p:cNvPr id="22" name="Reference 7 link">
            <a:extLst xmlns:a="http://schemas.openxmlformats.org/drawingml/2006/main">
              <a:ext uri="{FF2B5EF4-FFF2-40B4-BE49-F238E27FC236}">
                <a16:creationId xmlns:a16="http://schemas.microsoft.com/office/drawing/2014/main" id="{010879F6-1AD4-4A2E-853D-A397EBDC14B0}"/>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5b1bd023c2514cc7"/>
              </a:rPr>
              <a:t>https://doi.org/10.1101/2025.10.17.25338242</a:t>
            </a:r>
          </a:p>
        </p:txBody>
      </p:sp>
      <p:sp>
        <p:nvSpPr>
          <p:cNvPr id="23" name="Reference 8 author">
            <a:extLst xmlns:a="http://schemas.openxmlformats.org/drawingml/2006/main">
              <a:ext uri="{FF2B5EF4-FFF2-40B4-BE49-F238E27FC236}">
                <a16:creationId xmlns:a16="http://schemas.microsoft.com/office/drawing/2014/main" id="{487035EF-D1FC-461B-AF3B-1629E1CA72F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4" name="Reference 8 title">
            <a:extLst xmlns:a="http://schemas.openxmlformats.org/drawingml/2006/main">
              <a:ext uri="{FF2B5EF4-FFF2-40B4-BE49-F238E27FC236}">
                <a16:creationId xmlns:a16="http://schemas.microsoft.com/office/drawing/2014/main" id="{B3282AAB-FF26-4DA6-965E-E89692097F20}"/>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f091d888f41d43c6"/>
              </a:rPr>
              <a:t>An Ethnographic Study of Barriers to Cancer Pain Management and Opioid Availability in India</a:t>
            </a:r>
          </a:p>
        </p:txBody>
      </p:sp>
      <p:sp>
        <p:nvSpPr>
          <p:cNvPr id="25" name="Reference 8 link">
            <a:extLst xmlns:a="http://schemas.openxmlformats.org/drawingml/2006/main">
              <a:ext uri="{FF2B5EF4-FFF2-40B4-BE49-F238E27FC236}">
                <a16:creationId xmlns:a16="http://schemas.microsoft.com/office/drawing/2014/main" id="{9EACEE8D-CDBD-46A4-B235-22A6E178F887}"/>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77757e5295cd4e82"/>
              </a:rPr>
              <a:t>https://doi.org/10.1634/theoncologist.2013-0435</a:t>
            </a:r>
          </a:p>
        </p:txBody>
      </p:sp>
      <p:sp>
        <p:nvSpPr>
          <p:cNvPr id="26" name="Reference 9 author">
            <a:extLst xmlns:a="http://schemas.openxmlformats.org/drawingml/2006/main">
              <a:ext uri="{FF2B5EF4-FFF2-40B4-BE49-F238E27FC236}">
                <a16:creationId xmlns:a16="http://schemas.microsoft.com/office/drawing/2014/main" id="{CE9D06FB-3589-4B88-908B-47E3950EAB8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7" name="Reference 9 title">
            <a:extLst xmlns:a="http://schemas.openxmlformats.org/drawingml/2006/main">
              <a:ext uri="{FF2B5EF4-FFF2-40B4-BE49-F238E27FC236}">
                <a16:creationId xmlns:a16="http://schemas.microsoft.com/office/drawing/2014/main" id="{5FB3A631-ECE9-4DC6-B680-B6D48AE645FF}"/>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dd6acbccdf34572"/>
              </a:rPr>
              <a:t>Receipt of Psychosocial Care Among Cancer Survivors in the United States</a:t>
            </a:r>
          </a:p>
        </p:txBody>
      </p:sp>
      <p:sp>
        <p:nvSpPr>
          <p:cNvPr id="28" name="Reference 9 link">
            <a:extLst xmlns:a="http://schemas.openxmlformats.org/drawingml/2006/main">
              <a:ext uri="{FF2B5EF4-FFF2-40B4-BE49-F238E27FC236}">
                <a16:creationId xmlns:a16="http://schemas.microsoft.com/office/drawing/2014/main" id="{1131D807-DB9F-4736-A05F-BFB626AB83BE}"/>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be303f029d614abf"/>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2026-09-24T06:43:39.8420000Z</dcterms:created>
  <dcterms:modified xsi:type="dcterms:W3CDTF">2026-09-24T06:43:39.8420000Z</dcterms:modified>
</coreProperties>
</file>