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062efe0ad44e3" /><Relationship Type="http://schemas.openxmlformats.org/officeDocument/2006/relationships/extended-properties" Target="/docProps/app.xml" Id="R485b5a07f8774830" /><Relationship Type="http://schemas.openxmlformats.org/officeDocument/2006/relationships/officeDocument" Target="/ppt/presentation.xml" Id="R7d11c97bbe7e47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35ad9344e4056"/>
  </p:sldMasterIdLst>
  <p:notesMasterIdLst>
    <p:notesMasterId xmlns:r="http://schemas.openxmlformats.org/officeDocument/2006/relationships" r:id="R487d3ec165404644"/>
  </p:notesMasterIdLst>
  <p:sldIdLst>
    <p:sldId xmlns:r="http://schemas.openxmlformats.org/officeDocument/2006/relationships" id="256" r:id="R1d863180f38e40bc"/>
    <p:sldId xmlns:r="http://schemas.openxmlformats.org/officeDocument/2006/relationships" id="257" r:id="R4b1387866b52406c"/>
    <p:sldId xmlns:r="http://schemas.openxmlformats.org/officeDocument/2006/relationships" id="258" r:id="R0cfc9d23821d4aed"/>
    <p:sldId xmlns:r="http://schemas.openxmlformats.org/officeDocument/2006/relationships" id="259" r:id="R32cc6fe3f40348b8"/>
    <p:sldId xmlns:r="http://schemas.openxmlformats.org/officeDocument/2006/relationships" id="260" r:id="R4359e838cde14043"/>
    <p:sldId xmlns:r="http://schemas.openxmlformats.org/officeDocument/2006/relationships" id="261" r:id="Rd84e7a56ac2542c5"/>
    <p:sldId xmlns:r="http://schemas.openxmlformats.org/officeDocument/2006/relationships" id="262" r:id="R462e76af71a24e18"/>
    <p:sldId xmlns:r="http://schemas.openxmlformats.org/officeDocument/2006/relationships" id="263" r:id="R95f01156bbec49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0b76cd9504b1d" /><Relationship Type="http://schemas.openxmlformats.org/officeDocument/2006/relationships/slideMaster" Target="/ppt/slideMasters/slideMaster1.xml" Id="R78a35ad9344e4056" /><Relationship Type="http://schemas.openxmlformats.org/officeDocument/2006/relationships/notesMaster" Target="/ppt/notesMasters/notesMaster1.xml" Id="R487d3ec165404644" /><Relationship Type="http://schemas.openxmlformats.org/officeDocument/2006/relationships/presProps" Target="/ppt/presProps.xml" Id="Raa18ddb49ac943e4" /><Relationship Type="http://schemas.openxmlformats.org/officeDocument/2006/relationships/tableStyles" Target="/ppt/tableStyles.xml" Id="Ra2b93e508ceb4f28" /><Relationship Type="http://schemas.openxmlformats.org/officeDocument/2006/relationships/slide" Target="/ppt/slides/slide1.xml" Id="R1d863180f38e40bc" /><Relationship Type="http://schemas.openxmlformats.org/officeDocument/2006/relationships/slide" Target="/ppt/slides/slide2.xml" Id="R4b1387866b52406c" /><Relationship Type="http://schemas.openxmlformats.org/officeDocument/2006/relationships/slide" Target="/ppt/slides/slide3.xml" Id="R0cfc9d23821d4aed" /><Relationship Type="http://schemas.openxmlformats.org/officeDocument/2006/relationships/slide" Target="/ppt/slides/slide4.xml" Id="R32cc6fe3f40348b8" /><Relationship Type="http://schemas.openxmlformats.org/officeDocument/2006/relationships/slide" Target="/ppt/slides/slide5.xml" Id="R4359e838cde14043" /><Relationship Type="http://schemas.openxmlformats.org/officeDocument/2006/relationships/slide" Target="/ppt/slides/slide6.xml" Id="Rd84e7a56ac2542c5" /><Relationship Type="http://schemas.openxmlformats.org/officeDocument/2006/relationships/slide" Target="/ppt/slides/slide7.xml" Id="R462e76af71a24e18" /><Relationship Type="http://schemas.openxmlformats.org/officeDocument/2006/relationships/slide" Target="/ppt/slides/slide8.xml" Id="R95f01156bbec49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10266725d4c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4fe29f34334e69" /><Relationship Type="http://schemas.openxmlformats.org/officeDocument/2006/relationships/notesMaster" Target="/ppt/notesMasters/notesMaster1.xml" Id="R9ec8e2a5509e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2323e4c1a4180" /><Relationship Type="http://schemas.openxmlformats.org/officeDocument/2006/relationships/notesMaster" Target="/ppt/notesMasters/notesMaster1.xml" Id="R0d0d6715b26a4d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627183d7754dbe" /><Relationship Type="http://schemas.openxmlformats.org/officeDocument/2006/relationships/notesMaster" Target="/ppt/notesMasters/notesMaster1.xml" Id="R6e35502ebbdb44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196beac8849b0" /><Relationship Type="http://schemas.openxmlformats.org/officeDocument/2006/relationships/notesMaster" Target="/ppt/notesMasters/notesMaster1.xml" Id="R69bfd96538f5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f4f9b9bd24173" /><Relationship Type="http://schemas.openxmlformats.org/officeDocument/2006/relationships/notesMaster" Target="/ppt/notesMasters/notesMaster1.xml" Id="R9d2d2f9398ac46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e1d29a6fb4ff9" /><Relationship Type="http://schemas.openxmlformats.org/officeDocument/2006/relationships/notesMaster" Target="/ppt/notesMasters/notesMaster1.xml" Id="R5f1a2d7c810644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b0fc599b164f31" /><Relationship Type="http://schemas.openxmlformats.org/officeDocument/2006/relationships/notesMaster" Target="/ppt/notesMasters/notesMaster1.xml" Id="R15c35c0f4633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ab435cf82f430a" /><Relationship Type="http://schemas.openxmlformats.org/officeDocument/2006/relationships/notesMaster" Target="/ppt/notesMasters/notesMaster1.xml" Id="R12007dd16bfd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scenario based on the user-supplied 23 September revision. The scenario does not claim an outcome or recommend CPR, ventilation or any other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Shirin story revision in the 24 September task context</a:t>
            </a:r>
          </a:p>
          <a:p xmlns:a="http://schemas.openxmlformats.org/drawingml/2006/main">
            <a:r>
              <a:t>- Saanthvana_Background_Rationale_1.pptx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scenario. No statistic is used because the meeting could not confirm the 98.3% claim. The disagreement is shown without suggesting which treatment choice is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Shirin story revision in the 24 September task context</a:t>
            </a:r>
          </a:p>
          <a:p xmlns:a="http://schemas.openxmlformats.org/drawingml/2006/main">
            <a:r>
              <a:t>- source-materials/private-context/meetings/2026-09-23-transcript.txt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capture of the updated Home screen on 24 September 2026, including the four top categories, Today panel, upload action and Quick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output/playwright/2026-09-24-home-desktop.png</a:t>
            </a:r>
          </a:p>
          <a:p xmlns:a="http://schemas.openxmlformats.org/drawingml/2006/main">
            <a:r>
              <a:t>- prototype/app/family-care-home.tsx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doctor review capture from the local app. The example patient data are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output/playwright/2026-09-24-doctor-signed.png</a:t>
            </a:r>
          </a:p>
          <a:p xmlns:a="http://schemas.openxmlformats.org/drawingml/2006/main">
            <a:r>
              <a:t>- prototype/app/doctor-note-review.tsx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workflow diagram based on the latest user direction. “Bring reports” is an example task, not a claim that a specific message has been sent. Today shows assigned tasks, recorded medicines and appointments; medicine completion is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prototype/app/care-today.tsx</a:t>
            </a:r>
          </a:p>
          <a:p xmlns:a="http://schemas.openxmlformats.org/drawingml/2006/main">
            <a:r>
              <a:t>- prototype/app/care-conversation-request.tsx</a:t>
            </a:r>
          </a:p>
          <a:p xmlns:a="http://schemas.openxmlformats.org/drawingml/2006/main">
            <a:r>
              <a:t>- 24 September user task directions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images are actual local product captures. The support directory does not confirm oral morphine stock or dispensing; families should call to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output/playwright/2026-09-23-documents-desktop.png</a:t>
            </a:r>
          </a:p>
          <a:p xmlns:a="http://schemas.openxmlformats.org/drawingml/2006/main">
            <a:r>
              <a:t>- submission/screenshots/2026-09-20/care-desktop.png</a:t>
            </a:r>
          </a:p>
          <a:p xmlns:a="http://schemas.openxmlformats.org/drawingml/2006/main">
            <a:r>
              <a:t>- prototype/app/care-near-me.tsx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remains the main planned tool: capture the discussion, help organise the words, then the doctor checks and signs before the family sees the note. No provider is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PROTOTYPE_HANDOFF.md</a:t>
            </a:r>
          </a:p>
          <a:p xmlns:a="http://schemas.openxmlformats.org/drawingml/2006/main">
            <a:r>
              <a:t>- 23 September meeting transcript</a:t>
            </a:r>
          </a:p>
          <a:p xmlns:a="http://schemas.openxmlformats.org/drawingml/2006/main">
            <a:r>
              <a:t>- User-supplied 24 September workflow direction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team is proposing a 60–90 day pilot. Measures are proposals, not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PROJECT_CONTEXT_MAP.md (team names)</a:t>
            </a:r>
          </a:p>
          <a:p xmlns:a="http://schemas.openxmlformats.org/drawingml/2006/main">
            <a:r>
              <a:t>- VERCEL_DEPLOYMENT_HANDOFF.md (public URL)</a:t>
            </a:r>
          </a:p>
          <a:p xmlns:a="http://schemas.openxmlformats.org/drawingml/2006/main">
            <a:r>
              <a:t>- User-supplied 24 September pilot direction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14577725745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325415a6a4633" /><Relationship Type="http://schemas.openxmlformats.org/officeDocument/2006/relationships/slideLayout" Target="/ppt/slideLayouts/slideLayout1.xml" Id="R64e27ab8a49a4a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e27ab8a49a4a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4e6d98f064fa5" /><Relationship Type="http://schemas.openxmlformats.org/officeDocument/2006/relationships/image" Target="/ppt/media/image.png" Id="R7e38bcdeb6f740ba" /><Relationship Type="http://schemas.openxmlformats.org/officeDocument/2006/relationships/notesSlide" Target="/ppt/notesSlides/notesSlide1.xml" Id="Rb682f555b759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8f108c2294951" /><Relationship Type="http://schemas.openxmlformats.org/officeDocument/2006/relationships/notesSlide" Target="/ppt/notesSlides/notesSlide2.xml" Id="R7c66a046856b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8dbce46234d07" /><Relationship Type="http://schemas.openxmlformats.org/officeDocument/2006/relationships/image" Target="/ppt/media/image.jpeg" Id="R0fd249c03d4444ff" /><Relationship Type="http://schemas.openxmlformats.org/officeDocument/2006/relationships/image" Target="/ppt/media/image2.jpeg" Id="Rae300f4cefb94721" /><Relationship Type="http://schemas.openxmlformats.org/officeDocument/2006/relationships/notesSlide" Target="/ppt/notesSlides/notesSlide3.xml" Id="Rb07e2cbe51d244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4529b9994ffc" /><Relationship Type="http://schemas.openxmlformats.org/officeDocument/2006/relationships/image" Target="/ppt/media/image3.jpeg" Id="R4b5dd211d0994e6a" /><Relationship Type="http://schemas.openxmlformats.org/officeDocument/2006/relationships/notesSlide" Target="/ppt/notesSlides/notesSlide4.xml" Id="R5090a4fabc01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fd617f8d047e4" /><Relationship Type="http://schemas.openxmlformats.org/officeDocument/2006/relationships/image" Target="/ppt/media/image4.jpeg" Id="Re7e83f03d43c4a95" /><Relationship Type="http://schemas.openxmlformats.org/officeDocument/2006/relationships/notesSlide" Target="/ppt/notesSlides/notesSlide5.xml" Id="R63eb5e31ef8d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117bba1d4eb3" /><Relationship Type="http://schemas.openxmlformats.org/officeDocument/2006/relationships/image" Target="/ppt/media/image2.png" Id="R07c3dfd8b0f64dfd" /><Relationship Type="http://schemas.openxmlformats.org/officeDocument/2006/relationships/image" Target="/ppt/media/image5.jpeg" Id="Rae151ac317ab43a9" /><Relationship Type="http://schemas.openxmlformats.org/officeDocument/2006/relationships/notesSlide" Target="/ppt/notesSlides/notesSlide6.xml" Id="R5104f038549a44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49a9591ee45aa" /><Relationship Type="http://schemas.openxmlformats.org/officeDocument/2006/relationships/notesSlide" Target="/ppt/notesSlides/notesSlide7.xml" Id="R04c3347a0f4e4b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5ef3ea2214aca" /><Relationship Type="http://schemas.openxmlformats.org/officeDocument/2006/relationships/image" Target="/ppt/media/image3.png" Id="R083971567fec4bd2" /><Relationship Type="http://schemas.openxmlformats.org/officeDocument/2006/relationships/notesSlide" Target="/ppt/notesSlides/notesSlide8.xml" Id="R184885f5c922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2EDE5-E1AF-4EFF-969C-62A93A2E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52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Saanthvana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61976-B99C-4201-ADE5-7A2CDEE6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BEBC5"/>
                </a:solidFill>
                <a:latin typeface="Arial"/>
                <a:ea typeface="Arial"/>
                <a:cs typeface="Arial"/>
              </a:rPr>
              <a:t>Goals-of-care</a:t>
            </a:r>
          </a:p>
          <a:p xmlns:a="http://schemas.openxmlformats.org/drawingml/2006/main">
            <a:pPr>
              <a:buNone/>
              <a:defRPr sz="3450" b="1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BEBC5"/>
                </a:solidFill>
                <a:latin typeface="Arial"/>
                <a:ea typeface="Arial"/>
                <a:cs typeface="Arial"/>
              </a:rPr>
              <a:t>conversations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0D60-F4A2-4CA9-A14E-5816C89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people with cancer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their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A02B1-10C4-4777-86D4-91F7A00D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BEBC5"/>
                </a:solidFill>
                <a:latin typeface="Arial"/>
                <a:ea typeface="Arial"/>
                <a:cs typeface="Arial"/>
              </a:rPr>
              <a:t>Zeros and Ones</a:t>
            </a:r>
          </a:p>
          <a:p xmlns:a="http://schemas.openxmlformats.org/drawingml/2006/main">
            <a:pPr>
              <a:buNone/>
              <a:defRPr sz="1575" b="0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BEBC5"/>
                </a:solidFill>
                <a:latin typeface="Arial"/>
                <a:ea typeface="Arial"/>
                <a:cs typeface="Arial"/>
              </a:rPr>
              <a:t>Health-a-thon 2026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8bcdeb6f740ba"/>
          <a:srcRect xmlns:a="http://schemas.openxmlformats.org/drawingml/2006/main" l="21852" t="0" r="21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0"/>
            <a:ext cx="57912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E1C3A-03B5-4C3E-A800-EF608B0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67325"/>
            <a:ext cx="5286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30"/>
          </a:solidFill>
          <a:ln xmlns:a="http://schemas.openxmlformats.org/drawingml/2006/main" w="0">
            <a:solidFill>
              <a:srgbClr val="123D30"/>
            </a:solidFill>
          </a:ln>
        </p:spPr>
      </p:sp>
      <p:sp>
        <p:nvSpPr>
          <p:cNvPr id="9" name="Family views">
            <a:extLst xmlns:a="http://schemas.openxmlformats.org/drawingml/2006/main">
              <a:ext uri="{FF2B5EF4-FFF2-40B4-BE49-F238E27FC236}">
                <a16:creationId xmlns:a16="http://schemas.microsoft.com/office/drawing/2014/main" id="{F35D4840-6F0B-40EC-BCEA-24E6BF4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F0E9"/>
                </a:solidFill>
                <a:latin typeface="Arial"/>
                <a:ea typeface="Arial"/>
                <a:cs typeface="Arial"/>
              </a:rPr>
              <a:t>Husband: yes · Daughter: no · Son: unsure</a:t>
            </a:r>
          </a:p>
        </p:txBody>
      </p:sp>
      <p:sp>
        <p:nvSpPr>
          <p:cNvPr id="10" name="Missing record">
            <a:extLst xmlns:a="http://schemas.openxmlformats.org/drawingml/2006/main">
              <a:ext uri="{FF2B5EF4-FFF2-40B4-BE49-F238E27FC236}">
                <a16:creationId xmlns:a16="http://schemas.microsoft.com/office/drawing/2014/main" id="{4BDC85F6-99AA-471F-9A12-030D623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5F0E9"/>
                </a:solidFill>
                <a:latin typeface="Arial"/>
                <a:ea typeface="Arial"/>
                <a:cs typeface="Arial"/>
              </a:rPr>
              <a:t>No one can find the earlier conversation.</a:t>
            </a:r>
          </a:p>
        </p:txBody>
      </p:sp>
      <p:sp>
        <p:nvSpPr>
          <p:cNvPr id="11" name="Prototype URL">
            <a:extLst xmlns:a="http://schemas.openxmlformats.org/drawingml/2006/main">
              <a:ext uri="{FF2B5EF4-FFF2-40B4-BE49-F238E27FC236}">
                <a16:creationId xmlns:a16="http://schemas.microsoft.com/office/drawing/2014/main" id="{07D03BD5-8AF1-4090-B0C9-CFB6CAB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810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BE0D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E0D6"/>
                </a:solidFill>
                <a:latin typeface="Arial"/>
                <a:ea typeface="Arial"/>
                <a:cs typeface="Arial"/>
              </a:rPr>
              <a:t>continuity-loop-healthathon.vercel.app</a:t>
            </a:r>
          </a:p>
        </p:txBody>
      </p:sp>
    </p:spTree>
    <p:extLst>
      <p:ext uri="{BB962C8B-B14F-4D97-AF65-F5344CB8AC3E}">
        <p14:creationId xmlns:p14="http://schemas.microsoft.com/office/powerpoint/2010/main" val="325207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708DD-59B0-435F-9756-BF6A5D4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When care changes, can the family find her wishes?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BA7DC-023E-4322-91C1-1B2FBA9B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A conversation from two months 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16A9B-5BD0-46A0-8FBF-3F1CC78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5429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A doctor discussed future complications with a 62-year-old patient starting best supportive care. Only her husband attended. Two months later, she is unconscious in the ED. Her husband says yes to CPR and ventilation; her daughter says no; her son is unsure. No one can find the earlier discussion.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8095-2B3B-4E50-9E98-0342DC4C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531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A doctor-reviewed record could give the family and receiving team the same context to revisit.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55058-3D5F-4405-9DDF-2193F62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590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F63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357"/>
                </a:solidFill>
                <a:latin typeface="Arial"/>
                <a:ea typeface="Arial"/>
                <a:cs typeface="Arial"/>
              </a:rPr>
              <a:t>Illustrative scenario from the 23 September team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EE27A-6A81-4B12-9793-03E6B3C8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04975"/>
            <a:ext cx="4838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One missing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B2A0-05B1-4AB0-9DC6-AEE9B82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ED team cannot find the earlier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625C9-EFB9-4801-9546-A410332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Three family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8B223-ACF3-4CA5-A1F7-1450A8A5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91075"/>
            <a:ext cx="46386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Husband says yes. Daughter says no. Son is unsure.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A5682-3090-4650-B6C7-87DA1170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9245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F63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357"/>
                </a:solidFill>
                <a:latin typeface="Arial"/>
                <a:ea typeface="Arial"/>
                <a:cs typeface="Arial"/>
              </a:rPr>
              <a:t>Single centre, advanced pancreatic / colorectal cancer.</a:t>
            </a:r>
          </a:p>
          <a:p xmlns:a="http://schemas.openxmlformats.org/drawingml/2006/main">
            <a:pPr>
              <a:buNone/>
              <a:defRPr sz="1275" b="0">
                <a:solidFill>
                  <a:srgbClr val="4F63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6357"/>
                </a:solidFill>
                <a:latin typeface="Arial"/>
                <a:ea typeface="Arial"/>
                <a:cs typeface="Arial"/>
              </a:rPr>
              <a:t>This is not a Saanthvana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77528-43A2-4532-910E-8DCDEE85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1"/>
          </a:solidFill>
          <a:ln xmlns:a="http://schemas.openxmlformats.org/drawingml/2006/main" w="0">
            <a:solidFill>
              <a:srgbClr val="F8F7F1"/>
            </a:solidFill>
          </a:ln>
        </p:spPr>
      </p:sp>
      <p:sp>
        <p:nvSpPr>
          <p:cNvPr id="13" name="Earlier label">
            <a:extLst xmlns:a="http://schemas.openxmlformats.org/drawingml/2006/main">
              <a:ext uri="{FF2B5EF4-FFF2-40B4-BE49-F238E27FC236}">
                <a16:creationId xmlns:a16="http://schemas.microsoft.com/office/drawing/2014/main" id="{8684F171-FE84-450A-86DA-7D0B52E7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TWO MONTHS EARLIER</a:t>
            </a:r>
          </a:p>
        </p:txBody>
      </p:sp>
      <p:sp>
        <p:nvSpPr>
          <p:cNvPr id="14" name="Earlier conversation">
            <a:extLst xmlns:a="http://schemas.openxmlformats.org/drawingml/2006/main">
              <a:ext uri="{FF2B5EF4-FFF2-40B4-BE49-F238E27FC236}">
                <a16:creationId xmlns:a16="http://schemas.microsoft.com/office/drawing/2014/main" id="{F9E23FE1-90DD-42F8-A131-EC5CB2D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A doctor discussed future complications during best supportive care. Only her husband attended.</a:t>
            </a:r>
          </a:p>
        </p:txBody>
      </p:sp>
      <p:sp>
        <p:nvSpPr>
          <p:cNvPr id="15" name="Today label">
            <a:extLst xmlns:a="http://schemas.openxmlformats.org/drawingml/2006/main">
              <a:ext uri="{FF2B5EF4-FFF2-40B4-BE49-F238E27FC236}">
                <a16:creationId xmlns:a16="http://schemas.microsoft.com/office/drawing/2014/main" id="{601AC839-E101-4B8C-AD31-276346AD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TODAY · EMERGENCY DEPARTMENT</a:t>
            </a:r>
          </a:p>
        </p:txBody>
      </p:sp>
      <p:sp>
        <p:nvSpPr>
          <p:cNvPr id="16" name="Missing record">
            <a:extLst xmlns:a="http://schemas.openxmlformats.org/drawingml/2006/main">
              <a:ext uri="{FF2B5EF4-FFF2-40B4-BE49-F238E27FC236}">
                <a16:creationId xmlns:a16="http://schemas.microsoft.com/office/drawing/2014/main" id="{18B16829-A255-40C9-AAAD-6EAED8A6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She is unconscious. No one can find that conversation.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DE03C-3347-4018-A784-28294F12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95425"/>
            <a:ext cx="55245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18" name="ED question">
            <a:extLst xmlns:a="http://schemas.openxmlformats.org/drawingml/2006/main">
              <a:ext uri="{FF2B5EF4-FFF2-40B4-BE49-F238E27FC236}">
                <a16:creationId xmlns:a16="http://schemas.microsoft.com/office/drawing/2014/main" id="{6ACE2C4E-7805-4C8F-9979-722A028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478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“Would she want CPR and ventilation?”</a:t>
            </a:r>
          </a:p>
        </p:txBody>
      </p:sp>
      <p:sp>
        <p:nvSpPr>
          <p:cNvPr id="19" name="Husband view">
            <a:extLst xmlns:a="http://schemas.openxmlformats.org/drawingml/2006/main">
              <a:ext uri="{FF2B5EF4-FFF2-40B4-BE49-F238E27FC236}">
                <a16:creationId xmlns:a16="http://schemas.microsoft.com/office/drawing/2014/main" id="{22E744EB-1FC9-4EA7-A067-F037C2FA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Husband</a:t>
            </a:r>
          </a:p>
        </p:txBody>
      </p:sp>
      <p:sp>
        <p:nvSpPr>
          <p:cNvPr id="20" name="Husband answer">
            <a:extLst xmlns:a="http://schemas.openxmlformats.org/drawingml/2006/main">
              <a:ext uri="{FF2B5EF4-FFF2-40B4-BE49-F238E27FC236}">
                <a16:creationId xmlns:a16="http://schemas.microsoft.com/office/drawing/2014/main" id="{54A736B2-31A3-44FF-A989-441875C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47950"/>
            <a:ext cx="120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1" name="Daughter view">
            <a:extLst xmlns:a="http://schemas.openxmlformats.org/drawingml/2006/main">
              <a:ext uri="{FF2B5EF4-FFF2-40B4-BE49-F238E27FC236}">
                <a16:creationId xmlns:a16="http://schemas.microsoft.com/office/drawing/2014/main" id="{89106FF3-5447-4CAE-85EB-8349C71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Daughter</a:t>
            </a:r>
          </a:p>
        </p:txBody>
      </p:sp>
      <p:sp>
        <p:nvSpPr>
          <p:cNvPr id="22" name="Daughter answer">
            <a:extLst xmlns:a="http://schemas.openxmlformats.org/drawingml/2006/main">
              <a:ext uri="{FF2B5EF4-FFF2-40B4-BE49-F238E27FC236}">
                <a16:creationId xmlns:a16="http://schemas.microsoft.com/office/drawing/2014/main" id="{CE5837EE-6942-4F01-A481-6421645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90900"/>
            <a:ext cx="120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3" name="Son · remote view">
            <a:extLst xmlns:a="http://schemas.openxmlformats.org/drawingml/2006/main">
              <a:ext uri="{FF2B5EF4-FFF2-40B4-BE49-F238E27FC236}">
                <a16:creationId xmlns:a16="http://schemas.microsoft.com/office/drawing/2014/main" id="{B888AB7C-D0BB-4E6C-99C7-1506D29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Son · remote</a:t>
            </a:r>
          </a:p>
        </p:txBody>
      </p:sp>
      <p:sp>
        <p:nvSpPr>
          <p:cNvPr id="24" name="Son · remote answer">
            <a:extLst xmlns:a="http://schemas.openxmlformats.org/drawingml/2006/main">
              <a:ext uri="{FF2B5EF4-FFF2-40B4-BE49-F238E27FC236}">
                <a16:creationId xmlns:a16="http://schemas.microsoft.com/office/drawing/2014/main" id="{8A74C53A-7A24-4BC3-8D31-106D942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33850"/>
            <a:ext cx="120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Unsure</a:t>
            </a:r>
          </a:p>
        </p:txBody>
      </p:sp>
      <p:sp>
        <p:nvSpPr>
          <p:cNvPr id="25" name="Context missing">
            <a:extLst xmlns:a="http://schemas.openxmlformats.org/drawingml/2006/main">
              <a:ext uri="{FF2B5EF4-FFF2-40B4-BE49-F238E27FC236}">
                <a16:creationId xmlns:a16="http://schemas.microsoft.com/office/drawing/2014/main" id="{256A2EB5-E423-4ABE-B5AD-CF85547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625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No one knows what she discussed.</a:t>
            </a:r>
          </a:p>
        </p:txBody>
      </p:sp>
    </p:spTree>
    <p:extLst>
      <p:ext uri="{BB962C8B-B14F-4D97-AF65-F5344CB8AC3E}">
        <p14:creationId xmlns:p14="http://schemas.microsoft.com/office/powerpoint/2010/main" val="4687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68241-10A1-45EC-94B0-0AA089DA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Four care spaces. Quick access for daily tasks.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249c03d4444ff"/>
          <a:srcRect xmlns:a="http://schemas.openxmlformats.org/drawingml/2006/main" l="12646" t="0" r="12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04975"/>
            <a:ext cx="5667375" cy="426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31663-E0AC-4A7B-8765-A42952A8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14500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My documents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A7DD4-15BA-48D7-BD8F-E1B2426B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76475"/>
            <a:ext cx="4857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Care note, summary, reports and a care timeline.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F381-AA39-4C6B-BB6E-6A3CA3C6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Find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44D5B-C920-4B95-9B7D-7795DE99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43350"/>
            <a:ext cx="4857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Nearby care, community links, medicine access and help at home.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83BD-B80B-4C7D-AD27-9BEAF346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48250"/>
            <a:ext cx="4933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My space + Calendar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49156-CF81-4E58-A959-4CE51DB3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610225"/>
            <a:ext cx="48577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Requests, notes, appointments and next visit.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BEBCC-600C-4896-832D-DB17CA2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62100"/>
            <a:ext cx="5962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1"/>
          </a:solidFill>
          <a:ln xmlns:a="http://schemas.openxmlformats.org/drawingml/2006/main" w="0">
            <a:solidFill>
              <a:srgbClr val="F8F7F1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00f4cefb94721"/>
          <a:stretch xmlns:a="http://schemas.openxmlformats.org/drawingml/2006/main"/>
        </p:blipFill>
        <p:spPr>
          <a:xfrm xmlns:a="http://schemas.openxmlformats.org/drawingml/2006/main">
            <a:off x="457200" y="2175867"/>
            <a:ext cx="5810250" cy="32682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62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939C7-826F-43C8-B497-6047266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A doctor reviews, signs and shares a version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dd211d0994e6a"/>
          <a:srcRect xmlns:a="http://schemas.openxmlformats.org/drawingml/2006/main" l="4979" t="0" r="4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065" y="1704975"/>
            <a:ext cx="7425320" cy="4638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3B8B-7530-41F2-A503-EB36BEDD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47850"/>
            <a:ext cx="2543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Check what was said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7E5AD-EF48-4F6F-8E98-53F7AB7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9825"/>
            <a:ext cx="2476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doctor checks the note. The family sees what was agreed.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FAB37-54DA-4B26-9AF4-5902A01A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338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See earlier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55F7C-0054-42B5-9528-73C15E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69582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latest reviewed copy stays available. A new talk adds another 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6EDA4-9352-4792-8CA6-740042B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85900"/>
            <a:ext cx="344805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1"/>
          </a:solidFill>
          <a:ln xmlns:a="http://schemas.openxmlformats.org/drawingml/2006/main" w="0">
            <a:solidFill>
              <a:srgbClr val="F8F7F1"/>
            </a:solidFill>
          </a:ln>
        </p:spPr>
      </p:sp>
      <p:sp>
        <p:nvSpPr>
          <p:cNvPr id="10" name="Review heading">
            <a:extLst xmlns:a="http://schemas.openxmlformats.org/drawingml/2006/main">
              <a:ext uri="{FF2B5EF4-FFF2-40B4-BE49-F238E27FC236}">
                <a16:creationId xmlns:a16="http://schemas.microsoft.com/office/drawing/2014/main" id="{3FAAA708-857E-43B4-AFDE-7A035D79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Check what was said</a:t>
            </a:r>
          </a:p>
        </p:txBody>
      </p:sp>
      <p:sp>
        <p:nvSpPr>
          <p:cNvPr id="11" name="Review detail">
            <a:extLst xmlns:a="http://schemas.openxmlformats.org/drawingml/2006/main">
              <a:ext uri="{FF2B5EF4-FFF2-40B4-BE49-F238E27FC236}">
                <a16:creationId xmlns:a16="http://schemas.microsoft.com/office/drawing/2014/main" id="{215B8968-5FAE-4338-B5EA-472390B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The doctor checks the note. The family sees what was agreed.</a:t>
            </a:r>
          </a:p>
        </p:txBody>
      </p:sp>
      <p:sp>
        <p:nvSpPr>
          <p:cNvPr id="12" name="History heading">
            <a:extLst xmlns:a="http://schemas.openxmlformats.org/drawingml/2006/main">
              <a:ext uri="{FF2B5EF4-FFF2-40B4-BE49-F238E27FC236}">
                <a16:creationId xmlns:a16="http://schemas.microsoft.com/office/drawing/2014/main" id="{3D4C6E46-A3BC-48B9-A6B1-068F529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See earlier notes</a:t>
            </a:r>
          </a:p>
        </p:txBody>
      </p:sp>
      <p:sp>
        <p:nvSpPr>
          <p:cNvPr id="13" name="History detail">
            <a:extLst xmlns:a="http://schemas.openxmlformats.org/drawingml/2006/main">
              <a:ext uri="{FF2B5EF4-FFF2-40B4-BE49-F238E27FC236}">
                <a16:creationId xmlns:a16="http://schemas.microsoft.com/office/drawing/2014/main" id="{1ED70AD2-2936-4061-9299-FE0746A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The latest reviewed copy stays available. A new talk adds another version.</a:t>
            </a:r>
          </a:p>
        </p:txBody>
      </p:sp>
    </p:spTree>
    <p:extLst>
      <p:ext uri="{BB962C8B-B14F-4D97-AF65-F5344CB8AC3E}">
        <p14:creationId xmlns:p14="http://schemas.microsoft.com/office/powerpoint/2010/main" val="1501826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1EAD-C9D7-47A3-A3AF-9CFD2F7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family can ask. The care team can act.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83f03d43c4a95"/>
          <a:stretch xmlns:a="http://schemas.openxmlformats.org/drawingml/2006/main"/>
        </p:blipFill>
        <p:spPr>
          <a:xfrm xmlns:a="http://schemas.openxmlformats.org/drawingml/2006/main">
            <a:off x="948347" y="1704975"/>
            <a:ext cx="7418756" cy="4638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36EA0-FA8D-4CDA-8D01-C57086D8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47850"/>
            <a:ext cx="25527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1 ·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F2EE8-B04C-4464-B794-91AC68D5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28925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Patient or family requests a conversation about what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D72F-B198-46A9-BE81-0EA4B89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33850"/>
            <a:ext cx="2571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2 ·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3C220-7BC2-47E0-836C-C71E75C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76825"/>
            <a:ext cx="2476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doctor reviews the request and signs the care summary.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F13C9-5336-4F76-A3E7-FBA96492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38275"/>
            <a:ext cx="12192000" cy="541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solidFill>
              <a:srgbClr val="FFFDF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2DF50-344E-4980-8C98-B9BDFB3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EAF8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11" name="Step 01">
            <a:extLst xmlns:a="http://schemas.openxmlformats.org/drawingml/2006/main">
              <a:ext uri="{FF2B5EF4-FFF2-40B4-BE49-F238E27FC236}">
                <a16:creationId xmlns:a16="http://schemas.microsoft.com/office/drawing/2014/main" id="{4505E1C5-B469-4FA0-88ED-BDCEC1E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Step 01 title">
            <a:extLst xmlns:a="http://schemas.openxmlformats.org/drawingml/2006/main">
              <a:ext uri="{FF2B5EF4-FFF2-40B4-BE49-F238E27FC236}">
                <a16:creationId xmlns:a16="http://schemas.microsoft.com/office/drawing/2014/main" id="{411A254B-09FF-40A0-922D-473A42F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62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Patient or family asks</a:t>
            </a:r>
          </a:p>
        </p:txBody>
      </p:sp>
      <p:sp>
        <p:nvSpPr>
          <p:cNvPr id="13" name="Step 01 detail">
            <a:extLst xmlns:a="http://schemas.openxmlformats.org/drawingml/2006/main">
              <a:ext uri="{FF2B5EF4-FFF2-40B4-BE49-F238E27FC236}">
                <a16:creationId xmlns:a16="http://schemas.microsoft.com/office/drawing/2014/main" id="{93445963-4190-46E7-8D64-1844D6AE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10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Request a conversation about what matters.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F064D-5CE7-425F-846C-4354E1B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5757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3849F-3DB2-4A88-8278-F317C083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717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16" name="Step 02">
            <a:extLst xmlns:a="http://schemas.openxmlformats.org/drawingml/2006/main">
              <a:ext uri="{FF2B5EF4-FFF2-40B4-BE49-F238E27FC236}">
                <a16:creationId xmlns:a16="http://schemas.microsoft.com/office/drawing/2014/main" id="{6AB61685-031B-4F91-B5BA-2C81B15B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 02 title">
            <a:extLst xmlns:a="http://schemas.openxmlformats.org/drawingml/2006/main">
              <a:ext uri="{FF2B5EF4-FFF2-40B4-BE49-F238E27FC236}">
                <a16:creationId xmlns:a16="http://schemas.microsoft.com/office/drawing/2014/main" id="{503D0EE6-58BA-45B4-B6D4-D560A06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Doctor reviews and signs</a:t>
            </a:r>
          </a:p>
        </p:txBody>
      </p:sp>
      <p:sp>
        <p:nvSpPr>
          <p:cNvPr id="18" name="Step 02 detail">
            <a:extLst xmlns:a="http://schemas.openxmlformats.org/drawingml/2006/main">
              <a:ext uri="{FF2B5EF4-FFF2-40B4-BE49-F238E27FC236}">
                <a16:creationId xmlns:a16="http://schemas.microsoft.com/office/drawing/2014/main" id="{103753C4-2277-46AD-AFCC-83FF519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The clinician checks and releases the summary.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7F1CF-8169-4B15-8EE1-5198A66A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5757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79D45-10B9-4F1D-A160-C9206826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ED6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21" name="Step 03">
            <a:extLst xmlns:a="http://schemas.openxmlformats.org/drawingml/2006/main">
              <a:ext uri="{FF2B5EF4-FFF2-40B4-BE49-F238E27FC236}">
                <a16:creationId xmlns:a16="http://schemas.microsoft.com/office/drawing/2014/main" id="{C68C6408-BFF2-4F99-8FCE-707B410B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Step 03 title">
            <a:extLst xmlns:a="http://schemas.openxmlformats.org/drawingml/2006/main">
              <a:ext uri="{FF2B5EF4-FFF2-40B4-BE49-F238E27FC236}">
                <a16:creationId xmlns:a16="http://schemas.microsoft.com/office/drawing/2014/main" id="{B4C70ADF-C44B-4282-886A-1E3D55E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62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Doctor assigns a task</a:t>
            </a:r>
          </a:p>
        </p:txBody>
      </p:sp>
      <p:sp>
        <p:nvSpPr>
          <p:cNvPr id="23" name="Step 03 detail">
            <a:extLst xmlns:a="http://schemas.openxmlformats.org/drawingml/2006/main">
              <a:ext uri="{FF2B5EF4-FFF2-40B4-BE49-F238E27FC236}">
                <a16:creationId xmlns:a16="http://schemas.microsoft.com/office/drawing/2014/main" id="{F848910C-E593-42C7-8CE8-EADE0CD9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10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A next step has a sender and an owner.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D906E-F4B7-4768-86E5-7EB74FC6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5757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9AE3A-A6DA-4876-9AF9-7906C83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26" name="Step 04">
            <a:extLst xmlns:a="http://schemas.openxmlformats.org/drawingml/2006/main">
              <a:ext uri="{FF2B5EF4-FFF2-40B4-BE49-F238E27FC236}">
                <a16:creationId xmlns:a16="http://schemas.microsoft.com/office/drawing/2014/main" id="{F796EC05-8024-43B9-B20B-8C7F69FC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Step 04 title">
            <a:extLst xmlns:a="http://schemas.openxmlformats.org/drawingml/2006/main">
              <a:ext uri="{FF2B5EF4-FFF2-40B4-BE49-F238E27FC236}">
                <a16:creationId xmlns:a16="http://schemas.microsoft.com/office/drawing/2014/main" id="{719A7999-CCA4-40F8-B98E-3482255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Family sees Today</a:t>
            </a:r>
          </a:p>
        </p:txBody>
      </p:sp>
      <p:sp>
        <p:nvSpPr>
          <p:cNvPr id="28" name="Step 04 detail">
            <a:extLst xmlns:a="http://schemas.openxmlformats.org/drawingml/2006/main">
              <a:ext uri="{FF2B5EF4-FFF2-40B4-BE49-F238E27FC236}">
                <a16:creationId xmlns:a16="http://schemas.microsoft.com/office/drawing/2014/main" id="{01DD355F-DB0B-4268-9A5D-11F69DE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Open the task; view medicines and visits.</a:t>
            </a:r>
          </a:p>
        </p:txBody>
      </p:sp>
      <p:sp>
        <p:nvSpPr>
          <p:cNvPr id="29" name="Incoming task example">
            <a:extLst xmlns:a="http://schemas.openxmlformats.org/drawingml/2006/main">
              <a:ext uri="{FF2B5EF4-FFF2-40B4-BE49-F238E27FC236}">
                <a16:creationId xmlns:a16="http://schemas.microsoft.com/office/drawing/2014/main" id="{9A232E74-B0ED-4C3F-AA83-41AA8DB0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4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4779"/>
                </a:solidFill>
                <a:latin typeface="Arial"/>
                <a:ea typeface="Arial"/>
                <a:cs typeface="Arial"/>
              </a:rPr>
              <a:t>Example task: “Bring reports” · From Dr Sujay</a:t>
            </a:r>
          </a:p>
        </p:txBody>
      </p:sp>
      <p:sp>
        <p:nvSpPr>
          <p:cNvPr id="30" name="Medicine record boundary">
            <a:extLst xmlns:a="http://schemas.openxmlformats.org/drawingml/2006/main">
              <a:ext uri="{FF2B5EF4-FFF2-40B4-BE49-F238E27FC236}">
                <a16:creationId xmlns:a16="http://schemas.microsoft.com/office/drawing/2014/main" id="{94D3E784-1DAE-4A7A-9C47-37830DD6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676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Medicine completion is recorded by the family and can be undone.</a:t>
            </a:r>
          </a:p>
        </p:txBody>
      </p:sp>
    </p:spTree>
    <p:extLst>
      <p:ext uri="{BB962C8B-B14F-4D97-AF65-F5344CB8AC3E}">
        <p14:creationId xmlns:p14="http://schemas.microsoft.com/office/powerpoint/2010/main" val="827073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BEBC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0483F-17E1-4993-9D67-40266BE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Reports, care timeline and nearby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5051E-3564-492F-9F4E-47A5EFE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990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Capture with consent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22CE-60B1-4FC5-BE57-D830D49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145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Record or type the clinician-led discussion in the preferred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F5682-0C3A-4736-A8E0-7DC911F5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990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Draft from the conversation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E99A0-55CC-44C0-99A7-41282FFE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Transcribe and organise stated information, keeping source passages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415D8-B24A-4757-9CE2-6B1C9FE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990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Resolve before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54CDC-7CE3-4CE2-9342-8F254055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doctor checks missing or unclear details and approves the written summary.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E2EDF-95F5-47E8-B645-68348AE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990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Keep a reviewed copy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E9000-DB18-4D1A-8A28-F6EF07BF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The patient and authorised family can retrieve the latest released version.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1402F-8820-4F5F-BA98-2047FA9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Planned integration. The current prototype uses sample conversation text and no live AI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C1902-1EC4-414C-86C3-F0438E0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1"/>
          </a:solidFill>
          <a:ln xmlns:a="http://schemas.openxmlformats.org/drawingml/2006/main" w="0">
            <a:solidFill>
              <a:srgbClr val="F8F7F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16B98-7CAE-414A-A5BE-6FC3148B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52768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629A9-557D-49BF-B3E3-31CEC2D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2768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B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3dfd8b0f64dfd"/>
          <a:stretch xmlns:a="http://schemas.openxmlformats.org/drawingml/2006/main"/>
        </p:blipFill>
        <p:spPr>
          <a:xfrm xmlns:a="http://schemas.openxmlformats.org/drawingml/2006/main">
            <a:off x="628650" y="1901825"/>
            <a:ext cx="5124450" cy="34163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51ac317ab43a9"/>
          <a:stretch xmlns:a="http://schemas.openxmlformats.org/drawingml/2006/main"/>
        </p:blipFill>
        <p:spPr>
          <a:xfrm xmlns:a="http://schemas.openxmlformats.org/drawingml/2006/main">
            <a:off x="6419850" y="2007910"/>
            <a:ext cx="5124450" cy="3204130"/>
          </a:xfrm>
          <a:prstGeom xmlns:a="http://schemas.openxmlformats.org/drawingml/2006/main" prst="rect">
            <a:avLst/>
          </a:prstGeom>
        </p:spPr>
      </p:pic>
      <p:sp>
        <p:nvSpPr>
          <p:cNvPr id="17" name="Documents caption">
            <a:extLst xmlns:a="http://schemas.openxmlformats.org/drawingml/2006/main">
              <a:ext uri="{FF2B5EF4-FFF2-40B4-BE49-F238E27FC236}">
                <a16:creationId xmlns:a16="http://schemas.microsoft.com/office/drawing/2014/main" id="{A4BDF665-272D-4130-97FE-FFBBD973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Open the original report and its quoted passage.</a:t>
            </a:r>
          </a:p>
        </p:txBody>
      </p:sp>
      <p:sp>
        <p:nvSpPr>
          <p:cNvPr id="18" name="Support caption">
            <a:extLst xmlns:a="http://schemas.openxmlformats.org/drawingml/2006/main">
              <a:ext uri="{FF2B5EF4-FFF2-40B4-BE49-F238E27FC236}">
                <a16:creationId xmlns:a16="http://schemas.microsoft.com/office/drawing/2014/main" id="{E08F2DC9-AC28-4674-86D6-FA85194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769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Search, call or get directions. Confirm services before travel.</a:t>
            </a:r>
          </a:p>
        </p:txBody>
      </p:sp>
    </p:spTree>
    <p:extLst>
      <p:ext uri="{BB962C8B-B14F-4D97-AF65-F5344CB8AC3E}">
        <p14:creationId xmlns:p14="http://schemas.microsoft.com/office/powerpoint/2010/main" val="1999476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38423-1843-4EA0-AE43-B3607B0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Planned: AI drafts. Doctor checks and shares.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148AC-3395-43E6-971E-8FE9DDC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1 ·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72DC-88F5-4D66-93B0-C87A1CA8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Guided conversation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Physician review and versions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Family preparation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Care directory and nearby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A8F0B-3148-4710-A091-D52D6473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430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2 · Assist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B6D29-266B-4881-9F16-A1E8F4C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717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Consented transcription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Durable access and storage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Language evaluation</a:t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Restrict the competition demo to the agreed assistive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95C01-369B-484B-9C22-9D3E6DCD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43075"/>
            <a:ext cx="35052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3F32"/>
                </a:solidFill>
                <a:latin typeface="Arial"/>
                <a:ea typeface="Arial"/>
                <a:cs typeface="Arial"/>
              </a:rPr>
              <a:t>3 · Review and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64F5D-D4F5-446B-976A-43C61DA7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33813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Compare drafts with source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Measure clinician corrections and retrieval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23F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32"/>
                </a:solidFill>
                <a:latin typeface="Arial"/>
                <a:ea typeface="Arial"/>
                <a:cs typeface="Arial"/>
              </a:rPr>
              <a:t>Ask families whether the summary is clear.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B3169-3F7E-42B1-A932-46FBDCB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F635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F6357"/>
                </a:solidFill>
                <a:latin typeface="Arial"/>
                <a:ea typeface="Arial"/>
                <a:cs typeface="Arial"/>
              </a:rPr>
              <a:t>AI integration is planned. The current prototype is synthetic and deterministic.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2FC4-D3A9-45A9-9F76-652EDE43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1"/>
          </a:solidFill>
          <a:ln xmlns:a="http://schemas.openxmlformats.org/drawingml/2006/main" w="0">
            <a:solidFill>
              <a:srgbClr val="F8F7F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7992E-58A7-403D-8B80-DD795F8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2381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2EAF8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12" name="AI step 01">
            <a:extLst xmlns:a="http://schemas.openxmlformats.org/drawingml/2006/main">
              <a:ext uri="{FF2B5EF4-FFF2-40B4-BE49-F238E27FC236}">
                <a16:creationId xmlns:a16="http://schemas.microsoft.com/office/drawing/2014/main" id="{F7D0F956-F462-4018-8154-7C71287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AI step 01 heading">
            <a:extLst xmlns:a="http://schemas.openxmlformats.org/drawingml/2006/main">
              <a:ext uri="{FF2B5EF4-FFF2-40B4-BE49-F238E27FC236}">
                <a16:creationId xmlns:a16="http://schemas.microsoft.com/office/drawing/2014/main" id="{DBD85910-5AA6-4D4F-95B3-F210A6D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4" name="AI step 01 detail">
            <a:extLst xmlns:a="http://schemas.openxmlformats.org/drawingml/2006/main">
              <a:ext uri="{FF2B5EF4-FFF2-40B4-BE49-F238E27FC236}">
                <a16:creationId xmlns:a16="http://schemas.microsoft.com/office/drawing/2014/main" id="{C8F54C5A-B5CC-4A50-A20A-C0A813F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Doctor-led discussion</a:t>
            </a:r>
          </a:p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Patient priorities and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F3F82-C9DF-4CF5-8F0B-6DE0B295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F3A0-A0BB-4480-AF18-C58B187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81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17" name="AI step 02">
            <a:extLst xmlns:a="http://schemas.openxmlformats.org/drawingml/2006/main">
              <a:ext uri="{FF2B5EF4-FFF2-40B4-BE49-F238E27FC236}">
                <a16:creationId xmlns:a16="http://schemas.microsoft.com/office/drawing/2014/main" id="{07339BA3-7088-47E9-8D21-3BFF92C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AI step 02 heading">
            <a:extLst xmlns:a="http://schemas.openxmlformats.org/drawingml/2006/main">
              <a:ext uri="{FF2B5EF4-FFF2-40B4-BE49-F238E27FC236}">
                <a16:creationId xmlns:a16="http://schemas.microsoft.com/office/drawing/2014/main" id="{147A6A44-122B-4523-9DD3-D9E96D27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384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AI assists</a:t>
            </a:r>
          </a:p>
        </p:txBody>
      </p:sp>
      <p:sp>
        <p:nvSpPr>
          <p:cNvPr id="19" name="AI step 02 detail">
            <a:extLst xmlns:a="http://schemas.openxmlformats.org/drawingml/2006/main">
              <a:ext uri="{FF2B5EF4-FFF2-40B4-BE49-F238E27FC236}">
                <a16:creationId xmlns:a16="http://schemas.microsoft.com/office/drawing/2014/main" id="{AC3A5A3F-BED3-4B69-83D1-6E68ED2E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909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Structure stated details</a:t>
            </a:r>
          </a:p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Keep source passages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1954B-C7AD-4DC6-9011-FAB22F1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806F4-48D0-4BFD-A606-075EBAF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381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BEED6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22" name="AI step 03">
            <a:extLst xmlns:a="http://schemas.openxmlformats.org/drawingml/2006/main">
              <a:ext uri="{FF2B5EF4-FFF2-40B4-BE49-F238E27FC236}">
                <a16:creationId xmlns:a16="http://schemas.microsoft.com/office/drawing/2014/main" id="{ADD36D22-1B09-4B89-A5C3-9B397FB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AI step 03 heading">
            <a:extLst xmlns:a="http://schemas.openxmlformats.org/drawingml/2006/main">
              <a:ext uri="{FF2B5EF4-FFF2-40B4-BE49-F238E27FC236}">
                <a16:creationId xmlns:a16="http://schemas.microsoft.com/office/drawing/2014/main" id="{8851D41A-F17F-41F8-9516-32362F5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384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Doctor checks</a:t>
            </a:r>
          </a:p>
        </p:txBody>
      </p:sp>
      <p:sp>
        <p:nvSpPr>
          <p:cNvPr id="24" name="AI step 03 detail">
            <a:extLst xmlns:a="http://schemas.openxmlformats.org/drawingml/2006/main">
              <a:ext uri="{FF2B5EF4-FFF2-40B4-BE49-F238E27FC236}">
                <a16:creationId xmlns:a16="http://schemas.microsoft.com/office/drawing/2014/main" id="{78CAB7E1-4B23-4A80-B3F8-6524D7DE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909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Fix unclear details</a:t>
            </a:r>
          </a:p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Check and 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689B6-5962-4B0F-A2B6-1C4AF4F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B9AD"/>
          </a:solidFill>
          <a:ln xmlns:a="http://schemas.openxmlformats.org/drawingml/2006/main" w="0">
            <a:solidFill>
              <a:srgbClr val="A7B9A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C5BAC-9AE1-4EBE-8F06-1F868C5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23812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6F0F8"/>
          </a:solidFill>
          <a:ln xmlns:a="http://schemas.openxmlformats.org/drawingml/2006/main" w="9525">
            <a:solidFill>
              <a:srgbClr val="D9E2DB"/>
            </a:solidFill>
          </a:ln>
        </p:spPr>
      </p:sp>
      <p:sp>
        <p:nvSpPr>
          <p:cNvPr id="27" name="AI step 04">
            <a:extLst xmlns:a="http://schemas.openxmlformats.org/drawingml/2006/main">
              <a:ext uri="{FF2B5EF4-FFF2-40B4-BE49-F238E27FC236}">
                <a16:creationId xmlns:a16="http://schemas.microsoft.com/office/drawing/2014/main" id="{81C80AD2-5A37-40E0-9321-E2E5FC8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A54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4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AI step 04 heading">
            <a:extLst xmlns:a="http://schemas.openxmlformats.org/drawingml/2006/main">
              <a:ext uri="{FF2B5EF4-FFF2-40B4-BE49-F238E27FC236}">
                <a16:creationId xmlns:a16="http://schemas.microsoft.com/office/drawing/2014/main" id="{B2F23B3A-F5B3-42D2-B2EB-36549D5F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F33"/>
                </a:solidFill>
                <a:latin typeface="Arial"/>
                <a:ea typeface="Arial"/>
                <a:cs typeface="Arial"/>
              </a:rPr>
              <a:t>Family copy</a:t>
            </a:r>
          </a:p>
        </p:txBody>
      </p:sp>
      <p:sp>
        <p:nvSpPr>
          <p:cNvPr id="29" name="AI step 04 detail">
            <a:extLst xmlns:a="http://schemas.openxmlformats.org/drawingml/2006/main">
              <a:ext uri="{FF2B5EF4-FFF2-40B4-BE49-F238E27FC236}">
                <a16:creationId xmlns:a16="http://schemas.microsoft.com/office/drawing/2014/main" id="{C5090E32-B90C-485A-9FA0-387C9BCC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90925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Share the reviewed version</a:t>
            </a:r>
          </a:p>
          <a:p xmlns:a="http://schemas.openxmlformats.org/drawingml/2006/main">
            <a:pPr>
              <a:defRPr sz="1200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Return to the latest copy</a:t>
            </a:r>
          </a:p>
        </p:txBody>
      </p:sp>
      <p:sp>
        <p:nvSpPr>
          <p:cNvPr id="30" name="AI integration boundary">
            <a:extLst xmlns:a="http://schemas.openxmlformats.org/drawingml/2006/main">
              <a:ext uri="{FF2B5EF4-FFF2-40B4-BE49-F238E27FC236}">
                <a16:creationId xmlns:a16="http://schemas.microsoft.com/office/drawing/2014/main" id="{EA6A363E-7CD8-4587-8664-438EE97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4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5B"/>
                </a:solidFill>
                <a:latin typeface="Arial"/>
                <a:ea typeface="Arial"/>
                <a:cs typeface="Arial"/>
              </a:rPr>
              <a:t>AI connection is next. Today, the app organises the words you add.</a:t>
            </a:r>
          </a:p>
        </p:txBody>
      </p:sp>
    </p:spTree>
    <p:extLst>
      <p:ext uri="{BB962C8B-B14F-4D97-AF65-F5344CB8AC3E}">
        <p14:creationId xmlns:p14="http://schemas.microsoft.com/office/powerpoint/2010/main" val="1306055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F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C1CEC-8ED2-4C47-A854-F1A154D0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60–90 day pilot can test this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26A8-23BD-406C-BA0A-A0E3846B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BEBC5"/>
                </a:solidFill>
                <a:latin typeface="Arial"/>
                <a:ea typeface="Arial"/>
                <a:cs typeface="Arial"/>
              </a:rPr>
              <a:t>Clinical collaborators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A6BD9-1771-4A5C-BAED-87171BE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276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Sharada Vinod Kutty</a:t>
            </a:r>
          </a:p>
          <a:p xmlns:a="http://schemas.openxmlformats.org/drawingml/2006/main">
            <a:pPr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Sujay Halkur Shankar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36E87-81D7-4547-8495-1E8000F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BEBC5"/>
                </a:solidFill>
                <a:latin typeface="Arial"/>
                <a:ea typeface="Arial"/>
                <a:cs typeface="Arial"/>
              </a:rPr>
              <a:t>Product and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5691D-32D3-4E3A-85B0-F52FDC8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257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Shaik Abdul Basith</a:t>
            </a:r>
          </a:p>
          <a:p xmlns:a="http://schemas.openxmlformats.org/drawingml/2006/main">
            <a:pPr>
              <a:buNone/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Shaik Muhammad Awaiz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8C321-DD5E-4054-94B2-5B98E8AE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BEBC5"/>
                </a:solidFill>
                <a:latin typeface="Arial"/>
                <a:ea typeface="Arial"/>
                <a:cs typeface="Arial"/>
              </a:rPr>
              <a:t>Proposed measures: source fidelity · clinician review time · retrieval success · follow-up closure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F40A0-4976-4E69-A40B-23231DCC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DBEB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BEBC5"/>
                </a:solidFill>
                <a:latin typeface="Arial"/>
                <a:ea typeface="Arial"/>
                <a:cs typeface="Arial"/>
              </a:rPr>
              <a:t>Public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253A2-B3A6-4FCA-9213-2AD71529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https://continuity-loop-healthathon.vercel.app/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89EB7-D896-40F0-9FB5-4C415A1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108489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link opens the current public prototype. The latest home and Today changes are in this local build.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68ABB-3335-4126-A4DF-75162F2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30"/>
          </a:solidFill>
          <a:ln xmlns:a="http://schemas.openxmlformats.org/drawingml/2006/main" w="0">
            <a:solidFill>
              <a:srgbClr val="123D30"/>
            </a:solidFill>
          </a:ln>
        </p:spPr>
      </p:sp>
      <p:sp>
        <p:nvSpPr>
          <p:cNvPr id="12" name="Clinical team">
            <a:extLst xmlns:a="http://schemas.openxmlformats.org/drawingml/2006/main">
              <a:ext uri="{FF2B5EF4-FFF2-40B4-BE49-F238E27FC236}">
                <a16:creationId xmlns:a16="http://schemas.microsoft.com/office/drawing/2014/main" id="{7C0A3880-C911-4D38-BF3C-5846D41E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F0E9"/>
                </a:solidFill>
                <a:latin typeface="Arial"/>
                <a:ea typeface="Arial"/>
                <a:cs typeface="Arial"/>
              </a:rPr>
              <a:t>Clinical collaborators</a:t>
            </a:r>
          </a:p>
        </p:txBody>
      </p:sp>
      <p:sp>
        <p:nvSpPr>
          <p:cNvPr id="13" name="Clinical names">
            <a:extLst xmlns:a="http://schemas.openxmlformats.org/drawingml/2006/main">
              <a:ext uri="{FF2B5EF4-FFF2-40B4-BE49-F238E27FC236}">
                <a16:creationId xmlns:a16="http://schemas.microsoft.com/office/drawing/2014/main" id="{4B3A459C-D544-4599-8C42-EE3C8EB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 Sharada Vinod Kutty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 Sujay Halkur Shankar</a:t>
            </a:r>
          </a:p>
        </p:txBody>
      </p:sp>
      <p:sp>
        <p:nvSpPr>
          <p:cNvPr id="14" name="Product team">
            <a:extLst xmlns:a="http://schemas.openxmlformats.org/drawingml/2006/main">
              <a:ext uri="{FF2B5EF4-FFF2-40B4-BE49-F238E27FC236}">
                <a16:creationId xmlns:a16="http://schemas.microsoft.com/office/drawing/2014/main" id="{387D0BF6-0C21-4555-99E8-305D0EB2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144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F0E9"/>
                </a:solidFill>
                <a:latin typeface="Arial"/>
                <a:ea typeface="Arial"/>
                <a:cs typeface="Arial"/>
              </a:rPr>
              <a:t>Product and technology</a:t>
            </a:r>
          </a:p>
        </p:txBody>
      </p:sp>
      <p:sp>
        <p:nvSpPr>
          <p:cNvPr id="15" name="Product names">
            <a:extLst xmlns:a="http://schemas.openxmlformats.org/drawingml/2006/main">
              <a:ext uri="{FF2B5EF4-FFF2-40B4-BE49-F238E27FC236}">
                <a16:creationId xmlns:a16="http://schemas.microsoft.com/office/drawing/2014/main" id="{60B3435C-22E7-4A8D-B1BE-ABD8916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Shaik Abdul Basith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Shaik Muhammad Awaiz</a:t>
            </a:r>
          </a:p>
        </p:txBody>
      </p:sp>
      <p:sp>
        <p:nvSpPr>
          <p:cNvPr id="16" name="Pilot measures title">
            <a:extLst xmlns:a="http://schemas.openxmlformats.org/drawingml/2006/main">
              <a:ext uri="{FF2B5EF4-FFF2-40B4-BE49-F238E27FC236}">
                <a16:creationId xmlns:a16="http://schemas.microsoft.com/office/drawing/2014/main" id="{AA94B72B-C40E-4043-ADFF-BB51CF3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765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F0E9"/>
                </a:solidFill>
                <a:latin typeface="Arial"/>
                <a:ea typeface="Arial"/>
                <a:cs typeface="Arial"/>
              </a:rPr>
              <a:t>Proposed pilot measures · 60–90 days</a:t>
            </a:r>
          </a:p>
        </p:txBody>
      </p:sp>
      <p:sp>
        <p:nvSpPr>
          <p:cNvPr id="17" name="Pilot measures">
            <a:extLst xmlns:a="http://schemas.openxmlformats.org/drawingml/2006/main">
              <a:ext uri="{FF2B5EF4-FFF2-40B4-BE49-F238E27FC236}">
                <a16:creationId xmlns:a16="http://schemas.microsoft.com/office/drawing/2014/main" id="{17548E93-1E7A-43E8-897A-0B7ADF4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 to write the note · Time to find it · Tasks accepted and done</a:t>
            </a:r>
          </a:p>
        </p:txBody>
      </p:sp>
      <p:sp>
        <p:nvSpPr>
          <p:cNvPr id="18" name="Prototype label">
            <a:extLst xmlns:a="http://schemas.openxmlformats.org/drawingml/2006/main">
              <a:ext uri="{FF2B5EF4-FFF2-40B4-BE49-F238E27FC236}">
                <a16:creationId xmlns:a16="http://schemas.microsoft.com/office/drawing/2014/main" id="{9A0FCA02-3A54-44ED-BA75-91C93878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5F0E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F0E9"/>
                </a:solidFill>
                <a:latin typeface="Arial"/>
                <a:ea typeface="Arial"/>
                <a:cs typeface="Arial"/>
              </a:rPr>
              <a:t>Public prototype</a:t>
            </a:r>
          </a:p>
        </p:txBody>
      </p:sp>
      <p:sp>
        <p:nvSpPr>
          <p:cNvPr id="19" name="Prototype address">
            <a:extLst xmlns:a="http://schemas.openxmlformats.org/drawingml/2006/main">
              <a:ext uri="{FF2B5EF4-FFF2-40B4-BE49-F238E27FC236}">
                <a16:creationId xmlns:a16="http://schemas.microsoft.com/office/drawing/2014/main" id="{5623055D-AB80-4A96-B57A-734EB08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https://continuity-loop-healthathon.vercel.app/</a:t>
            </a:r>
          </a:p>
        </p:txBody>
      </p:sp>
      <p:sp>
        <p:nvSpPr>
          <p:cNvPr id="20" name="QR prompt">
            <a:extLst xmlns:a="http://schemas.openxmlformats.org/drawingml/2006/main">
              <a:ext uri="{FF2B5EF4-FFF2-40B4-BE49-F238E27FC236}">
                <a16:creationId xmlns:a16="http://schemas.microsoft.com/office/drawing/2014/main" id="{97A56381-E206-495C-9C2A-073D0489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BE0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E0D6"/>
                </a:solidFill>
                <a:latin typeface="Arial"/>
                <a:ea typeface="Arial"/>
                <a:cs typeface="Arial"/>
              </a:rPr>
              <a:t>Scan to open the current prototype.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09C97-98E4-4611-9DF7-1750DEF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81525"/>
            <a:ext cx="14859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971567fec4bd2"/>
          <a:stretch xmlns:a="http://schemas.openxmlformats.org/drawingml/2006/main"/>
        </p:blipFill>
        <p:spPr>
          <a:xfrm xmlns:a="http://schemas.openxmlformats.org/drawingml/2006/main">
            <a:off x="10144125" y="464820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23" name="Closing line">
            <a:extLst xmlns:a="http://schemas.openxmlformats.org/drawingml/2006/main">
              <a:ext uri="{FF2B5EF4-FFF2-40B4-BE49-F238E27FC236}">
                <a16:creationId xmlns:a16="http://schemas.microsoft.com/office/drawing/2014/main" id="{03E68E80-98B4-462F-8D9D-5A29C0E5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hardest decisions shouldn’t be made without the right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13593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2026-09-23T19:24:37.6490000Z</dcterms:created>
  <dcterms:modified xsi:type="dcterms:W3CDTF">2026-09-23T19:24:37.6490000Z</dcterms:modified>
</coreProperties>
</file>