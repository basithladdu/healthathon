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4a4e7b8671417f" /><Relationship Type="http://schemas.openxmlformats.org/officeDocument/2006/relationships/extended-properties" Target="/docProps/app.xml" Id="Re3c63a6d31b64be4" /><Relationship Type="http://schemas.openxmlformats.org/officeDocument/2006/relationships/officeDocument" Target="/ppt/presentation.xml" Id="R61cd438f26db45ec" /></Relationships>
</file>

<file path=ppt/presentation.xml><?xml version="1.0" encoding="utf-8"?>
<p:presentation xmlns:p="http://schemas.openxmlformats.org/presentationml/2006/main">
  <p:sldMasterIdLst>
    <p:sldMasterId xmlns:r="http://schemas.openxmlformats.org/officeDocument/2006/relationships" id="2147483648" r:id="Rbe1742f7f6994887"/>
  </p:sldMasterIdLst>
  <p:notesMasterIdLst>
    <p:notesMasterId xmlns:r="http://schemas.openxmlformats.org/officeDocument/2006/relationships" r:id="Rb8bced7f8ce9410d"/>
  </p:notesMasterIdLst>
  <p:sldIdLst>
    <p:sldId xmlns:r="http://schemas.openxmlformats.org/officeDocument/2006/relationships" id="256" r:id="R9bca803e9efe462b"/>
    <p:sldId xmlns:r="http://schemas.openxmlformats.org/officeDocument/2006/relationships" id="257" r:id="Rd0e415eb56804263"/>
    <p:sldId xmlns:r="http://schemas.openxmlformats.org/officeDocument/2006/relationships" id="258" r:id="Rfea40669d9bb4ef6"/>
    <p:sldId xmlns:r="http://schemas.openxmlformats.org/officeDocument/2006/relationships" id="259" r:id="Rac94f6e2bc1f48cb"/>
    <p:sldId xmlns:r="http://schemas.openxmlformats.org/officeDocument/2006/relationships" id="260" r:id="R000d50fadac64ca1"/>
    <p:sldId xmlns:r="http://schemas.openxmlformats.org/officeDocument/2006/relationships" id="261" r:id="R543348bd84824adc"/>
    <p:sldId xmlns:r="http://schemas.openxmlformats.org/officeDocument/2006/relationships" id="262" r:id="R81f4ab2fe544442d"/>
    <p:sldId xmlns:r="http://schemas.openxmlformats.org/officeDocument/2006/relationships" id="263" r:id="Rfd8568672a7f4f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ed201069f940cd" /><Relationship Type="http://schemas.openxmlformats.org/officeDocument/2006/relationships/slideMaster" Target="/ppt/slideMasters/slideMaster1.xml" Id="Rbe1742f7f6994887" /><Relationship Type="http://schemas.openxmlformats.org/officeDocument/2006/relationships/notesMaster" Target="/ppt/notesMasters/notesMaster1.xml" Id="Rb8bced7f8ce9410d" /><Relationship Type="http://schemas.openxmlformats.org/officeDocument/2006/relationships/presProps" Target="/ppt/presProps.xml" Id="R81f4c3f4f56345f5" /><Relationship Type="http://schemas.openxmlformats.org/officeDocument/2006/relationships/tableStyles" Target="/ppt/tableStyles.xml" Id="R2383fbecd7f549c8" /><Relationship Type="http://schemas.openxmlformats.org/officeDocument/2006/relationships/slide" Target="/ppt/slides/slide1.xml" Id="R9bca803e9efe462b" /><Relationship Type="http://schemas.openxmlformats.org/officeDocument/2006/relationships/slide" Target="/ppt/slides/slide2.xml" Id="Rd0e415eb56804263" /><Relationship Type="http://schemas.openxmlformats.org/officeDocument/2006/relationships/slide" Target="/ppt/slides/slide3.xml" Id="Rfea40669d9bb4ef6" /><Relationship Type="http://schemas.openxmlformats.org/officeDocument/2006/relationships/slide" Target="/ppt/slides/slide4.xml" Id="Rac94f6e2bc1f48cb" /><Relationship Type="http://schemas.openxmlformats.org/officeDocument/2006/relationships/slide" Target="/ppt/slides/slide5.xml" Id="R000d50fadac64ca1" /><Relationship Type="http://schemas.openxmlformats.org/officeDocument/2006/relationships/slide" Target="/ppt/slides/slide6.xml" Id="R543348bd84824adc" /><Relationship Type="http://schemas.openxmlformats.org/officeDocument/2006/relationships/slide" Target="/ppt/slides/slide7.xml" Id="R81f4ab2fe544442d" /><Relationship Type="http://schemas.openxmlformats.org/officeDocument/2006/relationships/slide" Target="/ppt/slides/slide8.xml" Id="Rfd8568672a7f4f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6a69d3a2104d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507c1816a34811" /><Relationship Type="http://schemas.openxmlformats.org/officeDocument/2006/relationships/notesMaster" Target="/ppt/notesMasters/notesMaster1.xml" Id="Rcb24e26141774c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f7640a8945480d" /><Relationship Type="http://schemas.openxmlformats.org/officeDocument/2006/relationships/notesMaster" Target="/ppt/notesMasters/notesMaster1.xml" Id="R616db947a5d74c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82887856174b63" /><Relationship Type="http://schemas.openxmlformats.org/officeDocument/2006/relationships/notesMaster" Target="/ppt/notesMasters/notesMaster1.xml" Id="R22be8ce197e04f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ffcb81a1c44a64" /><Relationship Type="http://schemas.openxmlformats.org/officeDocument/2006/relationships/notesMaster" Target="/ppt/notesMasters/notesMaster1.xml" Id="Rc934f80b8e684d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2ec07026fe490b" /><Relationship Type="http://schemas.openxmlformats.org/officeDocument/2006/relationships/notesMaster" Target="/ppt/notesMasters/notesMaster1.xml" Id="Rbd604c508eda4c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3ed709ea6d4f27" /><Relationship Type="http://schemas.openxmlformats.org/officeDocument/2006/relationships/notesMaster" Target="/ppt/notesMasters/notesMaster1.xml" Id="Re5f7dd611b7e40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53df5cf25841fb" /><Relationship Type="http://schemas.openxmlformats.org/officeDocument/2006/relationships/notesMaster" Target="/ppt/notesMasters/notesMaster1.xml" Id="Rc4a5239c1e8a42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adfb62e71c4b2e" /><Relationship Type="http://schemas.openxmlformats.org/officeDocument/2006/relationships/notesMaster" Target="/ppt/notesMasters/notesMaster1.xml" Id="Ra6200302dbde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Continuity Loop supports clinician-controlled goals-of-care documentation and follow-up for people with advanced cancer. The doctor/care team is the primary user. Current prototype is synthetic and browser-local. The care scene is an AI-generated editorial illustration, not a photo or a clinical-pilot record.</a:t>
            </a:r>
          </a:p>
          <a:p xmlns:a="http://schemas.openxmlformats.org/drawingml/2006/main">
            <a:r>
              <a:t/>
            </a:r>
          </a:p>
          <a:p xmlns:a="http://schemas.openxmlformats.org/drawingml/2006/main">
            <a:r>
              <a:t>[Sources]</a:t>
            </a:r>
          </a:p>
          <a:p xmlns:a="http://schemas.openxmlformats.org/drawingml/2006/main">
            <a:r>
              <a:t>- submission.md, sections 1-4</a:t>
            </a:r>
          </a:p>
          <a:p xmlns:a="http://schemas.openxmlformats.org/drawingml/2006/main">
            <a:r>
              <a:t>- PRODUCT_REQUIREMENTS.md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problem describes conversations spread across notes, visits and institutions. Families may need to repeat distressing discussions, and receiving clinicians can lack the current reviewed context. This is the proposed problem framing, not a quantified prevalence claim. Image is an AI-generated editorial illustration.</a:t>
            </a:r>
          </a:p>
          <a:p xmlns:a="http://schemas.openxmlformats.org/drawingml/2006/main">
            <a:r>
              <a:t/>
            </a:r>
          </a:p>
          <a:p xmlns:a="http://schemas.openxmlformats.org/drawingml/2006/main">
            <a:r>
              <a:t>[Sources]</a:t>
            </a:r>
          </a:p>
          <a:p xmlns:a="http://schemas.openxmlformats.org/drawingml/2006/main">
            <a:r>
              <a:t>- submission.md, section 2</a:t>
            </a:r>
          </a:p>
          <a:p xmlns:a="http://schemas.openxmlformats.org/drawingml/2006/main">
            <a:r>
              <a:t>- GOCD_PDF_AUDIT.md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workflow illustration, not an app screenshot. Discussion-status examples are synthetic. Review resolves clarification blockers before physician release. Authorised retrieval records the care relationship and access purpose. Released versions are never silently overwritten. Product-surface artwork may be replaced by the teammate's final app capture after it is built and checked.</a:t>
            </a:r>
          </a:p>
          <a:p xmlns:a="http://schemas.openxmlformats.org/drawingml/2006/main">
            <a:r>
              <a:t/>
            </a:r>
          </a:p>
          <a:p xmlns:a="http://schemas.openxmlformats.org/drawingml/2006/main">
            <a:r>
              <a:t>[Sources]</a:t>
            </a:r>
          </a:p>
          <a:p xmlns:a="http://schemas.openxmlformats.org/drawingml/2006/main">
            <a:r>
              <a:t>- submission.md, section 3</a:t>
            </a:r>
          </a:p>
          <a:p xmlns:a="http://schemas.openxmlformats.org/drawingml/2006/main">
            <a:r>
              <a:t>- PRODUCT_REQUIREMENTS.md</a:t>
            </a:r>
          </a:p>
          <a:p xmlns:a="http://schemas.openxmlformats.org/drawingml/2006/main">
            <a:r>
              <a:t>- PROTOTYPE_HANDOFF.md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is based on the existing prototype and clinician-led requirements. Follow-up belongs to a named coordinator or clinician; the clinician sets review timing. The system does not choose treatment or automate clinical decisions. The return connector represents explicit revision and follow-up, not background automation.</a:t>
            </a:r>
          </a:p>
          <a:p xmlns:a="http://schemas.openxmlformats.org/drawingml/2006/main">
            <a:r>
              <a:t/>
            </a:r>
          </a:p>
          <a:p xmlns:a="http://schemas.openxmlformats.org/drawingml/2006/main">
            <a:r>
              <a:t>[Sources]</a:t>
            </a:r>
          </a:p>
          <a:p xmlns:a="http://schemas.openxmlformats.org/drawingml/2006/main">
            <a:r>
              <a:t>- PRODUCT_REQUIREMENTS.md</a:t>
            </a:r>
          </a:p>
          <a:p xmlns:a="http://schemas.openxmlformats.org/drawingml/2006/main">
            <a:r>
              <a:t>- submission.md, section 3</a:t>
            </a:r>
          </a:p>
          <a:p xmlns:a="http://schemas.openxmlformats.org/drawingml/2006/main">
            <a:r>
              <a:t>- PROTOTYPE_HANDOFF.md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quoted synthetic note and structured field are carried over from the previous visual deck. This is a documentation example, not medical advice or patient evidence. Discussed is not equivalent to automatic publication; physician review and all required release checks still apply. Missing preferences remain unfilled. No external AI model is active in this prototype.</a:t>
            </a:r>
          </a:p>
          <a:p xmlns:a="http://schemas.openxmlformats.org/drawingml/2006/main">
            <a:r>
              <a:t/>
            </a:r>
          </a:p>
          <a:p xmlns:a="http://schemas.openxmlformats.org/drawingml/2006/main">
            <a:r>
              <a:t>[Sources]</a:t>
            </a:r>
          </a:p>
          <a:p xmlns:a="http://schemas.openxmlformats.org/drawingml/2006/main">
            <a:r>
              <a:t>- tmp/pitch-deck/build_healthathon_visual_deck.mjs, original source-linked example</a:t>
            </a:r>
          </a:p>
          <a:p xmlns:a="http://schemas.openxmlformats.org/drawingml/2006/main">
            <a:r>
              <a:t>- submission.md, sections 3-4</a:t>
            </a:r>
          </a:p>
          <a:p xmlns:a="http://schemas.openxmlformats.org/drawingml/2006/main">
            <a:r>
              <a:t>- PRODUCT_REQUIREMENTS.md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captured in Chrome from the local prototype after pulling commit 2fb5ebb on 13 September 2026 and repairing map remounting, consent availability, appointment dialog resets and QR readiness. All patient details are synthetic. Nearby places and map tiles come from public Photon/OpenStreetMap services. Browser checks covered desktop and 390-pixel layouts. The app has no production authentication, durable clinical database, live AI model, messaging or EHR/ABDM connection. Planned next work remains source-grounded transcription, durable storage and access control, multilingual evaluation, hospital integration and a clinician-owned pilot. No clinical outcomes or model accuracy have been established.</a:t>
            </a:r>
          </a:p>
          <a:p xmlns:a="http://schemas.openxmlformats.org/drawingml/2006/main">
            <a:r>
              <a:t/>
            </a:r>
          </a:p>
          <a:p xmlns:a="http://schemas.openxmlformats.org/drawingml/2006/main">
            <a:r>
              <a:t>[Sources]</a:t>
            </a:r>
          </a:p>
          <a:p xmlns:a="http://schemas.openxmlformats.org/drawingml/2006/main">
            <a:r>
              <a:t>- prototype/app/appointments-page.tsx</a:t>
            </a:r>
          </a:p>
          <a:p xmlns:a="http://schemas.openxmlformats.org/drawingml/2006/main">
            <a:r>
              <a:t>- prototype/app/care-near-me.tsx</a:t>
            </a:r>
          </a:p>
          <a:p xmlns:a="http://schemas.openxmlformats.org/drawingml/2006/main">
            <a:r>
              <a:t>- submission/screenshots/README.md</a:t>
            </a:r>
          </a:p>
          <a:p xmlns:a="http://schemas.openxmlformats.org/drawingml/2006/main">
            <a:r>
              <a:t>- PROTOTYPE_HANDOFF.md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planned scope, targets or invariants, not achieved outcomes. The source plan specifies 20 synthetic or fully anonymised scenarios, eight domains, a retrieval target below 30 seconds, and zero unstated preferences filled in. Clinicians must agree the domains, reference records and unresolved cases before testing. Follow-up closure and visible uncertainty are also to be measured. No clinical benefit or model accuracy has been established.</a:t>
            </a:r>
          </a:p>
          <a:p xmlns:a="http://schemas.openxmlformats.org/drawingml/2006/main">
            <a:r>
              <a:t/>
            </a:r>
          </a:p>
          <a:p xmlns:a="http://schemas.openxmlformats.org/drawingml/2006/main">
            <a:r>
              <a:t>[Sources]</a:t>
            </a:r>
          </a:p>
          <a:p xmlns:a="http://schemas.openxmlformats.org/drawingml/2006/main">
            <a:r>
              <a:t>- PITCH_READINESS.md, proposed Round 1 and validation targets</a:t>
            </a:r>
          </a:p>
          <a:p xmlns:a="http://schemas.openxmlformats.org/drawingml/2006/main">
            <a:r>
              <a:t>- PITCH_EVIDENCE_MAP.md, slide 7</a:t>
            </a:r>
          </a:p>
          <a:p xmlns:a="http://schemas.openxmlformats.org/drawingml/2006/main">
            <a:r>
              <a:t>- PRODUCT_REQUIREMENTS.md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two clinicians, one coordinator, agreed scenarios and a named pilot owner. Clinical owners define discussion domains and review rules. A pilot partner chooses the care context across oncology, palliative, emergency or home settings. The QR is the existing prototype QR and points to https://continuity-loop-healthathon.vercel.app/. It does not link to a completed pilot. The image is an AI-generated editorial illustration. Replace concept diagrams with real final app captures only after the teammate's UI is built and verified.</a:t>
            </a:r>
          </a:p>
          <a:p xmlns:a="http://schemas.openxmlformats.org/drawingml/2006/main">
            <a:r>
              <a:t/>
            </a:r>
          </a:p>
          <a:p xmlns:a="http://schemas.openxmlformats.org/drawingml/2006/main">
            <a:r>
              <a:t>[Sources]</a:t>
            </a:r>
          </a:p>
          <a:p xmlns:a="http://schemas.openxmlformats.org/drawingml/2006/main">
            <a:r>
              <a:t>- submission.md</a:t>
            </a:r>
          </a:p>
          <a:p xmlns:a="http://schemas.openxmlformats.org/drawingml/2006/main">
            <a:r>
              <a:t>- TEAM_HANDOFF.md</a:t>
            </a:r>
          </a:p>
          <a:p xmlns:a="http://schemas.openxmlformats.org/drawingml/2006/main">
            <a:r>
              <a:t>- PITCH_READINESS.md</a:t>
            </a:r>
          </a:p>
          <a:p xmlns:a="http://schemas.openxmlformats.org/drawingml/2006/main">
            <a:r>
              <a:t>- visual-assets/README.md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6cb4fb2cff49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667917fba243f4" /><Relationship Type="http://schemas.openxmlformats.org/officeDocument/2006/relationships/slideLayout" Target="/ppt/slideLayouts/slideLayout1.xml" Id="Rcb6b3b1e956349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6b3b1e956349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fece7fe2d64053" /><Relationship Type="http://schemas.openxmlformats.org/officeDocument/2006/relationships/image" Target="/ppt/media/image.png" Id="Rf947f688886340c6" /><Relationship Type="http://schemas.openxmlformats.org/officeDocument/2006/relationships/notesSlide" Target="/ppt/notesSlides/notesSlide1.xml" Id="Rf364e7f882c449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8e79e9a0814d9d" /><Relationship Type="http://schemas.openxmlformats.org/officeDocument/2006/relationships/image" Target="/ppt/media/image2.png" Id="R94ad20dad20e4fef" /><Relationship Type="http://schemas.openxmlformats.org/officeDocument/2006/relationships/notesSlide" Target="/ppt/notesSlides/notesSlide2.xml" Id="R65d918056c084c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76c62c002d4e12" /><Relationship Type="http://schemas.openxmlformats.org/officeDocument/2006/relationships/notesSlide" Target="/ppt/notesSlides/notesSlide3.xml" Id="R59df5430cfb647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4e3c92fde64a24" /><Relationship Type="http://schemas.openxmlformats.org/officeDocument/2006/relationships/notesSlide" Target="/ppt/notesSlides/notesSlide4.xml" Id="Racb9d945812844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c82b05c54a4968" /><Relationship Type="http://schemas.openxmlformats.org/officeDocument/2006/relationships/notesSlide" Target="/ppt/notesSlides/notesSlide5.xml" Id="R0dab94f4d5e641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847eadd144454f" /><Relationship Type="http://schemas.openxmlformats.org/officeDocument/2006/relationships/image" Target="/ppt/media/image.jpeg" Id="Rf5fa3f9f1df44500" /><Relationship Type="http://schemas.openxmlformats.org/officeDocument/2006/relationships/image" Target="/ppt/media/image2.jpeg" Id="R29078434a27a4ecd" /><Relationship Type="http://schemas.openxmlformats.org/officeDocument/2006/relationships/notesSlide" Target="/ppt/notesSlides/notesSlide6.xml" Id="R2fa499f7423643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7456ca9d544493" /><Relationship Type="http://schemas.openxmlformats.org/officeDocument/2006/relationships/notesSlide" Target="/ppt/notesSlides/notesSlide7.xml" Id="R60e68135d7ba45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039912d3e348c8" /><Relationship Type="http://schemas.openxmlformats.org/officeDocument/2006/relationships/image" Target="/ppt/media/image3.png" Id="Re7a0816ee76a4ab9" /><Relationship Type="http://schemas.openxmlformats.org/officeDocument/2006/relationships/image" Target="/ppt/media/image4.png" Id="R718339827ff1465d" /><Relationship Type="http://schemas.openxmlformats.org/officeDocument/2006/relationships/notesSlide" Target="/ppt/notesSlides/notesSlide8.xml" Id="Rbf523b681f474420" /></Relationships>
</file>

<file path=ppt/slides/slide1.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10" name="accent">
            <a:extLst xmlns:a="http://schemas.openxmlformats.org/drawingml/2006/main">
              <a:ext uri="{FF2B5EF4-FFF2-40B4-BE49-F238E27FC236}">
                <a16:creationId xmlns:a16="http://schemas.microsoft.com/office/drawing/2014/main" id="{0243A253-7F3A-4436-BFB1-9FCDD9ACCE2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round">
            <a:extLst xmlns:a="http://schemas.openxmlformats.org/drawingml/2006/main">
              <a:ext uri="{FF2B5EF4-FFF2-40B4-BE49-F238E27FC236}">
                <a16:creationId xmlns:a16="http://schemas.microsoft.com/office/drawing/2014/main" id="{7D14132E-2E81-4732-A174-C2824BBC36CF}"/>
              </a:ext>
            </a:extLst>
          </p:cNvPr>
          <p:cNvSpPr>
            <a:spLocks xmlns:a="http://schemas.openxmlformats.org/drawingml/2006/main" noGrp="1"/>
          </p:cNvSpPr>
          <p:nvPr/>
        </p:nvSpPr>
        <p:spPr>
          <a:xfrm xmlns:a="http://schemas.openxmlformats.org/drawingml/2006/main">
            <a:off x="533400" y="485775"/>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F4B45E"/>
                </a:solidFill>
                <a:latin typeface="Helvetica Neue"/>
                <a:ea typeface="Helvetica Neue"/>
                <a:cs typeface="Helvetica Neue"/>
              </a:defRPr>
            </a:pPr>
            <a:r>
              <a:rPr sz="1275" b="1">
                <a:solidFill>
                  <a:srgbClr val="F4B45E"/>
                </a:solidFill>
                <a:latin typeface="Helvetica Neue"/>
                <a:ea typeface="Helvetica Neue"/>
                <a:cs typeface="Helvetica Neue"/>
              </a:rPr>
              <a:t>HEALTH-A-THON 2026</a:t>
            </a:r>
          </a:p>
        </p:txBody>
      </p:sp>
      <p:sp>
        <p:nvSpPr>
          <p:cNvPr id="3" name="product">
            <a:extLst xmlns:a="http://schemas.openxmlformats.org/drawingml/2006/main">
              <a:ext uri="{FF2B5EF4-FFF2-40B4-BE49-F238E27FC236}">
                <a16:creationId xmlns:a16="http://schemas.microsoft.com/office/drawing/2014/main" id="{36F23514-8CFE-4AD8-80EF-65B58854F74A}"/>
              </a:ext>
            </a:extLst>
          </p:cNvPr>
          <p:cNvSpPr>
            <a:spLocks xmlns:a="http://schemas.openxmlformats.org/drawingml/2006/main" noGrp="1"/>
          </p:cNvSpPr>
          <p:nvPr/>
        </p:nvSpPr>
        <p:spPr>
          <a:xfrm xmlns:a="http://schemas.openxmlformats.org/drawingml/2006/main">
            <a:off x="533400" y="1257300"/>
            <a:ext cx="46863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Continuity</a:t>
            </a:r>
          </a:p>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Loop</a:t>
            </a:r>
          </a:p>
        </p:txBody>
      </p:sp>
      <p:sp>
        <p:nvSpPr>
          <p:cNvPr id="4" name="promise">
            <a:extLst xmlns:a="http://schemas.openxmlformats.org/drawingml/2006/main">
              <a:ext uri="{FF2B5EF4-FFF2-40B4-BE49-F238E27FC236}">
                <a16:creationId xmlns:a16="http://schemas.microsoft.com/office/drawing/2014/main" id="{E0BF77F0-37CD-4966-9ADB-1379AF64DE77}"/>
              </a:ext>
            </a:extLst>
          </p:cNvPr>
          <p:cNvSpPr>
            <a:spLocks xmlns:a="http://schemas.openxmlformats.org/drawingml/2006/main" noGrp="1"/>
          </p:cNvSpPr>
          <p:nvPr/>
        </p:nvSpPr>
        <p:spPr>
          <a:xfrm xmlns:a="http://schemas.openxmlformats.org/drawingml/2006/main">
            <a:off x="552450" y="314325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Goals-of-care conversations</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that the next clinician can find</a:t>
            </a:r>
          </a:p>
        </p:txBody>
      </p:sp>
      <p:sp>
        <p:nvSpPr>
          <p:cNvPr id="5" name="scope">
            <a:extLst xmlns:a="http://schemas.openxmlformats.org/drawingml/2006/main">
              <a:ext uri="{FF2B5EF4-FFF2-40B4-BE49-F238E27FC236}">
                <a16:creationId xmlns:a16="http://schemas.microsoft.com/office/drawing/2014/main" id="{C98311CE-3275-4D5C-9B73-85A0226EFC36}"/>
              </a:ext>
            </a:extLst>
          </p:cNvPr>
          <p:cNvSpPr>
            <a:spLocks xmlns:a="http://schemas.openxmlformats.org/drawingml/2006/main" noGrp="1"/>
          </p:cNvSpPr>
          <p:nvPr/>
        </p:nvSpPr>
        <p:spPr>
          <a:xfrm xmlns:a="http://schemas.openxmlformats.org/drawingml/2006/main">
            <a:off x="552450" y="4752975"/>
            <a:ext cx="4438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CEE1E9"/>
                </a:solidFill>
                <a:latin typeface="Helvetica Neue"/>
                <a:ea typeface="Helvetica Neue"/>
                <a:cs typeface="Helvetica Neue"/>
              </a:defRPr>
            </a:pPr>
            <a:r>
              <a:rPr sz="1650" b="0">
                <a:solidFill>
                  <a:srgbClr val="CEE1E9"/>
                </a:solidFill>
                <a:latin typeface="Helvetica Neue"/>
                <a:ea typeface="Helvetica Neue"/>
                <a:cs typeface="Helvetica Neue"/>
              </a:rPr>
              <a:t>Cancer care</a:t>
            </a:r>
          </a:p>
          <a:p xmlns:a="http://schemas.openxmlformats.org/drawingml/2006/main">
            <a:pPr>
              <a:defRPr sz="1650" b="0">
                <a:solidFill>
                  <a:srgbClr val="CEE1E9"/>
                </a:solidFill>
                <a:latin typeface="Helvetica Neue"/>
                <a:ea typeface="Helvetica Neue"/>
                <a:cs typeface="Helvetica Neue"/>
              </a:defRPr>
            </a:pPr>
            <a:r>
              <a:rPr sz="1650" b="0">
                <a:solidFill>
                  <a:srgbClr val="CEE1E9"/>
                </a:solidFill>
                <a:latin typeface="Helvetica Neue"/>
                <a:ea typeface="Helvetica Neue"/>
                <a:cs typeface="Helvetica Neue"/>
              </a:rPr>
              <a:t>Patient follow-up &amp; continuity of care</a:t>
            </a:r>
          </a:p>
        </p:txBody>
      </p:sp>
      <p:sp>
        <p:nvSpPr>
          <p:cNvPr id="6" name="state">
            <a:extLst xmlns:a="http://schemas.openxmlformats.org/drawingml/2006/main">
              <a:ext uri="{FF2B5EF4-FFF2-40B4-BE49-F238E27FC236}">
                <a16:creationId xmlns:a16="http://schemas.microsoft.com/office/drawing/2014/main" id="{3F18D210-9B7B-4C74-B79C-BC27D6453A6D}"/>
              </a:ext>
            </a:extLst>
          </p:cNvPr>
          <p:cNvSpPr>
            <a:spLocks xmlns:a="http://schemas.openxmlformats.org/drawingml/2006/main" noGrp="1"/>
          </p:cNvSpPr>
          <p:nvPr/>
        </p:nvSpPr>
        <p:spPr>
          <a:xfrm xmlns:a="http://schemas.openxmlformats.org/drawingml/2006/main">
            <a:off x="552450" y="575310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4B45E"/>
                </a:solidFill>
                <a:latin typeface="Helvetica Neue"/>
                <a:ea typeface="Helvetica Neue"/>
                <a:cs typeface="Helvetica Neue"/>
              </a:defRPr>
            </a:pPr>
            <a:r>
              <a:rPr sz="1200" b="1">
                <a:solidFill>
                  <a:srgbClr val="F4B45E"/>
                </a:solidFill>
                <a:latin typeface="Helvetica Neue"/>
                <a:ea typeface="Helvetica Neue"/>
                <a:cs typeface="Helvetica Neue"/>
              </a:rPr>
              <a:t>SYNTHETIC MVP  /  PHYSICIAN REVIEW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947f688886340c6"/>
          <a:srcRect xmlns:a="http://schemas.openxmlformats.org/drawingml/2006/main" l="8333" t="0" r="8333" b="0"/>
          <a:stretch xmlns:a="http://schemas.openxmlformats.org/drawingml/2006/main">
            <a:fillRect l="0" t="0" r="0" b="0"/>
          </a:stretch>
        </p:blipFill>
        <p:spPr>
          <a:xfrm xmlns:a="http://schemas.openxmlformats.org/drawingml/2006/main">
            <a:off x="5324475" y="781050"/>
            <a:ext cx="6334125" cy="5067300"/>
          </a:xfrm>
          <a:prstGeom xmlns:a="http://schemas.openxmlformats.org/drawingml/2006/main" prst="rect">
            <a:avLst/>
          </a:prstGeom>
        </p:spPr>
      </p:pic>
      <p:sp>
        <p:nvSpPr>
          <p:cNvPr id="8" name="footer">
            <a:extLst xmlns:a="http://schemas.openxmlformats.org/drawingml/2006/main">
              <a:ext uri="{FF2B5EF4-FFF2-40B4-BE49-F238E27FC236}">
                <a16:creationId xmlns:a16="http://schemas.microsoft.com/office/drawing/2014/main" id="{9C425B3E-F37F-4832-A6B3-61A9D2BC2106}"/>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7CDDC"/>
                </a:solidFill>
                <a:latin typeface="Helvetica Neue"/>
                <a:ea typeface="Helvetica Neue"/>
                <a:cs typeface="Helvetica Neue"/>
              </a:defRPr>
            </a:pPr>
            <a:r>
              <a:rPr sz="1050" b="0">
                <a:solidFill>
                  <a:srgbClr val="B7CDDC"/>
                </a:solidFill>
                <a:latin typeface="Helvetica Neue"/>
                <a:ea typeface="Helvetica Neue"/>
                <a:cs typeface="Helvetica Neue"/>
              </a:rPr>
              <a:t>CONTINUITY LOOP  /  HEALTH-A-THON 2026</a:t>
            </a:r>
          </a:p>
        </p:txBody>
      </p:sp>
      <p:sp>
        <p:nvSpPr>
          <p:cNvPr id="9" name="folio">
            <a:extLst xmlns:a="http://schemas.openxmlformats.org/drawingml/2006/main">
              <a:ext uri="{FF2B5EF4-FFF2-40B4-BE49-F238E27FC236}">
                <a16:creationId xmlns:a16="http://schemas.microsoft.com/office/drawing/2014/main" id="{0E1B9C70-5854-4F09-8749-56C8477650CB}"/>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B7CDDC"/>
                </a:solidFill>
                <a:latin typeface="Helvetica Neue"/>
                <a:ea typeface="Helvetica Neue"/>
                <a:cs typeface="Helvetica Neue"/>
              </a:defRPr>
            </a:pPr>
            <a:r>
              <a:rPr sz="1275" b="1">
                <a:solidFill>
                  <a:srgbClr val="B7CDDC"/>
                </a:solidFill>
                <a:latin typeface="Helvetica Neue"/>
                <a:ea typeface="Helvetica Neue"/>
                <a:cs typeface="Helvetica Neue"/>
              </a:rPr>
              <a:t>01</a:t>
            </a:r>
          </a:p>
        </p:txBody>
      </p:sp>
    </p:spTree>
    <p:extLst>
      <p:ext uri="{BB962C8B-B14F-4D97-AF65-F5344CB8AC3E}">
        <p14:creationId xmlns:p14="http://schemas.microsoft.com/office/powerpoint/2010/main" val="1425746381"/>
      </p:ext>
    </p:extLst>
  </p:cSld>
</p:sld>
</file>

<file path=ppt/slides/slide2.xml><?xml version="1.0" encoding="utf-8"?>
<p:sld xmlns:p="http://schemas.openxmlformats.org/presentationml/2006/main">
  <p:cSld>
    <p:bg>
      <p:bgPr>
        <a:solidFill xmlns:a="http://schemas.openxmlformats.org/drawingml/2006/main">
          <a:srgbClr val="FFF1DC"/>
        </a:solidFill>
      </p:bgPr>
    </p:bg>
    <p:spTree>
      <p:nvGrpSpPr>
        <p:cNvPr id="1" name=""/>
        <p:cNvGrpSpPr/>
        <p:nvPr/>
      </p:nvGrpSpPr>
      <p:grpSpPr>
        <a:xfrm xmlns:a="http://schemas.openxmlformats.org/drawingml/2006/main"/>
      </p:grpSpPr>
      <p:sp>
        <p:nvSpPr>
          <p:cNvPr id="17" name="accent">
            <a:extLst xmlns:a="http://schemas.openxmlformats.org/drawingml/2006/main">
              <a:ext uri="{FF2B5EF4-FFF2-40B4-BE49-F238E27FC236}">
                <a16:creationId xmlns:a16="http://schemas.microsoft.com/office/drawing/2014/main" id="{7838E43B-3BEC-4A39-A0B5-6F13539328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C5C7BA74-2CE7-408B-8E0A-DAF87CA743D8}"/>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Care moves between settings.</a:t>
            </a:r>
          </a:p>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conversation can get left behind.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4ad20dad20e4fef"/>
          <a:stretch xmlns:a="http://schemas.openxmlformats.org/drawingml/2006/main"/>
        </p:blipFill>
        <p:spPr>
          <a:xfrm xmlns:a="http://schemas.openxmlformats.org/drawingml/2006/main">
            <a:off x="533400" y="1800225"/>
            <a:ext cx="6286500" cy="4191000"/>
          </a:xfrm>
          <a:prstGeom xmlns:a="http://schemas.openxmlformats.org/drawingml/2006/main" prst="rect">
            <a:avLst/>
          </a:prstGeom>
        </p:spPr>
      </p:pic>
      <p:sp>
        <p:nvSpPr>
          <p:cNvPr id="4" name="problem-n-0">
            <a:extLst xmlns:a="http://schemas.openxmlformats.org/drawingml/2006/main">
              <a:ext uri="{FF2B5EF4-FFF2-40B4-BE49-F238E27FC236}">
                <a16:creationId xmlns:a16="http://schemas.microsoft.com/office/drawing/2014/main" id="{E8FF4BFC-F8AB-4AB5-AFE5-422074CAB049}"/>
              </a:ext>
            </a:extLst>
          </p:cNvPr>
          <p:cNvSpPr>
            <a:spLocks xmlns:a="http://schemas.openxmlformats.org/drawingml/2006/main" noGrp="1"/>
          </p:cNvSpPr>
          <p:nvPr/>
        </p:nvSpPr>
        <p:spPr>
          <a:xfrm xmlns:a="http://schemas.openxmlformats.org/drawingml/2006/main">
            <a:off x="7239000" y="192405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01</a:t>
            </a:r>
          </a:p>
        </p:txBody>
      </p:sp>
      <p:sp>
        <p:nvSpPr>
          <p:cNvPr id="5" name="problem-h-0">
            <a:extLst xmlns:a="http://schemas.openxmlformats.org/drawingml/2006/main">
              <a:ext uri="{FF2B5EF4-FFF2-40B4-BE49-F238E27FC236}">
                <a16:creationId xmlns:a16="http://schemas.microsoft.com/office/drawing/2014/main" id="{1B93D0D1-719B-493D-9BE2-4D8743F102DE}"/>
              </a:ext>
            </a:extLst>
          </p:cNvPr>
          <p:cNvSpPr>
            <a:spLocks xmlns:a="http://schemas.openxmlformats.org/drawingml/2006/main" noGrp="1"/>
          </p:cNvSpPr>
          <p:nvPr/>
        </p:nvSpPr>
        <p:spPr>
          <a:xfrm xmlns:a="http://schemas.openxmlformats.org/drawingml/2006/main">
            <a:off x="7943850" y="1943100"/>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At the clinic</a:t>
            </a:r>
          </a:p>
        </p:txBody>
      </p:sp>
      <p:sp>
        <p:nvSpPr>
          <p:cNvPr id="6" name="problem-b-0">
            <a:extLst xmlns:a="http://schemas.openxmlformats.org/drawingml/2006/main">
              <a:ext uri="{FF2B5EF4-FFF2-40B4-BE49-F238E27FC236}">
                <a16:creationId xmlns:a16="http://schemas.microsoft.com/office/drawing/2014/main" id="{CF489DCC-4ADD-45B1-A036-D6B93424881D}"/>
              </a:ext>
            </a:extLst>
          </p:cNvPr>
          <p:cNvSpPr>
            <a:spLocks xmlns:a="http://schemas.openxmlformats.org/drawingml/2006/main" noGrp="1"/>
          </p:cNvSpPr>
          <p:nvPr/>
        </p:nvSpPr>
        <p:spPr>
          <a:xfrm xmlns:a="http://schemas.openxmlformats.org/drawingml/2006/main">
            <a:off x="7943850" y="2428875"/>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Some topics remain unresolved.</a:t>
            </a:r>
          </a:p>
        </p:txBody>
      </p:sp>
      <p:sp>
        <p:nvSpPr>
          <p:cNvPr id="7" name="problem-rule-0">
            <a:extLst xmlns:a="http://schemas.openxmlformats.org/drawingml/2006/main">
              <a:ext uri="{FF2B5EF4-FFF2-40B4-BE49-F238E27FC236}">
                <a16:creationId xmlns:a16="http://schemas.microsoft.com/office/drawing/2014/main" id="{9E074039-E97C-4A04-9366-8920214AE14A}"/>
              </a:ext>
            </a:extLst>
          </p:cNvPr>
          <p:cNvSpPr>
            <a:spLocks xmlns:a="http://schemas.openxmlformats.org/drawingml/2006/main" noGrp="1"/>
          </p:cNvSpPr>
          <p:nvPr/>
        </p:nvSpPr>
        <p:spPr>
          <a:xfrm xmlns:a="http://schemas.openxmlformats.org/drawingml/2006/main">
            <a:off x="7943850" y="2990850"/>
            <a:ext cx="3429000" cy="9525"/>
          </a:xfrm>
          <a:prstGeom xmlns:a="http://schemas.openxmlformats.org/drawingml/2006/main" prst="rect">
            <a:avLst/>
          </a:prstGeom>
          <a:solidFill xmlns:a="http://schemas.openxmlformats.org/drawingml/2006/main">
            <a:srgbClr val="DACBB8"/>
          </a:solidFill>
          <a:ln xmlns:a="http://schemas.openxmlformats.org/drawingml/2006/main" w="0">
            <a:noFill/>
            <a:prstDash val="solid"/>
          </a:ln>
        </p:spPr>
      </p:sp>
      <p:sp>
        <p:nvSpPr>
          <p:cNvPr id="8" name="problem-n-1">
            <a:extLst xmlns:a="http://schemas.openxmlformats.org/drawingml/2006/main">
              <a:ext uri="{FF2B5EF4-FFF2-40B4-BE49-F238E27FC236}">
                <a16:creationId xmlns:a16="http://schemas.microsoft.com/office/drawing/2014/main" id="{B1FBE01B-4861-41AC-95FE-8F8EBA2B06EF}"/>
              </a:ext>
            </a:extLst>
          </p:cNvPr>
          <p:cNvSpPr>
            <a:spLocks xmlns:a="http://schemas.openxmlformats.org/drawingml/2006/main" noGrp="1"/>
          </p:cNvSpPr>
          <p:nvPr/>
        </p:nvSpPr>
        <p:spPr>
          <a:xfrm xmlns:a="http://schemas.openxmlformats.org/drawingml/2006/main">
            <a:off x="7239000" y="320992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02</a:t>
            </a:r>
          </a:p>
        </p:txBody>
      </p:sp>
      <p:sp>
        <p:nvSpPr>
          <p:cNvPr id="9" name="problem-h-1">
            <a:extLst xmlns:a="http://schemas.openxmlformats.org/drawingml/2006/main">
              <a:ext uri="{FF2B5EF4-FFF2-40B4-BE49-F238E27FC236}">
                <a16:creationId xmlns:a16="http://schemas.microsoft.com/office/drawing/2014/main" id="{6ACE57DD-11D7-445D-B301-773AD8949A7D}"/>
              </a:ext>
            </a:extLst>
          </p:cNvPr>
          <p:cNvSpPr>
            <a:spLocks xmlns:a="http://schemas.openxmlformats.org/drawingml/2006/main" noGrp="1"/>
          </p:cNvSpPr>
          <p:nvPr/>
        </p:nvSpPr>
        <p:spPr>
          <a:xfrm xmlns:a="http://schemas.openxmlformats.org/drawingml/2006/main">
            <a:off x="7943850" y="3228975"/>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Between visits</a:t>
            </a:r>
          </a:p>
        </p:txBody>
      </p:sp>
      <p:sp>
        <p:nvSpPr>
          <p:cNvPr id="10" name="problem-b-1">
            <a:extLst xmlns:a="http://schemas.openxmlformats.org/drawingml/2006/main">
              <a:ext uri="{FF2B5EF4-FFF2-40B4-BE49-F238E27FC236}">
                <a16:creationId xmlns:a16="http://schemas.microsoft.com/office/drawing/2014/main" id="{B5E5D03E-A0DF-4F58-8DB4-48C2E5467BDC}"/>
              </a:ext>
            </a:extLst>
          </p:cNvPr>
          <p:cNvSpPr>
            <a:spLocks xmlns:a="http://schemas.openxmlformats.org/drawingml/2006/main" noGrp="1"/>
          </p:cNvSpPr>
          <p:nvPr/>
        </p:nvSpPr>
        <p:spPr>
          <a:xfrm xmlns:a="http://schemas.openxmlformats.org/drawingml/2006/main">
            <a:off x="7943850" y="3714750"/>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Priorities and questions can change.</a:t>
            </a:r>
          </a:p>
        </p:txBody>
      </p:sp>
      <p:sp>
        <p:nvSpPr>
          <p:cNvPr id="11" name="problem-rule-1">
            <a:extLst xmlns:a="http://schemas.openxmlformats.org/drawingml/2006/main">
              <a:ext uri="{FF2B5EF4-FFF2-40B4-BE49-F238E27FC236}">
                <a16:creationId xmlns:a16="http://schemas.microsoft.com/office/drawing/2014/main" id="{F305046E-89BF-44AD-8940-402E5E408DF3}"/>
              </a:ext>
            </a:extLst>
          </p:cNvPr>
          <p:cNvSpPr>
            <a:spLocks xmlns:a="http://schemas.openxmlformats.org/drawingml/2006/main" noGrp="1"/>
          </p:cNvSpPr>
          <p:nvPr/>
        </p:nvSpPr>
        <p:spPr>
          <a:xfrm xmlns:a="http://schemas.openxmlformats.org/drawingml/2006/main">
            <a:off x="7943850" y="4276725"/>
            <a:ext cx="3429000" cy="9525"/>
          </a:xfrm>
          <a:prstGeom xmlns:a="http://schemas.openxmlformats.org/drawingml/2006/main" prst="rect">
            <a:avLst/>
          </a:prstGeom>
          <a:solidFill xmlns:a="http://schemas.openxmlformats.org/drawingml/2006/main">
            <a:srgbClr val="DACBB8"/>
          </a:solidFill>
          <a:ln xmlns:a="http://schemas.openxmlformats.org/drawingml/2006/main" w="0">
            <a:noFill/>
            <a:prstDash val="solid"/>
          </a:ln>
        </p:spPr>
      </p:sp>
      <p:sp>
        <p:nvSpPr>
          <p:cNvPr id="12" name="problem-n-2">
            <a:extLst xmlns:a="http://schemas.openxmlformats.org/drawingml/2006/main">
              <a:ext uri="{FF2B5EF4-FFF2-40B4-BE49-F238E27FC236}">
                <a16:creationId xmlns:a16="http://schemas.microsoft.com/office/drawing/2014/main" id="{4E972F3E-062F-4EFD-B34B-56866E1C9A08}"/>
              </a:ext>
            </a:extLst>
          </p:cNvPr>
          <p:cNvSpPr>
            <a:spLocks xmlns:a="http://schemas.openxmlformats.org/drawingml/2006/main" noGrp="1"/>
          </p:cNvSpPr>
          <p:nvPr/>
        </p:nvSpPr>
        <p:spPr>
          <a:xfrm xmlns:a="http://schemas.openxmlformats.org/drawingml/2006/main">
            <a:off x="7239000" y="44958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EF972B"/>
                </a:solidFill>
                <a:latin typeface="Helvetica Neue"/>
                <a:ea typeface="Helvetica Neue"/>
                <a:cs typeface="Helvetica Neue"/>
              </a:defRPr>
            </a:pPr>
            <a:r>
              <a:rPr sz="2625" b="1">
                <a:solidFill>
                  <a:srgbClr val="EF972B"/>
                </a:solidFill>
                <a:latin typeface="Helvetica Neue"/>
                <a:ea typeface="Helvetica Neue"/>
                <a:cs typeface="Helvetica Neue"/>
              </a:rPr>
              <a:t>03</a:t>
            </a:r>
          </a:p>
        </p:txBody>
      </p:sp>
      <p:sp>
        <p:nvSpPr>
          <p:cNvPr id="13" name="problem-h-2">
            <a:extLst xmlns:a="http://schemas.openxmlformats.org/drawingml/2006/main">
              <a:ext uri="{FF2B5EF4-FFF2-40B4-BE49-F238E27FC236}">
                <a16:creationId xmlns:a16="http://schemas.microsoft.com/office/drawing/2014/main" id="{1D1D1E70-8AA0-469D-BAA9-B0EA5DD0A482}"/>
              </a:ext>
            </a:extLst>
          </p:cNvPr>
          <p:cNvSpPr>
            <a:spLocks xmlns:a="http://schemas.openxmlformats.org/drawingml/2006/main" noGrp="1"/>
          </p:cNvSpPr>
          <p:nvPr/>
        </p:nvSpPr>
        <p:spPr>
          <a:xfrm xmlns:a="http://schemas.openxmlformats.org/drawingml/2006/main">
            <a:off x="7943850" y="4514850"/>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With a new care team</a:t>
            </a:r>
          </a:p>
        </p:txBody>
      </p:sp>
      <p:sp>
        <p:nvSpPr>
          <p:cNvPr id="14" name="problem-b-2">
            <a:extLst xmlns:a="http://schemas.openxmlformats.org/drawingml/2006/main">
              <a:ext uri="{FF2B5EF4-FFF2-40B4-BE49-F238E27FC236}">
                <a16:creationId xmlns:a16="http://schemas.microsoft.com/office/drawing/2014/main" id="{6F3E8656-DEBA-48B7-B25D-F9982BECF610}"/>
              </a:ext>
            </a:extLst>
          </p:cNvPr>
          <p:cNvSpPr>
            <a:spLocks xmlns:a="http://schemas.openxmlformats.org/drawingml/2006/main" noGrp="1"/>
          </p:cNvSpPr>
          <p:nvPr/>
        </p:nvSpPr>
        <p:spPr>
          <a:xfrm xmlns:a="http://schemas.openxmlformats.org/drawingml/2006/main">
            <a:off x="7943850" y="5000625"/>
            <a:ext cx="35147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479"/>
                </a:solidFill>
                <a:latin typeface="Helvetica Neue"/>
                <a:ea typeface="Helvetica Neue"/>
                <a:cs typeface="Helvetica Neue"/>
              </a:defRPr>
            </a:pPr>
            <a:r>
              <a:rPr sz="1725" b="0">
                <a:solidFill>
                  <a:srgbClr val="526479"/>
                </a:solidFill>
                <a:latin typeface="Helvetica Neue"/>
                <a:ea typeface="Helvetica Neue"/>
                <a:cs typeface="Helvetica Neue"/>
              </a:rPr>
              <a:t>The latest reviewed context is hard to find.</a:t>
            </a:r>
          </a:p>
        </p:txBody>
      </p:sp>
      <p:sp>
        <p:nvSpPr>
          <p:cNvPr id="15" name="footer">
            <a:extLst xmlns:a="http://schemas.openxmlformats.org/drawingml/2006/main">
              <a:ext uri="{FF2B5EF4-FFF2-40B4-BE49-F238E27FC236}">
                <a16:creationId xmlns:a16="http://schemas.microsoft.com/office/drawing/2014/main" id="{80499761-315C-4816-91FC-84E2B08BC0D9}"/>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16" name="folio">
            <a:extLst xmlns:a="http://schemas.openxmlformats.org/drawingml/2006/main">
              <a:ext uri="{FF2B5EF4-FFF2-40B4-BE49-F238E27FC236}">
                <a16:creationId xmlns:a16="http://schemas.microsoft.com/office/drawing/2014/main" id="{E0875AF8-186F-4801-894C-D07E909A35F2}"/>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02</a:t>
            </a:r>
          </a:p>
        </p:txBody>
      </p:sp>
    </p:spTree>
    <p:extLst>
      <p:ext uri="{BB962C8B-B14F-4D97-AF65-F5344CB8AC3E}">
        <p14:creationId xmlns:p14="http://schemas.microsoft.com/office/powerpoint/2010/main" val="1881774443"/>
      </p:ext>
    </p:extLst>
  </p:cSld>
</p:sld>
</file>

<file path=ppt/slides/slide3.xml><?xml version="1.0" encoding="utf-8"?>
<p:sld xmlns:p="http://schemas.openxmlformats.org/presentationml/2006/main">
  <p:cSld>
    <p:bg>
      <p:bgPr>
        <a:solidFill xmlns:a="http://schemas.openxmlformats.org/drawingml/2006/main">
          <a:srgbClr val="DCF2EF"/>
        </a:solidFill>
      </p:bgPr>
    </p:bg>
    <p:spTree>
      <p:nvGrpSpPr>
        <p:cNvPr id="1" name=""/>
        <p:cNvGrpSpPr/>
        <p:nvPr/>
      </p:nvGrpSpPr>
      <p:grpSpPr>
        <a:xfrm xmlns:a="http://schemas.openxmlformats.org/drawingml/2006/main"/>
      </p:grpSpPr>
      <p:sp>
        <p:nvSpPr>
          <p:cNvPr id="42" name="accent">
            <a:extLst xmlns:a="http://schemas.openxmlformats.org/drawingml/2006/main">
              <a:ext uri="{FF2B5EF4-FFF2-40B4-BE49-F238E27FC236}">
                <a16:creationId xmlns:a16="http://schemas.microsoft.com/office/drawing/2014/main" id="{27A5EAFB-38C1-417B-905F-494A0ADFBD5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6294BBD4-D542-4778-99D4-4458D1165903}"/>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One reviewed conversation, ready for the next visit</a:t>
            </a:r>
          </a:p>
        </p:txBody>
      </p:sp>
      <p:sp>
        <p:nvSpPr>
          <p:cNvPr id="3" name="concept">
            <a:extLst xmlns:a="http://schemas.openxmlformats.org/drawingml/2006/main">
              <a:ext uri="{FF2B5EF4-FFF2-40B4-BE49-F238E27FC236}">
                <a16:creationId xmlns:a16="http://schemas.microsoft.com/office/drawing/2014/main" id="{F004C260-BD6B-4317-B02B-D11F4B44EB80}"/>
              </a:ext>
            </a:extLst>
          </p:cNvPr>
          <p:cNvSpPr>
            <a:spLocks xmlns:a="http://schemas.openxmlformats.org/drawingml/2006/main" noGrp="1"/>
          </p:cNvSpPr>
          <p:nvPr/>
        </p:nvSpPr>
        <p:spPr>
          <a:xfrm xmlns:a="http://schemas.openxmlformats.org/drawingml/2006/main">
            <a:off x="533400" y="14287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WORKFLOW CONCEPT  /  SYNTHETIC EXAMPLE</a:t>
            </a:r>
          </a:p>
        </p:txBody>
      </p:sp>
      <p:sp>
        <p:nvSpPr>
          <p:cNvPr id="4" name="source-icon">
            <a:extLst xmlns:a="http://schemas.openxmlformats.org/drawingml/2006/main">
              <a:ext uri="{FF2B5EF4-FFF2-40B4-BE49-F238E27FC236}">
                <a16:creationId xmlns:a16="http://schemas.microsoft.com/office/drawing/2014/main" id="{1CBDC206-30D0-4E6F-B991-69D32F4310FB}"/>
              </a:ext>
            </a:extLst>
          </p:cNvPr>
          <p:cNvSpPr>
            <a:spLocks xmlns:a="http://schemas.openxmlformats.org/drawingml/2006/main" noGrp="1"/>
          </p:cNvSpPr>
          <p:nvPr/>
        </p:nvSpPr>
        <p:spPr>
          <a:xfrm xmlns:a="http://schemas.openxmlformats.org/drawingml/2006/main">
            <a:off x="885825" y="2400300"/>
            <a:ext cx="963930" cy="1270635"/>
          </a:xfrm>
          <a:prstGeom xmlns:a="http://schemas.openxmlformats.org/drawingml/2006/main" prst="rect">
            <a:avLst/>
          </a:prstGeom>
          <a:solidFill xmlns:a="http://schemas.openxmlformats.org/drawingml/2006/main">
            <a:srgbClr val="FFFFFF"/>
          </a:solidFill>
          <a:ln xmlns:a="http://schemas.openxmlformats.org/drawingml/2006/main" w="28575">
            <a:solidFill>
              <a:srgbClr val="007D8D"/>
            </a:solidFill>
            <a:prstDash val="solid"/>
          </a:ln>
        </p:spPr>
      </p:sp>
      <p:sp>
        <p:nvSpPr>
          <p:cNvPr id="5" name="source-icon-line-0">
            <a:extLst xmlns:a="http://schemas.openxmlformats.org/drawingml/2006/main">
              <a:ext uri="{FF2B5EF4-FFF2-40B4-BE49-F238E27FC236}">
                <a16:creationId xmlns:a16="http://schemas.microsoft.com/office/drawing/2014/main" id="{4A5C0871-C031-4A70-B14F-6AEC847F4628}"/>
              </a:ext>
            </a:extLst>
          </p:cNvPr>
          <p:cNvSpPr>
            <a:spLocks xmlns:a="http://schemas.openxmlformats.org/drawingml/2006/main" noGrp="1"/>
          </p:cNvSpPr>
          <p:nvPr/>
        </p:nvSpPr>
        <p:spPr>
          <a:xfrm xmlns:a="http://schemas.openxmlformats.org/drawingml/2006/main">
            <a:off x="1061085" y="2696051"/>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6" name="source-icon-line-1">
            <a:extLst xmlns:a="http://schemas.openxmlformats.org/drawingml/2006/main">
              <a:ext uri="{FF2B5EF4-FFF2-40B4-BE49-F238E27FC236}">
                <a16:creationId xmlns:a16="http://schemas.microsoft.com/office/drawing/2014/main" id="{B600064C-62CD-4EEB-9375-9E01CD22075F}"/>
              </a:ext>
            </a:extLst>
          </p:cNvPr>
          <p:cNvSpPr>
            <a:spLocks xmlns:a="http://schemas.openxmlformats.org/drawingml/2006/main" noGrp="1"/>
          </p:cNvSpPr>
          <p:nvPr/>
        </p:nvSpPr>
        <p:spPr>
          <a:xfrm xmlns:a="http://schemas.openxmlformats.org/drawingml/2006/main">
            <a:off x="1061085" y="2915126"/>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7" name="source-icon-line-2">
            <a:extLst xmlns:a="http://schemas.openxmlformats.org/drawingml/2006/main">
              <a:ext uri="{FF2B5EF4-FFF2-40B4-BE49-F238E27FC236}">
                <a16:creationId xmlns:a16="http://schemas.microsoft.com/office/drawing/2014/main" id="{6B4C4BC7-9EB2-47F0-8CFC-5B7E27A41B83}"/>
              </a:ext>
            </a:extLst>
          </p:cNvPr>
          <p:cNvSpPr>
            <a:spLocks xmlns:a="http://schemas.openxmlformats.org/drawingml/2006/main" noGrp="1"/>
          </p:cNvSpPr>
          <p:nvPr/>
        </p:nvSpPr>
        <p:spPr>
          <a:xfrm xmlns:a="http://schemas.openxmlformats.org/drawingml/2006/main">
            <a:off x="1061085" y="3134201"/>
            <a:ext cx="613410"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8" name="source-icon-line-3">
            <a:extLst xmlns:a="http://schemas.openxmlformats.org/drawingml/2006/main">
              <a:ext uri="{FF2B5EF4-FFF2-40B4-BE49-F238E27FC236}">
                <a16:creationId xmlns:a16="http://schemas.microsoft.com/office/drawing/2014/main" id="{715817E4-35F3-4358-BDB1-A5E290909875}"/>
              </a:ext>
            </a:extLst>
          </p:cNvPr>
          <p:cNvSpPr>
            <a:spLocks xmlns:a="http://schemas.openxmlformats.org/drawingml/2006/main" noGrp="1"/>
          </p:cNvSpPr>
          <p:nvPr/>
        </p:nvSpPr>
        <p:spPr>
          <a:xfrm xmlns:a="http://schemas.openxmlformats.org/drawingml/2006/main">
            <a:off x="1061085" y="3353276"/>
            <a:ext cx="372427" cy="4381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9" name="capture-title">
            <a:extLst xmlns:a="http://schemas.openxmlformats.org/drawingml/2006/main">
              <a:ext uri="{FF2B5EF4-FFF2-40B4-BE49-F238E27FC236}">
                <a16:creationId xmlns:a16="http://schemas.microsoft.com/office/drawing/2014/main" id="{C1FB2C63-D429-4662-9E59-3EE6D376D055}"/>
              </a:ext>
            </a:extLst>
          </p:cNvPr>
          <p:cNvSpPr>
            <a:spLocks xmlns:a="http://schemas.openxmlformats.org/drawingml/2006/main" noGrp="1"/>
          </p:cNvSpPr>
          <p:nvPr/>
        </p:nvSpPr>
        <p:spPr>
          <a:xfrm xmlns:a="http://schemas.openxmlformats.org/drawingml/2006/main">
            <a:off x="533400" y="3962400"/>
            <a:ext cx="2686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C45"/>
                </a:solidFill>
                <a:latin typeface="Helvetica Neue"/>
                <a:ea typeface="Helvetica Neue"/>
                <a:cs typeface="Helvetica Neue"/>
              </a:defRPr>
            </a:pPr>
            <a:r>
              <a:rPr sz="2550" b="1">
                <a:solidFill>
                  <a:srgbClr val="102C45"/>
                </a:solidFill>
                <a:latin typeface="Helvetica Neue"/>
                <a:ea typeface="Helvetica Neue"/>
                <a:cs typeface="Helvetica Neue"/>
              </a:rPr>
              <a:t>Capture</a:t>
            </a:r>
          </a:p>
        </p:txBody>
      </p:sp>
      <p:sp>
        <p:nvSpPr>
          <p:cNvPr id="10" name="capture-body">
            <a:extLst xmlns:a="http://schemas.openxmlformats.org/drawingml/2006/main">
              <a:ext uri="{FF2B5EF4-FFF2-40B4-BE49-F238E27FC236}">
                <a16:creationId xmlns:a16="http://schemas.microsoft.com/office/drawing/2014/main" id="{F6073F11-4A31-48B0-8A2E-5A58EBBC1808}"/>
              </a:ext>
            </a:extLst>
          </p:cNvPr>
          <p:cNvSpPr>
            <a:spLocks xmlns:a="http://schemas.openxmlformats.org/drawingml/2006/main" noGrp="1"/>
          </p:cNvSpPr>
          <p:nvPr/>
        </p:nvSpPr>
        <p:spPr>
          <a:xfrm xmlns:a="http://schemas.openxmlformats.org/drawingml/2006/main">
            <a:off x="533400" y="4524375"/>
            <a:ext cx="27717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479"/>
                </a:solidFill>
                <a:latin typeface="Helvetica Neue"/>
                <a:ea typeface="Helvetica Neue"/>
                <a:cs typeface="Helvetica Neue"/>
              </a:defRPr>
            </a:pPr>
            <a:r>
              <a:rPr sz="1875" b="0">
                <a:solidFill>
                  <a:srgbClr val="526479"/>
                </a:solidFill>
                <a:latin typeface="Helvetica Neue"/>
                <a:ea typeface="Helvetica Neue"/>
                <a:cs typeface="Helvetica Neue"/>
              </a:rPr>
              <a:t>A guided conversation</a:t>
            </a:r>
          </a:p>
          <a:p xmlns:a="http://schemas.openxmlformats.org/drawingml/2006/main">
            <a:pPr>
              <a:defRPr sz="1875" b="0">
                <a:solidFill>
                  <a:srgbClr val="526479"/>
                </a:solidFill>
                <a:latin typeface="Helvetica Neue"/>
                <a:ea typeface="Helvetica Neue"/>
                <a:cs typeface="Helvetica Neue"/>
              </a:defRPr>
            </a:pPr>
            <a:r>
              <a:rPr sz="1875" b="0">
                <a:solidFill>
                  <a:srgbClr val="526479"/>
                </a:solidFill>
                <a:latin typeface="Helvetica Neue"/>
                <a:ea typeface="Helvetica Neue"/>
                <a:cs typeface="Helvetica Neue"/>
              </a:rPr>
              <a:t>with source-linked notes</a:t>
            </a:r>
          </a:p>
        </p:txBody>
      </p:sp>
      <p:sp>
        <p:nvSpPr>
          <p:cNvPr id="11" name="source-to-summary">
            <a:extLst xmlns:a="http://schemas.openxmlformats.org/drawingml/2006/main">
              <a:ext uri="{FF2B5EF4-FFF2-40B4-BE49-F238E27FC236}">
                <a16:creationId xmlns:a16="http://schemas.microsoft.com/office/drawing/2014/main" id="{013D25FB-5785-4512-974D-84021107F793}"/>
              </a:ext>
            </a:extLst>
          </p:cNvPr>
          <p:cNvSpPr>
            <a:spLocks xmlns:a="http://schemas.openxmlformats.org/drawingml/2006/main" noGrp="1"/>
          </p:cNvSpPr>
          <p:nvPr/>
        </p:nvSpPr>
        <p:spPr>
          <a:xfrm xmlns:a="http://schemas.openxmlformats.org/drawingml/2006/main">
            <a:off x="3067050" y="3076575"/>
            <a:ext cx="590550" cy="190500"/>
          </a:xfrm>
          <a:prstGeom xmlns:a="http://schemas.openxmlformats.org/drawingml/2006/main" prst="rightArrow">
            <a:avLst/>
          </a:prstGeom>
          <a:solidFill xmlns:a="http://schemas.openxmlformats.org/drawingml/2006/main">
            <a:srgbClr val="007D8D"/>
          </a:solidFill>
          <a:ln xmlns:a="http://schemas.openxmlformats.org/drawingml/2006/main" w="0">
            <a:noFill/>
            <a:prstDash val="solid"/>
          </a:ln>
        </p:spPr>
      </p:sp>
      <p:sp>
        <p:nvSpPr>
          <p:cNvPr id="12" name="summary-shadow">
            <a:extLst xmlns:a="http://schemas.openxmlformats.org/drawingml/2006/main">
              <a:ext uri="{FF2B5EF4-FFF2-40B4-BE49-F238E27FC236}">
                <a16:creationId xmlns:a16="http://schemas.microsoft.com/office/drawing/2014/main" id="{46D5D7B7-3E8B-470A-9587-7833F1591D7D}"/>
              </a:ext>
            </a:extLst>
          </p:cNvPr>
          <p:cNvSpPr>
            <a:spLocks xmlns:a="http://schemas.openxmlformats.org/drawingml/2006/main" noGrp="1"/>
          </p:cNvSpPr>
          <p:nvPr/>
        </p:nvSpPr>
        <p:spPr>
          <a:xfrm xmlns:a="http://schemas.openxmlformats.org/drawingml/2006/main">
            <a:off x="3990975" y="2066925"/>
            <a:ext cx="4314825" cy="39147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13" name="summary">
            <a:extLst xmlns:a="http://schemas.openxmlformats.org/drawingml/2006/main">
              <a:ext uri="{FF2B5EF4-FFF2-40B4-BE49-F238E27FC236}">
                <a16:creationId xmlns:a16="http://schemas.microsoft.com/office/drawing/2014/main" id="{A8B15226-3301-4879-88C1-7E81454AD453}"/>
              </a:ext>
            </a:extLst>
          </p:cNvPr>
          <p:cNvSpPr>
            <a:spLocks xmlns:a="http://schemas.openxmlformats.org/drawingml/2006/main" noGrp="1"/>
          </p:cNvSpPr>
          <p:nvPr/>
        </p:nvSpPr>
        <p:spPr>
          <a:xfrm xmlns:a="http://schemas.openxmlformats.org/drawingml/2006/main">
            <a:off x="3914775" y="1981200"/>
            <a:ext cx="4314825" cy="3914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summary-top">
            <a:extLst xmlns:a="http://schemas.openxmlformats.org/drawingml/2006/main">
              <a:ext uri="{FF2B5EF4-FFF2-40B4-BE49-F238E27FC236}">
                <a16:creationId xmlns:a16="http://schemas.microsoft.com/office/drawing/2014/main" id="{F8A66EA3-6737-4E55-AEA2-89DF00911DD9}"/>
              </a:ext>
            </a:extLst>
          </p:cNvPr>
          <p:cNvSpPr>
            <a:spLocks xmlns:a="http://schemas.openxmlformats.org/drawingml/2006/main" noGrp="1"/>
          </p:cNvSpPr>
          <p:nvPr/>
        </p:nvSpPr>
        <p:spPr>
          <a:xfrm xmlns:a="http://schemas.openxmlformats.org/drawingml/2006/main">
            <a:off x="3914775" y="1981200"/>
            <a:ext cx="4314825"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5" name="summary-title">
            <a:extLst xmlns:a="http://schemas.openxmlformats.org/drawingml/2006/main">
              <a:ext uri="{FF2B5EF4-FFF2-40B4-BE49-F238E27FC236}">
                <a16:creationId xmlns:a16="http://schemas.microsoft.com/office/drawing/2014/main" id="{7FBA9907-6E4A-4828-9289-8EC4717205D7}"/>
              </a:ext>
            </a:extLst>
          </p:cNvPr>
          <p:cNvSpPr>
            <a:spLocks xmlns:a="http://schemas.openxmlformats.org/drawingml/2006/main" noGrp="1"/>
          </p:cNvSpPr>
          <p:nvPr/>
        </p:nvSpPr>
        <p:spPr>
          <a:xfrm xmlns:a="http://schemas.openxmlformats.org/drawingml/2006/main">
            <a:off x="4171950" y="2209800"/>
            <a:ext cx="3762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C45"/>
                </a:solidFill>
                <a:latin typeface="Helvetica Neue"/>
                <a:ea typeface="Helvetica Neue"/>
                <a:cs typeface="Helvetica Neue"/>
              </a:defRPr>
            </a:pPr>
            <a:r>
              <a:rPr sz="2100" b="1">
                <a:solidFill>
                  <a:srgbClr val="102C45"/>
                </a:solidFill>
                <a:latin typeface="Helvetica Neue"/>
                <a:ea typeface="Helvetica Neue"/>
                <a:cs typeface="Helvetica Neue"/>
              </a:rPr>
              <a:t>Goals-of-care summary</a:t>
            </a:r>
          </a:p>
        </p:txBody>
      </p:sp>
      <p:sp>
        <p:nvSpPr>
          <p:cNvPr id="16" name="summary-kicker">
            <a:extLst xmlns:a="http://schemas.openxmlformats.org/drawingml/2006/main">
              <a:ext uri="{FF2B5EF4-FFF2-40B4-BE49-F238E27FC236}">
                <a16:creationId xmlns:a16="http://schemas.microsoft.com/office/drawing/2014/main" id="{E2D91EDA-AA12-4087-96B9-46D95A97C8EF}"/>
              </a:ext>
            </a:extLst>
          </p:cNvPr>
          <p:cNvSpPr>
            <a:spLocks xmlns:a="http://schemas.openxmlformats.org/drawingml/2006/main" noGrp="1"/>
          </p:cNvSpPr>
          <p:nvPr/>
        </p:nvSpPr>
        <p:spPr>
          <a:xfrm xmlns:a="http://schemas.openxmlformats.org/drawingml/2006/main">
            <a:off x="4171950" y="27717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DRAFT  /  AWAITING REVIEW</a:t>
            </a:r>
          </a:p>
        </p:txBody>
      </p:sp>
      <p:sp>
        <p:nvSpPr>
          <p:cNvPr id="17" name="field-0">
            <a:extLst xmlns:a="http://schemas.openxmlformats.org/drawingml/2006/main">
              <a:ext uri="{FF2B5EF4-FFF2-40B4-BE49-F238E27FC236}">
                <a16:creationId xmlns:a16="http://schemas.microsoft.com/office/drawing/2014/main" id="{8DD94FF4-9525-4FEB-BD07-2E23E32E9A12}"/>
              </a:ext>
            </a:extLst>
          </p:cNvPr>
          <p:cNvSpPr>
            <a:spLocks xmlns:a="http://schemas.openxmlformats.org/drawingml/2006/main" noGrp="1"/>
          </p:cNvSpPr>
          <p:nvPr/>
        </p:nvSpPr>
        <p:spPr>
          <a:xfrm xmlns:a="http://schemas.openxmlformats.org/drawingml/2006/main">
            <a:off x="4171950" y="31813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Family understanding</a:t>
            </a:r>
          </a:p>
        </p:txBody>
      </p:sp>
      <p:sp>
        <p:nvSpPr>
          <p:cNvPr id="18" name="status-dot-0">
            <a:extLst xmlns:a="http://schemas.openxmlformats.org/drawingml/2006/main">
              <a:ext uri="{FF2B5EF4-FFF2-40B4-BE49-F238E27FC236}">
                <a16:creationId xmlns:a16="http://schemas.microsoft.com/office/drawing/2014/main" id="{CF44C8B0-237A-40C5-BB32-EAAADF5B9DD1}"/>
              </a:ext>
            </a:extLst>
          </p:cNvPr>
          <p:cNvSpPr>
            <a:spLocks xmlns:a="http://schemas.openxmlformats.org/drawingml/2006/main" noGrp="1"/>
          </p:cNvSpPr>
          <p:nvPr/>
        </p:nvSpPr>
        <p:spPr>
          <a:xfrm xmlns:a="http://schemas.openxmlformats.org/drawingml/2006/main">
            <a:off x="4171950" y="3514725"/>
            <a:ext cx="76200" cy="76200"/>
          </a:xfrm>
          <a:prstGeom xmlns:a="http://schemas.openxmlformats.org/drawingml/2006/main" prst="ellipse">
            <a:avLst/>
          </a:prstGeom>
          <a:solidFill xmlns:a="http://schemas.openxmlformats.org/drawingml/2006/main">
            <a:srgbClr val="08775F"/>
          </a:solidFill>
          <a:ln xmlns:a="http://schemas.openxmlformats.org/drawingml/2006/main" w="0">
            <a:noFill/>
            <a:prstDash val="solid"/>
          </a:ln>
        </p:spPr>
      </p:sp>
      <p:sp>
        <p:nvSpPr>
          <p:cNvPr id="19" name="status-0">
            <a:extLst xmlns:a="http://schemas.openxmlformats.org/drawingml/2006/main">
              <a:ext uri="{FF2B5EF4-FFF2-40B4-BE49-F238E27FC236}">
                <a16:creationId xmlns:a16="http://schemas.microsoft.com/office/drawing/2014/main" id="{C6CC6323-AFD7-4DD2-8904-F6D6465DC564}"/>
              </a:ext>
            </a:extLst>
          </p:cNvPr>
          <p:cNvSpPr>
            <a:spLocks xmlns:a="http://schemas.openxmlformats.org/drawingml/2006/main" noGrp="1"/>
          </p:cNvSpPr>
          <p:nvPr/>
        </p:nvSpPr>
        <p:spPr>
          <a:xfrm xmlns:a="http://schemas.openxmlformats.org/drawingml/2006/main">
            <a:off x="4324350" y="3448050"/>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75F"/>
                </a:solidFill>
                <a:latin typeface="Helvetica Neue"/>
                <a:ea typeface="Helvetica Neue"/>
                <a:cs typeface="Helvetica Neue"/>
              </a:defRPr>
            </a:pPr>
            <a:r>
              <a:rPr sz="1350" b="0">
                <a:solidFill>
                  <a:srgbClr val="08775F"/>
                </a:solidFill>
                <a:latin typeface="Helvetica Neue"/>
                <a:ea typeface="Helvetica Neue"/>
                <a:cs typeface="Helvetica Neue"/>
              </a:rPr>
              <a:t>Discussed</a:t>
            </a:r>
          </a:p>
        </p:txBody>
      </p:sp>
      <p:sp>
        <p:nvSpPr>
          <p:cNvPr id="20" name="field-rule-0">
            <a:extLst xmlns:a="http://schemas.openxmlformats.org/drawingml/2006/main">
              <a:ext uri="{FF2B5EF4-FFF2-40B4-BE49-F238E27FC236}">
                <a16:creationId xmlns:a16="http://schemas.microsoft.com/office/drawing/2014/main" id="{43EF1C54-A050-4C87-9436-F0C301E0E79D}"/>
              </a:ext>
            </a:extLst>
          </p:cNvPr>
          <p:cNvSpPr>
            <a:spLocks xmlns:a="http://schemas.openxmlformats.org/drawingml/2006/main" noGrp="1"/>
          </p:cNvSpPr>
          <p:nvPr/>
        </p:nvSpPr>
        <p:spPr>
          <a:xfrm xmlns:a="http://schemas.openxmlformats.org/drawingml/2006/main">
            <a:off x="4171950" y="3771900"/>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1" name="field-1">
            <a:extLst xmlns:a="http://schemas.openxmlformats.org/drawingml/2006/main">
              <a:ext uri="{FF2B5EF4-FFF2-40B4-BE49-F238E27FC236}">
                <a16:creationId xmlns:a16="http://schemas.microsoft.com/office/drawing/2014/main" id="{ED9A93C3-3360-485C-A227-89A3007DB08F}"/>
              </a:ext>
            </a:extLst>
          </p:cNvPr>
          <p:cNvSpPr>
            <a:spLocks xmlns:a="http://schemas.openxmlformats.org/drawingml/2006/main" noGrp="1"/>
          </p:cNvSpPr>
          <p:nvPr/>
        </p:nvSpPr>
        <p:spPr>
          <a:xfrm xmlns:a="http://schemas.openxmlformats.org/drawingml/2006/main">
            <a:off x="4171950" y="38385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Patient priorities</a:t>
            </a:r>
          </a:p>
        </p:txBody>
      </p:sp>
      <p:sp>
        <p:nvSpPr>
          <p:cNvPr id="22" name="status-dot-1">
            <a:extLst xmlns:a="http://schemas.openxmlformats.org/drawingml/2006/main">
              <a:ext uri="{FF2B5EF4-FFF2-40B4-BE49-F238E27FC236}">
                <a16:creationId xmlns:a16="http://schemas.microsoft.com/office/drawing/2014/main" id="{DC2B698F-C075-4CA0-B714-5C12B64C522C}"/>
              </a:ext>
            </a:extLst>
          </p:cNvPr>
          <p:cNvSpPr>
            <a:spLocks xmlns:a="http://schemas.openxmlformats.org/drawingml/2006/main" noGrp="1"/>
          </p:cNvSpPr>
          <p:nvPr/>
        </p:nvSpPr>
        <p:spPr>
          <a:xfrm xmlns:a="http://schemas.openxmlformats.org/drawingml/2006/main">
            <a:off x="4171950" y="4171950"/>
            <a:ext cx="76200" cy="76200"/>
          </a:xfrm>
          <a:prstGeom xmlns:a="http://schemas.openxmlformats.org/drawingml/2006/main" prst="ellipse">
            <a:avLst/>
          </a:prstGeom>
          <a:solidFill xmlns:a="http://schemas.openxmlformats.org/drawingml/2006/main">
            <a:srgbClr val="B5453D"/>
          </a:solidFill>
          <a:ln xmlns:a="http://schemas.openxmlformats.org/drawingml/2006/main" w="0">
            <a:noFill/>
            <a:prstDash val="solid"/>
          </a:ln>
        </p:spPr>
      </p:sp>
      <p:sp>
        <p:nvSpPr>
          <p:cNvPr id="23" name="status-1">
            <a:extLst xmlns:a="http://schemas.openxmlformats.org/drawingml/2006/main">
              <a:ext uri="{FF2B5EF4-FFF2-40B4-BE49-F238E27FC236}">
                <a16:creationId xmlns:a16="http://schemas.microsoft.com/office/drawing/2014/main" id="{CDE25728-F690-4B9A-8FE5-EFC573FBAB0A}"/>
              </a:ext>
            </a:extLst>
          </p:cNvPr>
          <p:cNvSpPr>
            <a:spLocks xmlns:a="http://schemas.openxmlformats.org/drawingml/2006/main" noGrp="1"/>
          </p:cNvSpPr>
          <p:nvPr/>
        </p:nvSpPr>
        <p:spPr>
          <a:xfrm xmlns:a="http://schemas.openxmlformats.org/drawingml/2006/main">
            <a:off x="4324350" y="4105275"/>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5453D"/>
                </a:solidFill>
                <a:latin typeface="Helvetica Neue"/>
                <a:ea typeface="Helvetica Neue"/>
                <a:cs typeface="Helvetica Neue"/>
              </a:defRPr>
            </a:pPr>
            <a:r>
              <a:rPr sz="1350" b="0">
                <a:solidFill>
                  <a:srgbClr val="B5453D"/>
                </a:solidFill>
                <a:latin typeface="Helvetica Neue"/>
                <a:ea typeface="Helvetica Neue"/>
                <a:cs typeface="Helvetica Neue"/>
              </a:rPr>
              <a:t>Needs clarification</a:t>
            </a:r>
          </a:p>
        </p:txBody>
      </p:sp>
      <p:sp>
        <p:nvSpPr>
          <p:cNvPr id="24" name="field-rule-1">
            <a:extLst xmlns:a="http://schemas.openxmlformats.org/drawingml/2006/main">
              <a:ext uri="{FF2B5EF4-FFF2-40B4-BE49-F238E27FC236}">
                <a16:creationId xmlns:a16="http://schemas.microsoft.com/office/drawing/2014/main" id="{DCC151CD-7E5B-4486-B965-951C4A838180}"/>
              </a:ext>
            </a:extLst>
          </p:cNvPr>
          <p:cNvSpPr>
            <a:spLocks xmlns:a="http://schemas.openxmlformats.org/drawingml/2006/main" noGrp="1"/>
          </p:cNvSpPr>
          <p:nvPr/>
        </p:nvSpPr>
        <p:spPr>
          <a:xfrm xmlns:a="http://schemas.openxmlformats.org/drawingml/2006/main">
            <a:off x="4171950" y="4429125"/>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5" name="field-2">
            <a:extLst xmlns:a="http://schemas.openxmlformats.org/drawingml/2006/main">
              <a:ext uri="{FF2B5EF4-FFF2-40B4-BE49-F238E27FC236}">
                <a16:creationId xmlns:a16="http://schemas.microsoft.com/office/drawing/2014/main" id="{FFAE7AE5-8261-4F40-8DDC-D3D1CE10F0E9}"/>
              </a:ext>
            </a:extLst>
          </p:cNvPr>
          <p:cNvSpPr>
            <a:spLocks xmlns:a="http://schemas.openxmlformats.org/drawingml/2006/main" noGrp="1"/>
          </p:cNvSpPr>
          <p:nvPr/>
        </p:nvSpPr>
        <p:spPr>
          <a:xfrm xmlns:a="http://schemas.openxmlformats.org/drawingml/2006/main">
            <a:off x="4171950" y="44958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C45"/>
                </a:solidFill>
                <a:latin typeface="Helvetica Neue"/>
                <a:ea typeface="Helvetica Neue"/>
                <a:cs typeface="Helvetica Neue"/>
              </a:defRPr>
            </a:pPr>
            <a:r>
              <a:rPr sz="1575" b="1">
                <a:solidFill>
                  <a:srgbClr val="102C45"/>
                </a:solidFill>
                <a:latin typeface="Helvetica Neue"/>
                <a:ea typeface="Helvetica Neue"/>
                <a:cs typeface="Helvetica Neue"/>
              </a:rPr>
              <a:t>Future care discussion</a:t>
            </a:r>
          </a:p>
        </p:txBody>
      </p:sp>
      <p:sp>
        <p:nvSpPr>
          <p:cNvPr id="26" name="status-dot-2">
            <a:extLst xmlns:a="http://schemas.openxmlformats.org/drawingml/2006/main">
              <a:ext uri="{FF2B5EF4-FFF2-40B4-BE49-F238E27FC236}">
                <a16:creationId xmlns:a16="http://schemas.microsoft.com/office/drawing/2014/main" id="{C4FBBC8A-2103-4DDF-A60A-9C5F1CA478D8}"/>
              </a:ext>
            </a:extLst>
          </p:cNvPr>
          <p:cNvSpPr>
            <a:spLocks xmlns:a="http://schemas.openxmlformats.org/drawingml/2006/main" noGrp="1"/>
          </p:cNvSpPr>
          <p:nvPr/>
        </p:nvSpPr>
        <p:spPr>
          <a:xfrm xmlns:a="http://schemas.openxmlformats.org/drawingml/2006/main">
            <a:off x="4171950" y="4829175"/>
            <a:ext cx="76200" cy="76200"/>
          </a:xfrm>
          <a:prstGeom xmlns:a="http://schemas.openxmlformats.org/drawingml/2006/main" prst="ellipse">
            <a:avLst/>
          </a:prstGeom>
          <a:solidFill xmlns:a="http://schemas.openxmlformats.org/drawingml/2006/main">
            <a:srgbClr val="526479"/>
          </a:solidFill>
          <a:ln xmlns:a="http://schemas.openxmlformats.org/drawingml/2006/main" w="0">
            <a:noFill/>
            <a:prstDash val="solid"/>
          </a:ln>
        </p:spPr>
      </p:sp>
      <p:sp>
        <p:nvSpPr>
          <p:cNvPr id="27" name="status-2">
            <a:extLst xmlns:a="http://schemas.openxmlformats.org/drawingml/2006/main">
              <a:ext uri="{FF2B5EF4-FFF2-40B4-BE49-F238E27FC236}">
                <a16:creationId xmlns:a16="http://schemas.microsoft.com/office/drawing/2014/main" id="{2880AD2D-D7E4-44A4-B8D4-B71B41B5BC11}"/>
              </a:ext>
            </a:extLst>
          </p:cNvPr>
          <p:cNvSpPr>
            <a:spLocks xmlns:a="http://schemas.openxmlformats.org/drawingml/2006/main" noGrp="1"/>
          </p:cNvSpPr>
          <p:nvPr/>
        </p:nvSpPr>
        <p:spPr>
          <a:xfrm xmlns:a="http://schemas.openxmlformats.org/drawingml/2006/main">
            <a:off x="4324350" y="4762500"/>
            <a:ext cx="35147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479"/>
                </a:solidFill>
                <a:latin typeface="Helvetica Neue"/>
                <a:ea typeface="Helvetica Neue"/>
                <a:cs typeface="Helvetica Neue"/>
              </a:defRPr>
            </a:pPr>
            <a:r>
              <a:rPr sz="1350" b="0">
                <a:solidFill>
                  <a:srgbClr val="526479"/>
                </a:solidFill>
                <a:latin typeface="Helvetica Neue"/>
                <a:ea typeface="Helvetica Neue"/>
                <a:cs typeface="Helvetica Neue"/>
              </a:rPr>
              <a:t>Not discussed</a:t>
            </a:r>
          </a:p>
        </p:txBody>
      </p:sp>
      <p:sp>
        <p:nvSpPr>
          <p:cNvPr id="28" name="field-rule-2">
            <a:extLst xmlns:a="http://schemas.openxmlformats.org/drawingml/2006/main">
              <a:ext uri="{FF2B5EF4-FFF2-40B4-BE49-F238E27FC236}">
                <a16:creationId xmlns:a16="http://schemas.microsoft.com/office/drawing/2014/main" id="{2F1ED628-3E14-4FDA-9525-CDF6B6522EBC}"/>
              </a:ext>
            </a:extLst>
          </p:cNvPr>
          <p:cNvSpPr>
            <a:spLocks xmlns:a="http://schemas.openxmlformats.org/drawingml/2006/main" noGrp="1"/>
          </p:cNvSpPr>
          <p:nvPr/>
        </p:nvSpPr>
        <p:spPr>
          <a:xfrm xmlns:a="http://schemas.openxmlformats.org/drawingml/2006/main">
            <a:off x="4171950" y="5086350"/>
            <a:ext cx="3781425" cy="9525"/>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29" name="review-strip">
            <a:extLst xmlns:a="http://schemas.openxmlformats.org/drawingml/2006/main">
              <a:ext uri="{FF2B5EF4-FFF2-40B4-BE49-F238E27FC236}">
                <a16:creationId xmlns:a16="http://schemas.microsoft.com/office/drawing/2014/main" id="{B54B0101-EC85-4EA7-99B4-6EA4BF0F0985}"/>
              </a:ext>
            </a:extLst>
          </p:cNvPr>
          <p:cNvSpPr>
            <a:spLocks xmlns:a="http://schemas.openxmlformats.org/drawingml/2006/main" noGrp="1"/>
          </p:cNvSpPr>
          <p:nvPr/>
        </p:nvSpPr>
        <p:spPr>
          <a:xfrm xmlns:a="http://schemas.openxmlformats.org/drawingml/2006/main">
            <a:off x="4171950" y="5334000"/>
            <a:ext cx="3762375" cy="323850"/>
          </a:xfrm>
          <a:prstGeom xmlns:a="http://schemas.openxmlformats.org/drawingml/2006/main" prst="rect">
            <a:avLst/>
          </a:prstGeom>
          <a:solidFill xmlns:a="http://schemas.openxmlformats.org/drawingml/2006/main">
            <a:srgbClr val="DCF2EF"/>
          </a:solidFill>
          <a:ln xmlns:a="http://schemas.openxmlformats.org/drawingml/2006/main" w="0">
            <a:noFill/>
            <a:prstDash val="solid"/>
          </a:ln>
        </p:spPr>
      </p:sp>
      <p:sp>
        <p:nvSpPr>
          <p:cNvPr id="30" name="review-strip-text">
            <a:extLst xmlns:a="http://schemas.openxmlformats.org/drawingml/2006/main">
              <a:ext uri="{FF2B5EF4-FFF2-40B4-BE49-F238E27FC236}">
                <a16:creationId xmlns:a16="http://schemas.microsoft.com/office/drawing/2014/main" id="{862C028C-3330-45FE-939F-D65D872FF328}"/>
              </a:ext>
            </a:extLst>
          </p:cNvPr>
          <p:cNvSpPr>
            <a:spLocks xmlns:a="http://schemas.openxmlformats.org/drawingml/2006/main" noGrp="1"/>
          </p:cNvSpPr>
          <p:nvPr/>
        </p:nvSpPr>
        <p:spPr>
          <a:xfrm xmlns:a="http://schemas.openxmlformats.org/drawingml/2006/main">
            <a:off x="4295775" y="5391150"/>
            <a:ext cx="3514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8775F"/>
                </a:solidFill>
                <a:latin typeface="Helvetica Neue"/>
                <a:ea typeface="Helvetica Neue"/>
                <a:cs typeface="Helvetica Neue"/>
              </a:defRPr>
            </a:pPr>
            <a:r>
              <a:rPr sz="1425" b="1">
                <a:solidFill>
                  <a:srgbClr val="08775F"/>
                </a:solidFill>
                <a:latin typeface="Helvetica Neue"/>
                <a:ea typeface="Helvetica Neue"/>
                <a:cs typeface="Helvetica Neue"/>
              </a:rPr>
              <a:t>Physician review before release</a:t>
            </a:r>
          </a:p>
        </p:txBody>
      </p:sp>
      <p:sp>
        <p:nvSpPr>
          <p:cNvPr id="31" name="summary-to-reader">
            <a:extLst xmlns:a="http://schemas.openxmlformats.org/drawingml/2006/main">
              <a:ext uri="{FF2B5EF4-FFF2-40B4-BE49-F238E27FC236}">
                <a16:creationId xmlns:a16="http://schemas.microsoft.com/office/drawing/2014/main" id="{11DB4162-418A-419E-918B-50E15502C0A8}"/>
              </a:ext>
            </a:extLst>
          </p:cNvPr>
          <p:cNvSpPr>
            <a:spLocks xmlns:a="http://schemas.openxmlformats.org/drawingml/2006/main" noGrp="1"/>
          </p:cNvSpPr>
          <p:nvPr/>
        </p:nvSpPr>
        <p:spPr>
          <a:xfrm xmlns:a="http://schemas.openxmlformats.org/drawingml/2006/main">
            <a:off x="8439150" y="3076575"/>
            <a:ext cx="561975" cy="190500"/>
          </a:xfrm>
          <a:prstGeom xmlns:a="http://schemas.openxmlformats.org/drawingml/2006/main" prst="rightArrow">
            <a:avLst/>
          </a:prstGeom>
          <a:solidFill xmlns:a="http://schemas.openxmlformats.org/drawingml/2006/main">
            <a:srgbClr val="007D8D"/>
          </a:solidFill>
          <a:ln xmlns:a="http://schemas.openxmlformats.org/drawingml/2006/main" w="0">
            <a:noFill/>
            <a:prstDash val="solid"/>
          </a:ln>
        </p:spPr>
      </p:sp>
      <p:sp>
        <p:nvSpPr>
          <p:cNvPr id="32" name="after-release">
            <a:extLst xmlns:a="http://schemas.openxmlformats.org/drawingml/2006/main">
              <a:ext uri="{FF2B5EF4-FFF2-40B4-BE49-F238E27FC236}">
                <a16:creationId xmlns:a16="http://schemas.microsoft.com/office/drawing/2014/main" id="{7F50C189-E4A5-4E83-A00A-917FCBDD8C48}"/>
              </a:ext>
            </a:extLst>
          </p:cNvPr>
          <p:cNvSpPr>
            <a:spLocks xmlns:a="http://schemas.openxmlformats.org/drawingml/2006/main" noGrp="1"/>
          </p:cNvSpPr>
          <p:nvPr/>
        </p:nvSpPr>
        <p:spPr>
          <a:xfrm xmlns:a="http://schemas.openxmlformats.org/drawingml/2006/main">
            <a:off x="8439150" y="2609850"/>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After</a:t>
            </a:r>
          </a:p>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release</a:t>
            </a:r>
          </a:p>
        </p:txBody>
      </p:sp>
      <p:sp>
        <p:nvSpPr>
          <p:cNvPr id="33" name="retrieval-icon-screen">
            <a:extLst xmlns:a="http://schemas.openxmlformats.org/drawingml/2006/main">
              <a:ext uri="{FF2B5EF4-FFF2-40B4-BE49-F238E27FC236}">
                <a16:creationId xmlns:a16="http://schemas.microsoft.com/office/drawing/2014/main" id="{14710A4B-0240-4C05-B63D-6AF042394691}"/>
              </a:ext>
            </a:extLst>
          </p:cNvPr>
          <p:cNvSpPr>
            <a:spLocks xmlns:a="http://schemas.openxmlformats.org/drawingml/2006/main" noGrp="1"/>
          </p:cNvSpPr>
          <p:nvPr/>
        </p:nvSpPr>
        <p:spPr>
          <a:xfrm xmlns:a="http://schemas.openxmlformats.org/drawingml/2006/main">
            <a:off x="9477375" y="2533650"/>
            <a:ext cx="1180148" cy="820103"/>
          </a:xfrm>
          <a:prstGeom xmlns:a="http://schemas.openxmlformats.org/drawingml/2006/main" prst="rect">
            <a:avLst/>
          </a:prstGeom>
          <a:solidFill xmlns:a="http://schemas.openxmlformats.org/drawingml/2006/main">
            <a:srgbClr val="FFFFFF"/>
          </a:solidFill>
          <a:ln xmlns:a="http://schemas.openxmlformats.org/drawingml/2006/main" w="38100">
            <a:solidFill>
              <a:srgbClr val="007D8D"/>
            </a:solidFill>
            <a:prstDash val="solid"/>
          </a:ln>
        </p:spPr>
      </p:sp>
      <p:sp>
        <p:nvSpPr>
          <p:cNvPr id="34" name="retrieval-icon-base">
            <a:extLst xmlns:a="http://schemas.openxmlformats.org/drawingml/2006/main">
              <a:ext uri="{FF2B5EF4-FFF2-40B4-BE49-F238E27FC236}">
                <a16:creationId xmlns:a16="http://schemas.microsoft.com/office/drawing/2014/main" id="{2148318B-68C7-4275-8C15-9DC08F4F09DA}"/>
              </a:ext>
            </a:extLst>
          </p:cNvPr>
          <p:cNvSpPr>
            <a:spLocks xmlns:a="http://schemas.openxmlformats.org/drawingml/2006/main" noGrp="1"/>
          </p:cNvSpPr>
          <p:nvPr/>
        </p:nvSpPr>
        <p:spPr>
          <a:xfrm xmlns:a="http://schemas.openxmlformats.org/drawingml/2006/main">
            <a:off x="9357360" y="3413760"/>
            <a:ext cx="1420178" cy="70009"/>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5" name="retrieval-icon-text-a">
            <a:extLst xmlns:a="http://schemas.openxmlformats.org/drawingml/2006/main">
              <a:ext uri="{FF2B5EF4-FFF2-40B4-BE49-F238E27FC236}">
                <a16:creationId xmlns:a16="http://schemas.microsoft.com/office/drawing/2014/main" id="{0A293686-CE98-402B-9A86-A2099486E114}"/>
              </a:ext>
            </a:extLst>
          </p:cNvPr>
          <p:cNvSpPr>
            <a:spLocks xmlns:a="http://schemas.openxmlformats.org/drawingml/2006/main" noGrp="1"/>
          </p:cNvSpPr>
          <p:nvPr/>
        </p:nvSpPr>
        <p:spPr>
          <a:xfrm xmlns:a="http://schemas.openxmlformats.org/drawingml/2006/main">
            <a:off x="9657398" y="2753678"/>
            <a:ext cx="730091"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6" name="retrieval-icon-text-b">
            <a:extLst xmlns:a="http://schemas.openxmlformats.org/drawingml/2006/main">
              <a:ext uri="{FF2B5EF4-FFF2-40B4-BE49-F238E27FC236}">
                <a16:creationId xmlns:a16="http://schemas.microsoft.com/office/drawing/2014/main" id="{99E2DD0C-F899-47C2-A919-021F43589860}"/>
              </a:ext>
            </a:extLst>
          </p:cNvPr>
          <p:cNvSpPr>
            <a:spLocks xmlns:a="http://schemas.openxmlformats.org/drawingml/2006/main" noGrp="1"/>
          </p:cNvSpPr>
          <p:nvPr/>
        </p:nvSpPr>
        <p:spPr>
          <a:xfrm xmlns:a="http://schemas.openxmlformats.org/drawingml/2006/main">
            <a:off x="9657398" y="2923699"/>
            <a:ext cx="520065"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7" name="retrieval-icon-text-c">
            <a:extLst xmlns:a="http://schemas.openxmlformats.org/drawingml/2006/main">
              <a:ext uri="{FF2B5EF4-FFF2-40B4-BE49-F238E27FC236}">
                <a16:creationId xmlns:a16="http://schemas.microsoft.com/office/drawing/2014/main" id="{8A783ACA-14F2-4672-919F-BFED1CA9E46B}"/>
              </a:ext>
            </a:extLst>
          </p:cNvPr>
          <p:cNvSpPr>
            <a:spLocks xmlns:a="http://schemas.openxmlformats.org/drawingml/2006/main" noGrp="1"/>
          </p:cNvSpPr>
          <p:nvPr/>
        </p:nvSpPr>
        <p:spPr>
          <a:xfrm xmlns:a="http://schemas.openxmlformats.org/drawingml/2006/main">
            <a:off x="9657398" y="3093720"/>
            <a:ext cx="800100" cy="50006"/>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8" name="retrieval-title">
            <a:extLst xmlns:a="http://schemas.openxmlformats.org/drawingml/2006/main">
              <a:ext uri="{FF2B5EF4-FFF2-40B4-BE49-F238E27FC236}">
                <a16:creationId xmlns:a16="http://schemas.microsoft.com/office/drawing/2014/main" id="{CED03734-1368-43DB-A2D5-8B14759A0CE3}"/>
              </a:ext>
            </a:extLst>
          </p:cNvPr>
          <p:cNvSpPr>
            <a:spLocks xmlns:a="http://schemas.openxmlformats.org/drawingml/2006/main" noGrp="1"/>
          </p:cNvSpPr>
          <p:nvPr/>
        </p:nvSpPr>
        <p:spPr>
          <a:xfrm xmlns:a="http://schemas.openxmlformats.org/drawingml/2006/main">
            <a:off x="9210675" y="396240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C45"/>
                </a:solidFill>
                <a:latin typeface="Helvetica Neue"/>
                <a:ea typeface="Helvetica Neue"/>
                <a:cs typeface="Helvetica Neue"/>
              </a:defRPr>
            </a:pPr>
            <a:r>
              <a:rPr sz="2550" b="1">
                <a:solidFill>
                  <a:srgbClr val="102C45"/>
                </a:solidFill>
                <a:latin typeface="Helvetica Neue"/>
                <a:ea typeface="Helvetica Neue"/>
                <a:cs typeface="Helvetica Neue"/>
              </a:rPr>
              <a:t>Retrieve</a:t>
            </a:r>
          </a:p>
        </p:txBody>
      </p:sp>
      <p:sp>
        <p:nvSpPr>
          <p:cNvPr id="39" name="retrieval-body">
            <a:extLst xmlns:a="http://schemas.openxmlformats.org/drawingml/2006/main">
              <a:ext uri="{FF2B5EF4-FFF2-40B4-BE49-F238E27FC236}">
                <a16:creationId xmlns:a16="http://schemas.microsoft.com/office/drawing/2014/main" id="{AB9C79F1-767F-4C73-912C-8E63900A8720}"/>
              </a:ext>
            </a:extLst>
          </p:cNvPr>
          <p:cNvSpPr>
            <a:spLocks xmlns:a="http://schemas.openxmlformats.org/drawingml/2006/main" noGrp="1"/>
          </p:cNvSpPr>
          <p:nvPr/>
        </p:nvSpPr>
        <p:spPr>
          <a:xfrm xmlns:a="http://schemas.openxmlformats.org/drawingml/2006/main">
            <a:off x="9210675" y="4524375"/>
            <a:ext cx="25146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Latest verified version</a:t>
            </a:r>
          </a:p>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Purpose recorded</a:t>
            </a:r>
          </a:p>
          <a:p xmlns:a="http://schemas.openxmlformats.org/drawingml/2006/main">
            <a:pPr>
              <a:defRPr sz="1800" b="0">
                <a:solidFill>
                  <a:srgbClr val="526479"/>
                </a:solidFill>
                <a:latin typeface="Helvetica Neue"/>
                <a:ea typeface="Helvetica Neue"/>
                <a:cs typeface="Helvetica Neue"/>
              </a:defRPr>
            </a:pPr>
            <a:r>
              <a:rPr sz="1800" b="0">
                <a:solidFill>
                  <a:srgbClr val="526479"/>
                </a:solidFill>
                <a:latin typeface="Helvetica Neue"/>
                <a:ea typeface="Helvetica Neue"/>
                <a:cs typeface="Helvetica Neue"/>
              </a:rPr>
              <a:t>Context reconfirmed</a:t>
            </a:r>
          </a:p>
        </p:txBody>
      </p:sp>
      <p:sp>
        <p:nvSpPr>
          <p:cNvPr id="40" name="footer">
            <a:extLst xmlns:a="http://schemas.openxmlformats.org/drawingml/2006/main">
              <a:ext uri="{FF2B5EF4-FFF2-40B4-BE49-F238E27FC236}">
                <a16:creationId xmlns:a16="http://schemas.microsoft.com/office/drawing/2014/main" id="{2DC03533-C989-449F-83E0-2286ED83049D}"/>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41" name="folio">
            <a:extLst xmlns:a="http://schemas.openxmlformats.org/drawingml/2006/main">
              <a:ext uri="{FF2B5EF4-FFF2-40B4-BE49-F238E27FC236}">
                <a16:creationId xmlns:a16="http://schemas.microsoft.com/office/drawing/2014/main" id="{A6209B11-3B34-4F69-B095-7651CA0D020D}"/>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03</a:t>
            </a:r>
          </a:p>
        </p:txBody>
      </p:sp>
    </p:spTree>
    <p:extLst>
      <p:ext uri="{BB962C8B-B14F-4D97-AF65-F5344CB8AC3E}">
        <p14:creationId xmlns:p14="http://schemas.microsoft.com/office/powerpoint/2010/main" val="19419590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accent">
            <a:extLst xmlns:a="http://schemas.openxmlformats.org/drawingml/2006/main">
              <a:ext uri="{FF2B5EF4-FFF2-40B4-BE49-F238E27FC236}">
                <a16:creationId xmlns:a16="http://schemas.microsoft.com/office/drawing/2014/main" id="{0B3217B7-7A61-48B8-9375-900A8644AD3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654858CF-5296-433F-A598-97800C3AB487}"/>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Every step has a human owner</a:t>
            </a:r>
          </a:p>
        </p:txBody>
      </p:sp>
      <p:sp>
        <p:nvSpPr>
          <p:cNvPr id="3" name="assign">
            <a:extLst xmlns:a="http://schemas.openxmlformats.org/drawingml/2006/main">
              <a:ext uri="{FF2B5EF4-FFF2-40B4-BE49-F238E27FC236}">
                <a16:creationId xmlns:a16="http://schemas.microsoft.com/office/drawing/2014/main" id="{4C1FD2B9-9114-42B6-A66F-CCCDBEB6DA45}"/>
              </a:ext>
            </a:extLst>
          </p:cNvPr>
          <p:cNvSpPr>
            <a:spLocks xmlns:a="http://schemas.openxmlformats.org/drawingml/2006/main" noGrp="1"/>
          </p:cNvSpPr>
          <p:nvPr/>
        </p:nvSpPr>
        <p:spPr>
          <a:xfrm xmlns:a="http://schemas.openxmlformats.org/drawingml/2006/main">
            <a:off x="876300" y="2181225"/>
            <a:ext cx="990600" cy="914400"/>
          </a:xfrm>
          <a:prstGeom xmlns:a="http://schemas.openxmlformats.org/drawingml/2006/main" prst="rect">
            <a:avLst/>
          </a:prstGeom>
          <a:noFill xmlns:a="http://schemas.openxmlformats.org/drawingml/2006/main"/>
          <a:ln xmlns:a="http://schemas.openxmlformats.org/drawingml/2006/main" w="28575">
            <a:solidFill>
              <a:srgbClr val="007D8D"/>
            </a:solidFill>
            <a:prstDash val="solid"/>
          </a:ln>
        </p:spPr>
      </p:sp>
      <p:sp>
        <p:nvSpPr>
          <p:cNvPr id="4" name="assign-bar">
            <a:extLst xmlns:a="http://schemas.openxmlformats.org/drawingml/2006/main">
              <a:ext uri="{FF2B5EF4-FFF2-40B4-BE49-F238E27FC236}">
                <a16:creationId xmlns:a16="http://schemas.microsoft.com/office/drawing/2014/main" id="{CE9B0418-22E2-4251-8457-D2C665325DB8}"/>
              </a:ext>
            </a:extLst>
          </p:cNvPr>
          <p:cNvSpPr>
            <a:spLocks xmlns:a="http://schemas.openxmlformats.org/drawingml/2006/main" noGrp="1"/>
          </p:cNvSpPr>
          <p:nvPr/>
        </p:nvSpPr>
        <p:spPr>
          <a:xfrm xmlns:a="http://schemas.openxmlformats.org/drawingml/2006/main">
            <a:off x="876300" y="2181225"/>
            <a:ext cx="990600" cy="2190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 name="assign-binding-0">
            <a:extLst xmlns:a="http://schemas.openxmlformats.org/drawingml/2006/main">
              <a:ext uri="{FF2B5EF4-FFF2-40B4-BE49-F238E27FC236}">
                <a16:creationId xmlns:a16="http://schemas.microsoft.com/office/drawing/2014/main" id="{B3490572-5745-441B-A8ED-633596DB1EE2}"/>
              </a:ext>
            </a:extLst>
          </p:cNvPr>
          <p:cNvSpPr>
            <a:spLocks xmlns:a="http://schemas.openxmlformats.org/drawingml/2006/main" noGrp="1"/>
          </p:cNvSpPr>
          <p:nvPr/>
        </p:nvSpPr>
        <p:spPr>
          <a:xfrm xmlns:a="http://schemas.openxmlformats.org/drawingml/2006/main">
            <a:off x="1095375" y="2066925"/>
            <a:ext cx="47625" cy="2381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6" name="assign-binding-1">
            <a:extLst xmlns:a="http://schemas.openxmlformats.org/drawingml/2006/main">
              <a:ext uri="{FF2B5EF4-FFF2-40B4-BE49-F238E27FC236}">
                <a16:creationId xmlns:a16="http://schemas.microsoft.com/office/drawing/2014/main" id="{5F229956-1754-4005-92F1-BA71046FD969}"/>
              </a:ext>
            </a:extLst>
          </p:cNvPr>
          <p:cNvSpPr>
            <a:spLocks xmlns:a="http://schemas.openxmlformats.org/drawingml/2006/main" noGrp="1"/>
          </p:cNvSpPr>
          <p:nvPr/>
        </p:nvSpPr>
        <p:spPr>
          <a:xfrm xmlns:a="http://schemas.openxmlformats.org/drawingml/2006/main">
            <a:off x="1609725" y="2066925"/>
            <a:ext cx="47625" cy="2381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7" name="assign-day-00">
            <a:extLst xmlns:a="http://schemas.openxmlformats.org/drawingml/2006/main">
              <a:ext uri="{FF2B5EF4-FFF2-40B4-BE49-F238E27FC236}">
                <a16:creationId xmlns:a16="http://schemas.microsoft.com/office/drawing/2014/main" id="{2EE6B510-670D-4BFF-90FD-AC4906F117D1}"/>
              </a:ext>
            </a:extLst>
          </p:cNvPr>
          <p:cNvSpPr>
            <a:spLocks xmlns:a="http://schemas.openxmlformats.org/drawingml/2006/main" noGrp="1"/>
          </p:cNvSpPr>
          <p:nvPr/>
        </p:nvSpPr>
        <p:spPr>
          <a:xfrm xmlns:a="http://schemas.openxmlformats.org/drawingml/2006/main">
            <a:off x="10477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8" name="assign-day-01">
            <a:extLst xmlns:a="http://schemas.openxmlformats.org/drawingml/2006/main">
              <a:ext uri="{FF2B5EF4-FFF2-40B4-BE49-F238E27FC236}">
                <a16:creationId xmlns:a16="http://schemas.microsoft.com/office/drawing/2014/main" id="{FFC788A8-F565-4990-8C6B-C8B34A218471}"/>
              </a:ext>
            </a:extLst>
          </p:cNvPr>
          <p:cNvSpPr>
            <a:spLocks xmlns:a="http://schemas.openxmlformats.org/drawingml/2006/main" noGrp="1"/>
          </p:cNvSpPr>
          <p:nvPr/>
        </p:nvSpPr>
        <p:spPr>
          <a:xfrm xmlns:a="http://schemas.openxmlformats.org/drawingml/2006/main">
            <a:off x="13144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9" name="assign-day-02">
            <a:extLst xmlns:a="http://schemas.openxmlformats.org/drawingml/2006/main">
              <a:ext uri="{FF2B5EF4-FFF2-40B4-BE49-F238E27FC236}">
                <a16:creationId xmlns:a16="http://schemas.microsoft.com/office/drawing/2014/main" id="{F6A27BDF-666E-4D61-864E-2769BD91DE2D}"/>
              </a:ext>
            </a:extLst>
          </p:cNvPr>
          <p:cNvSpPr>
            <a:spLocks xmlns:a="http://schemas.openxmlformats.org/drawingml/2006/main" noGrp="1"/>
          </p:cNvSpPr>
          <p:nvPr/>
        </p:nvSpPr>
        <p:spPr>
          <a:xfrm xmlns:a="http://schemas.openxmlformats.org/drawingml/2006/main">
            <a:off x="1581150" y="252412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0" name="assign-day-10">
            <a:extLst xmlns:a="http://schemas.openxmlformats.org/drawingml/2006/main">
              <a:ext uri="{FF2B5EF4-FFF2-40B4-BE49-F238E27FC236}">
                <a16:creationId xmlns:a16="http://schemas.microsoft.com/office/drawing/2014/main" id="{E51D9B9F-FCBB-4FB0-B5B7-9F666152AE4B}"/>
              </a:ext>
            </a:extLst>
          </p:cNvPr>
          <p:cNvSpPr>
            <a:spLocks xmlns:a="http://schemas.openxmlformats.org/drawingml/2006/main" noGrp="1"/>
          </p:cNvSpPr>
          <p:nvPr/>
        </p:nvSpPr>
        <p:spPr>
          <a:xfrm xmlns:a="http://schemas.openxmlformats.org/drawingml/2006/main">
            <a:off x="10477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1" name="assign-day-11">
            <a:extLst xmlns:a="http://schemas.openxmlformats.org/drawingml/2006/main">
              <a:ext uri="{FF2B5EF4-FFF2-40B4-BE49-F238E27FC236}">
                <a16:creationId xmlns:a16="http://schemas.microsoft.com/office/drawing/2014/main" id="{13375E4D-8F7A-4CF1-BDA1-BC85BE190692}"/>
              </a:ext>
            </a:extLst>
          </p:cNvPr>
          <p:cNvSpPr>
            <a:spLocks xmlns:a="http://schemas.openxmlformats.org/drawingml/2006/main" noGrp="1"/>
          </p:cNvSpPr>
          <p:nvPr/>
        </p:nvSpPr>
        <p:spPr>
          <a:xfrm xmlns:a="http://schemas.openxmlformats.org/drawingml/2006/main">
            <a:off x="13144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2" name="assign-day-12">
            <a:extLst xmlns:a="http://schemas.openxmlformats.org/drawingml/2006/main">
              <a:ext uri="{FF2B5EF4-FFF2-40B4-BE49-F238E27FC236}">
                <a16:creationId xmlns:a16="http://schemas.microsoft.com/office/drawing/2014/main" id="{C0E2DFB7-8FFF-42CF-83E4-B209AF9EB882}"/>
              </a:ext>
            </a:extLst>
          </p:cNvPr>
          <p:cNvSpPr>
            <a:spLocks xmlns:a="http://schemas.openxmlformats.org/drawingml/2006/main" noGrp="1"/>
          </p:cNvSpPr>
          <p:nvPr/>
        </p:nvSpPr>
        <p:spPr>
          <a:xfrm xmlns:a="http://schemas.openxmlformats.org/drawingml/2006/main">
            <a:off x="1581150" y="2771775"/>
            <a:ext cx="114300" cy="1143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3" name="talk-a-head">
            <a:extLst xmlns:a="http://schemas.openxmlformats.org/drawingml/2006/main">
              <a:ext uri="{FF2B5EF4-FFF2-40B4-BE49-F238E27FC236}">
                <a16:creationId xmlns:a16="http://schemas.microsoft.com/office/drawing/2014/main" id="{09F519FA-74B9-477B-854B-C7904D116AFA}"/>
              </a:ext>
            </a:extLst>
          </p:cNvPr>
          <p:cNvSpPr>
            <a:spLocks xmlns:a="http://schemas.openxmlformats.org/drawingml/2006/main" noGrp="1"/>
          </p:cNvSpPr>
          <p:nvPr/>
        </p:nvSpPr>
        <p:spPr>
          <a:xfrm xmlns:a="http://schemas.openxmlformats.org/drawingml/2006/main">
            <a:off x="3199448" y="2000250"/>
            <a:ext cx="332042" cy="332042"/>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14" name="talk-a-body">
            <a:extLst xmlns:a="http://schemas.openxmlformats.org/drawingml/2006/main">
              <a:ext uri="{FF2B5EF4-FFF2-40B4-BE49-F238E27FC236}">
                <a16:creationId xmlns:a16="http://schemas.microsoft.com/office/drawing/2014/main" id="{B06A9584-A380-4924-A9B6-8ACAA8FB8F19}"/>
              </a:ext>
            </a:extLst>
          </p:cNvPr>
          <p:cNvSpPr>
            <a:spLocks xmlns:a="http://schemas.openxmlformats.org/drawingml/2006/main" noGrp="1"/>
          </p:cNvSpPr>
          <p:nvPr/>
        </p:nvSpPr>
        <p:spPr>
          <a:xfrm xmlns:a="http://schemas.openxmlformats.org/drawingml/2006/main">
            <a:off x="3025521" y="2419255"/>
            <a:ext cx="679895" cy="513874"/>
          </a:xfrm>
          <a:prstGeom xmlns:a="http://schemas.openxmlformats.org/drawingml/2006/main" prst="roundRect">
            <a:avLst>
              <a:gd name="adj" fmla="val 14829"/>
            </a:avLst>
          </a:prstGeom>
          <a:solidFill xmlns:a="http://schemas.openxmlformats.org/drawingml/2006/main">
            <a:srgbClr val="007D8D"/>
          </a:solidFill>
          <a:ln xmlns:a="http://schemas.openxmlformats.org/drawingml/2006/main" w="0">
            <a:noFill/>
            <a:prstDash val="solid"/>
          </a:ln>
        </p:spPr>
      </p:sp>
      <p:sp>
        <p:nvSpPr>
          <p:cNvPr id="15" name="talk-b-head">
            <a:extLst xmlns:a="http://schemas.openxmlformats.org/drawingml/2006/main">
              <a:ext uri="{FF2B5EF4-FFF2-40B4-BE49-F238E27FC236}">
                <a16:creationId xmlns:a16="http://schemas.microsoft.com/office/drawing/2014/main" id="{311F9678-1169-4532-864C-2DAF24351C64}"/>
              </a:ext>
            </a:extLst>
          </p:cNvPr>
          <p:cNvSpPr>
            <a:spLocks xmlns:a="http://schemas.openxmlformats.org/drawingml/2006/main" noGrp="1"/>
          </p:cNvSpPr>
          <p:nvPr/>
        </p:nvSpPr>
        <p:spPr>
          <a:xfrm xmlns:a="http://schemas.openxmlformats.org/drawingml/2006/main">
            <a:off x="4042410" y="2200275"/>
            <a:ext cx="272034" cy="272034"/>
          </a:xfrm>
          <a:prstGeom xmlns:a="http://schemas.openxmlformats.org/drawingml/2006/main" prst="ellipse">
            <a:avLst/>
          </a:prstGeom>
          <a:solidFill xmlns:a="http://schemas.openxmlformats.org/drawingml/2006/main">
            <a:srgbClr val="EF972B"/>
          </a:solidFill>
          <a:ln xmlns:a="http://schemas.openxmlformats.org/drawingml/2006/main" w="0">
            <a:noFill/>
            <a:prstDash val="solid"/>
          </a:ln>
        </p:spPr>
      </p:sp>
      <p:sp>
        <p:nvSpPr>
          <p:cNvPr id="16" name="talk-b-body">
            <a:extLst xmlns:a="http://schemas.openxmlformats.org/drawingml/2006/main">
              <a:ext uri="{FF2B5EF4-FFF2-40B4-BE49-F238E27FC236}">
                <a16:creationId xmlns:a16="http://schemas.microsoft.com/office/drawing/2014/main" id="{9952EE07-17F0-4421-B9FB-3A8CD9590084}"/>
              </a:ext>
            </a:extLst>
          </p:cNvPr>
          <p:cNvSpPr>
            <a:spLocks xmlns:a="http://schemas.openxmlformats.org/drawingml/2006/main" noGrp="1"/>
          </p:cNvSpPr>
          <p:nvPr/>
        </p:nvSpPr>
        <p:spPr>
          <a:xfrm xmlns:a="http://schemas.openxmlformats.org/drawingml/2006/main">
            <a:off x="3899916" y="2543556"/>
            <a:ext cx="557022" cy="421005"/>
          </a:xfrm>
          <a:prstGeom xmlns:a="http://schemas.openxmlformats.org/drawingml/2006/main" prst="roundRect">
            <a:avLst>
              <a:gd name="adj" fmla="val 18100"/>
            </a:avLst>
          </a:prstGeom>
          <a:solidFill xmlns:a="http://schemas.openxmlformats.org/drawingml/2006/main">
            <a:srgbClr val="EF972B"/>
          </a:solidFill>
          <a:ln xmlns:a="http://schemas.openxmlformats.org/drawingml/2006/main" w="0">
            <a:noFill/>
            <a:prstDash val="solid"/>
          </a:ln>
        </p:spPr>
      </p:sp>
      <p:sp>
        <p:nvSpPr>
          <p:cNvPr id="17" name="draft">
            <a:extLst xmlns:a="http://schemas.openxmlformats.org/drawingml/2006/main">
              <a:ext uri="{FF2B5EF4-FFF2-40B4-BE49-F238E27FC236}">
                <a16:creationId xmlns:a16="http://schemas.microsoft.com/office/drawing/2014/main" id="{3DF6828D-01F7-4321-BF0F-8A044621FD5E}"/>
              </a:ext>
            </a:extLst>
          </p:cNvPr>
          <p:cNvSpPr>
            <a:spLocks xmlns:a="http://schemas.openxmlformats.org/drawingml/2006/main" noGrp="1"/>
          </p:cNvSpPr>
          <p:nvPr/>
        </p:nvSpPr>
        <p:spPr>
          <a:xfrm xmlns:a="http://schemas.openxmlformats.org/drawingml/2006/main">
            <a:off x="5591175" y="2000250"/>
            <a:ext cx="838200" cy="1104900"/>
          </a:xfrm>
          <a:prstGeom xmlns:a="http://schemas.openxmlformats.org/drawingml/2006/main" prst="rect">
            <a:avLst/>
          </a:prstGeom>
          <a:solidFill xmlns:a="http://schemas.openxmlformats.org/drawingml/2006/main">
            <a:srgbClr val="FFFFFF"/>
          </a:solidFill>
          <a:ln xmlns:a="http://schemas.openxmlformats.org/drawingml/2006/main" w="28575">
            <a:solidFill>
              <a:srgbClr val="007D8D"/>
            </a:solidFill>
            <a:prstDash val="solid"/>
          </a:ln>
        </p:spPr>
      </p:sp>
      <p:sp>
        <p:nvSpPr>
          <p:cNvPr id="18" name="draft-line-0">
            <a:extLst xmlns:a="http://schemas.openxmlformats.org/drawingml/2006/main">
              <a:ext uri="{FF2B5EF4-FFF2-40B4-BE49-F238E27FC236}">
                <a16:creationId xmlns:a16="http://schemas.microsoft.com/office/drawing/2014/main" id="{100028C4-5A0B-4CAD-970C-20610BCCCCED}"/>
              </a:ext>
            </a:extLst>
          </p:cNvPr>
          <p:cNvSpPr>
            <a:spLocks xmlns:a="http://schemas.openxmlformats.org/drawingml/2006/main" noGrp="1"/>
          </p:cNvSpPr>
          <p:nvPr/>
        </p:nvSpPr>
        <p:spPr>
          <a:xfrm xmlns:a="http://schemas.openxmlformats.org/drawingml/2006/main">
            <a:off x="5743575" y="22574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9" name="draft-line-1">
            <a:extLst xmlns:a="http://schemas.openxmlformats.org/drawingml/2006/main">
              <a:ext uri="{FF2B5EF4-FFF2-40B4-BE49-F238E27FC236}">
                <a16:creationId xmlns:a16="http://schemas.microsoft.com/office/drawing/2014/main" id="{BCF4DE0C-39C3-410A-8B86-07403F2FB234}"/>
              </a:ext>
            </a:extLst>
          </p:cNvPr>
          <p:cNvSpPr>
            <a:spLocks xmlns:a="http://schemas.openxmlformats.org/drawingml/2006/main" noGrp="1"/>
          </p:cNvSpPr>
          <p:nvPr/>
        </p:nvSpPr>
        <p:spPr>
          <a:xfrm xmlns:a="http://schemas.openxmlformats.org/drawingml/2006/main">
            <a:off x="5743575" y="24479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0" name="draft-line-2">
            <a:extLst xmlns:a="http://schemas.openxmlformats.org/drawingml/2006/main">
              <a:ext uri="{FF2B5EF4-FFF2-40B4-BE49-F238E27FC236}">
                <a16:creationId xmlns:a16="http://schemas.microsoft.com/office/drawing/2014/main" id="{A11190DC-DDC5-4649-A525-662CD027BDF5}"/>
              </a:ext>
            </a:extLst>
          </p:cNvPr>
          <p:cNvSpPr>
            <a:spLocks xmlns:a="http://schemas.openxmlformats.org/drawingml/2006/main" noGrp="1"/>
          </p:cNvSpPr>
          <p:nvPr/>
        </p:nvSpPr>
        <p:spPr>
          <a:xfrm xmlns:a="http://schemas.openxmlformats.org/drawingml/2006/main">
            <a:off x="5743575" y="2638425"/>
            <a:ext cx="53340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1" name="draft-line-3">
            <a:extLst xmlns:a="http://schemas.openxmlformats.org/drawingml/2006/main">
              <a:ext uri="{FF2B5EF4-FFF2-40B4-BE49-F238E27FC236}">
                <a16:creationId xmlns:a16="http://schemas.microsoft.com/office/drawing/2014/main" id="{434EA093-F46E-4F58-92E1-A04AC07422D7}"/>
              </a:ext>
            </a:extLst>
          </p:cNvPr>
          <p:cNvSpPr>
            <a:spLocks xmlns:a="http://schemas.openxmlformats.org/drawingml/2006/main" noGrp="1"/>
          </p:cNvSpPr>
          <p:nvPr/>
        </p:nvSpPr>
        <p:spPr>
          <a:xfrm xmlns:a="http://schemas.openxmlformats.org/drawingml/2006/main">
            <a:off x="5743575" y="2828925"/>
            <a:ext cx="323850" cy="381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2" name="reviewer-head">
            <a:extLst xmlns:a="http://schemas.openxmlformats.org/drawingml/2006/main">
              <a:ext uri="{FF2B5EF4-FFF2-40B4-BE49-F238E27FC236}">
                <a16:creationId xmlns:a16="http://schemas.microsoft.com/office/drawing/2014/main" id="{C124A60E-7DA7-4B03-A2FF-137C5E282901}"/>
              </a:ext>
            </a:extLst>
          </p:cNvPr>
          <p:cNvSpPr>
            <a:spLocks xmlns:a="http://schemas.openxmlformats.org/drawingml/2006/main" noGrp="1"/>
          </p:cNvSpPr>
          <p:nvPr/>
        </p:nvSpPr>
        <p:spPr>
          <a:xfrm xmlns:a="http://schemas.openxmlformats.org/drawingml/2006/main">
            <a:off x="7903845" y="2047875"/>
            <a:ext cx="344043" cy="344043"/>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3" name="reviewer-body">
            <a:extLst xmlns:a="http://schemas.openxmlformats.org/drawingml/2006/main">
              <a:ext uri="{FF2B5EF4-FFF2-40B4-BE49-F238E27FC236}">
                <a16:creationId xmlns:a16="http://schemas.microsoft.com/office/drawing/2014/main" id="{4AF4D308-B8C7-4CBF-BB88-5C8B2B126F06}"/>
              </a:ext>
            </a:extLst>
          </p:cNvPr>
          <p:cNvSpPr>
            <a:spLocks xmlns:a="http://schemas.openxmlformats.org/drawingml/2006/main" noGrp="1"/>
          </p:cNvSpPr>
          <p:nvPr/>
        </p:nvSpPr>
        <p:spPr>
          <a:xfrm xmlns:a="http://schemas.openxmlformats.org/drawingml/2006/main">
            <a:off x="7723632" y="2482025"/>
            <a:ext cx="704469" cy="532448"/>
          </a:xfrm>
          <a:prstGeom xmlns:a="http://schemas.openxmlformats.org/drawingml/2006/main" prst="roundRect">
            <a:avLst>
              <a:gd name="adj" fmla="val 14311"/>
            </a:avLst>
          </a:prstGeom>
          <a:solidFill xmlns:a="http://schemas.openxmlformats.org/drawingml/2006/main">
            <a:srgbClr val="007D8D"/>
          </a:solidFill>
          <a:ln xmlns:a="http://schemas.openxmlformats.org/drawingml/2006/main" w="0">
            <a:noFill/>
            <a:prstDash val="solid"/>
          </a:ln>
        </p:spPr>
      </p:sp>
      <p:sp>
        <p:nvSpPr>
          <p:cNvPr id="24" name="review-document">
            <a:extLst xmlns:a="http://schemas.openxmlformats.org/drawingml/2006/main">
              <a:ext uri="{FF2B5EF4-FFF2-40B4-BE49-F238E27FC236}">
                <a16:creationId xmlns:a16="http://schemas.microsoft.com/office/drawing/2014/main" id="{15422EFA-9AAC-4F85-80F5-94523B395D5A}"/>
              </a:ext>
            </a:extLst>
          </p:cNvPr>
          <p:cNvSpPr>
            <a:spLocks xmlns:a="http://schemas.openxmlformats.org/drawingml/2006/main" noGrp="1"/>
          </p:cNvSpPr>
          <p:nvPr/>
        </p:nvSpPr>
        <p:spPr>
          <a:xfrm xmlns:a="http://schemas.openxmlformats.org/drawingml/2006/main">
            <a:off x="8553450" y="2362200"/>
            <a:ext cx="435864" cy="574548"/>
          </a:xfrm>
          <a:prstGeom xmlns:a="http://schemas.openxmlformats.org/drawingml/2006/main" prst="rect">
            <a:avLst/>
          </a:prstGeom>
          <a:solidFill xmlns:a="http://schemas.openxmlformats.org/drawingml/2006/main">
            <a:srgbClr val="FFFFFF"/>
          </a:solidFill>
          <a:ln xmlns:a="http://schemas.openxmlformats.org/drawingml/2006/main" w="28575">
            <a:solidFill>
              <a:srgbClr val="EF972B"/>
            </a:solidFill>
            <a:prstDash val="solid"/>
          </a:ln>
        </p:spPr>
      </p:sp>
      <p:sp>
        <p:nvSpPr>
          <p:cNvPr id="25" name="review-document-line-0">
            <a:extLst xmlns:a="http://schemas.openxmlformats.org/drawingml/2006/main">
              <a:ext uri="{FF2B5EF4-FFF2-40B4-BE49-F238E27FC236}">
                <a16:creationId xmlns:a16="http://schemas.microsoft.com/office/drawing/2014/main" id="{A4B36D17-7ACD-42E3-B9B0-52B3C3B94099}"/>
              </a:ext>
            </a:extLst>
          </p:cNvPr>
          <p:cNvSpPr>
            <a:spLocks xmlns:a="http://schemas.openxmlformats.org/drawingml/2006/main" noGrp="1"/>
          </p:cNvSpPr>
          <p:nvPr/>
        </p:nvSpPr>
        <p:spPr>
          <a:xfrm xmlns:a="http://schemas.openxmlformats.org/drawingml/2006/main">
            <a:off x="8632698" y="249593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6" name="review-document-line-1">
            <a:extLst xmlns:a="http://schemas.openxmlformats.org/drawingml/2006/main">
              <a:ext uri="{FF2B5EF4-FFF2-40B4-BE49-F238E27FC236}">
                <a16:creationId xmlns:a16="http://schemas.microsoft.com/office/drawing/2014/main" id="{C8B59231-13A9-4A51-A42E-7FDC2347C443}"/>
              </a:ext>
            </a:extLst>
          </p:cNvPr>
          <p:cNvSpPr>
            <a:spLocks xmlns:a="http://schemas.openxmlformats.org/drawingml/2006/main" noGrp="1"/>
          </p:cNvSpPr>
          <p:nvPr/>
        </p:nvSpPr>
        <p:spPr>
          <a:xfrm xmlns:a="http://schemas.openxmlformats.org/drawingml/2006/main">
            <a:off x="8632698" y="259499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7" name="review-document-line-2">
            <a:extLst xmlns:a="http://schemas.openxmlformats.org/drawingml/2006/main">
              <a:ext uri="{FF2B5EF4-FFF2-40B4-BE49-F238E27FC236}">
                <a16:creationId xmlns:a16="http://schemas.microsoft.com/office/drawing/2014/main" id="{401E019F-426D-4262-983D-0F70E791933A}"/>
              </a:ext>
            </a:extLst>
          </p:cNvPr>
          <p:cNvSpPr>
            <a:spLocks xmlns:a="http://schemas.openxmlformats.org/drawingml/2006/main" noGrp="1"/>
          </p:cNvSpPr>
          <p:nvPr/>
        </p:nvSpPr>
        <p:spPr>
          <a:xfrm xmlns:a="http://schemas.openxmlformats.org/drawingml/2006/main">
            <a:off x="8632698" y="2694051"/>
            <a:ext cx="277368"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8" name="review-document-line-3">
            <a:extLst xmlns:a="http://schemas.openxmlformats.org/drawingml/2006/main">
              <a:ext uri="{FF2B5EF4-FFF2-40B4-BE49-F238E27FC236}">
                <a16:creationId xmlns:a16="http://schemas.microsoft.com/office/drawing/2014/main" id="{4ACDBBE6-0619-401C-9A43-57C2D3E78D20}"/>
              </a:ext>
            </a:extLst>
          </p:cNvPr>
          <p:cNvSpPr>
            <a:spLocks xmlns:a="http://schemas.openxmlformats.org/drawingml/2006/main" noGrp="1"/>
          </p:cNvSpPr>
          <p:nvPr/>
        </p:nvSpPr>
        <p:spPr>
          <a:xfrm xmlns:a="http://schemas.openxmlformats.org/drawingml/2006/main">
            <a:off x="8632698" y="2793111"/>
            <a:ext cx="168402" cy="19812"/>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9" name="revisit-screen">
            <a:extLst xmlns:a="http://schemas.openxmlformats.org/drawingml/2006/main">
              <a:ext uri="{FF2B5EF4-FFF2-40B4-BE49-F238E27FC236}">
                <a16:creationId xmlns:a16="http://schemas.microsoft.com/office/drawing/2014/main" id="{CEF98188-8412-471C-B219-9A70E61C5A39}"/>
              </a:ext>
            </a:extLst>
          </p:cNvPr>
          <p:cNvSpPr>
            <a:spLocks xmlns:a="http://schemas.openxmlformats.org/drawingml/2006/main" noGrp="1"/>
          </p:cNvSpPr>
          <p:nvPr/>
        </p:nvSpPr>
        <p:spPr>
          <a:xfrm xmlns:a="http://schemas.openxmlformats.org/drawingml/2006/main">
            <a:off x="10125075" y="2171700"/>
            <a:ext cx="1123950" cy="781050"/>
          </a:xfrm>
          <a:prstGeom xmlns:a="http://schemas.openxmlformats.org/drawingml/2006/main" prst="rect">
            <a:avLst/>
          </a:prstGeom>
          <a:solidFill xmlns:a="http://schemas.openxmlformats.org/drawingml/2006/main">
            <a:srgbClr val="FFFFFF"/>
          </a:solidFill>
          <a:ln xmlns:a="http://schemas.openxmlformats.org/drawingml/2006/main" w="38100">
            <a:solidFill>
              <a:srgbClr val="007D8D"/>
            </a:solidFill>
            <a:prstDash val="solid"/>
          </a:ln>
        </p:spPr>
      </p:sp>
      <p:sp>
        <p:nvSpPr>
          <p:cNvPr id="30" name="revisit-base">
            <a:extLst xmlns:a="http://schemas.openxmlformats.org/drawingml/2006/main">
              <a:ext uri="{FF2B5EF4-FFF2-40B4-BE49-F238E27FC236}">
                <a16:creationId xmlns:a16="http://schemas.microsoft.com/office/drawing/2014/main" id="{DE09B842-069E-48FB-B481-29CD40A22822}"/>
              </a:ext>
            </a:extLst>
          </p:cNvPr>
          <p:cNvSpPr>
            <a:spLocks xmlns:a="http://schemas.openxmlformats.org/drawingml/2006/main" noGrp="1"/>
          </p:cNvSpPr>
          <p:nvPr/>
        </p:nvSpPr>
        <p:spPr>
          <a:xfrm xmlns:a="http://schemas.openxmlformats.org/drawingml/2006/main">
            <a:off x="10010775" y="3009900"/>
            <a:ext cx="1352550"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1" name="revisit-text-a">
            <a:extLst xmlns:a="http://schemas.openxmlformats.org/drawingml/2006/main">
              <a:ext uri="{FF2B5EF4-FFF2-40B4-BE49-F238E27FC236}">
                <a16:creationId xmlns:a16="http://schemas.microsoft.com/office/drawing/2014/main" id="{49C8DF6C-07EE-479B-B9DD-60575361908F}"/>
              </a:ext>
            </a:extLst>
          </p:cNvPr>
          <p:cNvSpPr>
            <a:spLocks xmlns:a="http://schemas.openxmlformats.org/drawingml/2006/main" noGrp="1"/>
          </p:cNvSpPr>
          <p:nvPr/>
        </p:nvSpPr>
        <p:spPr>
          <a:xfrm xmlns:a="http://schemas.openxmlformats.org/drawingml/2006/main">
            <a:off x="10296525" y="2381250"/>
            <a:ext cx="695325"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2" name="revisit-text-b">
            <a:extLst xmlns:a="http://schemas.openxmlformats.org/drawingml/2006/main">
              <a:ext uri="{FF2B5EF4-FFF2-40B4-BE49-F238E27FC236}">
                <a16:creationId xmlns:a16="http://schemas.microsoft.com/office/drawing/2014/main" id="{26C551CB-3E2D-49CF-8B90-0C40E1BB088C}"/>
              </a:ext>
            </a:extLst>
          </p:cNvPr>
          <p:cNvSpPr>
            <a:spLocks xmlns:a="http://schemas.openxmlformats.org/drawingml/2006/main" noGrp="1"/>
          </p:cNvSpPr>
          <p:nvPr/>
        </p:nvSpPr>
        <p:spPr>
          <a:xfrm xmlns:a="http://schemas.openxmlformats.org/drawingml/2006/main">
            <a:off x="10296525" y="2543175"/>
            <a:ext cx="495300"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3" name="revisit-text-c">
            <a:extLst xmlns:a="http://schemas.openxmlformats.org/drawingml/2006/main">
              <a:ext uri="{FF2B5EF4-FFF2-40B4-BE49-F238E27FC236}">
                <a16:creationId xmlns:a16="http://schemas.microsoft.com/office/drawing/2014/main" id="{03B2F174-2248-4823-AF7C-870E5276F286}"/>
              </a:ext>
            </a:extLst>
          </p:cNvPr>
          <p:cNvSpPr>
            <a:spLocks xmlns:a="http://schemas.openxmlformats.org/drawingml/2006/main" noGrp="1"/>
          </p:cNvSpPr>
          <p:nvPr/>
        </p:nvSpPr>
        <p:spPr>
          <a:xfrm xmlns:a="http://schemas.openxmlformats.org/drawingml/2006/main">
            <a:off x="10296525" y="2705100"/>
            <a:ext cx="762000" cy="476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34" name="step-heading-0">
            <a:extLst xmlns:a="http://schemas.openxmlformats.org/drawingml/2006/main">
              <a:ext uri="{FF2B5EF4-FFF2-40B4-BE49-F238E27FC236}">
                <a16:creationId xmlns:a16="http://schemas.microsoft.com/office/drawing/2014/main" id="{564F0573-3FE3-4893-9F51-42A2AEF02B93}"/>
              </a:ext>
            </a:extLst>
          </p:cNvPr>
          <p:cNvSpPr>
            <a:spLocks xmlns:a="http://schemas.openxmlformats.org/drawingml/2006/main" noGrp="1"/>
          </p:cNvSpPr>
          <p:nvPr/>
        </p:nvSpPr>
        <p:spPr>
          <a:xfrm xmlns:a="http://schemas.openxmlformats.org/drawingml/2006/main">
            <a:off x="5334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01  Assign</a:t>
            </a:r>
          </a:p>
        </p:txBody>
      </p:sp>
      <p:sp>
        <p:nvSpPr>
          <p:cNvPr id="35" name="step-body-0">
            <a:extLst xmlns:a="http://schemas.openxmlformats.org/drawingml/2006/main">
              <a:ext uri="{FF2B5EF4-FFF2-40B4-BE49-F238E27FC236}">
                <a16:creationId xmlns:a16="http://schemas.microsoft.com/office/drawing/2014/main" id="{99C7018B-962B-4E6F-B29A-6F9623523FF1}"/>
              </a:ext>
            </a:extLst>
          </p:cNvPr>
          <p:cNvSpPr>
            <a:spLocks xmlns:a="http://schemas.openxmlformats.org/drawingml/2006/main" noGrp="1"/>
          </p:cNvSpPr>
          <p:nvPr/>
        </p:nvSpPr>
        <p:spPr>
          <a:xfrm xmlns:a="http://schemas.openxmlformats.org/drawingml/2006/main">
            <a:off x="5334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Name the patient, owner</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next review date</a:t>
            </a:r>
          </a:p>
        </p:txBody>
      </p:sp>
      <p:sp>
        <p:nvSpPr>
          <p:cNvPr id="36" name="step-arrow-0">
            <a:extLst xmlns:a="http://schemas.openxmlformats.org/drawingml/2006/main">
              <a:ext uri="{FF2B5EF4-FFF2-40B4-BE49-F238E27FC236}">
                <a16:creationId xmlns:a16="http://schemas.microsoft.com/office/drawing/2014/main" id="{23F208AE-8652-46DA-952D-21311A4C87E1}"/>
              </a:ext>
            </a:extLst>
          </p:cNvPr>
          <p:cNvSpPr>
            <a:spLocks xmlns:a="http://schemas.openxmlformats.org/drawingml/2006/main" noGrp="1"/>
          </p:cNvSpPr>
          <p:nvPr/>
        </p:nvSpPr>
        <p:spPr>
          <a:xfrm xmlns:a="http://schemas.openxmlformats.org/drawingml/2006/main">
            <a:off x="24574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37" name="step-heading-1">
            <a:extLst xmlns:a="http://schemas.openxmlformats.org/drawingml/2006/main">
              <a:ext uri="{FF2B5EF4-FFF2-40B4-BE49-F238E27FC236}">
                <a16:creationId xmlns:a16="http://schemas.microsoft.com/office/drawing/2014/main" id="{3AEDDF72-408C-432F-BBA8-B025758EAA01}"/>
              </a:ext>
            </a:extLst>
          </p:cNvPr>
          <p:cNvSpPr>
            <a:spLocks xmlns:a="http://schemas.openxmlformats.org/drawingml/2006/main" noGrp="1"/>
          </p:cNvSpPr>
          <p:nvPr/>
        </p:nvSpPr>
        <p:spPr>
          <a:xfrm xmlns:a="http://schemas.openxmlformats.org/drawingml/2006/main">
            <a:off x="28575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02  Talk</a:t>
            </a:r>
          </a:p>
        </p:txBody>
      </p:sp>
      <p:sp>
        <p:nvSpPr>
          <p:cNvPr id="38" name="step-body-1">
            <a:extLst xmlns:a="http://schemas.openxmlformats.org/drawingml/2006/main">
              <a:ext uri="{FF2B5EF4-FFF2-40B4-BE49-F238E27FC236}">
                <a16:creationId xmlns:a16="http://schemas.microsoft.com/office/drawing/2014/main" id="{3E5CB25D-47C6-433E-847B-141820353BBB}"/>
              </a:ext>
            </a:extLst>
          </p:cNvPr>
          <p:cNvSpPr>
            <a:spLocks xmlns:a="http://schemas.openxmlformats.org/drawingml/2006/main" noGrp="1"/>
          </p:cNvSpPr>
          <p:nvPr/>
        </p:nvSpPr>
        <p:spPr>
          <a:xfrm xmlns:a="http://schemas.openxmlformats.org/drawingml/2006/main">
            <a:off x="28575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Mark discussed, deferred</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or unclear topics</a:t>
            </a:r>
          </a:p>
        </p:txBody>
      </p:sp>
      <p:sp>
        <p:nvSpPr>
          <p:cNvPr id="39" name="step-arrow-1">
            <a:extLst xmlns:a="http://schemas.openxmlformats.org/drawingml/2006/main">
              <a:ext uri="{FF2B5EF4-FFF2-40B4-BE49-F238E27FC236}">
                <a16:creationId xmlns:a16="http://schemas.microsoft.com/office/drawing/2014/main" id="{BA5576C1-8E1F-4A69-A249-973F9C5EE2E1}"/>
              </a:ext>
            </a:extLst>
          </p:cNvPr>
          <p:cNvSpPr>
            <a:spLocks xmlns:a="http://schemas.openxmlformats.org/drawingml/2006/main" noGrp="1"/>
          </p:cNvSpPr>
          <p:nvPr/>
        </p:nvSpPr>
        <p:spPr>
          <a:xfrm xmlns:a="http://schemas.openxmlformats.org/drawingml/2006/main">
            <a:off x="47815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0" name="step-heading-2">
            <a:extLst xmlns:a="http://schemas.openxmlformats.org/drawingml/2006/main">
              <a:ext uri="{FF2B5EF4-FFF2-40B4-BE49-F238E27FC236}">
                <a16:creationId xmlns:a16="http://schemas.microsoft.com/office/drawing/2014/main" id="{D9724777-EF75-461F-9301-DF6F7765A9C4}"/>
              </a:ext>
            </a:extLst>
          </p:cNvPr>
          <p:cNvSpPr>
            <a:spLocks xmlns:a="http://schemas.openxmlformats.org/drawingml/2006/main" noGrp="1"/>
          </p:cNvSpPr>
          <p:nvPr/>
        </p:nvSpPr>
        <p:spPr>
          <a:xfrm xmlns:a="http://schemas.openxmlformats.org/drawingml/2006/main">
            <a:off x="51816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03  Draft</a:t>
            </a:r>
          </a:p>
        </p:txBody>
      </p:sp>
      <p:sp>
        <p:nvSpPr>
          <p:cNvPr id="41" name="step-body-2">
            <a:extLst xmlns:a="http://schemas.openxmlformats.org/drawingml/2006/main">
              <a:ext uri="{FF2B5EF4-FFF2-40B4-BE49-F238E27FC236}">
                <a16:creationId xmlns:a16="http://schemas.microsoft.com/office/drawing/2014/main" id="{BC2D445F-BF37-4CCB-89B3-87B892A9C779}"/>
              </a:ext>
            </a:extLst>
          </p:cNvPr>
          <p:cNvSpPr>
            <a:spLocks xmlns:a="http://schemas.openxmlformats.org/drawingml/2006/main" noGrp="1"/>
          </p:cNvSpPr>
          <p:nvPr/>
        </p:nvSpPr>
        <p:spPr>
          <a:xfrm xmlns:a="http://schemas.openxmlformats.org/drawingml/2006/main">
            <a:off x="51816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Link each substantive</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field to its source</a:t>
            </a:r>
          </a:p>
        </p:txBody>
      </p:sp>
      <p:sp>
        <p:nvSpPr>
          <p:cNvPr id="42" name="step-arrow-2">
            <a:extLst xmlns:a="http://schemas.openxmlformats.org/drawingml/2006/main">
              <a:ext uri="{FF2B5EF4-FFF2-40B4-BE49-F238E27FC236}">
                <a16:creationId xmlns:a16="http://schemas.microsoft.com/office/drawing/2014/main" id="{89D42E3E-2B74-48EE-919A-5230EE99A507}"/>
              </a:ext>
            </a:extLst>
          </p:cNvPr>
          <p:cNvSpPr>
            <a:spLocks xmlns:a="http://schemas.openxmlformats.org/drawingml/2006/main" noGrp="1"/>
          </p:cNvSpPr>
          <p:nvPr/>
        </p:nvSpPr>
        <p:spPr>
          <a:xfrm xmlns:a="http://schemas.openxmlformats.org/drawingml/2006/main">
            <a:off x="71056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3" name="step-heading-3">
            <a:extLst xmlns:a="http://schemas.openxmlformats.org/drawingml/2006/main">
              <a:ext uri="{FF2B5EF4-FFF2-40B4-BE49-F238E27FC236}">
                <a16:creationId xmlns:a16="http://schemas.microsoft.com/office/drawing/2014/main" id="{B030D025-0E28-4900-946F-1474C58BAD0E}"/>
              </a:ext>
            </a:extLst>
          </p:cNvPr>
          <p:cNvSpPr>
            <a:spLocks xmlns:a="http://schemas.openxmlformats.org/drawingml/2006/main" noGrp="1"/>
          </p:cNvSpPr>
          <p:nvPr/>
        </p:nvSpPr>
        <p:spPr>
          <a:xfrm xmlns:a="http://schemas.openxmlformats.org/drawingml/2006/main">
            <a:off x="75057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04  Review</a:t>
            </a:r>
          </a:p>
        </p:txBody>
      </p:sp>
      <p:sp>
        <p:nvSpPr>
          <p:cNvPr id="44" name="step-body-3">
            <a:extLst xmlns:a="http://schemas.openxmlformats.org/drawingml/2006/main">
              <a:ext uri="{FF2B5EF4-FFF2-40B4-BE49-F238E27FC236}">
                <a16:creationId xmlns:a16="http://schemas.microsoft.com/office/drawing/2014/main" id="{1052323F-A550-4DD6-8E67-4E8DD735E4F3}"/>
              </a:ext>
            </a:extLst>
          </p:cNvPr>
          <p:cNvSpPr>
            <a:spLocks xmlns:a="http://schemas.openxmlformats.org/drawingml/2006/main" noGrp="1"/>
          </p:cNvSpPr>
          <p:nvPr/>
        </p:nvSpPr>
        <p:spPr>
          <a:xfrm xmlns:a="http://schemas.openxmlformats.org/drawingml/2006/main">
            <a:off x="75057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Physician resolves gaps</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releases a version</a:t>
            </a:r>
          </a:p>
        </p:txBody>
      </p:sp>
      <p:sp>
        <p:nvSpPr>
          <p:cNvPr id="45" name="step-arrow-3">
            <a:extLst xmlns:a="http://schemas.openxmlformats.org/drawingml/2006/main">
              <a:ext uri="{FF2B5EF4-FFF2-40B4-BE49-F238E27FC236}">
                <a16:creationId xmlns:a16="http://schemas.microsoft.com/office/drawing/2014/main" id="{1F4C5548-27BA-4E68-AE9D-9B2D5D0F8302}"/>
              </a:ext>
            </a:extLst>
          </p:cNvPr>
          <p:cNvSpPr>
            <a:spLocks xmlns:a="http://schemas.openxmlformats.org/drawingml/2006/main" noGrp="1"/>
          </p:cNvSpPr>
          <p:nvPr/>
        </p:nvSpPr>
        <p:spPr>
          <a:xfrm xmlns:a="http://schemas.openxmlformats.org/drawingml/2006/main">
            <a:off x="9429750" y="2552700"/>
            <a:ext cx="333375" cy="190500"/>
          </a:xfrm>
          <a:prstGeom xmlns:a="http://schemas.openxmlformats.org/drawingml/2006/main" prst="rightArrow">
            <a:avLst/>
          </a:prstGeom>
          <a:solidFill xmlns:a="http://schemas.openxmlformats.org/drawingml/2006/main">
            <a:srgbClr val="EF972B"/>
          </a:solidFill>
          <a:ln xmlns:a="http://schemas.openxmlformats.org/drawingml/2006/main" w="0">
            <a:noFill/>
            <a:prstDash val="solid"/>
          </a:ln>
        </p:spPr>
      </p:sp>
      <p:sp>
        <p:nvSpPr>
          <p:cNvPr id="46" name="step-heading-4">
            <a:extLst xmlns:a="http://schemas.openxmlformats.org/drawingml/2006/main">
              <a:ext uri="{FF2B5EF4-FFF2-40B4-BE49-F238E27FC236}">
                <a16:creationId xmlns:a16="http://schemas.microsoft.com/office/drawing/2014/main" id="{6D428030-82F2-4723-963B-AA17193AE365}"/>
              </a:ext>
            </a:extLst>
          </p:cNvPr>
          <p:cNvSpPr>
            <a:spLocks xmlns:a="http://schemas.openxmlformats.org/drawingml/2006/main" noGrp="1"/>
          </p:cNvSpPr>
          <p:nvPr/>
        </p:nvSpPr>
        <p:spPr>
          <a:xfrm xmlns:a="http://schemas.openxmlformats.org/drawingml/2006/main">
            <a:off x="9829800" y="3533775"/>
            <a:ext cx="2143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05  Revisit</a:t>
            </a:r>
          </a:p>
        </p:txBody>
      </p:sp>
      <p:sp>
        <p:nvSpPr>
          <p:cNvPr id="47" name="step-body-4">
            <a:extLst xmlns:a="http://schemas.openxmlformats.org/drawingml/2006/main">
              <a:ext uri="{FF2B5EF4-FFF2-40B4-BE49-F238E27FC236}">
                <a16:creationId xmlns:a16="http://schemas.microsoft.com/office/drawing/2014/main" id="{FF79C7FA-ACA3-403C-AFE7-C420AEB7F02E}"/>
              </a:ext>
            </a:extLst>
          </p:cNvPr>
          <p:cNvSpPr>
            <a:spLocks xmlns:a="http://schemas.openxmlformats.org/drawingml/2006/main" noGrp="1"/>
          </p:cNvSpPr>
          <p:nvPr/>
        </p:nvSpPr>
        <p:spPr>
          <a:xfrm xmlns:a="http://schemas.openxmlformats.org/drawingml/2006/main">
            <a:off x="9829800" y="4067175"/>
            <a:ext cx="21526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Receiving clinician retrieves</a:t>
            </a:r>
          </a:p>
          <a:p xmlns:a="http://schemas.openxmlformats.org/drawingml/2006/main">
            <a:pPr>
              <a:defRPr sz="1650" b="0">
                <a:solidFill>
                  <a:srgbClr val="526479"/>
                </a:solidFill>
                <a:latin typeface="Helvetica Neue"/>
                <a:ea typeface="Helvetica Neue"/>
                <a:cs typeface="Helvetica Neue"/>
              </a:defRPr>
            </a:pPr>
            <a:r>
              <a:rPr sz="1650" b="0">
                <a:solidFill>
                  <a:srgbClr val="526479"/>
                </a:solidFill>
                <a:latin typeface="Helvetica Neue"/>
                <a:ea typeface="Helvetica Neue"/>
                <a:cs typeface="Helvetica Neue"/>
              </a:rPr>
              <a:t>and reconfirms context</a:t>
            </a:r>
          </a:p>
        </p:txBody>
      </p:sp>
      <p:sp>
        <p:nvSpPr>
          <p:cNvPr id="48" name="return-bottom">
            <a:extLst xmlns:a="http://schemas.openxmlformats.org/drawingml/2006/main">
              <a:ext uri="{FF2B5EF4-FFF2-40B4-BE49-F238E27FC236}">
                <a16:creationId xmlns:a16="http://schemas.microsoft.com/office/drawing/2014/main" id="{C66A76FF-AD94-4CA6-B0F4-B5628C4641F8}"/>
              </a:ext>
            </a:extLst>
          </p:cNvPr>
          <p:cNvSpPr>
            <a:spLocks xmlns:a="http://schemas.openxmlformats.org/drawingml/2006/main" noGrp="1"/>
          </p:cNvSpPr>
          <p:nvPr/>
        </p:nvSpPr>
        <p:spPr>
          <a:xfrm xmlns:a="http://schemas.openxmlformats.org/drawingml/2006/main">
            <a:off x="990600" y="5572125"/>
            <a:ext cx="10039350" cy="285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49" name="return-left">
            <a:extLst xmlns:a="http://schemas.openxmlformats.org/drawingml/2006/main">
              <a:ext uri="{FF2B5EF4-FFF2-40B4-BE49-F238E27FC236}">
                <a16:creationId xmlns:a16="http://schemas.microsoft.com/office/drawing/2014/main" id="{01277FA0-DB25-4EAB-A681-D117F39A4150}"/>
              </a:ext>
            </a:extLst>
          </p:cNvPr>
          <p:cNvSpPr>
            <a:spLocks xmlns:a="http://schemas.openxmlformats.org/drawingml/2006/main" noGrp="1"/>
          </p:cNvSpPr>
          <p:nvPr/>
        </p:nvSpPr>
        <p:spPr>
          <a:xfrm xmlns:a="http://schemas.openxmlformats.org/drawingml/2006/main">
            <a:off x="990600" y="5295900"/>
            <a:ext cx="28575" cy="3048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0" name="return-right">
            <a:extLst xmlns:a="http://schemas.openxmlformats.org/drawingml/2006/main">
              <a:ext uri="{FF2B5EF4-FFF2-40B4-BE49-F238E27FC236}">
                <a16:creationId xmlns:a16="http://schemas.microsoft.com/office/drawing/2014/main" id="{8FF1C821-39D7-4471-84A4-89696816F249}"/>
              </a:ext>
            </a:extLst>
          </p:cNvPr>
          <p:cNvSpPr>
            <a:spLocks xmlns:a="http://schemas.openxmlformats.org/drawingml/2006/main" noGrp="1"/>
          </p:cNvSpPr>
          <p:nvPr/>
        </p:nvSpPr>
        <p:spPr>
          <a:xfrm xmlns:a="http://schemas.openxmlformats.org/drawingml/2006/main">
            <a:off x="11001375" y="5286375"/>
            <a:ext cx="28575" cy="31432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51" name="return-label-backing">
            <a:extLst xmlns:a="http://schemas.openxmlformats.org/drawingml/2006/main">
              <a:ext uri="{FF2B5EF4-FFF2-40B4-BE49-F238E27FC236}">
                <a16:creationId xmlns:a16="http://schemas.microsoft.com/office/drawing/2014/main" id="{CAE64FAF-581E-4ABE-AA3B-C4A4EBBB5D36}"/>
              </a:ext>
            </a:extLst>
          </p:cNvPr>
          <p:cNvSpPr>
            <a:spLocks xmlns:a="http://schemas.openxmlformats.org/drawingml/2006/main" noGrp="1"/>
          </p:cNvSpPr>
          <p:nvPr/>
        </p:nvSpPr>
        <p:spPr>
          <a:xfrm xmlns:a="http://schemas.openxmlformats.org/drawingml/2006/main">
            <a:off x="3019425" y="5362575"/>
            <a:ext cx="6153150" cy="495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2" name="return-label">
            <a:extLst xmlns:a="http://schemas.openxmlformats.org/drawingml/2006/main">
              <a:ext uri="{FF2B5EF4-FFF2-40B4-BE49-F238E27FC236}">
                <a16:creationId xmlns:a16="http://schemas.microsoft.com/office/drawing/2014/main" id="{67FBFCC0-060C-46CC-B929-2FF61532C2FB}"/>
              </a:ext>
            </a:extLst>
          </p:cNvPr>
          <p:cNvSpPr>
            <a:spLocks xmlns:a="http://schemas.openxmlformats.org/drawingml/2006/main" noGrp="1"/>
          </p:cNvSpPr>
          <p:nvPr/>
        </p:nvSpPr>
        <p:spPr>
          <a:xfrm xmlns:a="http://schemas.openxmlformats.org/drawingml/2006/main">
            <a:off x="3209925" y="5476875"/>
            <a:ext cx="5810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8D"/>
                </a:solidFill>
                <a:latin typeface="Helvetica Neue"/>
                <a:ea typeface="Helvetica Neue"/>
                <a:cs typeface="Helvetica Neue"/>
              </a:defRPr>
            </a:pPr>
            <a:r>
              <a:rPr sz="1950" b="1">
                <a:solidFill>
                  <a:srgbClr val="007D8D"/>
                </a:solidFill>
                <a:latin typeface="Helvetica Neue"/>
                <a:ea typeface="Helvetica Neue"/>
                <a:cs typeface="Helvetica Neue"/>
              </a:rPr>
              <a:t>Changed preferences create a new version</a:t>
            </a:r>
          </a:p>
        </p:txBody>
      </p:sp>
      <p:sp>
        <p:nvSpPr>
          <p:cNvPr id="53" name="footer">
            <a:extLst xmlns:a="http://schemas.openxmlformats.org/drawingml/2006/main">
              <a:ext uri="{FF2B5EF4-FFF2-40B4-BE49-F238E27FC236}">
                <a16:creationId xmlns:a16="http://schemas.microsoft.com/office/drawing/2014/main" id="{71FD8C1D-5DFE-488A-9A54-77B2F3B1491A}"/>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54" name="folio">
            <a:extLst xmlns:a="http://schemas.openxmlformats.org/drawingml/2006/main">
              <a:ext uri="{FF2B5EF4-FFF2-40B4-BE49-F238E27FC236}">
                <a16:creationId xmlns:a16="http://schemas.microsoft.com/office/drawing/2014/main" id="{6AD66094-D4C0-4E0F-BA22-4E11716237B5}"/>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04</a:t>
            </a:r>
          </a:p>
        </p:txBody>
      </p:sp>
    </p:spTree>
    <p:extLst>
      <p:ext uri="{BB962C8B-B14F-4D97-AF65-F5344CB8AC3E}">
        <p14:creationId xmlns:p14="http://schemas.microsoft.com/office/powerpoint/2010/main" val="569403460"/>
      </p:ext>
    </p:extLst>
  </p:cSld>
</p:sld>
</file>

<file path=ppt/slides/slide5.xml><?xml version="1.0" encoding="utf-8"?>
<p:sld xmlns:p="http://schemas.openxmlformats.org/presentationml/2006/main">
  <p:cSld>
    <p:bg>
      <p:bgPr>
        <a:solidFill xmlns:a="http://schemas.openxmlformats.org/drawingml/2006/main">
          <a:srgbClr val="E5F0FF"/>
        </a:solidFill>
      </p:bgPr>
    </p:bg>
    <p:spTree>
      <p:nvGrpSpPr>
        <p:cNvPr id="1" name=""/>
        <p:cNvGrpSpPr/>
        <p:nvPr/>
      </p:nvGrpSpPr>
      <p:grpSpPr>
        <a:xfrm xmlns:a="http://schemas.openxmlformats.org/drawingml/2006/main"/>
      </p:grpSpPr>
      <p:sp>
        <p:nvSpPr>
          <p:cNvPr id="28" name="accent">
            <a:extLst xmlns:a="http://schemas.openxmlformats.org/drawingml/2006/main">
              <a:ext uri="{FF2B5EF4-FFF2-40B4-BE49-F238E27FC236}">
                <a16:creationId xmlns:a16="http://schemas.microsoft.com/office/drawing/2014/main" id="{A6550C02-7644-4D6A-A8B0-B86BEDF1D5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668B0"/>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A8A58ACE-7654-42ED-B606-754435701306}"/>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source stays visible through review</a:t>
            </a:r>
          </a:p>
        </p:txBody>
      </p:sp>
      <p:sp>
        <p:nvSpPr>
          <p:cNvPr id="3" name="synthetic">
            <a:extLst xmlns:a="http://schemas.openxmlformats.org/drawingml/2006/main">
              <a:ext uri="{FF2B5EF4-FFF2-40B4-BE49-F238E27FC236}">
                <a16:creationId xmlns:a16="http://schemas.microsoft.com/office/drawing/2014/main" id="{D780124E-C62F-49E8-811A-4ADF2674718D}"/>
              </a:ext>
            </a:extLst>
          </p:cNvPr>
          <p:cNvSpPr>
            <a:spLocks xmlns:a="http://schemas.openxmlformats.org/drawingml/2006/main" noGrp="1"/>
          </p:cNvSpPr>
          <p:nvPr/>
        </p:nvSpPr>
        <p:spPr>
          <a:xfrm xmlns:a="http://schemas.openxmlformats.org/drawingml/2006/main">
            <a:off x="533400" y="14382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3668B0"/>
                </a:solidFill>
                <a:latin typeface="Helvetica Neue"/>
                <a:ea typeface="Helvetica Neue"/>
                <a:cs typeface="Helvetica Neue"/>
              </a:defRPr>
            </a:pPr>
            <a:r>
              <a:rPr sz="1200" b="1">
                <a:solidFill>
                  <a:srgbClr val="3668B0"/>
                </a:solidFill>
                <a:latin typeface="Helvetica Neue"/>
                <a:ea typeface="Helvetica Neue"/>
                <a:cs typeface="Helvetica Neue"/>
              </a:rPr>
              <a:t>SYNTHETIC EXAMPLE</a:t>
            </a:r>
          </a:p>
        </p:txBody>
      </p:sp>
      <p:sp>
        <p:nvSpPr>
          <p:cNvPr id="4" name="note-page-shadow">
            <a:extLst xmlns:a="http://schemas.openxmlformats.org/drawingml/2006/main">
              <a:ext uri="{FF2B5EF4-FFF2-40B4-BE49-F238E27FC236}">
                <a16:creationId xmlns:a16="http://schemas.microsoft.com/office/drawing/2014/main" id="{6AAFD9A1-75C1-4298-A869-4CEFFC47C76E}"/>
              </a:ext>
            </a:extLst>
          </p:cNvPr>
          <p:cNvSpPr>
            <a:spLocks xmlns:a="http://schemas.openxmlformats.org/drawingml/2006/main" noGrp="1"/>
          </p:cNvSpPr>
          <p:nvPr/>
        </p:nvSpPr>
        <p:spPr>
          <a:xfrm xmlns:a="http://schemas.openxmlformats.org/drawingml/2006/main">
            <a:off x="609600" y="2066925"/>
            <a:ext cx="4048125" cy="22383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5" name="note-page">
            <a:extLst xmlns:a="http://schemas.openxmlformats.org/drawingml/2006/main">
              <a:ext uri="{FF2B5EF4-FFF2-40B4-BE49-F238E27FC236}">
                <a16:creationId xmlns:a16="http://schemas.microsoft.com/office/drawing/2014/main" id="{54E59AF2-A403-4CDF-8E00-EEB3B0ACA94A}"/>
              </a:ext>
            </a:extLst>
          </p:cNvPr>
          <p:cNvSpPr>
            <a:spLocks xmlns:a="http://schemas.openxmlformats.org/drawingml/2006/main" noGrp="1"/>
          </p:cNvSpPr>
          <p:nvPr/>
        </p:nvSpPr>
        <p:spPr>
          <a:xfrm xmlns:a="http://schemas.openxmlformats.org/drawingml/2006/main">
            <a:off x="533400" y="1981200"/>
            <a:ext cx="4048125"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note-page-top">
            <a:extLst xmlns:a="http://schemas.openxmlformats.org/drawingml/2006/main">
              <a:ext uri="{FF2B5EF4-FFF2-40B4-BE49-F238E27FC236}">
                <a16:creationId xmlns:a16="http://schemas.microsoft.com/office/drawing/2014/main" id="{5717DC9C-1ED6-4FE8-B3D9-91E779E78496}"/>
              </a:ext>
            </a:extLst>
          </p:cNvPr>
          <p:cNvSpPr>
            <a:spLocks xmlns:a="http://schemas.openxmlformats.org/drawingml/2006/main" noGrp="1"/>
          </p:cNvSpPr>
          <p:nvPr/>
        </p:nvSpPr>
        <p:spPr>
          <a:xfrm xmlns:a="http://schemas.openxmlformats.org/drawingml/2006/main">
            <a:off x="533400" y="1981200"/>
            <a:ext cx="4048125" cy="66675"/>
          </a:xfrm>
          <a:prstGeom xmlns:a="http://schemas.openxmlformats.org/drawingml/2006/main" prst="rect">
            <a:avLst/>
          </a:prstGeom>
          <a:solidFill xmlns:a="http://schemas.openxmlformats.org/drawingml/2006/main">
            <a:srgbClr val="3668B0"/>
          </a:solidFill>
          <a:ln xmlns:a="http://schemas.openxmlformats.org/drawingml/2006/main" w="0">
            <a:noFill/>
            <a:prstDash val="solid"/>
          </a:ln>
        </p:spPr>
      </p:sp>
      <p:sp>
        <p:nvSpPr>
          <p:cNvPr id="7" name="source-note-label">
            <a:extLst xmlns:a="http://schemas.openxmlformats.org/drawingml/2006/main">
              <a:ext uri="{FF2B5EF4-FFF2-40B4-BE49-F238E27FC236}">
                <a16:creationId xmlns:a16="http://schemas.microsoft.com/office/drawing/2014/main" id="{F1F4BA12-27E5-477D-98EA-1D916E0F0795}"/>
              </a:ext>
            </a:extLst>
          </p:cNvPr>
          <p:cNvSpPr>
            <a:spLocks xmlns:a="http://schemas.openxmlformats.org/drawingml/2006/main" noGrp="1"/>
          </p:cNvSpPr>
          <p:nvPr/>
        </p:nvSpPr>
        <p:spPr>
          <a:xfrm xmlns:a="http://schemas.openxmlformats.org/drawingml/2006/main">
            <a:off x="771525" y="21907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3668B0"/>
                </a:solidFill>
                <a:latin typeface="Helvetica Neue"/>
                <a:ea typeface="Helvetica Neue"/>
                <a:cs typeface="Helvetica Neue"/>
              </a:defRPr>
            </a:pPr>
            <a:r>
              <a:rPr sz="1200" b="1">
                <a:solidFill>
                  <a:srgbClr val="3668B0"/>
                </a:solidFill>
                <a:latin typeface="Helvetica Neue"/>
                <a:ea typeface="Helvetica Neue"/>
                <a:cs typeface="Helvetica Neue"/>
              </a:rPr>
              <a:t>SOURCE NOTE</a:t>
            </a:r>
          </a:p>
        </p:txBody>
      </p:sp>
      <p:sp>
        <p:nvSpPr>
          <p:cNvPr id="8" name="source-note">
            <a:extLst xmlns:a="http://schemas.openxmlformats.org/drawingml/2006/main">
              <a:ext uri="{FF2B5EF4-FFF2-40B4-BE49-F238E27FC236}">
                <a16:creationId xmlns:a16="http://schemas.microsoft.com/office/drawing/2014/main" id="{74BB28EA-B33A-4D5A-AB14-468631079838}"/>
              </a:ext>
            </a:extLst>
          </p:cNvPr>
          <p:cNvSpPr>
            <a:spLocks xmlns:a="http://schemas.openxmlformats.org/drawingml/2006/main" noGrp="1"/>
          </p:cNvSpPr>
          <p:nvPr/>
        </p:nvSpPr>
        <p:spPr>
          <a:xfrm xmlns:a="http://schemas.openxmlformats.org/drawingml/2006/main">
            <a:off x="771525" y="2647950"/>
            <a:ext cx="35147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“Patient initiated discussion</a:t>
            </a:r>
          </a:p>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regarding family understanding</a:t>
            </a:r>
          </a:p>
          <a:p xmlns:a="http://schemas.openxmlformats.org/drawingml/2006/main">
            <a:pPr>
              <a:defRPr sz="1875" b="0">
                <a:solidFill>
                  <a:srgbClr val="102C45"/>
                </a:solidFill>
                <a:latin typeface="Helvetica Neue"/>
                <a:ea typeface="Helvetica Neue"/>
                <a:cs typeface="Helvetica Neue"/>
              </a:defRPr>
            </a:pPr>
            <a:r>
              <a:rPr sz="1875" b="0">
                <a:solidFill>
                  <a:srgbClr val="102C45"/>
                </a:solidFill>
                <a:latin typeface="Helvetica Neue"/>
                <a:ea typeface="Helvetica Neue"/>
                <a:cs typeface="Helvetica Neue"/>
              </a:rPr>
              <a:t>of illness.”</a:t>
            </a:r>
          </a:p>
        </p:txBody>
      </p:sp>
      <p:sp>
        <p:nvSpPr>
          <p:cNvPr id="9" name="note-to-field">
            <a:extLst xmlns:a="http://schemas.openxmlformats.org/drawingml/2006/main">
              <a:ext uri="{FF2B5EF4-FFF2-40B4-BE49-F238E27FC236}">
                <a16:creationId xmlns:a16="http://schemas.microsoft.com/office/drawing/2014/main" id="{74733FA4-2A5B-46D6-B2CC-9B5950353803}"/>
              </a:ext>
            </a:extLst>
          </p:cNvPr>
          <p:cNvSpPr>
            <a:spLocks xmlns:a="http://schemas.openxmlformats.org/drawingml/2006/main" noGrp="1"/>
          </p:cNvSpPr>
          <p:nvPr/>
        </p:nvSpPr>
        <p:spPr>
          <a:xfrm xmlns:a="http://schemas.openxmlformats.org/drawingml/2006/main">
            <a:off x="4829175" y="2905125"/>
            <a:ext cx="552450" cy="190500"/>
          </a:xfrm>
          <a:prstGeom xmlns:a="http://schemas.openxmlformats.org/drawingml/2006/main" prst="rightArrow">
            <a:avLst/>
          </a:prstGeom>
          <a:solidFill xmlns:a="http://schemas.openxmlformats.org/drawingml/2006/main">
            <a:srgbClr val="3668B0"/>
          </a:solidFill>
          <a:ln xmlns:a="http://schemas.openxmlformats.org/drawingml/2006/main" w="0">
            <a:noFill/>
            <a:prstDash val="solid"/>
          </a:ln>
        </p:spPr>
      </p:sp>
      <p:sp>
        <p:nvSpPr>
          <p:cNvPr id="10" name="structured-page-shadow">
            <a:extLst xmlns:a="http://schemas.openxmlformats.org/drawingml/2006/main">
              <a:ext uri="{FF2B5EF4-FFF2-40B4-BE49-F238E27FC236}">
                <a16:creationId xmlns:a16="http://schemas.microsoft.com/office/drawing/2014/main" id="{24728B52-62F4-40E7-A31D-CDB6E6AE88A6}"/>
              </a:ext>
            </a:extLst>
          </p:cNvPr>
          <p:cNvSpPr>
            <a:spLocks xmlns:a="http://schemas.openxmlformats.org/drawingml/2006/main" noGrp="1"/>
          </p:cNvSpPr>
          <p:nvPr/>
        </p:nvSpPr>
        <p:spPr>
          <a:xfrm xmlns:a="http://schemas.openxmlformats.org/drawingml/2006/main">
            <a:off x="5695950" y="2066925"/>
            <a:ext cx="6038850" cy="2238375"/>
          </a:xfrm>
          <a:prstGeom xmlns:a="http://schemas.openxmlformats.org/drawingml/2006/main" prst="rect">
            <a:avLst/>
          </a:prstGeom>
          <a:solidFill xmlns:a="http://schemas.openxmlformats.org/drawingml/2006/main">
            <a:srgbClr val="C7D9DE"/>
          </a:solidFill>
          <a:ln xmlns:a="http://schemas.openxmlformats.org/drawingml/2006/main" w="0">
            <a:noFill/>
            <a:prstDash val="solid"/>
          </a:ln>
        </p:spPr>
      </p:sp>
      <p:sp>
        <p:nvSpPr>
          <p:cNvPr id="11" name="structured-page">
            <a:extLst xmlns:a="http://schemas.openxmlformats.org/drawingml/2006/main">
              <a:ext uri="{FF2B5EF4-FFF2-40B4-BE49-F238E27FC236}">
                <a16:creationId xmlns:a16="http://schemas.microsoft.com/office/drawing/2014/main" id="{573C7677-D841-432D-9444-F2282F726560}"/>
              </a:ext>
            </a:extLst>
          </p:cNvPr>
          <p:cNvSpPr>
            <a:spLocks xmlns:a="http://schemas.openxmlformats.org/drawingml/2006/main" noGrp="1"/>
          </p:cNvSpPr>
          <p:nvPr/>
        </p:nvSpPr>
        <p:spPr>
          <a:xfrm xmlns:a="http://schemas.openxmlformats.org/drawingml/2006/main">
            <a:off x="5619750" y="1981200"/>
            <a:ext cx="6038850"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structured-page-top">
            <a:extLst xmlns:a="http://schemas.openxmlformats.org/drawingml/2006/main">
              <a:ext uri="{FF2B5EF4-FFF2-40B4-BE49-F238E27FC236}">
                <a16:creationId xmlns:a16="http://schemas.microsoft.com/office/drawing/2014/main" id="{28223C80-3E5E-42DB-AA0D-37A16D7D7EFA}"/>
              </a:ext>
            </a:extLst>
          </p:cNvPr>
          <p:cNvSpPr>
            <a:spLocks xmlns:a="http://schemas.openxmlformats.org/drawingml/2006/main" noGrp="1"/>
          </p:cNvSpPr>
          <p:nvPr/>
        </p:nvSpPr>
        <p:spPr>
          <a:xfrm xmlns:a="http://schemas.openxmlformats.org/drawingml/2006/main">
            <a:off x="5619750" y="1981200"/>
            <a:ext cx="6038850" cy="666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3" name="field-label">
            <a:extLst xmlns:a="http://schemas.openxmlformats.org/drawingml/2006/main">
              <a:ext uri="{FF2B5EF4-FFF2-40B4-BE49-F238E27FC236}">
                <a16:creationId xmlns:a16="http://schemas.microsoft.com/office/drawing/2014/main" id="{EACB57A4-8261-4702-9373-E065F5CD5FC2}"/>
              </a:ext>
            </a:extLst>
          </p:cNvPr>
          <p:cNvSpPr>
            <a:spLocks xmlns:a="http://schemas.openxmlformats.org/drawingml/2006/main" noGrp="1"/>
          </p:cNvSpPr>
          <p:nvPr/>
        </p:nvSpPr>
        <p:spPr>
          <a:xfrm xmlns:a="http://schemas.openxmlformats.org/drawingml/2006/main">
            <a:off x="5876925" y="2190750"/>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STRUCTURED FIELD</a:t>
            </a:r>
          </a:p>
        </p:txBody>
      </p:sp>
      <p:sp>
        <p:nvSpPr>
          <p:cNvPr id="14" name="patient-priority">
            <a:extLst xmlns:a="http://schemas.openxmlformats.org/drawingml/2006/main">
              <a:ext uri="{FF2B5EF4-FFF2-40B4-BE49-F238E27FC236}">
                <a16:creationId xmlns:a16="http://schemas.microsoft.com/office/drawing/2014/main" id="{9F363AE2-FB65-499C-A096-37288E3B18F4}"/>
              </a:ext>
            </a:extLst>
          </p:cNvPr>
          <p:cNvSpPr>
            <a:spLocks xmlns:a="http://schemas.openxmlformats.org/drawingml/2006/main" noGrp="1"/>
          </p:cNvSpPr>
          <p:nvPr/>
        </p:nvSpPr>
        <p:spPr>
          <a:xfrm xmlns:a="http://schemas.openxmlformats.org/drawingml/2006/main">
            <a:off x="5876925" y="26670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C45"/>
                </a:solidFill>
                <a:latin typeface="Helvetica Neue"/>
                <a:ea typeface="Helvetica Neue"/>
                <a:cs typeface="Helvetica Neue"/>
              </a:defRPr>
            </a:pPr>
            <a:r>
              <a:rPr sz="2175" b="1">
                <a:solidFill>
                  <a:srgbClr val="102C45"/>
                </a:solidFill>
                <a:latin typeface="Helvetica Neue"/>
                <a:ea typeface="Helvetica Neue"/>
                <a:cs typeface="Helvetica Neue"/>
              </a:rPr>
              <a:t>Patient priority</a:t>
            </a:r>
          </a:p>
        </p:txBody>
      </p:sp>
      <p:sp>
        <p:nvSpPr>
          <p:cNvPr id="15" name="field-value">
            <a:extLst xmlns:a="http://schemas.openxmlformats.org/drawingml/2006/main">
              <a:ext uri="{FF2B5EF4-FFF2-40B4-BE49-F238E27FC236}">
                <a16:creationId xmlns:a16="http://schemas.microsoft.com/office/drawing/2014/main" id="{B7932B58-7C82-42A5-8B06-FA957E5B2348}"/>
              </a:ext>
            </a:extLst>
          </p:cNvPr>
          <p:cNvSpPr>
            <a:spLocks xmlns:a="http://schemas.openxmlformats.org/drawingml/2006/main" noGrp="1"/>
          </p:cNvSpPr>
          <p:nvPr/>
        </p:nvSpPr>
        <p:spPr>
          <a:xfrm xmlns:a="http://schemas.openxmlformats.org/drawingml/2006/main">
            <a:off x="5876925" y="3152775"/>
            <a:ext cx="542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2C45"/>
                </a:solidFill>
                <a:latin typeface="Helvetica Neue"/>
                <a:ea typeface="Helvetica Neue"/>
                <a:cs typeface="Helvetica Neue"/>
              </a:defRPr>
            </a:pPr>
            <a:r>
              <a:rPr sz="1950" b="0">
                <a:solidFill>
                  <a:srgbClr val="102C45"/>
                </a:solidFill>
                <a:latin typeface="Helvetica Neue"/>
                <a:ea typeface="Helvetica Neue"/>
                <a:cs typeface="Helvetica Neue"/>
              </a:rPr>
              <a:t>Family understanding of illness</a:t>
            </a:r>
          </a:p>
          <a:p xmlns:a="http://schemas.openxmlformats.org/drawingml/2006/main">
            <a:pPr>
              <a:defRPr sz="1950" b="0">
                <a:solidFill>
                  <a:srgbClr val="102C45"/>
                </a:solidFill>
                <a:latin typeface="Helvetica Neue"/>
                <a:ea typeface="Helvetica Neue"/>
                <a:cs typeface="Helvetica Neue"/>
              </a:defRPr>
            </a:pPr>
            <a:r>
              <a:rPr sz="1950" b="0">
                <a:solidFill>
                  <a:srgbClr val="102C45"/>
                </a:solidFill>
                <a:latin typeface="Helvetica Neue"/>
                <a:ea typeface="Helvetica Neue"/>
                <a:cs typeface="Helvetica Neue"/>
              </a:rPr>
              <a:t>is a stated priority.</a:t>
            </a:r>
          </a:p>
        </p:txBody>
      </p:sp>
      <p:sp>
        <p:nvSpPr>
          <p:cNvPr id="16" name="gate-dot-0">
            <a:extLst xmlns:a="http://schemas.openxmlformats.org/drawingml/2006/main">
              <a:ext uri="{FF2B5EF4-FFF2-40B4-BE49-F238E27FC236}">
                <a16:creationId xmlns:a16="http://schemas.microsoft.com/office/drawing/2014/main" id="{1C2E1952-D3A7-40A9-8A66-76FF496AC68F}"/>
              </a:ext>
            </a:extLst>
          </p:cNvPr>
          <p:cNvSpPr>
            <a:spLocks xmlns:a="http://schemas.openxmlformats.org/drawingml/2006/main" noGrp="1"/>
          </p:cNvSpPr>
          <p:nvPr/>
        </p:nvSpPr>
        <p:spPr>
          <a:xfrm xmlns:a="http://schemas.openxmlformats.org/drawingml/2006/main">
            <a:off x="533400" y="4657725"/>
            <a:ext cx="161925" cy="161925"/>
          </a:xfrm>
          <a:prstGeom xmlns:a="http://schemas.openxmlformats.org/drawingml/2006/main" prst="ellipse">
            <a:avLst/>
          </a:prstGeom>
          <a:solidFill xmlns:a="http://schemas.openxmlformats.org/drawingml/2006/main">
            <a:srgbClr val="08775F"/>
          </a:solidFill>
          <a:ln xmlns:a="http://schemas.openxmlformats.org/drawingml/2006/main" w="0">
            <a:noFill/>
            <a:prstDash val="solid"/>
          </a:ln>
        </p:spPr>
      </p:sp>
      <p:sp>
        <p:nvSpPr>
          <p:cNvPr id="17" name="gate-title-0">
            <a:extLst xmlns:a="http://schemas.openxmlformats.org/drawingml/2006/main">
              <a:ext uri="{FF2B5EF4-FFF2-40B4-BE49-F238E27FC236}">
                <a16:creationId xmlns:a16="http://schemas.microsoft.com/office/drawing/2014/main" id="{67FB45DC-4ED3-403F-95F8-ED78B731EC14}"/>
              </a:ext>
            </a:extLst>
          </p:cNvPr>
          <p:cNvSpPr>
            <a:spLocks xmlns:a="http://schemas.openxmlformats.org/drawingml/2006/main" noGrp="1"/>
          </p:cNvSpPr>
          <p:nvPr/>
        </p:nvSpPr>
        <p:spPr>
          <a:xfrm xmlns:a="http://schemas.openxmlformats.org/drawingml/2006/main">
            <a:off x="819150"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75F"/>
                </a:solidFill>
                <a:latin typeface="Helvetica Neue"/>
                <a:ea typeface="Helvetica Neue"/>
                <a:cs typeface="Helvetica Neue"/>
              </a:defRPr>
            </a:pPr>
            <a:r>
              <a:rPr sz="1950" b="1">
                <a:solidFill>
                  <a:srgbClr val="08775F"/>
                </a:solidFill>
                <a:latin typeface="Helvetica Neue"/>
                <a:ea typeface="Helvetica Neue"/>
                <a:cs typeface="Helvetica Neue"/>
              </a:rPr>
              <a:t>Discussed</a:t>
            </a:r>
          </a:p>
        </p:txBody>
      </p:sp>
      <p:sp>
        <p:nvSpPr>
          <p:cNvPr id="18" name="gate-description-0">
            <a:extLst xmlns:a="http://schemas.openxmlformats.org/drawingml/2006/main">
              <a:ext uri="{FF2B5EF4-FFF2-40B4-BE49-F238E27FC236}">
                <a16:creationId xmlns:a16="http://schemas.microsoft.com/office/drawing/2014/main" id="{603F9883-D4DC-4BF4-A113-69EB019DB41D}"/>
              </a:ext>
            </a:extLst>
          </p:cNvPr>
          <p:cNvSpPr>
            <a:spLocks xmlns:a="http://schemas.openxmlformats.org/drawingml/2006/main" noGrp="1"/>
          </p:cNvSpPr>
          <p:nvPr/>
        </p:nvSpPr>
        <p:spPr>
          <a:xfrm xmlns:a="http://schemas.openxmlformats.org/drawingml/2006/main">
            <a:off x="819150"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May be reviewed for release</a:t>
            </a:r>
          </a:p>
        </p:txBody>
      </p:sp>
      <p:sp>
        <p:nvSpPr>
          <p:cNvPr id="19" name="gate-dot-1">
            <a:extLst xmlns:a="http://schemas.openxmlformats.org/drawingml/2006/main">
              <a:ext uri="{FF2B5EF4-FFF2-40B4-BE49-F238E27FC236}">
                <a16:creationId xmlns:a16="http://schemas.microsoft.com/office/drawing/2014/main" id="{E88EE707-9484-4D57-9326-02A49476681E}"/>
              </a:ext>
            </a:extLst>
          </p:cNvPr>
          <p:cNvSpPr>
            <a:spLocks xmlns:a="http://schemas.openxmlformats.org/drawingml/2006/main" noGrp="1"/>
          </p:cNvSpPr>
          <p:nvPr/>
        </p:nvSpPr>
        <p:spPr>
          <a:xfrm xmlns:a="http://schemas.openxmlformats.org/drawingml/2006/main">
            <a:off x="4314825" y="4657725"/>
            <a:ext cx="161925" cy="161925"/>
          </a:xfrm>
          <a:prstGeom xmlns:a="http://schemas.openxmlformats.org/drawingml/2006/main" prst="ellipse">
            <a:avLst/>
          </a:prstGeom>
          <a:solidFill xmlns:a="http://schemas.openxmlformats.org/drawingml/2006/main">
            <a:srgbClr val="526479"/>
          </a:solidFill>
          <a:ln xmlns:a="http://schemas.openxmlformats.org/drawingml/2006/main" w="0">
            <a:noFill/>
            <a:prstDash val="solid"/>
          </a:ln>
        </p:spPr>
      </p:sp>
      <p:sp>
        <p:nvSpPr>
          <p:cNvPr id="20" name="gate-title-1">
            <a:extLst xmlns:a="http://schemas.openxmlformats.org/drawingml/2006/main">
              <a:ext uri="{FF2B5EF4-FFF2-40B4-BE49-F238E27FC236}">
                <a16:creationId xmlns:a16="http://schemas.microsoft.com/office/drawing/2014/main" id="{DDB9094B-FD63-46B9-8589-B6E3B3B1698F}"/>
              </a:ext>
            </a:extLst>
          </p:cNvPr>
          <p:cNvSpPr>
            <a:spLocks xmlns:a="http://schemas.openxmlformats.org/drawingml/2006/main" noGrp="1"/>
          </p:cNvSpPr>
          <p:nvPr/>
        </p:nvSpPr>
        <p:spPr>
          <a:xfrm xmlns:a="http://schemas.openxmlformats.org/drawingml/2006/main">
            <a:off x="4600575"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526479"/>
                </a:solidFill>
                <a:latin typeface="Helvetica Neue"/>
                <a:ea typeface="Helvetica Neue"/>
                <a:cs typeface="Helvetica Neue"/>
              </a:defRPr>
            </a:pPr>
            <a:r>
              <a:rPr sz="1950" b="1">
                <a:solidFill>
                  <a:srgbClr val="526479"/>
                </a:solidFill>
                <a:latin typeface="Helvetica Neue"/>
                <a:ea typeface="Helvetica Neue"/>
                <a:cs typeface="Helvetica Neue"/>
              </a:rPr>
              <a:t>Not discussed</a:t>
            </a:r>
          </a:p>
        </p:txBody>
      </p:sp>
      <p:sp>
        <p:nvSpPr>
          <p:cNvPr id="21" name="gate-description-1">
            <a:extLst xmlns:a="http://schemas.openxmlformats.org/drawingml/2006/main">
              <a:ext uri="{FF2B5EF4-FFF2-40B4-BE49-F238E27FC236}">
                <a16:creationId xmlns:a16="http://schemas.microsoft.com/office/drawing/2014/main" id="{4A0BC117-FD66-4C2C-999D-F66000F2CABE}"/>
              </a:ext>
            </a:extLst>
          </p:cNvPr>
          <p:cNvSpPr>
            <a:spLocks xmlns:a="http://schemas.openxmlformats.org/drawingml/2006/main" noGrp="1"/>
          </p:cNvSpPr>
          <p:nvPr/>
        </p:nvSpPr>
        <p:spPr>
          <a:xfrm xmlns:a="http://schemas.openxmlformats.org/drawingml/2006/main">
            <a:off x="4600575"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Remains visibly incomplete</a:t>
            </a:r>
          </a:p>
        </p:txBody>
      </p:sp>
      <p:sp>
        <p:nvSpPr>
          <p:cNvPr id="22" name="gate-dot-2">
            <a:extLst xmlns:a="http://schemas.openxmlformats.org/drawingml/2006/main">
              <a:ext uri="{FF2B5EF4-FFF2-40B4-BE49-F238E27FC236}">
                <a16:creationId xmlns:a16="http://schemas.microsoft.com/office/drawing/2014/main" id="{5D058EDC-3377-4C72-B07F-0B63250840A1}"/>
              </a:ext>
            </a:extLst>
          </p:cNvPr>
          <p:cNvSpPr>
            <a:spLocks xmlns:a="http://schemas.openxmlformats.org/drawingml/2006/main" noGrp="1"/>
          </p:cNvSpPr>
          <p:nvPr/>
        </p:nvSpPr>
        <p:spPr>
          <a:xfrm xmlns:a="http://schemas.openxmlformats.org/drawingml/2006/main">
            <a:off x="8096250" y="4657725"/>
            <a:ext cx="161925" cy="161925"/>
          </a:xfrm>
          <a:prstGeom xmlns:a="http://schemas.openxmlformats.org/drawingml/2006/main" prst="ellipse">
            <a:avLst/>
          </a:prstGeom>
          <a:solidFill xmlns:a="http://schemas.openxmlformats.org/drawingml/2006/main">
            <a:srgbClr val="B5453D"/>
          </a:solidFill>
          <a:ln xmlns:a="http://schemas.openxmlformats.org/drawingml/2006/main" w="0">
            <a:noFill/>
            <a:prstDash val="solid"/>
          </a:ln>
        </p:spPr>
      </p:sp>
      <p:sp>
        <p:nvSpPr>
          <p:cNvPr id="23" name="gate-title-2">
            <a:extLst xmlns:a="http://schemas.openxmlformats.org/drawingml/2006/main">
              <a:ext uri="{FF2B5EF4-FFF2-40B4-BE49-F238E27FC236}">
                <a16:creationId xmlns:a16="http://schemas.microsoft.com/office/drawing/2014/main" id="{AECF1FCF-FA40-4FA6-A1C3-ECE60591DE48}"/>
              </a:ext>
            </a:extLst>
          </p:cNvPr>
          <p:cNvSpPr>
            <a:spLocks xmlns:a="http://schemas.openxmlformats.org/drawingml/2006/main" noGrp="1"/>
          </p:cNvSpPr>
          <p:nvPr/>
        </p:nvSpPr>
        <p:spPr>
          <a:xfrm xmlns:a="http://schemas.openxmlformats.org/drawingml/2006/main">
            <a:off x="8382000" y="45720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B5453D"/>
                </a:solidFill>
                <a:latin typeface="Helvetica Neue"/>
                <a:ea typeface="Helvetica Neue"/>
                <a:cs typeface="Helvetica Neue"/>
              </a:defRPr>
            </a:pPr>
            <a:r>
              <a:rPr sz="1950" b="1">
                <a:solidFill>
                  <a:srgbClr val="B5453D"/>
                </a:solidFill>
                <a:latin typeface="Helvetica Neue"/>
                <a:ea typeface="Helvetica Neue"/>
                <a:cs typeface="Helvetica Neue"/>
              </a:rPr>
              <a:t>Needs clarification</a:t>
            </a:r>
          </a:p>
        </p:txBody>
      </p:sp>
      <p:sp>
        <p:nvSpPr>
          <p:cNvPr id="24" name="gate-description-2">
            <a:extLst xmlns:a="http://schemas.openxmlformats.org/drawingml/2006/main">
              <a:ext uri="{FF2B5EF4-FFF2-40B4-BE49-F238E27FC236}">
                <a16:creationId xmlns:a16="http://schemas.microsoft.com/office/drawing/2014/main" id="{8074A64A-D1D7-4B24-A968-42AD222F88F5}"/>
              </a:ext>
            </a:extLst>
          </p:cNvPr>
          <p:cNvSpPr>
            <a:spLocks xmlns:a="http://schemas.openxmlformats.org/drawingml/2006/main" noGrp="1"/>
          </p:cNvSpPr>
          <p:nvPr/>
        </p:nvSpPr>
        <p:spPr>
          <a:xfrm xmlns:a="http://schemas.openxmlformats.org/drawingml/2006/main">
            <a:off x="8382000" y="5057775"/>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02C45"/>
                </a:solidFill>
                <a:latin typeface="Helvetica Neue"/>
                <a:ea typeface="Helvetica Neue"/>
                <a:cs typeface="Helvetica Neue"/>
              </a:defRPr>
            </a:pPr>
            <a:r>
              <a:rPr sz="1650" b="0">
                <a:solidFill>
                  <a:srgbClr val="102C45"/>
                </a:solidFill>
                <a:latin typeface="Helvetica Neue"/>
                <a:ea typeface="Helvetica Neue"/>
                <a:cs typeface="Helvetica Neue"/>
              </a:rPr>
              <a:t>Blocks publication until resolved</a:t>
            </a:r>
          </a:p>
        </p:txBody>
      </p:sp>
      <p:sp>
        <p:nvSpPr>
          <p:cNvPr id="25" name="version-details">
            <a:extLst xmlns:a="http://schemas.openxmlformats.org/drawingml/2006/main">
              <a:ext uri="{FF2B5EF4-FFF2-40B4-BE49-F238E27FC236}">
                <a16:creationId xmlns:a16="http://schemas.microsoft.com/office/drawing/2014/main" id="{DC8579AA-A853-4E76-8E3E-722E8ED79DA8}"/>
              </a:ext>
            </a:extLst>
          </p:cNvPr>
          <p:cNvSpPr>
            <a:spLocks xmlns:a="http://schemas.openxmlformats.org/drawingml/2006/main" noGrp="1"/>
          </p:cNvSpPr>
          <p:nvPr/>
        </p:nvSpPr>
        <p:spPr>
          <a:xfrm xmlns:a="http://schemas.openxmlformats.org/drawingml/2006/main">
            <a:off x="533400" y="5924550"/>
            <a:ext cx="1076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26479"/>
                </a:solidFill>
                <a:latin typeface="Helvetica Neue"/>
                <a:ea typeface="Helvetica Neue"/>
                <a:cs typeface="Helvetica Neue"/>
              </a:defRPr>
            </a:pPr>
            <a:r>
              <a:rPr sz="1650" b="1">
                <a:solidFill>
                  <a:srgbClr val="526479"/>
                </a:solidFill>
                <a:latin typeface="Helvetica Neue"/>
                <a:ea typeface="Helvetica Neue"/>
                <a:cs typeface="Helvetica Neue"/>
              </a:rPr>
              <a:t>Source link     Reviewer     Timestamp     Version</a:t>
            </a:r>
          </a:p>
        </p:txBody>
      </p:sp>
      <p:sp>
        <p:nvSpPr>
          <p:cNvPr id="26" name="footer">
            <a:extLst xmlns:a="http://schemas.openxmlformats.org/drawingml/2006/main">
              <a:ext uri="{FF2B5EF4-FFF2-40B4-BE49-F238E27FC236}">
                <a16:creationId xmlns:a16="http://schemas.microsoft.com/office/drawing/2014/main" id="{221AD051-5822-46FE-BFF4-C118A6E81DF7}"/>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27" name="folio">
            <a:extLst xmlns:a="http://schemas.openxmlformats.org/drawingml/2006/main">
              <a:ext uri="{FF2B5EF4-FFF2-40B4-BE49-F238E27FC236}">
                <a16:creationId xmlns:a16="http://schemas.microsoft.com/office/drawing/2014/main" id="{C9AB9C49-FBA5-4A35-AA46-3B77BDD83CF6}"/>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05</a:t>
            </a:r>
          </a:p>
        </p:txBody>
      </p:sp>
    </p:spTree>
    <p:extLst>
      <p:ext uri="{BB962C8B-B14F-4D97-AF65-F5344CB8AC3E}">
        <p14:creationId xmlns:p14="http://schemas.microsoft.com/office/powerpoint/2010/main" val="380485257"/>
      </p:ext>
    </p:extLst>
  </p:cSld>
</p:sld>
</file>

<file path=ppt/slides/slide6.xml><?xml version="1.0" encoding="utf-8"?>
<p:sld xmlns:p="http://schemas.openxmlformats.org/presentationml/2006/main">
  <p:cSld>
    <p:bg>
      <p:bgPr>
        <a:solidFill xmlns:a="http://schemas.openxmlformats.org/drawingml/2006/main">
          <a:srgbClr val="EEE8FA"/>
        </a:solidFill>
      </p:bgPr>
    </p:bg>
    <p:spTree>
      <p:nvGrpSpPr>
        <p:cNvPr id="1" name=""/>
        <p:cNvGrpSpPr/>
        <p:nvPr/>
      </p:nvGrpSpPr>
      <p:grpSpPr>
        <a:xfrm xmlns:a="http://schemas.openxmlformats.org/drawingml/2006/main"/>
      </p:grpSpPr>
      <p:sp>
        <p:nvSpPr>
          <p:cNvPr id="10" name="accent">
            <a:extLst xmlns:a="http://schemas.openxmlformats.org/drawingml/2006/main">
              <a:ext uri="{FF2B5EF4-FFF2-40B4-BE49-F238E27FC236}">
                <a16:creationId xmlns:a16="http://schemas.microsoft.com/office/drawing/2014/main" id="{82647EAF-989F-451A-A3E1-43DFDA0424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950A0"/>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CE726F54-2943-494F-BA6B-0A6850BFA559}"/>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The working prototype spans the handoff</a:t>
            </a:r>
          </a:p>
        </p:txBody>
      </p:sp>
      <p:sp>
        <p:nvSpPr>
          <p:cNvPr id="3" name="clinician-label">
            <a:extLst xmlns:a="http://schemas.openxmlformats.org/drawingml/2006/main">
              <a:ext uri="{FF2B5EF4-FFF2-40B4-BE49-F238E27FC236}">
                <a16:creationId xmlns:a16="http://schemas.microsoft.com/office/drawing/2014/main" id="{43B8A320-DB38-4FA2-AD0D-AD2BF99A8871}"/>
              </a:ext>
            </a:extLst>
          </p:cNvPr>
          <p:cNvSpPr>
            <a:spLocks xmlns:a="http://schemas.openxmlformats.org/drawingml/2006/main" noGrp="1"/>
          </p:cNvSpPr>
          <p:nvPr/>
        </p:nvSpPr>
        <p:spPr>
          <a:xfrm xmlns:a="http://schemas.openxmlformats.org/drawingml/2006/main">
            <a:off x="533400" y="1571625"/>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950A0"/>
                </a:solidFill>
                <a:latin typeface="Helvetica Neue"/>
                <a:ea typeface="Helvetica Neue"/>
                <a:cs typeface="Helvetica Neue"/>
              </a:defRPr>
            </a:pPr>
            <a:r>
              <a:rPr sz="1200" b="1">
                <a:solidFill>
                  <a:srgbClr val="6950A0"/>
                </a:solidFill>
                <a:latin typeface="Helvetica Neue"/>
                <a:ea typeface="Helvetica Neue"/>
                <a:cs typeface="Helvetica Neue"/>
              </a:rPr>
              <a:t>CARE TEAM  /  APPOINTMENTS</a:t>
            </a:r>
          </a:p>
        </p:txBody>
      </p:sp>
      <p:sp>
        <p:nvSpPr>
          <p:cNvPr id="4" name="patient-label">
            <a:extLst xmlns:a="http://schemas.openxmlformats.org/drawingml/2006/main">
              <a:ext uri="{FF2B5EF4-FFF2-40B4-BE49-F238E27FC236}">
                <a16:creationId xmlns:a16="http://schemas.microsoft.com/office/drawing/2014/main" id="{63D85AA8-0FA5-4F6A-8E87-4ED5C31FD45D}"/>
              </a:ext>
            </a:extLst>
          </p:cNvPr>
          <p:cNvSpPr>
            <a:spLocks xmlns:a="http://schemas.openxmlformats.org/drawingml/2006/main" noGrp="1"/>
          </p:cNvSpPr>
          <p:nvPr/>
        </p:nvSpPr>
        <p:spPr>
          <a:xfrm xmlns:a="http://schemas.openxmlformats.org/drawingml/2006/main">
            <a:off x="9353550" y="15716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950A0"/>
                </a:solidFill>
                <a:latin typeface="Helvetica Neue"/>
                <a:ea typeface="Helvetica Neue"/>
                <a:cs typeface="Helvetica Neue"/>
              </a:defRPr>
            </a:pPr>
            <a:r>
              <a:rPr sz="1200" b="1">
                <a:solidFill>
                  <a:srgbClr val="6950A0"/>
                </a:solidFill>
                <a:latin typeface="Helvetica Neue"/>
                <a:ea typeface="Helvetica Neue"/>
                <a:cs typeface="Helvetica Neue"/>
              </a:rPr>
              <a:t>PATIENT  /  NEARBY CARE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fa3f9f1df44500"/>
          <a:stretch xmlns:a="http://schemas.openxmlformats.org/drawingml/2006/main"/>
        </p:blipFill>
        <p:spPr>
          <a:xfrm xmlns:a="http://schemas.openxmlformats.org/drawingml/2006/main">
            <a:off x="535318" y="1952625"/>
            <a:ext cx="8454364" cy="40576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078434a27a4ecd"/>
          <a:stretch xmlns:a="http://schemas.openxmlformats.org/drawingml/2006/main"/>
        </p:blipFill>
        <p:spPr>
          <a:xfrm xmlns:a="http://schemas.openxmlformats.org/drawingml/2006/main">
            <a:off x="9461702" y="1924050"/>
            <a:ext cx="1898247" cy="4105275"/>
          </a:xfrm>
          <a:prstGeom xmlns:a="http://schemas.openxmlformats.org/drawingml/2006/main" prst="rect">
            <a:avLst/>
          </a:prstGeom>
        </p:spPr>
      </p:pic>
      <p:sp>
        <p:nvSpPr>
          <p:cNvPr id="7" name="runtime-boundary">
            <a:extLst xmlns:a="http://schemas.openxmlformats.org/drawingml/2006/main">
              <a:ext uri="{FF2B5EF4-FFF2-40B4-BE49-F238E27FC236}">
                <a16:creationId xmlns:a16="http://schemas.microsoft.com/office/drawing/2014/main" id="{B966C3A2-3CFA-4577-9C7A-E9C97B65DEAC}"/>
              </a:ext>
            </a:extLst>
          </p:cNvPr>
          <p:cNvSpPr>
            <a:spLocks xmlns:a="http://schemas.openxmlformats.org/drawingml/2006/main" noGrp="1"/>
          </p:cNvSpPr>
          <p:nvPr/>
        </p:nvSpPr>
        <p:spPr>
          <a:xfrm xmlns:a="http://schemas.openxmlformats.org/drawingml/2006/main">
            <a:off x="533400" y="61341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LOCAL DEMONSTRATION  /  NO LIVE AI MODEL</a:t>
            </a:r>
          </a:p>
        </p:txBody>
      </p:sp>
      <p:sp>
        <p:nvSpPr>
          <p:cNvPr id="8" name="footer">
            <a:extLst xmlns:a="http://schemas.openxmlformats.org/drawingml/2006/main">
              <a:ext uri="{FF2B5EF4-FFF2-40B4-BE49-F238E27FC236}">
                <a16:creationId xmlns:a16="http://schemas.microsoft.com/office/drawing/2014/main" id="{4B27CC1A-DE4D-45DF-9649-4EF40F76F167}"/>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9" name="folio">
            <a:extLst xmlns:a="http://schemas.openxmlformats.org/drawingml/2006/main">
              <a:ext uri="{FF2B5EF4-FFF2-40B4-BE49-F238E27FC236}">
                <a16:creationId xmlns:a16="http://schemas.microsoft.com/office/drawing/2014/main" id="{DD0C61EF-93AC-4F18-A25C-7E41A793718E}"/>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06</a:t>
            </a:r>
          </a:p>
        </p:txBody>
      </p:sp>
    </p:spTree>
    <p:extLst>
      <p:ext uri="{BB962C8B-B14F-4D97-AF65-F5344CB8AC3E}">
        <p14:creationId xmlns:p14="http://schemas.microsoft.com/office/powerpoint/2010/main" val="7165246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accent">
            <a:extLst xmlns:a="http://schemas.openxmlformats.org/drawingml/2006/main">
              <a:ext uri="{FF2B5EF4-FFF2-40B4-BE49-F238E27FC236}">
                <a16:creationId xmlns:a16="http://schemas.microsoft.com/office/drawing/2014/main" id="{BEF7948E-0D70-4113-99C0-F386A9FF0C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5210E2C1-2A27-401E-9249-44C19B953157}"/>
              </a:ext>
            </a:extLst>
          </p:cNvPr>
          <p:cNvSpPr>
            <a:spLocks xmlns:a="http://schemas.openxmlformats.org/drawingml/2006/main" noGrp="1"/>
          </p:cNvSpPr>
          <p:nvPr/>
        </p:nvSpPr>
        <p:spPr>
          <a:xfrm xmlns:a="http://schemas.openxmlformats.org/drawingml/2006/main">
            <a:off x="533400" y="5143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C45"/>
                </a:solidFill>
                <a:latin typeface="Helvetica Neue"/>
                <a:ea typeface="Helvetica Neue"/>
                <a:cs typeface="Helvetica Neue"/>
              </a:defRPr>
            </a:pPr>
            <a:r>
              <a:rPr sz="3300" b="1">
                <a:solidFill>
                  <a:srgbClr val="102C45"/>
                </a:solidFill>
                <a:latin typeface="Helvetica Neue"/>
                <a:ea typeface="Helvetica Neue"/>
                <a:cs typeface="Helvetica Neue"/>
              </a:rPr>
              <a:t>A clinician-reviewed simulation is the next test</a:t>
            </a:r>
          </a:p>
        </p:txBody>
      </p:sp>
      <p:sp>
        <p:nvSpPr>
          <p:cNvPr id="3" name="target-label">
            <a:extLst xmlns:a="http://schemas.openxmlformats.org/drawingml/2006/main">
              <a:ext uri="{FF2B5EF4-FFF2-40B4-BE49-F238E27FC236}">
                <a16:creationId xmlns:a16="http://schemas.microsoft.com/office/drawing/2014/main" id="{6EC82A59-F160-4D5F-BDC1-086EF31372BE}"/>
              </a:ext>
            </a:extLst>
          </p:cNvPr>
          <p:cNvSpPr>
            <a:spLocks xmlns:a="http://schemas.openxmlformats.org/drawingml/2006/main" noGrp="1"/>
          </p:cNvSpPr>
          <p:nvPr/>
        </p:nvSpPr>
        <p:spPr>
          <a:xfrm xmlns:a="http://schemas.openxmlformats.org/drawingml/2006/main">
            <a:off x="533400" y="14192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007D8D"/>
                </a:solidFill>
                <a:latin typeface="Helvetica Neue"/>
                <a:ea typeface="Helvetica Neue"/>
                <a:cs typeface="Helvetica Neue"/>
              </a:defRPr>
            </a:pPr>
            <a:r>
              <a:rPr sz="1200" b="1">
                <a:solidFill>
                  <a:srgbClr val="007D8D"/>
                </a:solidFill>
                <a:latin typeface="Helvetica Neue"/>
                <a:ea typeface="Helvetica Neue"/>
                <a:cs typeface="Helvetica Neue"/>
              </a:rPr>
              <a:t>PROPOSED TARGETS  /  NOT MEASURED RESULTS</a:t>
            </a:r>
          </a:p>
        </p:txBody>
      </p:sp>
      <p:sp>
        <p:nvSpPr>
          <p:cNvPr id="4" name="metric-value-0">
            <a:extLst xmlns:a="http://schemas.openxmlformats.org/drawingml/2006/main">
              <a:ext uri="{FF2B5EF4-FFF2-40B4-BE49-F238E27FC236}">
                <a16:creationId xmlns:a16="http://schemas.microsoft.com/office/drawing/2014/main" id="{5E15AEF0-F4AC-4073-95F5-7625BD4AE34E}"/>
              </a:ext>
            </a:extLst>
          </p:cNvPr>
          <p:cNvSpPr>
            <a:spLocks xmlns:a="http://schemas.openxmlformats.org/drawingml/2006/main" noGrp="1"/>
          </p:cNvSpPr>
          <p:nvPr/>
        </p:nvSpPr>
        <p:spPr>
          <a:xfrm xmlns:a="http://schemas.openxmlformats.org/drawingml/2006/main">
            <a:off x="53340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20</a:t>
            </a:r>
          </a:p>
        </p:txBody>
      </p:sp>
      <p:sp>
        <p:nvSpPr>
          <p:cNvPr id="5" name="metric-label-0">
            <a:extLst xmlns:a="http://schemas.openxmlformats.org/drawingml/2006/main">
              <a:ext uri="{FF2B5EF4-FFF2-40B4-BE49-F238E27FC236}">
                <a16:creationId xmlns:a16="http://schemas.microsoft.com/office/drawing/2014/main" id="{F41E3AEB-CF70-4645-AB12-220EA3D4EE97}"/>
              </a:ext>
            </a:extLst>
          </p:cNvPr>
          <p:cNvSpPr>
            <a:spLocks xmlns:a="http://schemas.openxmlformats.org/drawingml/2006/main" noGrp="1"/>
          </p:cNvSpPr>
          <p:nvPr/>
        </p:nvSpPr>
        <p:spPr>
          <a:xfrm xmlns:a="http://schemas.openxmlformats.org/drawingml/2006/main">
            <a:off x="53340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Synthetic scenarios</a:t>
            </a:r>
          </a:p>
        </p:txBody>
      </p:sp>
      <p:sp>
        <p:nvSpPr>
          <p:cNvPr id="6" name="metric-divider-0">
            <a:extLst xmlns:a="http://schemas.openxmlformats.org/drawingml/2006/main">
              <a:ext uri="{FF2B5EF4-FFF2-40B4-BE49-F238E27FC236}">
                <a16:creationId xmlns:a16="http://schemas.microsoft.com/office/drawing/2014/main" id="{393EDFF5-4511-4409-824D-2CEFD68061B0}"/>
              </a:ext>
            </a:extLst>
          </p:cNvPr>
          <p:cNvSpPr>
            <a:spLocks xmlns:a="http://schemas.openxmlformats.org/drawingml/2006/main" noGrp="1"/>
          </p:cNvSpPr>
          <p:nvPr/>
        </p:nvSpPr>
        <p:spPr>
          <a:xfrm xmlns:a="http://schemas.openxmlformats.org/drawingml/2006/main">
            <a:off x="313372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7" name="metric-value-1">
            <a:extLst xmlns:a="http://schemas.openxmlformats.org/drawingml/2006/main">
              <a:ext uri="{FF2B5EF4-FFF2-40B4-BE49-F238E27FC236}">
                <a16:creationId xmlns:a16="http://schemas.microsoft.com/office/drawing/2014/main" id="{DE653068-9F11-4A5E-8912-06677F1947F4}"/>
              </a:ext>
            </a:extLst>
          </p:cNvPr>
          <p:cNvSpPr>
            <a:spLocks xmlns:a="http://schemas.openxmlformats.org/drawingml/2006/main" noGrp="1"/>
          </p:cNvSpPr>
          <p:nvPr/>
        </p:nvSpPr>
        <p:spPr>
          <a:xfrm xmlns:a="http://schemas.openxmlformats.org/drawingml/2006/main">
            <a:off x="337185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8</a:t>
            </a:r>
          </a:p>
        </p:txBody>
      </p:sp>
      <p:sp>
        <p:nvSpPr>
          <p:cNvPr id="8" name="metric-label-1">
            <a:extLst xmlns:a="http://schemas.openxmlformats.org/drawingml/2006/main">
              <a:ext uri="{FF2B5EF4-FFF2-40B4-BE49-F238E27FC236}">
                <a16:creationId xmlns:a16="http://schemas.microsoft.com/office/drawing/2014/main" id="{62BA09D2-95FA-4DBE-B3C5-7943956A17D1}"/>
              </a:ext>
            </a:extLst>
          </p:cNvPr>
          <p:cNvSpPr>
            <a:spLocks xmlns:a="http://schemas.openxmlformats.org/drawingml/2006/main" noGrp="1"/>
          </p:cNvSpPr>
          <p:nvPr/>
        </p:nvSpPr>
        <p:spPr>
          <a:xfrm xmlns:a="http://schemas.openxmlformats.org/drawingml/2006/main">
            <a:off x="337185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Conversation domains</a:t>
            </a:r>
          </a:p>
        </p:txBody>
      </p:sp>
      <p:sp>
        <p:nvSpPr>
          <p:cNvPr id="9" name="metric-divider-1">
            <a:extLst xmlns:a="http://schemas.openxmlformats.org/drawingml/2006/main">
              <a:ext uri="{FF2B5EF4-FFF2-40B4-BE49-F238E27FC236}">
                <a16:creationId xmlns:a16="http://schemas.microsoft.com/office/drawing/2014/main" id="{9ADAAAF5-8880-4CE6-A9E8-53EB9EC5A4CC}"/>
              </a:ext>
            </a:extLst>
          </p:cNvPr>
          <p:cNvSpPr>
            <a:spLocks xmlns:a="http://schemas.openxmlformats.org/drawingml/2006/main" noGrp="1"/>
          </p:cNvSpPr>
          <p:nvPr/>
        </p:nvSpPr>
        <p:spPr>
          <a:xfrm xmlns:a="http://schemas.openxmlformats.org/drawingml/2006/main">
            <a:off x="597217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10" name="metric-value-2">
            <a:extLst xmlns:a="http://schemas.openxmlformats.org/drawingml/2006/main">
              <a:ext uri="{FF2B5EF4-FFF2-40B4-BE49-F238E27FC236}">
                <a16:creationId xmlns:a16="http://schemas.microsoft.com/office/drawing/2014/main" id="{D6BCBDDD-63AE-4236-BBBA-0E9E7E9D4CB3}"/>
              </a:ext>
            </a:extLst>
          </p:cNvPr>
          <p:cNvSpPr>
            <a:spLocks xmlns:a="http://schemas.openxmlformats.org/drawingml/2006/main" noGrp="1"/>
          </p:cNvSpPr>
          <p:nvPr/>
        </p:nvSpPr>
        <p:spPr>
          <a:xfrm xmlns:a="http://schemas.openxmlformats.org/drawingml/2006/main">
            <a:off x="621030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007D8D"/>
                </a:solidFill>
                <a:latin typeface="Helvetica Neue"/>
                <a:ea typeface="Helvetica Neue"/>
                <a:cs typeface="Helvetica Neue"/>
              </a:defRPr>
            </a:pPr>
            <a:r>
              <a:rPr sz="6225" b="1">
                <a:solidFill>
                  <a:srgbClr val="007D8D"/>
                </a:solidFill>
                <a:latin typeface="Helvetica Neue"/>
                <a:ea typeface="Helvetica Neue"/>
                <a:cs typeface="Helvetica Neue"/>
              </a:rPr>
              <a:t>&lt;30s</a:t>
            </a:r>
          </a:p>
        </p:txBody>
      </p:sp>
      <p:sp>
        <p:nvSpPr>
          <p:cNvPr id="11" name="metric-label-2">
            <a:extLst xmlns:a="http://schemas.openxmlformats.org/drawingml/2006/main">
              <a:ext uri="{FF2B5EF4-FFF2-40B4-BE49-F238E27FC236}">
                <a16:creationId xmlns:a16="http://schemas.microsoft.com/office/drawing/2014/main" id="{FB588146-8977-4682-BAC3-EEFE32C1DD4C}"/>
              </a:ext>
            </a:extLst>
          </p:cNvPr>
          <p:cNvSpPr>
            <a:spLocks xmlns:a="http://schemas.openxmlformats.org/drawingml/2006/main" noGrp="1"/>
          </p:cNvSpPr>
          <p:nvPr/>
        </p:nvSpPr>
        <p:spPr>
          <a:xfrm xmlns:a="http://schemas.openxmlformats.org/drawingml/2006/main">
            <a:off x="621030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Retrieval target</a:t>
            </a:r>
          </a:p>
        </p:txBody>
      </p:sp>
      <p:sp>
        <p:nvSpPr>
          <p:cNvPr id="12" name="metric-divider-2">
            <a:extLst xmlns:a="http://schemas.openxmlformats.org/drawingml/2006/main">
              <a:ext uri="{FF2B5EF4-FFF2-40B4-BE49-F238E27FC236}">
                <a16:creationId xmlns:a16="http://schemas.microsoft.com/office/drawing/2014/main" id="{D297F103-3729-49CC-8ED0-FAB0B8A62D55}"/>
              </a:ext>
            </a:extLst>
          </p:cNvPr>
          <p:cNvSpPr>
            <a:spLocks xmlns:a="http://schemas.openxmlformats.org/drawingml/2006/main" noGrp="1"/>
          </p:cNvSpPr>
          <p:nvPr/>
        </p:nvSpPr>
        <p:spPr>
          <a:xfrm xmlns:a="http://schemas.openxmlformats.org/drawingml/2006/main">
            <a:off x="8810625" y="2143125"/>
            <a:ext cx="9525" cy="1638300"/>
          </a:xfrm>
          <a:prstGeom xmlns:a="http://schemas.openxmlformats.org/drawingml/2006/main" prst="rect">
            <a:avLst/>
          </a:prstGeom>
          <a:solidFill xmlns:a="http://schemas.openxmlformats.org/drawingml/2006/main">
            <a:srgbClr val="CBDCDF"/>
          </a:solidFill>
          <a:ln xmlns:a="http://schemas.openxmlformats.org/drawingml/2006/main" w="0">
            <a:noFill/>
            <a:prstDash val="solid"/>
          </a:ln>
        </p:spPr>
      </p:sp>
      <p:sp>
        <p:nvSpPr>
          <p:cNvPr id="13" name="metric-value-3">
            <a:extLst xmlns:a="http://schemas.openxmlformats.org/drawingml/2006/main">
              <a:ext uri="{FF2B5EF4-FFF2-40B4-BE49-F238E27FC236}">
                <a16:creationId xmlns:a16="http://schemas.microsoft.com/office/drawing/2014/main" id="{9A982F2E-B56F-43CA-AA1A-CEC165EA8456}"/>
              </a:ext>
            </a:extLst>
          </p:cNvPr>
          <p:cNvSpPr>
            <a:spLocks xmlns:a="http://schemas.openxmlformats.org/drawingml/2006/main" noGrp="1"/>
          </p:cNvSpPr>
          <p:nvPr/>
        </p:nvSpPr>
        <p:spPr>
          <a:xfrm xmlns:a="http://schemas.openxmlformats.org/drawingml/2006/main">
            <a:off x="9048750" y="2057400"/>
            <a:ext cx="266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EF972B"/>
                </a:solidFill>
                <a:latin typeface="Helvetica Neue"/>
                <a:ea typeface="Helvetica Neue"/>
                <a:cs typeface="Helvetica Neue"/>
              </a:defRPr>
            </a:pPr>
            <a:r>
              <a:rPr sz="6225" b="1">
                <a:solidFill>
                  <a:srgbClr val="EF972B"/>
                </a:solidFill>
                <a:latin typeface="Helvetica Neue"/>
                <a:ea typeface="Helvetica Neue"/>
                <a:cs typeface="Helvetica Neue"/>
              </a:rPr>
              <a:t>0</a:t>
            </a:r>
          </a:p>
        </p:txBody>
      </p:sp>
      <p:sp>
        <p:nvSpPr>
          <p:cNvPr id="14" name="metric-label-3">
            <a:extLst xmlns:a="http://schemas.openxmlformats.org/drawingml/2006/main">
              <a:ext uri="{FF2B5EF4-FFF2-40B4-BE49-F238E27FC236}">
                <a16:creationId xmlns:a16="http://schemas.microsoft.com/office/drawing/2014/main" id="{03414718-0A52-436F-86D1-362DC8B67CCA}"/>
              </a:ext>
            </a:extLst>
          </p:cNvPr>
          <p:cNvSpPr>
            <a:spLocks xmlns:a="http://schemas.openxmlformats.org/drawingml/2006/main" noGrp="1"/>
          </p:cNvSpPr>
          <p:nvPr/>
        </p:nvSpPr>
        <p:spPr>
          <a:xfrm xmlns:a="http://schemas.openxmlformats.org/drawingml/2006/main">
            <a:off x="9048750" y="3200400"/>
            <a:ext cx="2628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02C45"/>
                </a:solidFill>
                <a:latin typeface="Helvetica Neue"/>
                <a:ea typeface="Helvetica Neue"/>
                <a:cs typeface="Helvetica Neue"/>
              </a:defRPr>
            </a:pPr>
            <a:r>
              <a:rPr sz="1800" b="1">
                <a:solidFill>
                  <a:srgbClr val="102C45"/>
                </a:solidFill>
                <a:latin typeface="Helvetica Neue"/>
                <a:ea typeface="Helvetica Neue"/>
                <a:cs typeface="Helvetica Neue"/>
              </a:rPr>
              <a:t>Unstated preferences filled</a:t>
            </a:r>
          </a:p>
        </p:txBody>
      </p:sp>
      <p:sp>
        <p:nvSpPr>
          <p:cNvPr id="15" name="evaluation-line">
            <a:extLst xmlns:a="http://schemas.openxmlformats.org/drawingml/2006/main">
              <a:ext uri="{FF2B5EF4-FFF2-40B4-BE49-F238E27FC236}">
                <a16:creationId xmlns:a16="http://schemas.microsoft.com/office/drawing/2014/main" id="{7537E623-620B-4C5D-8C3E-11D0C21BA6F9}"/>
              </a:ext>
            </a:extLst>
          </p:cNvPr>
          <p:cNvSpPr>
            <a:spLocks xmlns:a="http://schemas.openxmlformats.org/drawingml/2006/main" noGrp="1"/>
          </p:cNvSpPr>
          <p:nvPr/>
        </p:nvSpPr>
        <p:spPr>
          <a:xfrm xmlns:a="http://schemas.openxmlformats.org/drawingml/2006/main">
            <a:off x="762000" y="4695825"/>
            <a:ext cx="10391775" cy="28575"/>
          </a:xfrm>
          <a:prstGeom xmlns:a="http://schemas.openxmlformats.org/drawingml/2006/main" prst="rect">
            <a:avLst/>
          </a:prstGeom>
          <a:solidFill xmlns:a="http://schemas.openxmlformats.org/drawingml/2006/main">
            <a:srgbClr val="007D8D"/>
          </a:solidFill>
          <a:ln xmlns:a="http://schemas.openxmlformats.org/drawingml/2006/main" w="0">
            <a:noFill/>
            <a:prstDash val="solid"/>
          </a:ln>
        </p:spPr>
      </p:sp>
      <p:sp>
        <p:nvSpPr>
          <p:cNvPr id="16" name="test-node-0">
            <a:extLst xmlns:a="http://schemas.openxmlformats.org/drawingml/2006/main">
              <a:ext uri="{FF2B5EF4-FFF2-40B4-BE49-F238E27FC236}">
                <a16:creationId xmlns:a16="http://schemas.microsoft.com/office/drawing/2014/main" id="{68A3EAD4-51DB-4A58-93AD-17D944CD7B37}"/>
              </a:ext>
            </a:extLst>
          </p:cNvPr>
          <p:cNvSpPr>
            <a:spLocks xmlns:a="http://schemas.openxmlformats.org/drawingml/2006/main" noGrp="1"/>
          </p:cNvSpPr>
          <p:nvPr/>
        </p:nvSpPr>
        <p:spPr>
          <a:xfrm xmlns:a="http://schemas.openxmlformats.org/drawingml/2006/main">
            <a:off x="53340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17" name="test-number-0">
            <a:extLst xmlns:a="http://schemas.openxmlformats.org/drawingml/2006/main">
              <a:ext uri="{FF2B5EF4-FFF2-40B4-BE49-F238E27FC236}">
                <a16:creationId xmlns:a16="http://schemas.microsoft.com/office/drawing/2014/main" id="{20C4D1AB-A184-4871-B87B-1F6283CB82ED}"/>
              </a:ext>
            </a:extLst>
          </p:cNvPr>
          <p:cNvSpPr>
            <a:spLocks xmlns:a="http://schemas.openxmlformats.org/drawingml/2006/main" noGrp="1"/>
          </p:cNvSpPr>
          <p:nvPr/>
        </p:nvSpPr>
        <p:spPr>
          <a:xfrm xmlns:a="http://schemas.openxmlformats.org/drawingml/2006/main">
            <a:off x="64770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18" name="test-title-0">
            <a:extLst xmlns:a="http://schemas.openxmlformats.org/drawingml/2006/main">
              <a:ext uri="{FF2B5EF4-FFF2-40B4-BE49-F238E27FC236}">
                <a16:creationId xmlns:a16="http://schemas.microsoft.com/office/drawing/2014/main" id="{9140BE05-E72A-4B26-98C2-00B639665A9E}"/>
              </a:ext>
            </a:extLst>
          </p:cNvPr>
          <p:cNvSpPr>
            <a:spLocks xmlns:a="http://schemas.openxmlformats.org/drawingml/2006/main" noGrp="1"/>
          </p:cNvSpPr>
          <p:nvPr/>
        </p:nvSpPr>
        <p:spPr>
          <a:xfrm xmlns:a="http://schemas.openxmlformats.org/drawingml/2006/main">
            <a:off x="53340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Reference set</a:t>
            </a:r>
          </a:p>
        </p:txBody>
      </p:sp>
      <p:sp>
        <p:nvSpPr>
          <p:cNvPr id="19" name="test-body-0">
            <a:extLst xmlns:a="http://schemas.openxmlformats.org/drawingml/2006/main">
              <a:ext uri="{FF2B5EF4-FFF2-40B4-BE49-F238E27FC236}">
                <a16:creationId xmlns:a16="http://schemas.microsoft.com/office/drawing/2014/main" id="{F42E4236-C7DA-4371-BBCE-27D390119C4E}"/>
              </a:ext>
            </a:extLst>
          </p:cNvPr>
          <p:cNvSpPr>
            <a:spLocks xmlns:a="http://schemas.openxmlformats.org/drawingml/2006/main" noGrp="1"/>
          </p:cNvSpPr>
          <p:nvPr/>
        </p:nvSpPr>
        <p:spPr>
          <a:xfrm xmlns:a="http://schemas.openxmlformats.org/drawingml/2006/main">
            <a:off x="53340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Clinicians agree domains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and unresolved cases</a:t>
            </a:r>
          </a:p>
        </p:txBody>
      </p:sp>
      <p:sp>
        <p:nvSpPr>
          <p:cNvPr id="20" name="test-node-1">
            <a:extLst xmlns:a="http://schemas.openxmlformats.org/drawingml/2006/main">
              <a:ext uri="{FF2B5EF4-FFF2-40B4-BE49-F238E27FC236}">
                <a16:creationId xmlns:a16="http://schemas.microsoft.com/office/drawing/2014/main" id="{FD0BEF55-03F6-419F-B6B4-A80FEBEF67D1}"/>
              </a:ext>
            </a:extLst>
          </p:cNvPr>
          <p:cNvSpPr>
            <a:spLocks xmlns:a="http://schemas.openxmlformats.org/drawingml/2006/main" noGrp="1"/>
          </p:cNvSpPr>
          <p:nvPr/>
        </p:nvSpPr>
        <p:spPr>
          <a:xfrm xmlns:a="http://schemas.openxmlformats.org/drawingml/2006/main">
            <a:off x="337185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1" name="test-number-1">
            <a:extLst xmlns:a="http://schemas.openxmlformats.org/drawingml/2006/main">
              <a:ext uri="{FF2B5EF4-FFF2-40B4-BE49-F238E27FC236}">
                <a16:creationId xmlns:a16="http://schemas.microsoft.com/office/drawing/2014/main" id="{2D98C0FC-1824-4714-9140-56BD866CD4C4}"/>
              </a:ext>
            </a:extLst>
          </p:cNvPr>
          <p:cNvSpPr>
            <a:spLocks xmlns:a="http://schemas.openxmlformats.org/drawingml/2006/main" noGrp="1"/>
          </p:cNvSpPr>
          <p:nvPr/>
        </p:nvSpPr>
        <p:spPr>
          <a:xfrm xmlns:a="http://schemas.openxmlformats.org/drawingml/2006/main">
            <a:off x="348615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22" name="test-title-1">
            <a:extLst xmlns:a="http://schemas.openxmlformats.org/drawingml/2006/main">
              <a:ext uri="{FF2B5EF4-FFF2-40B4-BE49-F238E27FC236}">
                <a16:creationId xmlns:a16="http://schemas.microsoft.com/office/drawing/2014/main" id="{C7677BF3-BB76-4D50-9730-D64091DBD520}"/>
              </a:ext>
            </a:extLst>
          </p:cNvPr>
          <p:cNvSpPr>
            <a:spLocks xmlns:a="http://schemas.openxmlformats.org/drawingml/2006/main" noGrp="1"/>
          </p:cNvSpPr>
          <p:nvPr/>
        </p:nvSpPr>
        <p:spPr>
          <a:xfrm xmlns:a="http://schemas.openxmlformats.org/drawingml/2006/main">
            <a:off x="337185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Draft review</a:t>
            </a:r>
          </a:p>
        </p:txBody>
      </p:sp>
      <p:sp>
        <p:nvSpPr>
          <p:cNvPr id="23" name="test-body-1">
            <a:extLst xmlns:a="http://schemas.openxmlformats.org/drawingml/2006/main">
              <a:ext uri="{FF2B5EF4-FFF2-40B4-BE49-F238E27FC236}">
                <a16:creationId xmlns:a16="http://schemas.microsoft.com/office/drawing/2014/main" id="{9EE4AFD4-0F35-4908-847A-1C494E034BA3}"/>
              </a:ext>
            </a:extLst>
          </p:cNvPr>
          <p:cNvSpPr>
            <a:spLocks xmlns:a="http://schemas.openxmlformats.org/drawingml/2006/main" noGrp="1"/>
          </p:cNvSpPr>
          <p:nvPr/>
        </p:nvSpPr>
        <p:spPr>
          <a:xfrm xmlns:a="http://schemas.openxmlformats.org/drawingml/2006/main">
            <a:off x="337185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Check field faithfulness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and source traceability</a:t>
            </a:r>
          </a:p>
        </p:txBody>
      </p:sp>
      <p:sp>
        <p:nvSpPr>
          <p:cNvPr id="24" name="test-node-2">
            <a:extLst xmlns:a="http://schemas.openxmlformats.org/drawingml/2006/main">
              <a:ext uri="{FF2B5EF4-FFF2-40B4-BE49-F238E27FC236}">
                <a16:creationId xmlns:a16="http://schemas.microsoft.com/office/drawing/2014/main" id="{536936CB-986E-46F9-B5D9-A3DAE64FF09E}"/>
              </a:ext>
            </a:extLst>
          </p:cNvPr>
          <p:cNvSpPr>
            <a:spLocks xmlns:a="http://schemas.openxmlformats.org/drawingml/2006/main" noGrp="1"/>
          </p:cNvSpPr>
          <p:nvPr/>
        </p:nvSpPr>
        <p:spPr>
          <a:xfrm xmlns:a="http://schemas.openxmlformats.org/drawingml/2006/main">
            <a:off x="621030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5" name="test-number-2">
            <a:extLst xmlns:a="http://schemas.openxmlformats.org/drawingml/2006/main">
              <a:ext uri="{FF2B5EF4-FFF2-40B4-BE49-F238E27FC236}">
                <a16:creationId xmlns:a16="http://schemas.microsoft.com/office/drawing/2014/main" id="{65149144-A387-4364-9D5B-BA3C9BCEB761}"/>
              </a:ext>
            </a:extLst>
          </p:cNvPr>
          <p:cNvSpPr>
            <a:spLocks xmlns:a="http://schemas.openxmlformats.org/drawingml/2006/main" noGrp="1"/>
          </p:cNvSpPr>
          <p:nvPr/>
        </p:nvSpPr>
        <p:spPr>
          <a:xfrm xmlns:a="http://schemas.openxmlformats.org/drawingml/2006/main">
            <a:off x="632460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26" name="test-title-2">
            <a:extLst xmlns:a="http://schemas.openxmlformats.org/drawingml/2006/main">
              <a:ext uri="{FF2B5EF4-FFF2-40B4-BE49-F238E27FC236}">
                <a16:creationId xmlns:a16="http://schemas.microsoft.com/office/drawing/2014/main" id="{36690C9C-82BF-40FF-9D43-2C8D29F1A917}"/>
              </a:ext>
            </a:extLst>
          </p:cNvPr>
          <p:cNvSpPr>
            <a:spLocks xmlns:a="http://schemas.openxmlformats.org/drawingml/2006/main" noGrp="1"/>
          </p:cNvSpPr>
          <p:nvPr/>
        </p:nvSpPr>
        <p:spPr>
          <a:xfrm xmlns:a="http://schemas.openxmlformats.org/drawingml/2006/main">
            <a:off x="621030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Retrieval test</a:t>
            </a:r>
          </a:p>
        </p:txBody>
      </p:sp>
      <p:sp>
        <p:nvSpPr>
          <p:cNvPr id="27" name="test-body-2">
            <a:extLst xmlns:a="http://schemas.openxmlformats.org/drawingml/2006/main">
              <a:ext uri="{FF2B5EF4-FFF2-40B4-BE49-F238E27FC236}">
                <a16:creationId xmlns:a16="http://schemas.microsoft.com/office/drawing/2014/main" id="{2F9EB7A8-0DA4-4539-9DDE-E103D480824D}"/>
              </a:ext>
            </a:extLst>
          </p:cNvPr>
          <p:cNvSpPr>
            <a:spLocks xmlns:a="http://schemas.openxmlformats.org/drawingml/2006/main" noGrp="1"/>
          </p:cNvSpPr>
          <p:nvPr/>
        </p:nvSpPr>
        <p:spPr>
          <a:xfrm xmlns:a="http://schemas.openxmlformats.org/drawingml/2006/main">
            <a:off x="621030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Find and reconfirm</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the latest version</a:t>
            </a:r>
          </a:p>
        </p:txBody>
      </p:sp>
      <p:sp>
        <p:nvSpPr>
          <p:cNvPr id="28" name="test-node-3">
            <a:extLst xmlns:a="http://schemas.openxmlformats.org/drawingml/2006/main">
              <a:ext uri="{FF2B5EF4-FFF2-40B4-BE49-F238E27FC236}">
                <a16:creationId xmlns:a16="http://schemas.microsoft.com/office/drawing/2014/main" id="{F66E392E-AC12-4185-A68A-091CCEDCDF88}"/>
              </a:ext>
            </a:extLst>
          </p:cNvPr>
          <p:cNvSpPr>
            <a:spLocks xmlns:a="http://schemas.openxmlformats.org/drawingml/2006/main" noGrp="1"/>
          </p:cNvSpPr>
          <p:nvPr/>
        </p:nvSpPr>
        <p:spPr>
          <a:xfrm xmlns:a="http://schemas.openxmlformats.org/drawingml/2006/main">
            <a:off x="9048750" y="4524375"/>
            <a:ext cx="352425" cy="352425"/>
          </a:xfrm>
          <a:prstGeom xmlns:a="http://schemas.openxmlformats.org/drawingml/2006/main" prst="ellipse">
            <a:avLst/>
          </a:prstGeom>
          <a:solidFill xmlns:a="http://schemas.openxmlformats.org/drawingml/2006/main">
            <a:srgbClr val="007D8D"/>
          </a:solidFill>
          <a:ln xmlns:a="http://schemas.openxmlformats.org/drawingml/2006/main" w="0">
            <a:noFill/>
            <a:prstDash val="solid"/>
          </a:ln>
        </p:spPr>
      </p:sp>
      <p:sp>
        <p:nvSpPr>
          <p:cNvPr id="29" name="test-number-3">
            <a:extLst xmlns:a="http://schemas.openxmlformats.org/drawingml/2006/main">
              <a:ext uri="{FF2B5EF4-FFF2-40B4-BE49-F238E27FC236}">
                <a16:creationId xmlns:a16="http://schemas.microsoft.com/office/drawing/2014/main" id="{3F636578-2597-47C4-AA82-757D4EBC65D4}"/>
              </a:ext>
            </a:extLst>
          </p:cNvPr>
          <p:cNvSpPr>
            <a:spLocks xmlns:a="http://schemas.openxmlformats.org/drawingml/2006/main" noGrp="1"/>
          </p:cNvSpPr>
          <p:nvPr/>
        </p:nvSpPr>
        <p:spPr>
          <a:xfrm xmlns:a="http://schemas.openxmlformats.org/drawingml/2006/main">
            <a:off x="9163050" y="4572000"/>
            <a:ext cx="200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30" name="test-title-3">
            <a:extLst xmlns:a="http://schemas.openxmlformats.org/drawingml/2006/main">
              <a:ext uri="{FF2B5EF4-FFF2-40B4-BE49-F238E27FC236}">
                <a16:creationId xmlns:a16="http://schemas.microsoft.com/office/drawing/2014/main" id="{7D5E7884-A57D-40C0-9A40-F7AA4BAB3A01}"/>
              </a:ext>
            </a:extLst>
          </p:cNvPr>
          <p:cNvSpPr>
            <a:spLocks xmlns:a="http://schemas.openxmlformats.org/drawingml/2006/main" noGrp="1"/>
          </p:cNvSpPr>
          <p:nvPr/>
        </p:nvSpPr>
        <p:spPr>
          <a:xfrm xmlns:a="http://schemas.openxmlformats.org/drawingml/2006/main">
            <a:off x="9048750" y="50577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02C45"/>
                </a:solidFill>
                <a:latin typeface="Helvetica Neue"/>
                <a:ea typeface="Helvetica Neue"/>
                <a:cs typeface="Helvetica Neue"/>
              </a:defRPr>
            </a:pPr>
            <a:r>
              <a:rPr sz="1950" b="1">
                <a:solidFill>
                  <a:srgbClr val="102C45"/>
                </a:solidFill>
                <a:latin typeface="Helvetica Neue"/>
                <a:ea typeface="Helvetica Neue"/>
                <a:cs typeface="Helvetica Neue"/>
              </a:rPr>
              <a:t>Follow-up review</a:t>
            </a:r>
          </a:p>
        </p:txBody>
      </p:sp>
      <p:sp>
        <p:nvSpPr>
          <p:cNvPr id="31" name="test-body-3">
            <a:extLst xmlns:a="http://schemas.openxmlformats.org/drawingml/2006/main">
              <a:ext uri="{FF2B5EF4-FFF2-40B4-BE49-F238E27FC236}">
                <a16:creationId xmlns:a16="http://schemas.microsoft.com/office/drawing/2014/main" id="{D8E125AE-2C20-4F68-8E1B-C52ABAAABC97}"/>
              </a:ext>
            </a:extLst>
          </p:cNvPr>
          <p:cNvSpPr>
            <a:spLocks xmlns:a="http://schemas.openxmlformats.org/drawingml/2006/main" noGrp="1"/>
          </p:cNvSpPr>
          <p:nvPr/>
        </p:nvSpPr>
        <p:spPr>
          <a:xfrm xmlns:a="http://schemas.openxmlformats.org/drawingml/2006/main">
            <a:off x="9048750" y="5486400"/>
            <a:ext cx="26955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Check whether owners</a:t>
            </a:r>
          </a:p>
          <a:p xmlns:a="http://schemas.openxmlformats.org/drawingml/2006/main">
            <a:pPr>
              <a:defRPr sz="1575" b="0">
                <a:solidFill>
                  <a:srgbClr val="526479"/>
                </a:solidFill>
                <a:latin typeface="Helvetica Neue"/>
                <a:ea typeface="Helvetica Neue"/>
                <a:cs typeface="Helvetica Neue"/>
              </a:defRPr>
            </a:pPr>
            <a:r>
              <a:rPr sz="1575" b="0">
                <a:solidFill>
                  <a:srgbClr val="526479"/>
                </a:solidFill>
                <a:latin typeface="Helvetica Neue"/>
                <a:ea typeface="Helvetica Neue"/>
                <a:cs typeface="Helvetica Neue"/>
              </a:rPr>
              <a:t>revisit open topics</a:t>
            </a:r>
          </a:p>
        </p:txBody>
      </p:sp>
      <p:sp>
        <p:nvSpPr>
          <p:cNvPr id="32" name="footer">
            <a:extLst xmlns:a="http://schemas.openxmlformats.org/drawingml/2006/main">
              <a:ext uri="{FF2B5EF4-FFF2-40B4-BE49-F238E27FC236}">
                <a16:creationId xmlns:a16="http://schemas.microsoft.com/office/drawing/2014/main" id="{456BA27B-121A-467E-A421-73C7432CE1A1}"/>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479"/>
                </a:solidFill>
                <a:latin typeface="Helvetica Neue"/>
                <a:ea typeface="Helvetica Neue"/>
                <a:cs typeface="Helvetica Neue"/>
              </a:defRPr>
            </a:pPr>
            <a:r>
              <a:rPr sz="1050" b="0">
                <a:solidFill>
                  <a:srgbClr val="526479"/>
                </a:solidFill>
                <a:latin typeface="Helvetica Neue"/>
                <a:ea typeface="Helvetica Neue"/>
                <a:cs typeface="Helvetica Neue"/>
              </a:rPr>
              <a:t>CONTINUITY LOOP  /  HEALTH-A-THON 2026</a:t>
            </a:r>
          </a:p>
        </p:txBody>
      </p:sp>
      <p:sp>
        <p:nvSpPr>
          <p:cNvPr id="33" name="folio">
            <a:extLst xmlns:a="http://schemas.openxmlformats.org/drawingml/2006/main">
              <a:ext uri="{FF2B5EF4-FFF2-40B4-BE49-F238E27FC236}">
                <a16:creationId xmlns:a16="http://schemas.microsoft.com/office/drawing/2014/main" id="{CC3C08BC-D349-4EC9-91AE-385B97A18C9F}"/>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26479"/>
                </a:solidFill>
                <a:latin typeface="Helvetica Neue"/>
                <a:ea typeface="Helvetica Neue"/>
                <a:cs typeface="Helvetica Neue"/>
              </a:defRPr>
            </a:pPr>
            <a:r>
              <a:rPr sz="1275" b="1">
                <a:solidFill>
                  <a:srgbClr val="526479"/>
                </a:solidFill>
                <a:latin typeface="Helvetica Neue"/>
                <a:ea typeface="Helvetica Neue"/>
                <a:cs typeface="Helvetica Neue"/>
              </a:rPr>
              <a:t>07</a:t>
            </a:r>
          </a:p>
        </p:txBody>
      </p:sp>
    </p:spTree>
    <p:extLst>
      <p:ext uri="{BB962C8B-B14F-4D97-AF65-F5344CB8AC3E}">
        <p14:creationId xmlns:p14="http://schemas.microsoft.com/office/powerpoint/2010/main" val="888211217"/>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17" name="accent">
            <a:extLst xmlns:a="http://schemas.openxmlformats.org/drawingml/2006/main">
              <a:ext uri="{FF2B5EF4-FFF2-40B4-BE49-F238E27FC236}">
                <a16:creationId xmlns:a16="http://schemas.microsoft.com/office/drawing/2014/main" id="{650C98A3-8249-4476-9455-3FC5E04244D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EF972B"/>
          </a:solidFill>
          <a:ln xmlns:a="http://schemas.openxmlformats.org/drawingml/2006/main" w="0">
            <a:noFill/>
            <a:prstDash val="solid"/>
          </a:ln>
        </p:spPr>
      </p:sp>
      <p:sp>
        <p:nvSpPr>
          <p:cNvPr id="2" name="closing-title">
            <a:extLst xmlns:a="http://schemas.openxmlformats.org/drawingml/2006/main">
              <a:ext uri="{FF2B5EF4-FFF2-40B4-BE49-F238E27FC236}">
                <a16:creationId xmlns:a16="http://schemas.microsoft.com/office/drawing/2014/main" id="{3A41C089-B546-49A5-AF8C-39E7544EC986}"/>
              </a:ext>
            </a:extLst>
          </p:cNvPr>
          <p:cNvSpPr>
            <a:spLocks xmlns:a="http://schemas.openxmlformats.org/drawingml/2006/main" noGrp="1"/>
          </p:cNvSpPr>
          <p:nvPr/>
        </p:nvSpPr>
        <p:spPr>
          <a:xfrm xmlns:a="http://schemas.openxmlformats.org/drawingml/2006/main">
            <a:off x="533400" y="495300"/>
            <a:ext cx="11125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The next step is a clinician-owned pilot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7a0816ee76a4ab9"/>
          <a:stretch xmlns:a="http://schemas.openxmlformats.org/drawingml/2006/main"/>
        </p:blipFill>
        <p:spPr>
          <a:xfrm xmlns:a="http://schemas.openxmlformats.org/drawingml/2006/main">
            <a:off x="533400" y="1592263"/>
            <a:ext cx="6153150" cy="4102100"/>
          </a:xfrm>
          <a:prstGeom xmlns:a="http://schemas.openxmlformats.org/drawingml/2006/main" prst="rect">
            <a:avLst/>
          </a:prstGeom>
        </p:spPr>
      </p:pic>
      <p:sp>
        <p:nvSpPr>
          <p:cNvPr id="4" name="pilot-team">
            <a:extLst xmlns:a="http://schemas.openxmlformats.org/drawingml/2006/main">
              <a:ext uri="{FF2B5EF4-FFF2-40B4-BE49-F238E27FC236}">
                <a16:creationId xmlns:a16="http://schemas.microsoft.com/office/drawing/2014/main" id="{FFCF09E7-3F3B-4058-B1ED-3197C0B15857}"/>
              </a:ext>
            </a:extLst>
          </p:cNvPr>
          <p:cNvSpPr>
            <a:spLocks xmlns:a="http://schemas.openxmlformats.org/drawingml/2006/main" noGrp="1"/>
          </p:cNvSpPr>
          <p:nvPr/>
        </p:nvSpPr>
        <p:spPr>
          <a:xfrm xmlns:a="http://schemas.openxmlformats.org/drawingml/2006/main">
            <a:off x="533400" y="5915025"/>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EE1E9"/>
                </a:solidFill>
                <a:latin typeface="Helvetica Neue"/>
                <a:ea typeface="Helvetica Neue"/>
                <a:cs typeface="Helvetica Neue"/>
              </a:defRPr>
            </a:pPr>
            <a:r>
              <a:rPr sz="1725" b="0">
                <a:solidFill>
                  <a:srgbClr val="CEE1E9"/>
                </a:solidFill>
                <a:latin typeface="Helvetica Neue"/>
                <a:ea typeface="Helvetica Neue"/>
                <a:cs typeface="Helvetica Neue"/>
              </a:rPr>
              <a:t>2 clinicians + 1 coordinator + a pilot owner</a:t>
            </a:r>
          </a:p>
        </p:txBody>
      </p:sp>
      <p:sp>
        <p:nvSpPr>
          <p:cNvPr id="5" name="ask-heading-0">
            <a:extLst xmlns:a="http://schemas.openxmlformats.org/drawingml/2006/main">
              <a:ext uri="{FF2B5EF4-FFF2-40B4-BE49-F238E27FC236}">
                <a16:creationId xmlns:a16="http://schemas.microsoft.com/office/drawing/2014/main" id="{E108FF7B-9E68-43E4-832E-5A67D637076C}"/>
              </a:ext>
            </a:extLst>
          </p:cNvPr>
          <p:cNvSpPr>
            <a:spLocks xmlns:a="http://schemas.openxmlformats.org/drawingml/2006/main" noGrp="1"/>
          </p:cNvSpPr>
          <p:nvPr/>
        </p:nvSpPr>
        <p:spPr>
          <a:xfrm xmlns:a="http://schemas.openxmlformats.org/drawingml/2006/main">
            <a:off x="7124700" y="17240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Clinical owners</a:t>
            </a:r>
          </a:p>
        </p:txBody>
      </p:sp>
      <p:sp>
        <p:nvSpPr>
          <p:cNvPr id="6" name="ask-body-0">
            <a:extLst xmlns:a="http://schemas.openxmlformats.org/drawingml/2006/main">
              <a:ext uri="{FF2B5EF4-FFF2-40B4-BE49-F238E27FC236}">
                <a16:creationId xmlns:a16="http://schemas.microsoft.com/office/drawing/2014/main" id="{1BD5CD0A-95FC-4187-9BCE-1287D255C150}"/>
              </a:ext>
            </a:extLst>
          </p:cNvPr>
          <p:cNvSpPr>
            <a:spLocks xmlns:a="http://schemas.openxmlformats.org/drawingml/2006/main" noGrp="1"/>
          </p:cNvSpPr>
          <p:nvPr/>
        </p:nvSpPr>
        <p:spPr>
          <a:xfrm xmlns:a="http://schemas.openxmlformats.org/drawingml/2006/main">
            <a:off x="7124700" y="21526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Agree the domains and release rules.</a:t>
            </a:r>
          </a:p>
        </p:txBody>
      </p:sp>
      <p:sp>
        <p:nvSpPr>
          <p:cNvPr id="7" name="ask-heading-1">
            <a:extLst xmlns:a="http://schemas.openxmlformats.org/drawingml/2006/main">
              <a:ext uri="{FF2B5EF4-FFF2-40B4-BE49-F238E27FC236}">
                <a16:creationId xmlns:a16="http://schemas.microsoft.com/office/drawing/2014/main" id="{030E8572-4DC2-4D44-8F93-FAC809ED3B74}"/>
              </a:ext>
            </a:extLst>
          </p:cNvPr>
          <p:cNvSpPr>
            <a:spLocks xmlns:a="http://schemas.openxmlformats.org/drawingml/2006/main" noGrp="1"/>
          </p:cNvSpPr>
          <p:nvPr/>
        </p:nvSpPr>
        <p:spPr>
          <a:xfrm xmlns:a="http://schemas.openxmlformats.org/drawingml/2006/main">
            <a:off x="7124700" y="27908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Pilot partner</a:t>
            </a:r>
          </a:p>
        </p:txBody>
      </p:sp>
      <p:sp>
        <p:nvSpPr>
          <p:cNvPr id="8" name="ask-body-1">
            <a:extLst xmlns:a="http://schemas.openxmlformats.org/drawingml/2006/main">
              <a:ext uri="{FF2B5EF4-FFF2-40B4-BE49-F238E27FC236}">
                <a16:creationId xmlns:a16="http://schemas.microsoft.com/office/drawing/2014/main" id="{FC65E241-C942-439C-9ABD-EF4820C59C27}"/>
              </a:ext>
            </a:extLst>
          </p:cNvPr>
          <p:cNvSpPr>
            <a:spLocks xmlns:a="http://schemas.openxmlformats.org/drawingml/2006/main" noGrp="1"/>
          </p:cNvSpPr>
          <p:nvPr/>
        </p:nvSpPr>
        <p:spPr>
          <a:xfrm xmlns:a="http://schemas.openxmlformats.org/drawingml/2006/main">
            <a:off x="7124700" y="32194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Choose the care setting and pilot owner.</a:t>
            </a:r>
          </a:p>
        </p:txBody>
      </p:sp>
      <p:sp>
        <p:nvSpPr>
          <p:cNvPr id="9" name="ask-heading-2">
            <a:extLst xmlns:a="http://schemas.openxmlformats.org/drawingml/2006/main">
              <a:ext uri="{FF2B5EF4-FFF2-40B4-BE49-F238E27FC236}">
                <a16:creationId xmlns:a16="http://schemas.microsoft.com/office/drawing/2014/main" id="{888205B7-78AE-449D-8F64-F74CF48FC03B}"/>
              </a:ext>
            </a:extLst>
          </p:cNvPr>
          <p:cNvSpPr>
            <a:spLocks xmlns:a="http://schemas.openxmlformats.org/drawingml/2006/main" noGrp="1"/>
          </p:cNvSpPr>
          <p:nvPr/>
        </p:nvSpPr>
        <p:spPr>
          <a:xfrm xmlns:a="http://schemas.openxmlformats.org/drawingml/2006/main">
            <a:off x="7124700" y="3857625"/>
            <a:ext cx="4505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4B45E"/>
                </a:solidFill>
                <a:latin typeface="Helvetica Neue"/>
                <a:ea typeface="Helvetica Neue"/>
                <a:cs typeface="Helvetica Neue"/>
              </a:defRPr>
            </a:pPr>
            <a:r>
              <a:rPr sz="2100" b="1">
                <a:solidFill>
                  <a:srgbClr val="F4B45E"/>
                </a:solidFill>
                <a:latin typeface="Helvetica Neue"/>
                <a:ea typeface="Helvetica Neue"/>
                <a:cs typeface="Helvetica Neue"/>
              </a:rPr>
              <a:t>Shared review</a:t>
            </a:r>
          </a:p>
        </p:txBody>
      </p:sp>
      <p:sp>
        <p:nvSpPr>
          <p:cNvPr id="10" name="ask-body-2">
            <a:extLst xmlns:a="http://schemas.openxmlformats.org/drawingml/2006/main">
              <a:ext uri="{FF2B5EF4-FFF2-40B4-BE49-F238E27FC236}">
                <a16:creationId xmlns:a16="http://schemas.microsoft.com/office/drawing/2014/main" id="{29BBB580-AAF1-492A-B660-76136B18E03A}"/>
              </a:ext>
            </a:extLst>
          </p:cNvPr>
          <p:cNvSpPr>
            <a:spLocks xmlns:a="http://schemas.openxmlformats.org/drawingml/2006/main" noGrp="1"/>
          </p:cNvSpPr>
          <p:nvPr/>
        </p:nvSpPr>
        <p:spPr>
          <a:xfrm xmlns:a="http://schemas.openxmlformats.org/drawingml/2006/main">
            <a:off x="7124700" y="4286250"/>
            <a:ext cx="447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Measure missed topics and repeat discussions.</a:t>
            </a:r>
          </a:p>
        </p:txBody>
      </p:sp>
      <p:sp>
        <p:nvSpPr>
          <p:cNvPr id="11" name="qr-backing">
            <a:extLst xmlns:a="http://schemas.openxmlformats.org/drawingml/2006/main">
              <a:ext uri="{FF2B5EF4-FFF2-40B4-BE49-F238E27FC236}">
                <a16:creationId xmlns:a16="http://schemas.microsoft.com/office/drawing/2014/main" id="{D5A1D233-FE10-4815-A849-B669FF437041}"/>
              </a:ext>
            </a:extLst>
          </p:cNvPr>
          <p:cNvSpPr>
            <a:spLocks xmlns:a="http://schemas.openxmlformats.org/drawingml/2006/main" noGrp="1"/>
          </p:cNvSpPr>
          <p:nvPr/>
        </p:nvSpPr>
        <p:spPr>
          <a:xfrm xmlns:a="http://schemas.openxmlformats.org/drawingml/2006/main">
            <a:off x="7124700" y="5010150"/>
            <a:ext cx="1095375" cy="1095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18339827ff1465d"/>
          <a:stretch xmlns:a="http://schemas.openxmlformats.org/drawingml/2006/main"/>
        </p:blipFill>
        <p:spPr>
          <a:xfrm xmlns:a="http://schemas.openxmlformats.org/drawingml/2006/main">
            <a:off x="7191375" y="5076825"/>
            <a:ext cx="962025" cy="962025"/>
          </a:xfrm>
          <a:prstGeom xmlns:a="http://schemas.openxmlformats.org/drawingml/2006/main" prst="rect">
            <a:avLst/>
          </a:prstGeom>
        </p:spPr>
      </p:pic>
      <p:sp>
        <p:nvSpPr>
          <p:cNvPr id="13" name="demo-label">
            <a:extLst xmlns:a="http://schemas.openxmlformats.org/drawingml/2006/main">
              <a:ext uri="{FF2B5EF4-FFF2-40B4-BE49-F238E27FC236}">
                <a16:creationId xmlns:a16="http://schemas.microsoft.com/office/drawing/2014/main" id="{A031E70C-2035-465E-8EDA-8F14C44C78B2}"/>
              </a:ext>
            </a:extLst>
          </p:cNvPr>
          <p:cNvSpPr>
            <a:spLocks xmlns:a="http://schemas.openxmlformats.org/drawingml/2006/main" noGrp="1"/>
          </p:cNvSpPr>
          <p:nvPr/>
        </p:nvSpPr>
        <p:spPr>
          <a:xfrm xmlns:a="http://schemas.openxmlformats.org/drawingml/2006/main">
            <a:off x="8429625" y="508635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Current synthetic MVP</a:t>
            </a:r>
          </a:p>
        </p:txBody>
      </p:sp>
      <p:sp>
        <p:nvSpPr>
          <p:cNvPr id="14" name="demo-url">
            <a:extLst xmlns:a="http://schemas.openxmlformats.org/drawingml/2006/main">
              <a:ext uri="{FF2B5EF4-FFF2-40B4-BE49-F238E27FC236}">
                <a16:creationId xmlns:a16="http://schemas.microsoft.com/office/drawing/2014/main" id="{45F0FCEB-F9EA-47F1-9501-3EC032DCC55A}"/>
              </a:ext>
            </a:extLst>
          </p:cNvPr>
          <p:cNvSpPr>
            <a:spLocks xmlns:a="http://schemas.openxmlformats.org/drawingml/2006/main" noGrp="1"/>
          </p:cNvSpPr>
          <p:nvPr/>
        </p:nvSpPr>
        <p:spPr>
          <a:xfrm xmlns:a="http://schemas.openxmlformats.org/drawingml/2006/main">
            <a:off x="8429625" y="5514975"/>
            <a:ext cx="321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CEE1E9"/>
                </a:solidFill>
                <a:latin typeface="Helvetica Neue"/>
                <a:ea typeface="Helvetica Neue"/>
                <a:cs typeface="Helvetica Neue"/>
              </a:defRPr>
            </a:pPr>
            <a:r>
              <a:rPr sz="1500" b="0">
                <a:solidFill>
                  <a:srgbClr val="CEE1E9"/>
                </a:solidFill>
                <a:latin typeface="Helvetica Neue"/>
                <a:ea typeface="Helvetica Neue"/>
                <a:cs typeface="Helvetica Neue"/>
              </a:rPr>
              <a:t>continuity-loop-healthathon</a:t>
            </a:r>
          </a:p>
          <a:p xmlns:a="http://schemas.openxmlformats.org/drawingml/2006/main">
            <a:pPr>
              <a:defRPr sz="1500" b="0">
                <a:solidFill>
                  <a:srgbClr val="CEE1E9"/>
                </a:solidFill>
                <a:latin typeface="Helvetica Neue"/>
                <a:ea typeface="Helvetica Neue"/>
                <a:cs typeface="Helvetica Neue"/>
              </a:defRPr>
            </a:pPr>
            <a:r>
              <a:rPr sz="1500" b="0">
                <a:solidFill>
                  <a:srgbClr val="CEE1E9"/>
                </a:solidFill>
                <a:latin typeface="Helvetica Neue"/>
                <a:ea typeface="Helvetica Neue"/>
                <a:cs typeface="Helvetica Neue"/>
              </a:rPr>
              <a:t>.vercel.app</a:t>
            </a:r>
          </a:p>
        </p:txBody>
      </p:sp>
      <p:sp>
        <p:nvSpPr>
          <p:cNvPr id="15" name="footer">
            <a:extLst xmlns:a="http://schemas.openxmlformats.org/drawingml/2006/main">
              <a:ext uri="{FF2B5EF4-FFF2-40B4-BE49-F238E27FC236}">
                <a16:creationId xmlns:a16="http://schemas.microsoft.com/office/drawing/2014/main" id="{1AAF9214-E170-467F-BAF3-8C4477997EEE}"/>
              </a:ext>
            </a:extLst>
          </p:cNvPr>
          <p:cNvSpPr>
            <a:spLocks xmlns:a="http://schemas.openxmlformats.org/drawingml/2006/main" noGrp="1"/>
          </p:cNvSpPr>
          <p:nvPr/>
        </p:nvSpPr>
        <p:spPr>
          <a:xfrm xmlns:a="http://schemas.openxmlformats.org/drawingml/2006/main">
            <a:off x="533400" y="64484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7CDDC"/>
                </a:solidFill>
                <a:latin typeface="Helvetica Neue"/>
                <a:ea typeface="Helvetica Neue"/>
                <a:cs typeface="Helvetica Neue"/>
              </a:defRPr>
            </a:pPr>
            <a:r>
              <a:rPr sz="1050" b="0">
                <a:solidFill>
                  <a:srgbClr val="B7CDDC"/>
                </a:solidFill>
                <a:latin typeface="Helvetica Neue"/>
                <a:ea typeface="Helvetica Neue"/>
                <a:cs typeface="Helvetica Neue"/>
              </a:rPr>
              <a:t>CONTINUITY LOOP  /  HEALTH-A-THON 2026</a:t>
            </a:r>
          </a:p>
        </p:txBody>
      </p:sp>
      <p:sp>
        <p:nvSpPr>
          <p:cNvPr id="16" name="folio">
            <a:extLst xmlns:a="http://schemas.openxmlformats.org/drawingml/2006/main">
              <a:ext uri="{FF2B5EF4-FFF2-40B4-BE49-F238E27FC236}">
                <a16:creationId xmlns:a16="http://schemas.microsoft.com/office/drawing/2014/main" id="{003D8D44-54EA-4415-94A9-1590A494B39A}"/>
              </a:ext>
            </a:extLst>
          </p:cNvPr>
          <p:cNvSpPr>
            <a:spLocks xmlns:a="http://schemas.openxmlformats.org/drawingml/2006/main" noGrp="1"/>
          </p:cNvSpPr>
          <p:nvPr/>
        </p:nvSpPr>
        <p:spPr>
          <a:xfrm xmlns:a="http://schemas.openxmlformats.org/drawingml/2006/main">
            <a:off x="11201400" y="64198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B7CDDC"/>
                </a:solidFill>
                <a:latin typeface="Helvetica Neue"/>
                <a:ea typeface="Helvetica Neue"/>
                <a:cs typeface="Helvetica Neue"/>
              </a:defRPr>
            </a:pPr>
            <a:r>
              <a:rPr sz="1275" b="1">
                <a:solidFill>
                  <a:srgbClr val="B7CDDC"/>
                </a:solidFill>
                <a:latin typeface="Helvetica Neue"/>
                <a:ea typeface="Helvetica Neue"/>
                <a:cs typeface="Helvetica Neue"/>
              </a:rPr>
              <a:t>08</a:t>
            </a:r>
          </a:p>
        </p:txBody>
      </p:sp>
    </p:spTree>
    <p:extLst>
      <p:ext uri="{BB962C8B-B14F-4D97-AF65-F5344CB8AC3E}">
        <p14:creationId xmlns:p14="http://schemas.microsoft.com/office/powerpoint/2010/main" val="838954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2026-09-13T17:06:59.9330000Z</dcterms:created>
  <dcterms:modified xsi:type="dcterms:W3CDTF">2026-09-13T17:06:59.9330000Z</dcterms:modified>
</coreProperties>
</file>