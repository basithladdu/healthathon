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5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6234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co.iarc.who.int/media/globocan/factsheets/populations/356-india-fact-sheet.pdf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oi.org/10.1136/spcare-2024-004978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177/26892820251392545" TargetMode="External"/><Relationship Id="rId3" Type="http://schemas.openxmlformats.org/officeDocument/2006/relationships/image" Target="../media/image6.png"/><Relationship Id="rId7" Type="http://schemas.openxmlformats.org/officeDocument/2006/relationships/hyperlink" Target="https://doi.org/10.1016/j.jpainsymman.2024.02.030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101/2025.10.17.25338242" TargetMode="External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i.org/10.25259/NMJI_817_2023" TargetMode="External"/><Relationship Id="rId5" Type="http://schemas.openxmlformats.org/officeDocument/2006/relationships/image" Target="../media/image11.png"/><Relationship Id="rId4" Type="http://schemas.openxmlformats.org/officeDocument/2006/relationships/hyperlink" Target="https://scroll.in/article/925875/73-urban-indians-do-not-know-about-their-right-to-make-a-living-will-finds-a-survey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i.org/10.1200/JCO.2012.46.2101" TargetMode="External"/><Relationship Id="rId5" Type="http://schemas.openxmlformats.org/officeDocument/2006/relationships/image" Target="../media/image14.png"/><Relationship Id="rId4" Type="http://schemas.openxmlformats.org/officeDocument/2006/relationships/hyperlink" Target="https://doi.org/10.1634/theoncologist.2013-0435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25259/NMJI_817_2023" TargetMode="External"/><Relationship Id="rId3" Type="http://schemas.openxmlformats.org/officeDocument/2006/relationships/hyperlink" Target="https://gco.iarc.who.int/media/globocan/factsheets/populations/356-india-fact-sheet.pdf" TargetMode="External"/><Relationship Id="rId7" Type="http://schemas.openxmlformats.org/officeDocument/2006/relationships/hyperlink" Target="https://scroll.in/article/925875/73-urban-indians-do-not-know-about-their-right-to-make-a-living-will-finds-a-survey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i.org/10.1177/26892820251392545" TargetMode="External"/><Relationship Id="rId11" Type="http://schemas.openxmlformats.org/officeDocument/2006/relationships/hyperlink" Target="https://doi.org/10.1200/JCO.2012.46.2101" TargetMode="External"/><Relationship Id="rId5" Type="http://schemas.openxmlformats.org/officeDocument/2006/relationships/hyperlink" Target="https://doi.org/10.1016/j.jpainsymman.2024.02.030" TargetMode="External"/><Relationship Id="rId10" Type="http://schemas.openxmlformats.org/officeDocument/2006/relationships/hyperlink" Target="https://doi.org/10.1634/theoncologist.2013-0435" TargetMode="External"/><Relationship Id="rId4" Type="http://schemas.openxmlformats.org/officeDocument/2006/relationships/hyperlink" Target="https://doi.org/10.1136/spcare-2024-004978" TargetMode="External"/><Relationship Id="rId9" Type="http://schemas.openxmlformats.org/officeDocument/2006/relationships/hyperlink" Target="https://doi.org/10.1101/2025.10.17.2533824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43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943600" cy="5943600"/>
          </a:xfrm>
          <a:prstGeom prst="ellipse">
            <a:avLst/>
          </a:prstGeom>
          <a:solidFill>
            <a:srgbClr val="0E37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011680" y="4572000"/>
            <a:ext cx="3840480" cy="3840480"/>
          </a:xfrm>
          <a:prstGeom prst="ellipse">
            <a:avLst/>
          </a:prstGeom>
          <a:solidFill>
            <a:srgbClr val="0E37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D98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SAANTHVANA  ·  CANCER TRACK  ·  HEALTH-A-THON 2026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4320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&amp; Rationale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94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cancer care in India needs an integrated palliative care companion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43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Story We See Too Often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composite scenario, drawn from cases like those seen in everyday clinical practice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850392" y="2130552"/>
            <a:ext cx="0" cy="3145536"/>
          </a:xfrm>
          <a:prstGeom prst="line">
            <a:avLst/>
          </a:prstGeom>
          <a:noFill/>
          <a:ln w="19050">
            <a:solidFill>
              <a:srgbClr val="C9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512064" cy="512064"/>
          </a:xfrm>
          <a:prstGeom prst="ellipse">
            <a:avLst/>
          </a:prstGeom>
          <a:solidFill>
            <a:srgbClr val="3A7CA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808" y="1935968"/>
            <a:ext cx="389169" cy="38916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80744" y="1847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00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1380744" y="2093976"/>
            <a:ext cx="1026231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66-year-old man with metastatic lung cancer (ECOG 4) is placed on best supportive care after a multidisciplinary discussion.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94360" y="2660904"/>
            <a:ext cx="512064" cy="512064"/>
          </a:xfrm>
          <a:prstGeom prst="ellipse">
            <a:avLst/>
          </a:prstGeom>
          <a:solidFill>
            <a:srgbClr val="3A7CA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808" y="2722352"/>
            <a:ext cx="389169" cy="38916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80744" y="2633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00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380744" y="2880360"/>
            <a:ext cx="1026231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develops worsening breathlessness and is rushed to the Emergency Department.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94360" y="3447288"/>
            <a:ext cx="512064" cy="512064"/>
          </a:xfrm>
          <a:prstGeom prst="ellipse">
            <a:avLst/>
          </a:prstGeom>
          <a:solidFill>
            <a:srgbClr val="3A7CA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808" y="3508736"/>
            <a:ext cx="389169" cy="389169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380744" y="34198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00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</a:t>
            </a:r>
            <a:endParaRPr lang="en-US" sz="1150" dirty="0"/>
          </a:p>
        </p:txBody>
      </p:sp>
      <p:sp>
        <p:nvSpPr>
          <p:cNvPr id="16" name="Text 11"/>
          <p:cNvSpPr txBox="1"/>
          <p:nvPr/>
        </p:nvSpPr>
        <p:spPr>
          <a:xfrm>
            <a:off x="1380744" y="3666744"/>
            <a:ext cx="1026231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say he needs ICU care and a ventilator — now.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94360" y="4233672"/>
            <a:ext cx="512064" cy="512064"/>
          </a:xfrm>
          <a:prstGeom prst="ellipse">
            <a:avLst/>
          </a:prstGeom>
          <a:solidFill>
            <a:srgbClr val="3A7CA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808" y="4295120"/>
            <a:ext cx="389169" cy="389169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380744" y="4206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00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PLAN</a:t>
            </a:r>
            <a:endParaRPr lang="en-US" sz="1150" dirty="0"/>
          </a:p>
        </p:txBody>
      </p:sp>
      <p:sp>
        <p:nvSpPr>
          <p:cNvPr id="20" name="Text 14"/>
          <p:cNvSpPr txBox="1"/>
          <p:nvPr/>
        </p:nvSpPr>
        <p:spPr>
          <a:xfrm>
            <a:off x="1380744" y="4453128"/>
            <a:ext cx="1026231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goals-of-care conversation the family recalls was never documented. There is no consensus, and no time to find one.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594360" y="5020056"/>
            <a:ext cx="512064" cy="512064"/>
          </a:xfrm>
          <a:prstGeom prst="ellipse">
            <a:avLst/>
          </a:prstGeom>
          <a:solidFill>
            <a:srgbClr val="D98E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808" y="5081504"/>
            <a:ext cx="389169" cy="389169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380744" y="49926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00" dirty="0">
                <a:solidFill>
                  <a:srgbClr val="D98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</a:t>
            </a:r>
            <a:endParaRPr lang="en-US" sz="1150" dirty="0"/>
          </a:p>
        </p:txBody>
      </p:sp>
      <p:sp>
        <p:nvSpPr>
          <p:cNvPr id="24" name="Text 17"/>
          <p:cNvSpPr txBox="1"/>
          <p:nvPr/>
        </p:nvSpPr>
        <p:spPr>
          <a:xfrm>
            <a:off x="1380744" y="5239512"/>
            <a:ext cx="1026231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is ventilated and moved to the ICU. Four days later, he dies — alone, in a room built for machines, not for people.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548640" y="5989320"/>
            <a:ext cx="11094415" cy="548640"/>
          </a:xfrm>
          <a:prstGeom prst="roundRect">
            <a:avLst>
              <a:gd name="adj" fmla="val 13333"/>
            </a:avLst>
          </a:prstGeom>
          <a:solidFill>
            <a:srgbClr val="EA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19"/>
          <p:cNvSpPr txBox="1"/>
          <p:nvPr/>
        </p:nvSpPr>
        <p:spPr>
          <a:xfrm>
            <a:off x="777240" y="598932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i="1" dirty="0">
                <a:solidFill>
                  <a:srgbClr val="1243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not a rare story. It is a preventable one.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43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Scale of the Problem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in India is common — and palliative support rarely reaches those who need it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815188" y="2103120"/>
            <a:ext cx="3246120" cy="3200400"/>
          </a:xfrm>
          <a:prstGeom prst="roundRect">
            <a:avLst>
              <a:gd name="adj" fmla="val 2857"/>
            </a:avLst>
          </a:prstGeom>
          <a:solidFill>
            <a:srgbClr val="EAF1F5"/>
          </a:solidFill>
          <a:ln/>
          <a:effectLst>
            <a:outerShdw blurRad="101600" dist="38100" dir="5400000" algn="bl" rotWithShape="0">
              <a:srgbClr val="9BB3BF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43788" y="260604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243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1.56M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89508" y="379476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cancer cases every year in India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472788" y="2103120"/>
            <a:ext cx="3246120" cy="3200400"/>
          </a:xfrm>
          <a:prstGeom prst="roundRect">
            <a:avLst>
              <a:gd name="adj" fmla="val 2857"/>
            </a:avLst>
          </a:prstGeom>
          <a:solidFill>
            <a:srgbClr val="EAF1F5"/>
          </a:solidFill>
          <a:ln/>
          <a:effectLst>
            <a:outerShdw blurRad="101600" dist="38100" dir="5400000" algn="bl" rotWithShape="0">
              <a:srgbClr val="9BB3BF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701388" y="260604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243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3.3M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4747108" y="379476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five-year cancer prevalence in India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130388" y="2103120"/>
            <a:ext cx="3246120" cy="3200400"/>
          </a:xfrm>
          <a:prstGeom prst="roundRect">
            <a:avLst>
              <a:gd name="adj" fmla="val 2857"/>
            </a:avLst>
          </a:prstGeom>
          <a:solidFill>
            <a:srgbClr val="12435C"/>
          </a:solidFill>
          <a:ln/>
          <a:effectLst>
            <a:outerShdw blurRad="101600" dist="38100" dir="5400000" algn="bl" rotWithShape="0">
              <a:srgbClr val="9BB3BF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358988" y="260604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D98E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98.3%</a:t>
            </a:r>
            <a:endParaRPr lang="en-US" sz="4600" dirty="0"/>
          </a:p>
        </p:txBody>
      </p:sp>
      <p:sp>
        <p:nvSpPr>
          <p:cNvPr id="12" name="Text 10"/>
          <p:cNvSpPr txBox="1"/>
          <p:nvPr/>
        </p:nvSpPr>
        <p:spPr>
          <a:xfrm>
            <a:off x="8404708" y="379476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patients with a life-limiting illness have an unmet need for palliative care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5532120"/>
            <a:ext cx="11094415" cy="502920"/>
          </a:xfrm>
          <a:prstGeom prst="roundRect">
            <a:avLst>
              <a:gd name="adj" fmla="val 14545"/>
            </a:avLst>
          </a:prstGeom>
          <a:solidFill>
            <a:srgbClr val="EA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77240" y="553212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i="1" dirty="0">
                <a:solidFill>
                  <a:srgbClr val="1243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Yet structured palliative support reaches only a fraction of the patients who need it.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1081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IARC, Global Cancer Observatory — India, GLOBOCAN 2024 — </a:t>
            </a:r>
            <a:r>
              <a:rPr lang="en-US" sz="850" i="1" u="sng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gco.iarc.who.int/media/globocan/factsheets/populations/356-india-fact-sheet.pdf</a:t>
            </a:r>
            <a:endParaRPr lang="en-US" sz="8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Patil et al., BMJ Support Palliat Care, 2024 — </a:t>
            </a:r>
            <a:r>
              <a:rPr lang="en-US" sz="850" i="1" u="sng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doi.org/10.1136/spcare-2024-004978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43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Goals-of-Care Conversations Work — We Rarely Have Them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83080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EVIDENCE SHOWS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2240280"/>
            <a:ext cx="457200" cy="457200"/>
          </a:xfrm>
          <a:prstGeom prst="ellipse">
            <a:avLst/>
          </a:prstGeom>
          <a:solidFill>
            <a:srgbClr val="3A7CA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2295144"/>
            <a:ext cx="347472" cy="3474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2194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communication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24871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patient-family-provider understanding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172968"/>
            <a:ext cx="457200" cy="457200"/>
          </a:xfrm>
          <a:prstGeom prst="ellipse">
            <a:avLst/>
          </a:prstGeom>
          <a:solidFill>
            <a:srgbClr val="3A7CA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3227832"/>
            <a:ext cx="347472" cy="34747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31272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on values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1234440" y="341985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understanding of patient preferences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4105656"/>
            <a:ext cx="457200" cy="457200"/>
          </a:xfrm>
          <a:prstGeom prst="ellipse">
            <a:avLst/>
          </a:prstGeom>
          <a:solidFill>
            <a:srgbClr val="3A7CA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" y="4160520"/>
            <a:ext cx="347472" cy="34747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34440" y="405993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treatment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234440" y="435254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plans that match what patients actually want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5038344"/>
            <a:ext cx="457200" cy="457200"/>
          </a:xfrm>
          <a:prstGeom prst="ellipse">
            <a:avLst/>
          </a:prstGeom>
          <a:solidFill>
            <a:srgbClr val="3A7CA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" y="5093208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34440" y="49926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distress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1234440" y="52852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patient and family stress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548640" y="6035040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Aslam &amp; Hayat, J Pain Symptom Manage, 2024 — </a:t>
            </a:r>
            <a:r>
              <a:rPr lang="en-US" sz="850" i="1" u="sng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doi.org/10.1016/j.jpainsymman.2024.02.030</a:t>
            </a:r>
            <a:endParaRPr lang="en-US" sz="850" dirty="0"/>
          </a:p>
        </p:txBody>
      </p:sp>
      <p:sp>
        <p:nvSpPr>
          <p:cNvPr id="21" name="Shape 15"/>
          <p:cNvSpPr/>
          <p:nvPr/>
        </p:nvSpPr>
        <p:spPr>
          <a:xfrm>
            <a:off x="7178040" y="1783080"/>
            <a:ext cx="4465015" cy="4297680"/>
          </a:xfrm>
          <a:prstGeom prst="roundRect">
            <a:avLst>
              <a:gd name="adj" fmla="val 2128"/>
            </a:avLst>
          </a:prstGeom>
          <a:solidFill>
            <a:srgbClr val="1243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 txBox="1"/>
          <p:nvPr/>
        </p:nvSpPr>
        <p:spPr>
          <a:xfrm>
            <a:off x="7452360" y="2011680"/>
            <a:ext cx="39163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rgbClr val="9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IN INDIA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7452360" y="2423160"/>
            <a:ext cx="39163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D98E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~0%</a:t>
            </a:r>
            <a:endParaRPr lang="en-US" sz="5000" dirty="0"/>
          </a:p>
        </p:txBody>
      </p:sp>
      <p:sp>
        <p:nvSpPr>
          <p:cNvPr id="24" name="Text 18"/>
          <p:cNvSpPr txBox="1"/>
          <p:nvPr/>
        </p:nvSpPr>
        <p:spPr>
          <a:xfrm>
            <a:off x="7452360" y="3291840"/>
            <a:ext cx="39163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goals-of-care documentation in dedicated cancer centres in India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7452360" y="4251960"/>
            <a:ext cx="3916375" cy="0"/>
          </a:xfrm>
          <a:prstGeom prst="line">
            <a:avLst/>
          </a:prstGeom>
          <a:noFill/>
          <a:ln w="12700">
            <a:solidFill>
              <a:srgbClr val="2F6A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 txBox="1"/>
          <p:nvPr/>
        </p:nvSpPr>
        <p:spPr>
          <a:xfrm>
            <a:off x="7452360" y="4434840"/>
            <a:ext cx="3916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barriers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7452360" y="4709160"/>
            <a:ext cx="39163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 operating procedure or document</a:t>
            </a:r>
            <a:endParaRPr lang="en-US" sz="13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awareness of goals-of-care practice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7452360" y="5532120"/>
            <a:ext cx="3916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8F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Thangasamy et al., Palliat Med Rep, 2025 — </a:t>
            </a:r>
            <a:r>
              <a:rPr lang="en-US" sz="850" i="1" u="sng" dirty="0">
                <a:solidFill>
                  <a:srgbClr val="9FD1E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doi.org/10.1177/26892820251392545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43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 Care Planning: Known in Principle, Rarely Used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95148" y="1691640"/>
            <a:ext cx="3520440" cy="4709160"/>
          </a:xfrm>
          <a:prstGeom prst="roundRect">
            <a:avLst>
              <a:gd name="adj" fmla="val 2597"/>
            </a:avLst>
          </a:prstGeom>
          <a:solidFill>
            <a:srgbClr val="F4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51180" y="1929384"/>
            <a:ext cx="475488" cy="475488"/>
          </a:xfrm>
          <a:prstGeom prst="ellipse">
            <a:avLst/>
          </a:prstGeom>
          <a:solidFill>
            <a:srgbClr val="3A7CA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238" y="1986443"/>
            <a:ext cx="361371" cy="36137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51180" y="2496312"/>
            <a:ext cx="3008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43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51180" y="2953512"/>
            <a:ext cx="3008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A7C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27%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51180" y="324612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aware living wills exist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51180" y="3776472"/>
            <a:ext cx="3008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A7C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6%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751180" y="406908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those aware have actually made one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51180" y="4599432"/>
            <a:ext cx="3008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A7C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88%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751180" y="489204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they want to decide their own end-of-life care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51180" y="5440680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of 2,400 urban Indians, 7 cities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751180" y="5696712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Sharma, IndiaSpend / Scroll.in, 2019 — </a:t>
            </a:r>
            <a:r>
              <a:rPr lang="en-US" sz="850" i="1" u="sng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scroll.in/article/925875/73-urban-indians-do-not-know-about-their-right-to-make-a-living-will-finds-a-survey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335628" y="1691640"/>
            <a:ext cx="3520440" cy="4709160"/>
          </a:xfrm>
          <a:prstGeom prst="roundRect">
            <a:avLst>
              <a:gd name="adj" fmla="val 2597"/>
            </a:avLst>
          </a:prstGeom>
          <a:solidFill>
            <a:srgbClr val="F4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591660" y="1929384"/>
            <a:ext cx="475488" cy="475488"/>
          </a:xfrm>
          <a:prstGeom prst="ellipse">
            <a:avLst/>
          </a:prstGeom>
          <a:solidFill>
            <a:srgbClr val="3A7CA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8718" y="1986443"/>
            <a:ext cx="361371" cy="361371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4591660" y="2496312"/>
            <a:ext cx="3008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43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Doctors</a:t>
            </a:r>
            <a:endParaRPr lang="en-US" sz="1700" dirty="0"/>
          </a:p>
        </p:txBody>
      </p:sp>
      <p:sp>
        <p:nvSpPr>
          <p:cNvPr id="19" name="Text 15"/>
          <p:cNvSpPr txBox="1"/>
          <p:nvPr/>
        </p:nvSpPr>
        <p:spPr>
          <a:xfrm>
            <a:off x="4591660" y="2953512"/>
            <a:ext cx="3008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A7C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11.5%</a:t>
            </a:r>
            <a:endParaRPr lang="en-US" sz="2000" dirty="0"/>
          </a:p>
        </p:txBody>
      </p:sp>
      <p:sp>
        <p:nvSpPr>
          <p:cNvPr id="20" name="Text 16"/>
          <p:cNvSpPr txBox="1"/>
          <p:nvPr/>
        </p:nvSpPr>
        <p:spPr>
          <a:xfrm>
            <a:off x="4591660" y="324612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ever received formal training on advance directives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4591660" y="3776472"/>
            <a:ext cx="3008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A7C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15.6%</a:t>
            </a:r>
            <a:endParaRPr lang="en-US" sz="2000" dirty="0"/>
          </a:p>
        </p:txBody>
      </p:sp>
      <p:sp>
        <p:nvSpPr>
          <p:cNvPr id="22" name="Text 18"/>
          <p:cNvSpPr txBox="1"/>
          <p:nvPr/>
        </p:nvSpPr>
        <p:spPr>
          <a:xfrm>
            <a:off x="4591660" y="406908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when in an illness to raise the discussion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4591660" y="4617720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of 391 doctors, tertiary care hospital</a:t>
            </a:r>
            <a:endParaRPr lang="en-US" sz="950" dirty="0"/>
          </a:p>
        </p:txBody>
      </p:sp>
      <p:sp>
        <p:nvSpPr>
          <p:cNvPr id="24" name="Text 20"/>
          <p:cNvSpPr txBox="1"/>
          <p:nvPr/>
        </p:nvSpPr>
        <p:spPr>
          <a:xfrm>
            <a:off x="4591660" y="4873752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Jacob et al., Natl Med J India, 2026 — </a:t>
            </a:r>
            <a:r>
              <a:rPr lang="en-US" sz="850" i="1" u="sng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doi.org/10.25259/NMJI_817_2023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8176108" y="1691640"/>
            <a:ext cx="3520440" cy="4709160"/>
          </a:xfrm>
          <a:prstGeom prst="roundRect">
            <a:avLst>
              <a:gd name="adj" fmla="val 2597"/>
            </a:avLst>
          </a:prstGeom>
          <a:solidFill>
            <a:srgbClr val="F4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8432140" y="1929384"/>
            <a:ext cx="475488" cy="475488"/>
          </a:xfrm>
          <a:prstGeom prst="ellipse">
            <a:avLst/>
          </a:prstGeom>
          <a:solidFill>
            <a:srgbClr val="3A7CA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9198" y="1986443"/>
            <a:ext cx="361371" cy="361371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8432140" y="2496312"/>
            <a:ext cx="3008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43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system</a:t>
            </a:r>
            <a:endParaRPr lang="en-US" sz="1700" dirty="0"/>
          </a:p>
        </p:txBody>
      </p:sp>
      <p:sp>
        <p:nvSpPr>
          <p:cNvPr id="29" name="Text 24"/>
          <p:cNvSpPr txBox="1"/>
          <p:nvPr/>
        </p:nvSpPr>
        <p:spPr>
          <a:xfrm>
            <a:off x="8432140" y="2953512"/>
            <a:ext cx="3008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A7C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93.6%</a:t>
            </a:r>
            <a:endParaRPr lang="en-US" sz="2000" dirty="0"/>
          </a:p>
        </p:txBody>
      </p:sp>
      <p:sp>
        <p:nvSpPr>
          <p:cNvPr id="30" name="Text 25"/>
          <p:cNvSpPr txBox="1"/>
          <p:nvPr/>
        </p:nvSpPr>
        <p:spPr>
          <a:xfrm>
            <a:off x="8432140" y="324612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physicians agree ACP matters in principle</a:t>
            </a:r>
            <a:endParaRPr lang="en-US" sz="1100" dirty="0"/>
          </a:p>
        </p:txBody>
      </p:sp>
      <p:sp>
        <p:nvSpPr>
          <p:cNvPr id="31" name="Text 26"/>
          <p:cNvSpPr txBox="1"/>
          <p:nvPr/>
        </p:nvSpPr>
        <p:spPr>
          <a:xfrm>
            <a:off x="8432140" y="3776472"/>
            <a:ext cx="3008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A7C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 / 75%</a:t>
            </a:r>
            <a:endParaRPr lang="en-US" sz="2000" dirty="0"/>
          </a:p>
        </p:txBody>
      </p:sp>
      <p:sp>
        <p:nvSpPr>
          <p:cNvPr id="32" name="Text 27"/>
          <p:cNvSpPr txBox="1"/>
          <p:nvPr/>
        </p:nvSpPr>
        <p:spPr>
          <a:xfrm>
            <a:off x="8432140" y="406908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lack of resources / lack of time</a:t>
            </a:r>
            <a:endParaRPr lang="en-US" sz="1100" dirty="0"/>
          </a:p>
        </p:txBody>
      </p:sp>
      <p:sp>
        <p:nvSpPr>
          <p:cNvPr id="33" name="Text 28"/>
          <p:cNvSpPr txBox="1"/>
          <p:nvPr/>
        </p:nvSpPr>
        <p:spPr>
          <a:xfrm>
            <a:off x="8432140" y="4599432"/>
            <a:ext cx="3008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A7C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65.7% / 52.1%</a:t>
            </a:r>
            <a:endParaRPr lang="en-US" sz="2000" dirty="0"/>
          </a:p>
        </p:txBody>
      </p:sp>
      <p:sp>
        <p:nvSpPr>
          <p:cNvPr id="34" name="Text 29"/>
          <p:cNvSpPr txBox="1"/>
          <p:nvPr/>
        </p:nvSpPr>
        <p:spPr>
          <a:xfrm>
            <a:off x="8432140" y="489204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lack of institutional support / legal clarity</a:t>
            </a:r>
            <a:endParaRPr lang="en-US" sz="1100" dirty="0"/>
          </a:p>
        </p:txBody>
      </p:sp>
      <p:sp>
        <p:nvSpPr>
          <p:cNvPr id="35" name="Text 30"/>
          <p:cNvSpPr txBox="1"/>
          <p:nvPr/>
        </p:nvSpPr>
        <p:spPr>
          <a:xfrm>
            <a:off x="8432140" y="5440680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 physicians</a:t>
            </a:r>
            <a:endParaRPr lang="en-US" sz="950" dirty="0"/>
          </a:p>
        </p:txBody>
      </p:sp>
      <p:sp>
        <p:nvSpPr>
          <p:cNvPr id="36" name="Text 31"/>
          <p:cNvSpPr txBox="1"/>
          <p:nvPr/>
        </p:nvSpPr>
        <p:spPr>
          <a:xfrm>
            <a:off x="8432140" y="5696712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Singh et al., medRxiv preprint, 2025 — </a:t>
            </a:r>
            <a:r>
              <a:rPr lang="en-US" sz="850" i="1" u="sng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doi.org/10.1101/2025.10.17.25338242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43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More Gaps: Pain Relief and Peer Support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86588" y="1920240"/>
            <a:ext cx="5257800" cy="3611880"/>
          </a:xfrm>
          <a:prstGeom prst="roundRect">
            <a:avLst>
              <a:gd name="adj" fmla="val 2532"/>
            </a:avLst>
          </a:prstGeom>
          <a:solidFill>
            <a:srgbClr val="1243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06628" y="2212848"/>
            <a:ext cx="530352" cy="530352"/>
          </a:xfrm>
          <a:prstGeom prst="ellipse">
            <a:avLst/>
          </a:prstGeom>
          <a:solidFill>
            <a:srgbClr val="3A7CA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270" y="2276490"/>
            <a:ext cx="403068" cy="4030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19860" y="228600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00" dirty="0">
                <a:solidFill>
                  <a:srgbClr val="9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MORPHINE ACCESS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906628" y="292608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D98E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0.4%</a:t>
            </a:r>
            <a:endParaRPr lang="en-US" sz="4600" dirty="0"/>
          </a:p>
        </p:txBody>
      </p:sp>
      <p:sp>
        <p:nvSpPr>
          <p:cNvPr id="8" name="Text 5"/>
          <p:cNvSpPr txBox="1"/>
          <p:nvPr/>
        </p:nvSpPr>
        <p:spPr>
          <a:xfrm>
            <a:off x="906628" y="374904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Indians who could benefit from opioid therapy can actually access morphine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906628" y="443484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an estimated 1.6M of India’s 2.4M cancer patients living in pain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906628" y="50292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8F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LeBaron et al., The Oncologist, 2014 — </a:t>
            </a:r>
            <a:r>
              <a:rPr lang="en-US" sz="850" i="1" u="sng" dirty="0">
                <a:solidFill>
                  <a:srgbClr val="9FD1E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doi.org/10.1634/theoncologist.2013-0435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347308" y="1920240"/>
            <a:ext cx="5257800" cy="3611880"/>
          </a:xfrm>
          <a:prstGeom prst="roundRect">
            <a:avLst>
              <a:gd name="adj" fmla="val 2532"/>
            </a:avLst>
          </a:prstGeom>
          <a:solidFill>
            <a:srgbClr val="EA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667348" y="2212848"/>
            <a:ext cx="530352" cy="530352"/>
          </a:xfrm>
          <a:prstGeom prst="ellipse">
            <a:avLst/>
          </a:prstGeom>
          <a:solidFill>
            <a:srgbClr val="3A7CA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0990" y="2276490"/>
            <a:ext cx="403068" cy="40306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380580" y="228600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00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SUPPORT GROUPS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6667348" y="292608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1243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55%</a:t>
            </a:r>
            <a:endParaRPr lang="en-US" sz="4600" dirty="0"/>
          </a:p>
        </p:txBody>
      </p:sp>
      <p:sp>
        <p:nvSpPr>
          <p:cNvPr id="16" name="Text 12"/>
          <p:cNvSpPr txBox="1"/>
          <p:nvPr/>
        </p:nvSpPr>
        <p:spPr>
          <a:xfrm>
            <a:off x="6667348" y="374904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U.S. cancer survivors report neither discussing nor using a patient support group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6667348" y="443484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92.9% cite simply not knowing one exists or unavailability; only ~10% are ever told about one by their physician — no equivalent India-specific study found; cited as the closest available evidence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6667348" y="50292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Forsythe et al., J Clin Oncol, 2013 — U.S. cohort — </a:t>
            </a:r>
            <a:r>
              <a:rPr lang="en-US" sz="850" i="1" u="sng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doi.org/10.1200/JCO.2012.46.2101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548640" y="5806440"/>
            <a:ext cx="11094415" cy="548640"/>
          </a:xfrm>
          <a:prstGeom prst="roundRect">
            <a:avLst>
              <a:gd name="adj" fmla="val 13333"/>
            </a:avLst>
          </a:prstGeom>
          <a:solidFill>
            <a:srgbClr val="F4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 txBox="1"/>
          <p:nvPr/>
        </p:nvSpPr>
        <p:spPr>
          <a:xfrm>
            <a:off x="777240" y="580644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i="1" dirty="0">
                <a:solidFill>
                  <a:srgbClr val="1243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 when patients need medicine or support most, the barrier isn’t willingness — it’s awareness and access.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43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0E37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326880" y="4114800"/>
            <a:ext cx="5029200" cy="5029200"/>
          </a:xfrm>
          <a:prstGeom prst="ellipse">
            <a:avLst/>
          </a:prstGeom>
          <a:solidFill>
            <a:srgbClr val="0E37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Left to Navigate Alone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diagnosis, documentation, medicine, and support — patients and families are left to navigate the system alone, at their most vulnerable moment.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4256532" cy="566928"/>
          </a:xfrm>
          <a:prstGeom prst="roundRect">
            <a:avLst>
              <a:gd name="adj" fmla="val 50000"/>
            </a:avLst>
          </a:prstGeom>
          <a:solidFill>
            <a:srgbClr val="1B5470"/>
          </a:solidFill>
          <a:ln w="12700">
            <a:solidFill>
              <a:srgbClr val="3A7C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94360" y="3063240"/>
            <a:ext cx="41650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documented goals-of-care conversations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33772" y="3063240"/>
            <a:ext cx="3296412" cy="566928"/>
          </a:xfrm>
          <a:prstGeom prst="roundRect">
            <a:avLst>
              <a:gd name="adj" fmla="val 50000"/>
            </a:avLst>
          </a:prstGeom>
          <a:solidFill>
            <a:srgbClr val="1B5470"/>
          </a:solidFill>
          <a:ln w="12700">
            <a:solidFill>
              <a:srgbClr val="3A7C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079492" y="3063240"/>
            <a:ext cx="32049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Unprepared for crisis decisions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558784" y="3063240"/>
            <a:ext cx="3008376" cy="566928"/>
          </a:xfrm>
          <a:prstGeom prst="roundRect">
            <a:avLst>
              <a:gd name="adj" fmla="val 50000"/>
            </a:avLst>
          </a:prstGeom>
          <a:solidFill>
            <a:srgbClr val="1B5470"/>
          </a:solidFill>
          <a:ln w="12700">
            <a:solidFill>
              <a:srgbClr val="3A7C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604504" y="3063240"/>
            <a:ext cx="2916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find morphine access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858768"/>
            <a:ext cx="3968496" cy="566928"/>
          </a:xfrm>
          <a:prstGeom prst="roundRect">
            <a:avLst>
              <a:gd name="adj" fmla="val 50000"/>
            </a:avLst>
          </a:prstGeom>
          <a:solidFill>
            <a:srgbClr val="1B5470"/>
          </a:solidFill>
          <a:ln w="12700">
            <a:solidFill>
              <a:srgbClr val="3A7C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94360" y="3858768"/>
            <a:ext cx="3877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nearby care options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45736" y="3858768"/>
            <a:ext cx="2816352" cy="566928"/>
          </a:xfrm>
          <a:prstGeom prst="roundRect">
            <a:avLst>
              <a:gd name="adj" fmla="val 50000"/>
            </a:avLst>
          </a:prstGeom>
          <a:solidFill>
            <a:srgbClr val="1B5470"/>
          </a:solidFill>
          <a:ln w="12700">
            <a:solidFill>
              <a:srgbClr val="3A7C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791456" y="3858768"/>
            <a:ext cx="2724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from peer support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8064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i="1" dirty="0">
                <a:solidFill>
                  <a:srgbClr val="D98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Saanthvana is built to close these gaps — one integrated companion, present from the first conversation through every crisis that follows.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43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statistic in this section, sourced — click a DOI/link to open the paper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3492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9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Agency for Research on Cancer (IARC). India — GLOBOCAN 2024 Fact Sheet. Global Cancer Observatory, 2024.</a:t>
            </a:r>
            <a:endParaRPr lang="en-US" sz="950" dirty="0"/>
          </a:p>
          <a:p>
            <a:pPr marL="0" indent="0" algn="l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950" u="sng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gco.iarc.who.int/media/globocan/factsheets/populations/356-india-fact-sheet.pdf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32888"/>
            <a:ext cx="53492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9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Patil S, et al. Unmet need for cancer palliative care in India. BMJ Support Palliat Care. 2024.</a:t>
            </a:r>
            <a:endParaRPr lang="en-US" sz="950" dirty="0"/>
          </a:p>
          <a:p>
            <a:pPr marL="0" indent="0" algn="l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950" u="sng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doi.org/10.1136/spcare-2024-004978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65576"/>
            <a:ext cx="53492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9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Aslam N, Hayat A. Early goal-of-care discussions in healthcare: a survey case report on benefits and perceptions. J Pain Symptom Manage. 2024;67(5):e608–e609.</a:t>
            </a:r>
            <a:endParaRPr lang="en-US" sz="950" dirty="0"/>
          </a:p>
          <a:p>
            <a:pPr marL="0" indent="0" algn="l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950" u="sng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doi.org/10.1016/j.jpainsymman.2024.02.030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398264"/>
            <a:ext cx="53492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r>
              <a:rPr lang="en-US" sz="9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Thangasamy DRJ, et al. Initiating and documenting goals-of-care discussion in patients with advanced pancreatic and colorectal cancers: a QI project in a low-resource setting. Palliat Med Rep. 2025;6(1).</a:t>
            </a:r>
            <a:endParaRPr lang="en-US" sz="950" dirty="0"/>
          </a:p>
          <a:p>
            <a:pPr marL="0" indent="0" algn="l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950" u="sng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doi.org/10.1177/26892820251392545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330952"/>
            <a:ext cx="53492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r>
              <a:rPr lang="en-US" sz="9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Sharma P. 73% urban Indians do not know about their right to make a living will, finds a survey. IndiaSpend, republished in Scroll.in, 5 Jun 2019.</a:t>
            </a:r>
            <a:endParaRPr lang="en-US" sz="950" dirty="0"/>
          </a:p>
          <a:p>
            <a:pPr marL="0" indent="0" algn="l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950" u="sng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scroll.in/article/925875/73-urban-indians-do-not-know-about-their-right-to-make-a-living-will-finds-a-survey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1600200"/>
            <a:ext cx="53492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</a:t>
            </a:r>
            <a:r>
              <a:rPr lang="en-US" sz="9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Jacob JA, et al. Knowledge and attitude towards advance directives for patients with terminal illnesses among doctors working in a tertiary care hospital. Natl Med J India. 2026;39(3):140–146.</a:t>
            </a:r>
            <a:endParaRPr lang="en-US" sz="950" dirty="0"/>
          </a:p>
          <a:p>
            <a:pPr marL="0" indent="0" algn="l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950" u="sng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doi.org/10.25259/NMJI_817_2023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2532888"/>
            <a:ext cx="53492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</a:t>
            </a:r>
            <a:r>
              <a:rPr lang="en-US" sz="9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Singh P, et al. Barriers and facilitators to advance care planning implementation for patients with neurodegenerative diseases among Indian physicians: a mixed-methods analysis. medRxiv [preprint]. 2025.</a:t>
            </a:r>
            <a:endParaRPr lang="en-US" sz="950" dirty="0"/>
          </a:p>
          <a:p>
            <a:pPr marL="0" indent="0" algn="l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950" u="sng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doi.org/10.1101/2025.10.17.25338242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3465576"/>
            <a:ext cx="53492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</a:t>
            </a:r>
            <a:r>
              <a:rPr lang="en-US" sz="9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LeBaron V, et al. An ethnographic study of barriers to cancer pain management and opioid availability in India. Oncologist. 2014;19(5):515–522.</a:t>
            </a:r>
            <a:endParaRPr lang="en-US" sz="950" dirty="0"/>
          </a:p>
          <a:p>
            <a:pPr marL="0" indent="0" algn="l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950" u="sng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doi.org/10.1634/theoncologist.2013-0435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4398264"/>
            <a:ext cx="53492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</a:t>
            </a:r>
            <a:r>
              <a:rPr lang="en-US" sz="9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Forsythe LP, et al. Receipt of psychosocial care among cancer survivors in the United States. J Clin Oncol. 2013;31(16):1961–1969. U.S. cohort — cited as the closest available evidence; no equivalent India-specific study identified.</a:t>
            </a:r>
            <a:endParaRPr lang="en-US" sz="950" dirty="0"/>
          </a:p>
          <a:p>
            <a:pPr marL="0" indent="0" algn="l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950" u="sng" dirty="0">
                <a:solidFill>
                  <a:srgbClr val="3A7CA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doi.org/10.1200/JCO.2012.46.2101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1192</Words>
  <Application>Microsoft Macintosh PowerPoint</Application>
  <PresentationFormat>Widescreen</PresentationFormat>
  <Paragraphs>119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Health-a-thon 2026 — Cancer Track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Saanthvana</dc:creator>
  <cp:lastModifiedBy>Sujay Halkur Shankar</cp:lastModifiedBy>
  <cp:revision>1</cp:revision>
  <dcterms:created xsi:type="dcterms:W3CDTF">2026-09-18T15:13:10Z</dcterms:created>
  <dcterms:modified xsi:type="dcterms:W3CDTF">2026-09-18T15:14:14Z</dcterms:modified>
</cp:coreProperties>
</file>